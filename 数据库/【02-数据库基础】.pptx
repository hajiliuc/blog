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5"/>
  </p:notesMasterIdLst>
  <p:handoutMasterIdLst>
    <p:handoutMasterId r:id="rId36"/>
  </p:handoutMasterIdLst>
  <p:sldIdLst>
    <p:sldId id="425" r:id="rId2"/>
    <p:sldId id="415" r:id="rId3"/>
    <p:sldId id="346" r:id="rId4"/>
    <p:sldId id="347" r:id="rId5"/>
    <p:sldId id="348" r:id="rId6"/>
    <p:sldId id="349" r:id="rId7"/>
    <p:sldId id="427" r:id="rId8"/>
    <p:sldId id="428" r:id="rId9"/>
    <p:sldId id="416" r:id="rId10"/>
    <p:sldId id="350" r:id="rId11"/>
    <p:sldId id="351" r:id="rId12"/>
    <p:sldId id="352" r:id="rId13"/>
    <p:sldId id="423" r:id="rId14"/>
    <p:sldId id="353" r:id="rId15"/>
    <p:sldId id="429" r:id="rId16"/>
    <p:sldId id="430" r:id="rId17"/>
    <p:sldId id="417" r:id="rId18"/>
    <p:sldId id="354" r:id="rId19"/>
    <p:sldId id="355" r:id="rId20"/>
    <p:sldId id="356" r:id="rId21"/>
    <p:sldId id="357" r:id="rId22"/>
    <p:sldId id="3160" r:id="rId23"/>
    <p:sldId id="3161" r:id="rId24"/>
    <p:sldId id="3163" r:id="rId25"/>
    <p:sldId id="3162" r:id="rId26"/>
    <p:sldId id="3164" r:id="rId27"/>
    <p:sldId id="358" r:id="rId28"/>
    <p:sldId id="359" r:id="rId29"/>
    <p:sldId id="360" r:id="rId30"/>
    <p:sldId id="365" r:id="rId31"/>
    <p:sldId id="366" r:id="rId32"/>
    <p:sldId id="3165" r:id="rId33"/>
    <p:sldId id="3166"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信息数据处理、数据管理" id="{E00AD8B6-89E4-467D-82BA-723C3F8A9FA3}">
          <p14:sldIdLst>
            <p14:sldId id="425"/>
            <p14:sldId id="415"/>
            <p14:sldId id="346"/>
            <p14:sldId id="347"/>
            <p14:sldId id="348"/>
            <p14:sldId id="349"/>
            <p14:sldId id="427"/>
            <p14:sldId id="428"/>
          </p14:sldIdLst>
        </p14:section>
        <p14:section name="数据库技术的产生和发展" id="{592ED856-1011-4BE6-AB7C-19C298D58E75}">
          <p14:sldIdLst>
            <p14:sldId id="416"/>
            <p14:sldId id="350"/>
            <p14:sldId id="351"/>
            <p14:sldId id="352"/>
            <p14:sldId id="423"/>
            <p14:sldId id="353"/>
            <p14:sldId id="429"/>
            <p14:sldId id="430"/>
          </p14:sldIdLst>
        </p14:section>
        <p14:section name="数据库系统和数据库管理系统" id="{A79A30DE-5C7D-42FB-BB1F-4BAF8B8DEF30}">
          <p14:sldIdLst>
            <p14:sldId id="417"/>
            <p14:sldId id="354"/>
            <p14:sldId id="355"/>
            <p14:sldId id="356"/>
            <p14:sldId id="357"/>
            <p14:sldId id="3160"/>
            <p14:sldId id="3161"/>
            <p14:sldId id="3163"/>
            <p14:sldId id="3162"/>
            <p14:sldId id="3164"/>
            <p14:sldId id="358"/>
            <p14:sldId id="359"/>
            <p14:sldId id="360"/>
            <p14:sldId id="365"/>
            <p14:sldId id="366"/>
            <p14:sldId id="3165"/>
            <p14:sldId id="316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E5D6"/>
    <a:srgbClr val="F5D7D9"/>
    <a:srgbClr val="025CC6"/>
    <a:srgbClr val="0268E4"/>
    <a:srgbClr val="867470"/>
    <a:srgbClr val="FFB3D0"/>
    <a:srgbClr val="46D4DB"/>
    <a:srgbClr val="FFE86F"/>
    <a:srgbClr val="8AE7DF"/>
    <a:srgbClr val="61B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66" autoAdjust="0"/>
  </p:normalViewPr>
  <p:slideViewPr>
    <p:cSldViewPr snapToGrid="0">
      <p:cViewPr varScale="1">
        <p:scale>
          <a:sx n="105" d="100"/>
          <a:sy n="105" d="100"/>
        </p:scale>
        <p:origin x="798" y="-1128"/>
      </p:cViewPr>
      <p:guideLst/>
    </p:cSldViewPr>
  </p:slideViewPr>
  <p:notesTextViewPr>
    <p:cViewPr>
      <p:scale>
        <a:sx n="1" d="1"/>
        <a:sy n="1" d="1"/>
      </p:scale>
      <p:origin x="0" y="0"/>
    </p:cViewPr>
  </p:notesTextViewPr>
  <p:notesViewPr>
    <p:cSldViewPr snapToGrid="0">
      <p:cViewPr varScale="1">
        <p:scale>
          <a:sx n="83" d="100"/>
          <a:sy n="83" d="100"/>
        </p:scale>
        <p:origin x="2754"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52B6512-DDC8-407A-9336-68A4912174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FA8FD94-8C94-4AEF-8F43-BB715321D7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9AAE79-3AD5-4A89-A4B9-7BD978C413E7}" type="datetimeFigureOut">
              <a:rPr lang="zh-CN" altLang="en-US" smtClean="0"/>
              <a:t>2026/9/7</a:t>
            </a:fld>
            <a:endParaRPr lang="zh-CN" altLang="en-US"/>
          </a:p>
        </p:txBody>
      </p:sp>
      <p:sp>
        <p:nvSpPr>
          <p:cNvPr id="4" name="页脚占位符 3">
            <a:extLst>
              <a:ext uri="{FF2B5EF4-FFF2-40B4-BE49-F238E27FC236}">
                <a16:creationId xmlns:a16="http://schemas.microsoft.com/office/drawing/2014/main" id="{411D15F4-DD0F-4172-AEF2-F8F80F9747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22FAAF7A-2A21-413B-BEA1-6A0E34E0DC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C9434A-52E1-456F-96EE-6EAA81F3B7CC}" type="slidenum">
              <a:rPr lang="zh-CN" altLang="en-US" smtClean="0"/>
              <a:t>‹#›</a:t>
            </a:fld>
            <a:endParaRPr lang="zh-CN" altLang="en-US"/>
          </a:p>
        </p:txBody>
      </p:sp>
    </p:spTree>
    <p:extLst>
      <p:ext uri="{BB962C8B-B14F-4D97-AF65-F5344CB8AC3E}">
        <p14:creationId xmlns:p14="http://schemas.microsoft.com/office/powerpoint/2010/main" val="11336447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03E411-157D-42E9-A801-201C738732E7}" type="datetimeFigureOut">
              <a:rPr lang="zh-CN" altLang="en-US" smtClean="0"/>
              <a:t>2026/9/7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CA819-7865-4BB0-B601-74C0CCDC3050}" type="slidenum">
              <a:rPr lang="zh-CN" altLang="en-US" smtClean="0"/>
              <a:t>‹#›</a:t>
            </a:fld>
            <a:endParaRPr lang="zh-CN" altLang="en-US"/>
          </a:p>
        </p:txBody>
      </p:sp>
    </p:spTree>
    <p:extLst>
      <p:ext uri="{BB962C8B-B14F-4D97-AF65-F5344CB8AC3E}">
        <p14:creationId xmlns:p14="http://schemas.microsoft.com/office/powerpoint/2010/main" val="331865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59EBB-87FE-ABAA-FC9C-306F2AA531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D222CC-39B4-C652-AFFB-A6927A2CF3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D8684B-5A85-471E-9997-E989C913797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8A17114-3413-1EC0-EC4A-84543DE84375}"/>
              </a:ext>
            </a:extLst>
          </p:cNvPr>
          <p:cNvSpPr>
            <a:spLocks noGrp="1"/>
          </p:cNvSpPr>
          <p:nvPr>
            <p:ph type="sldNum" sz="quarter" idx="5"/>
          </p:nvPr>
        </p:nvSpPr>
        <p:spPr/>
        <p:txBody>
          <a:bodyPr/>
          <a:lstStyle/>
          <a:p>
            <a:fld id="{4EA6D530-88B3-468A-9042-0D43F32A3F03}" type="slidenum">
              <a:rPr lang="zh-CN" altLang="en-US" smtClean="0"/>
              <a:t>2</a:t>
            </a:fld>
            <a:endParaRPr lang="zh-CN" altLang="en-US"/>
          </a:p>
        </p:txBody>
      </p:sp>
    </p:spTree>
    <p:extLst>
      <p:ext uri="{BB962C8B-B14F-4D97-AF65-F5344CB8AC3E}">
        <p14:creationId xmlns:p14="http://schemas.microsoft.com/office/powerpoint/2010/main" val="805157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A6D530-88B3-468A-9042-0D43F32A3F03}" type="slidenum">
              <a:rPr lang="zh-CN" altLang="en-US" smtClean="0"/>
              <a:t>3</a:t>
            </a:fld>
            <a:endParaRPr lang="zh-CN" altLang="en-US"/>
          </a:p>
        </p:txBody>
      </p:sp>
    </p:spTree>
    <p:extLst>
      <p:ext uri="{BB962C8B-B14F-4D97-AF65-F5344CB8AC3E}">
        <p14:creationId xmlns:p14="http://schemas.microsoft.com/office/powerpoint/2010/main" val="4132247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A6D530-88B3-468A-9042-0D43F32A3F03}" type="slidenum">
              <a:rPr lang="zh-CN" altLang="en-US" smtClean="0"/>
              <a:t>4</a:t>
            </a:fld>
            <a:endParaRPr lang="zh-CN" altLang="en-US"/>
          </a:p>
        </p:txBody>
      </p:sp>
    </p:spTree>
    <p:extLst>
      <p:ext uri="{BB962C8B-B14F-4D97-AF65-F5344CB8AC3E}">
        <p14:creationId xmlns:p14="http://schemas.microsoft.com/office/powerpoint/2010/main" val="3169637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A6D530-88B3-468A-9042-0D43F32A3F03}" type="slidenum">
              <a:rPr lang="zh-CN" altLang="en-US" smtClean="0"/>
              <a:t>5</a:t>
            </a:fld>
            <a:endParaRPr lang="zh-CN" altLang="en-US"/>
          </a:p>
        </p:txBody>
      </p:sp>
    </p:spTree>
    <p:extLst>
      <p:ext uri="{BB962C8B-B14F-4D97-AF65-F5344CB8AC3E}">
        <p14:creationId xmlns:p14="http://schemas.microsoft.com/office/powerpoint/2010/main" val="1755833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A6D530-88B3-468A-9042-0D43F32A3F03}" type="slidenum">
              <a:rPr lang="zh-CN" altLang="en-US" smtClean="0"/>
              <a:t>6</a:t>
            </a:fld>
            <a:endParaRPr lang="zh-CN" altLang="en-US"/>
          </a:p>
        </p:txBody>
      </p:sp>
    </p:spTree>
    <p:extLst>
      <p:ext uri="{BB962C8B-B14F-4D97-AF65-F5344CB8AC3E}">
        <p14:creationId xmlns:p14="http://schemas.microsoft.com/office/powerpoint/2010/main" val="2731959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8DE5C-5B28-6A78-CFF8-34267259E3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D884BD-35C9-3B66-7947-938FEACF97B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0D299E-0054-F380-CFB3-FB586719E23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8979BBC-4588-5D0D-4F73-703EC2DA5CAE}"/>
              </a:ext>
            </a:extLst>
          </p:cNvPr>
          <p:cNvSpPr>
            <a:spLocks noGrp="1"/>
          </p:cNvSpPr>
          <p:nvPr>
            <p:ph type="sldNum" sz="quarter" idx="5"/>
          </p:nvPr>
        </p:nvSpPr>
        <p:spPr/>
        <p:txBody>
          <a:bodyPr/>
          <a:lstStyle/>
          <a:p>
            <a:fld id="{4EA6D530-88B3-468A-9042-0D43F32A3F03}" type="slidenum">
              <a:rPr lang="zh-CN" altLang="en-US" smtClean="0"/>
              <a:t>9</a:t>
            </a:fld>
            <a:endParaRPr lang="zh-CN" altLang="en-US"/>
          </a:p>
        </p:txBody>
      </p:sp>
    </p:spTree>
    <p:extLst>
      <p:ext uri="{BB962C8B-B14F-4D97-AF65-F5344CB8AC3E}">
        <p14:creationId xmlns:p14="http://schemas.microsoft.com/office/powerpoint/2010/main" val="1090982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A6D530-88B3-468A-9042-0D43F32A3F03}" type="slidenum">
              <a:rPr lang="zh-CN" altLang="en-US" smtClean="0"/>
              <a:t>10</a:t>
            </a:fld>
            <a:endParaRPr lang="zh-CN" altLang="en-US"/>
          </a:p>
        </p:txBody>
      </p:sp>
    </p:spTree>
    <p:extLst>
      <p:ext uri="{BB962C8B-B14F-4D97-AF65-F5344CB8AC3E}">
        <p14:creationId xmlns:p14="http://schemas.microsoft.com/office/powerpoint/2010/main" val="4123502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A6D530-88B3-468A-9042-0D43F32A3F03}" type="slidenum">
              <a:rPr lang="zh-CN" altLang="en-US" smtClean="0"/>
              <a:t>11</a:t>
            </a:fld>
            <a:endParaRPr lang="zh-CN" altLang="en-US"/>
          </a:p>
        </p:txBody>
      </p:sp>
    </p:spTree>
    <p:extLst>
      <p:ext uri="{BB962C8B-B14F-4D97-AF65-F5344CB8AC3E}">
        <p14:creationId xmlns:p14="http://schemas.microsoft.com/office/powerpoint/2010/main" val="125772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A6D530-88B3-468A-9042-0D43F32A3F03}" type="slidenum">
              <a:rPr lang="zh-CN" altLang="en-US" smtClean="0"/>
              <a:t>12</a:t>
            </a:fld>
            <a:endParaRPr lang="zh-CN" altLang="en-US"/>
          </a:p>
        </p:txBody>
      </p:sp>
    </p:spTree>
    <p:extLst>
      <p:ext uri="{BB962C8B-B14F-4D97-AF65-F5344CB8AC3E}">
        <p14:creationId xmlns:p14="http://schemas.microsoft.com/office/powerpoint/2010/main" val="1556060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A6D530-88B3-468A-9042-0D43F32A3F03}" type="slidenum">
              <a:rPr lang="zh-CN" altLang="en-US" smtClean="0"/>
              <a:t>14</a:t>
            </a:fld>
            <a:endParaRPr lang="zh-CN" altLang="en-US"/>
          </a:p>
        </p:txBody>
      </p:sp>
    </p:spTree>
    <p:extLst>
      <p:ext uri="{BB962C8B-B14F-4D97-AF65-F5344CB8AC3E}">
        <p14:creationId xmlns:p14="http://schemas.microsoft.com/office/powerpoint/2010/main" val="577752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BEF0D-4BC7-BFA5-8648-9D13DC1FA4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622F05-F2AC-2FE9-3A7D-959F4C053B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49E52A-E4FC-9E6C-ADAE-6B1C961A458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142C046-4DBA-19A4-7170-B825E37AD196}"/>
              </a:ext>
            </a:extLst>
          </p:cNvPr>
          <p:cNvSpPr>
            <a:spLocks noGrp="1"/>
          </p:cNvSpPr>
          <p:nvPr>
            <p:ph type="sldNum" sz="quarter" idx="5"/>
          </p:nvPr>
        </p:nvSpPr>
        <p:spPr/>
        <p:txBody>
          <a:bodyPr/>
          <a:lstStyle/>
          <a:p>
            <a:fld id="{4EA6D530-88B3-468A-9042-0D43F32A3F03}" type="slidenum">
              <a:rPr lang="zh-CN" altLang="en-US" smtClean="0"/>
              <a:t>17</a:t>
            </a:fld>
            <a:endParaRPr lang="zh-CN" altLang="en-US"/>
          </a:p>
        </p:txBody>
      </p:sp>
    </p:spTree>
    <p:extLst>
      <p:ext uri="{BB962C8B-B14F-4D97-AF65-F5344CB8AC3E}">
        <p14:creationId xmlns:p14="http://schemas.microsoft.com/office/powerpoint/2010/main" val="3964834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A6D530-88B3-468A-9042-0D43F32A3F03}" type="slidenum">
              <a:rPr lang="zh-CN" altLang="en-US" smtClean="0"/>
              <a:t>18</a:t>
            </a:fld>
            <a:endParaRPr lang="zh-CN" altLang="en-US"/>
          </a:p>
        </p:txBody>
      </p:sp>
    </p:spTree>
    <p:extLst>
      <p:ext uri="{BB962C8B-B14F-4D97-AF65-F5344CB8AC3E}">
        <p14:creationId xmlns:p14="http://schemas.microsoft.com/office/powerpoint/2010/main" val="590521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tabLst/>
              <a:defRPr/>
            </a:pPr>
            <a:fld id="{4EA6D530-88B3-468A-9042-0D43F32A3F0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835"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52154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tabLst/>
              <a:defRPr/>
            </a:pPr>
            <a:fld id="{4EA6D530-88B3-468A-9042-0D43F32A3F0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835"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74059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tabLst/>
              <a:defRPr/>
            </a:pPr>
            <a:fld id="{4EA6D530-88B3-468A-9042-0D43F32A3F0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835"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51907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22</a:t>
            </a:fld>
            <a:endParaRPr lang="zh-CN" altLang="en-US"/>
          </a:p>
        </p:txBody>
      </p:sp>
    </p:spTree>
    <p:extLst>
      <p:ext uri="{BB962C8B-B14F-4D97-AF65-F5344CB8AC3E}">
        <p14:creationId xmlns:p14="http://schemas.microsoft.com/office/powerpoint/2010/main" val="1341622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23</a:t>
            </a:fld>
            <a:endParaRPr lang="zh-CN" altLang="en-US"/>
          </a:p>
        </p:txBody>
      </p:sp>
    </p:spTree>
    <p:extLst>
      <p:ext uri="{BB962C8B-B14F-4D97-AF65-F5344CB8AC3E}">
        <p14:creationId xmlns:p14="http://schemas.microsoft.com/office/powerpoint/2010/main" val="17519919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24</a:t>
            </a:fld>
            <a:endParaRPr lang="zh-CN" altLang="en-US"/>
          </a:p>
        </p:txBody>
      </p:sp>
    </p:spTree>
    <p:extLst>
      <p:ext uri="{BB962C8B-B14F-4D97-AF65-F5344CB8AC3E}">
        <p14:creationId xmlns:p14="http://schemas.microsoft.com/office/powerpoint/2010/main" val="12878011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25</a:t>
            </a:fld>
            <a:endParaRPr lang="zh-CN" altLang="en-US"/>
          </a:p>
        </p:txBody>
      </p:sp>
    </p:spTree>
    <p:extLst>
      <p:ext uri="{BB962C8B-B14F-4D97-AF65-F5344CB8AC3E}">
        <p14:creationId xmlns:p14="http://schemas.microsoft.com/office/powerpoint/2010/main" val="8386953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26</a:t>
            </a:fld>
            <a:endParaRPr lang="zh-CN" altLang="en-US"/>
          </a:p>
        </p:txBody>
      </p:sp>
    </p:spTree>
    <p:extLst>
      <p:ext uri="{BB962C8B-B14F-4D97-AF65-F5344CB8AC3E}">
        <p14:creationId xmlns:p14="http://schemas.microsoft.com/office/powerpoint/2010/main" val="15653445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tabLst/>
              <a:defRPr/>
            </a:pPr>
            <a:fld id="{4EA6D530-88B3-468A-9042-0D43F32A3F0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835"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707573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tabLst/>
              <a:defRPr/>
            </a:pPr>
            <a:fld id="{4EA6D530-88B3-468A-9042-0D43F32A3F0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835"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072283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tabLst/>
              <a:defRPr/>
            </a:pPr>
            <a:fld id="{4EA6D530-88B3-468A-9042-0D43F32A3F0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835"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5060838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tabLst/>
              <a:defRPr/>
            </a:pPr>
            <a:fld id="{4EA6D530-88B3-468A-9042-0D43F32A3F0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835"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23497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tabLst/>
              <a:defRPr/>
            </a:pPr>
            <a:fld id="{4EA6D530-88B3-468A-9042-0D43F32A3F0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835"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30086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5.png"/><Relationship Id="rId18" Type="http://schemas.openxmlformats.org/officeDocument/2006/relationships/image" Target="../media/image17.png"/><Relationship Id="rId3" Type="http://schemas.openxmlformats.org/officeDocument/2006/relationships/image" Target="../media/image19.png"/><Relationship Id="rId7" Type="http://schemas.openxmlformats.org/officeDocument/2006/relationships/image" Target="../media/image15.png"/><Relationship Id="rId12" Type="http://schemas.openxmlformats.org/officeDocument/2006/relationships/image" Target="../media/image4.png"/><Relationship Id="rId17" Type="http://schemas.openxmlformats.org/officeDocument/2006/relationships/image" Target="../media/image16.png"/><Relationship Id="rId2" Type="http://schemas.openxmlformats.org/officeDocument/2006/relationships/image" Target="../media/image3.png"/><Relationship Id="rId16"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1.png"/><Relationship Id="rId5" Type="http://schemas.openxmlformats.org/officeDocument/2006/relationships/image" Target="../media/image2.png"/><Relationship Id="rId15" Type="http://schemas.openxmlformats.org/officeDocument/2006/relationships/image" Target="../media/image13.png"/><Relationship Id="rId10" Type="http://schemas.openxmlformats.org/officeDocument/2006/relationships/image" Target="../media/image12.png"/><Relationship Id="rId19" Type="http://schemas.openxmlformats.org/officeDocument/2006/relationships/image" Target="../media/image18.png"/><Relationship Id="rId4" Type="http://schemas.openxmlformats.org/officeDocument/2006/relationships/image" Target="../media/image7.png"/><Relationship Id="rId9" Type="http://schemas.openxmlformats.org/officeDocument/2006/relationships/image" Target="../media/image21.png"/><Relationship Id="rId14" Type="http://schemas.openxmlformats.org/officeDocument/2006/relationships/image" Target="../media/image2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CF4A82-1370-4F09-BEBF-0B8F8F80531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66B93C2-78FF-4A6B-B397-B118A6F446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FBAF93D-FD94-41A6-8C81-B4B9C2998975}"/>
              </a:ext>
            </a:extLst>
          </p:cNvPr>
          <p:cNvSpPr>
            <a:spLocks noGrp="1"/>
          </p:cNvSpPr>
          <p:nvPr>
            <p:ph type="dt" sz="half" idx="10"/>
          </p:nvPr>
        </p:nvSpPr>
        <p:spPr/>
        <p:txBody>
          <a:bodyPr/>
          <a:lstStyle/>
          <a:p>
            <a:fld id="{4ED19352-EDEF-4CE6-A9AA-7F307EF05D9C}" type="datetimeFigureOut">
              <a:rPr lang="zh-CN" altLang="en-US" smtClean="0"/>
              <a:t>2026/9/7</a:t>
            </a:fld>
            <a:endParaRPr lang="zh-CN" altLang="en-US"/>
          </a:p>
        </p:txBody>
      </p:sp>
      <p:sp>
        <p:nvSpPr>
          <p:cNvPr id="5" name="页脚占位符 4">
            <a:extLst>
              <a:ext uri="{FF2B5EF4-FFF2-40B4-BE49-F238E27FC236}">
                <a16:creationId xmlns:a16="http://schemas.microsoft.com/office/drawing/2014/main" id="{C8B268F7-EBBA-468C-8C08-1BD3C2A073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F0D0DB-EF9A-4F23-A42A-7B10D0D47EFA}"/>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17896156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1C43A4-550A-4961-8B25-D6425F7D8B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2B28F2-6F99-4579-A574-1F4A162F2D1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9B381E-3A3A-469B-AC26-784484F6A881}"/>
              </a:ext>
            </a:extLst>
          </p:cNvPr>
          <p:cNvSpPr>
            <a:spLocks noGrp="1"/>
          </p:cNvSpPr>
          <p:nvPr>
            <p:ph type="dt" sz="half" idx="10"/>
          </p:nvPr>
        </p:nvSpPr>
        <p:spPr/>
        <p:txBody>
          <a:bodyPr/>
          <a:lstStyle/>
          <a:p>
            <a:fld id="{4ED19352-EDEF-4CE6-A9AA-7F307EF05D9C}" type="datetimeFigureOut">
              <a:rPr lang="zh-CN" altLang="en-US" smtClean="0"/>
              <a:t>2026/9/7</a:t>
            </a:fld>
            <a:endParaRPr lang="zh-CN" altLang="en-US"/>
          </a:p>
        </p:txBody>
      </p:sp>
      <p:sp>
        <p:nvSpPr>
          <p:cNvPr id="5" name="页脚占位符 4">
            <a:extLst>
              <a:ext uri="{FF2B5EF4-FFF2-40B4-BE49-F238E27FC236}">
                <a16:creationId xmlns:a16="http://schemas.microsoft.com/office/drawing/2014/main" id="{B5679DED-654E-4C3A-A0B5-5EDAACA0D7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48AB74-A335-4460-9591-C91782CE5DCC}"/>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42682228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A19CA8-7FFB-42AC-A5EA-EDD8EB9F0E8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6115164-7B7D-4275-92AD-5FFA2F8A66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C9BC2E9-E60C-490A-8070-5D798459DF8E}"/>
              </a:ext>
            </a:extLst>
          </p:cNvPr>
          <p:cNvSpPr>
            <a:spLocks noGrp="1"/>
          </p:cNvSpPr>
          <p:nvPr>
            <p:ph type="dt" sz="half" idx="10"/>
          </p:nvPr>
        </p:nvSpPr>
        <p:spPr/>
        <p:txBody>
          <a:bodyPr/>
          <a:lstStyle/>
          <a:p>
            <a:fld id="{4ED19352-EDEF-4CE6-A9AA-7F307EF05D9C}" type="datetimeFigureOut">
              <a:rPr lang="zh-CN" altLang="en-US" smtClean="0"/>
              <a:t>2026/9/7</a:t>
            </a:fld>
            <a:endParaRPr lang="zh-CN" altLang="en-US"/>
          </a:p>
        </p:txBody>
      </p:sp>
      <p:sp>
        <p:nvSpPr>
          <p:cNvPr id="5" name="页脚占位符 4">
            <a:extLst>
              <a:ext uri="{FF2B5EF4-FFF2-40B4-BE49-F238E27FC236}">
                <a16:creationId xmlns:a16="http://schemas.microsoft.com/office/drawing/2014/main" id="{9124DC22-2E32-488D-92E0-2FE2AD8610D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3DBA95-550C-4430-B3FD-DF8CD90DEAD2}"/>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13388492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861799-209E-4000-BD76-EEF6FD07584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E0A7AFE-E5CE-4672-AD07-391485B6CB5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A2743DD-8752-4EE2-B2FF-8AA9C5298D2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0566B86-2950-468F-93A6-DCC2E2D9D035}"/>
              </a:ext>
            </a:extLst>
          </p:cNvPr>
          <p:cNvSpPr>
            <a:spLocks noGrp="1"/>
          </p:cNvSpPr>
          <p:nvPr>
            <p:ph type="dt" sz="half" idx="10"/>
          </p:nvPr>
        </p:nvSpPr>
        <p:spPr/>
        <p:txBody>
          <a:bodyPr/>
          <a:lstStyle/>
          <a:p>
            <a:fld id="{4ED19352-EDEF-4CE6-A9AA-7F307EF05D9C}" type="datetimeFigureOut">
              <a:rPr lang="zh-CN" altLang="en-US" smtClean="0"/>
              <a:t>2026/9/7</a:t>
            </a:fld>
            <a:endParaRPr lang="zh-CN" altLang="en-US"/>
          </a:p>
        </p:txBody>
      </p:sp>
      <p:sp>
        <p:nvSpPr>
          <p:cNvPr id="6" name="页脚占位符 5">
            <a:extLst>
              <a:ext uri="{FF2B5EF4-FFF2-40B4-BE49-F238E27FC236}">
                <a16:creationId xmlns:a16="http://schemas.microsoft.com/office/drawing/2014/main" id="{BD33FD26-DD9E-4951-A67C-425D2625EA8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4C4E705-811C-41BB-B88E-CFFACB6C1793}"/>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40779721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B11BED-383C-4B49-AFE9-73050874E76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B3BCB5-6022-42DB-ABF3-31BB8B7209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40B620E-A7ED-4C33-A9B6-F9082130DD3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6306033-71FD-493D-8F64-F8BCDE27AA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8CF4B2C-2AB2-4170-B82D-91F66CDEDA3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1116B56-F388-4994-AC5F-A2B3B080DDAA}"/>
              </a:ext>
            </a:extLst>
          </p:cNvPr>
          <p:cNvSpPr>
            <a:spLocks noGrp="1"/>
          </p:cNvSpPr>
          <p:nvPr>
            <p:ph type="dt" sz="half" idx="10"/>
          </p:nvPr>
        </p:nvSpPr>
        <p:spPr/>
        <p:txBody>
          <a:bodyPr/>
          <a:lstStyle/>
          <a:p>
            <a:fld id="{4ED19352-EDEF-4CE6-A9AA-7F307EF05D9C}" type="datetimeFigureOut">
              <a:rPr lang="zh-CN" altLang="en-US" smtClean="0"/>
              <a:t>2026/9/7</a:t>
            </a:fld>
            <a:endParaRPr lang="zh-CN" altLang="en-US"/>
          </a:p>
        </p:txBody>
      </p:sp>
      <p:sp>
        <p:nvSpPr>
          <p:cNvPr id="8" name="页脚占位符 7">
            <a:extLst>
              <a:ext uri="{FF2B5EF4-FFF2-40B4-BE49-F238E27FC236}">
                <a16:creationId xmlns:a16="http://schemas.microsoft.com/office/drawing/2014/main" id="{BE44CFBC-2239-44CA-9F14-E491BEAB3D7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3E999E5-EC7C-4459-BED5-F13A4B936FB1}"/>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11738635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691B2B-1E88-4F66-B74F-0AE408AA24A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872F245-4CDC-4DD1-8F7B-D19E57248228}"/>
              </a:ext>
            </a:extLst>
          </p:cNvPr>
          <p:cNvSpPr>
            <a:spLocks noGrp="1"/>
          </p:cNvSpPr>
          <p:nvPr>
            <p:ph type="dt" sz="half" idx="10"/>
          </p:nvPr>
        </p:nvSpPr>
        <p:spPr/>
        <p:txBody>
          <a:bodyPr/>
          <a:lstStyle/>
          <a:p>
            <a:fld id="{4ED19352-EDEF-4CE6-A9AA-7F307EF05D9C}" type="datetimeFigureOut">
              <a:rPr lang="zh-CN" altLang="en-US" smtClean="0"/>
              <a:t>2026/9/7</a:t>
            </a:fld>
            <a:endParaRPr lang="zh-CN" altLang="en-US"/>
          </a:p>
        </p:txBody>
      </p:sp>
      <p:sp>
        <p:nvSpPr>
          <p:cNvPr id="4" name="页脚占位符 3">
            <a:extLst>
              <a:ext uri="{FF2B5EF4-FFF2-40B4-BE49-F238E27FC236}">
                <a16:creationId xmlns:a16="http://schemas.microsoft.com/office/drawing/2014/main" id="{476D59F9-1151-45AB-B8E7-CA0C0AA33AA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647CF14-A2D4-4278-A50A-D53BBD10E89A}"/>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5217906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6A9DE03-ECC3-4D25-8993-3F444D78F6F5}"/>
              </a:ext>
            </a:extLst>
          </p:cNvPr>
          <p:cNvSpPr>
            <a:spLocks noGrp="1"/>
          </p:cNvSpPr>
          <p:nvPr>
            <p:ph type="dt" sz="half" idx="10"/>
          </p:nvPr>
        </p:nvSpPr>
        <p:spPr/>
        <p:txBody>
          <a:bodyPr/>
          <a:lstStyle/>
          <a:p>
            <a:fld id="{4ED19352-EDEF-4CE6-A9AA-7F307EF05D9C}" type="datetimeFigureOut">
              <a:rPr lang="zh-CN" altLang="en-US" smtClean="0"/>
              <a:t>2026/9/7</a:t>
            </a:fld>
            <a:endParaRPr lang="zh-CN" altLang="en-US"/>
          </a:p>
        </p:txBody>
      </p:sp>
      <p:sp>
        <p:nvSpPr>
          <p:cNvPr id="3" name="页脚占位符 2">
            <a:extLst>
              <a:ext uri="{FF2B5EF4-FFF2-40B4-BE49-F238E27FC236}">
                <a16:creationId xmlns:a16="http://schemas.microsoft.com/office/drawing/2014/main" id="{BB6A8EB6-2F12-497B-B506-A8C222B559D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F87DADD-D115-4EEA-B3E9-9DA82C396DF2}"/>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635481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B9FF0-7C2F-4BD1-A279-3CA814D0230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B66B451-E1D8-4A3E-8DE3-7CD2EC16D4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1B25F4D-120B-448C-B5DC-4886305D22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9B20289-C76E-442C-8070-C22369867B9C}"/>
              </a:ext>
            </a:extLst>
          </p:cNvPr>
          <p:cNvSpPr>
            <a:spLocks noGrp="1"/>
          </p:cNvSpPr>
          <p:nvPr>
            <p:ph type="dt" sz="half" idx="10"/>
          </p:nvPr>
        </p:nvSpPr>
        <p:spPr/>
        <p:txBody>
          <a:bodyPr/>
          <a:lstStyle/>
          <a:p>
            <a:fld id="{4ED19352-EDEF-4CE6-A9AA-7F307EF05D9C}" type="datetimeFigureOut">
              <a:rPr lang="zh-CN" altLang="en-US" smtClean="0"/>
              <a:t>2026/9/7</a:t>
            </a:fld>
            <a:endParaRPr lang="zh-CN" altLang="en-US"/>
          </a:p>
        </p:txBody>
      </p:sp>
      <p:sp>
        <p:nvSpPr>
          <p:cNvPr id="6" name="页脚占位符 5">
            <a:extLst>
              <a:ext uri="{FF2B5EF4-FFF2-40B4-BE49-F238E27FC236}">
                <a16:creationId xmlns:a16="http://schemas.microsoft.com/office/drawing/2014/main" id="{FD365C79-20EC-4058-8450-A8E2F76463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12DD5B3-96B8-4530-A298-6AEFC6388168}"/>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20388084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CC8CA0-31F2-4C35-A035-B4448293A59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5DBA14-8EC4-42B8-919D-4C0806ED24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96A144C-63B6-4FC9-B4D1-30B2B279E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CC56F68-00B0-4B2F-B95D-DC07CB80A13C}"/>
              </a:ext>
            </a:extLst>
          </p:cNvPr>
          <p:cNvSpPr>
            <a:spLocks noGrp="1"/>
          </p:cNvSpPr>
          <p:nvPr>
            <p:ph type="dt" sz="half" idx="10"/>
          </p:nvPr>
        </p:nvSpPr>
        <p:spPr/>
        <p:txBody>
          <a:bodyPr/>
          <a:lstStyle/>
          <a:p>
            <a:fld id="{4ED19352-EDEF-4CE6-A9AA-7F307EF05D9C}" type="datetimeFigureOut">
              <a:rPr lang="zh-CN" altLang="en-US" smtClean="0"/>
              <a:t>2026/9/7</a:t>
            </a:fld>
            <a:endParaRPr lang="zh-CN" altLang="en-US"/>
          </a:p>
        </p:txBody>
      </p:sp>
      <p:sp>
        <p:nvSpPr>
          <p:cNvPr id="6" name="页脚占位符 5">
            <a:extLst>
              <a:ext uri="{FF2B5EF4-FFF2-40B4-BE49-F238E27FC236}">
                <a16:creationId xmlns:a16="http://schemas.microsoft.com/office/drawing/2014/main" id="{DE94A3C0-BCE9-4316-A234-A9E844E4876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E43D1C3-D8D7-471C-8A17-1C60D0D125C4}"/>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30150907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0BE85A-EFFA-4157-ACA8-0B385A6D64D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2AE2382-613B-48CE-AD93-B0F0712669E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51160DB-460E-4D88-AA6F-792725D35B63}"/>
              </a:ext>
            </a:extLst>
          </p:cNvPr>
          <p:cNvSpPr>
            <a:spLocks noGrp="1"/>
          </p:cNvSpPr>
          <p:nvPr>
            <p:ph type="dt" sz="half" idx="10"/>
          </p:nvPr>
        </p:nvSpPr>
        <p:spPr/>
        <p:txBody>
          <a:bodyPr/>
          <a:lstStyle/>
          <a:p>
            <a:fld id="{4ED19352-EDEF-4CE6-A9AA-7F307EF05D9C}" type="datetimeFigureOut">
              <a:rPr lang="zh-CN" altLang="en-US" smtClean="0"/>
              <a:t>2026/9/7</a:t>
            </a:fld>
            <a:endParaRPr lang="zh-CN" altLang="en-US"/>
          </a:p>
        </p:txBody>
      </p:sp>
      <p:sp>
        <p:nvSpPr>
          <p:cNvPr id="5" name="页脚占位符 4">
            <a:extLst>
              <a:ext uri="{FF2B5EF4-FFF2-40B4-BE49-F238E27FC236}">
                <a16:creationId xmlns:a16="http://schemas.microsoft.com/office/drawing/2014/main" id="{942FEBC1-E8F7-4015-A949-CA8E68F17EC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9E30985-7AA8-4735-8776-E1FD5597E771}"/>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5767476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35" name="图片 34">
            <a:extLst>
              <a:ext uri="{FF2B5EF4-FFF2-40B4-BE49-F238E27FC236}">
                <a16:creationId xmlns:a16="http://schemas.microsoft.com/office/drawing/2014/main" id="{EDF238CC-A541-48DC-AB43-439473B9E92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0855"/>
          <a:stretch/>
        </p:blipFill>
        <p:spPr>
          <a:xfrm rot="21412497">
            <a:off x="550208" y="5170701"/>
            <a:ext cx="6858000" cy="3370348"/>
          </a:xfrm>
          <a:prstGeom prst="rect">
            <a:avLst/>
          </a:prstGeom>
        </p:spPr>
      </p:pic>
      <p:pic>
        <p:nvPicPr>
          <p:cNvPr id="7" name="图片 6">
            <a:extLst>
              <a:ext uri="{FF2B5EF4-FFF2-40B4-BE49-F238E27FC236}">
                <a16:creationId xmlns:a16="http://schemas.microsoft.com/office/drawing/2014/main" id="{14240ED0-7BE0-49E3-A153-BE8D1180E96B}"/>
              </a:ext>
            </a:extLst>
          </p:cNvPr>
          <p:cNvPicPr>
            <a:picLocks noChangeAspect="1"/>
          </p:cNvPicPr>
          <p:nvPr userDrawn="1"/>
        </p:nvPicPr>
        <p:blipFill rotWithShape="1">
          <a:blip r:embed="rId3" cstate="hqprint">
            <a:extLst>
              <a:ext uri="{28A0092B-C50C-407E-A947-70E740481C1C}">
                <a14:useLocalDpi xmlns:a14="http://schemas.microsoft.com/office/drawing/2010/main" val="0"/>
              </a:ext>
            </a:extLst>
          </a:blip>
          <a:srcRect/>
          <a:stretch/>
        </p:blipFill>
        <p:spPr>
          <a:xfrm>
            <a:off x="9513033" y="3014330"/>
            <a:ext cx="404336" cy="463057"/>
          </a:xfrm>
          <a:prstGeom prst="rect">
            <a:avLst/>
          </a:prstGeom>
        </p:spPr>
      </p:pic>
      <p:pic>
        <p:nvPicPr>
          <p:cNvPr id="21" name="图片 20">
            <a:extLst>
              <a:ext uri="{FF2B5EF4-FFF2-40B4-BE49-F238E27FC236}">
                <a16:creationId xmlns:a16="http://schemas.microsoft.com/office/drawing/2014/main" id="{732B7B05-201F-476A-BBA1-DA2EADFD2F7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553209" y="-372908"/>
            <a:ext cx="4022045" cy="4022045"/>
          </a:xfrm>
          <a:prstGeom prst="rect">
            <a:avLst/>
          </a:prstGeom>
        </p:spPr>
      </p:pic>
      <p:pic>
        <p:nvPicPr>
          <p:cNvPr id="22" name="图片 21">
            <a:extLst>
              <a:ext uri="{FF2B5EF4-FFF2-40B4-BE49-F238E27FC236}">
                <a16:creationId xmlns:a16="http://schemas.microsoft.com/office/drawing/2014/main" id="{927132A0-C21C-48E9-BA76-C35F46313020}"/>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rot="19296896">
            <a:off x="2721284" y="527638"/>
            <a:ext cx="2213811" cy="2213811"/>
          </a:xfrm>
          <a:prstGeom prst="rect">
            <a:avLst/>
          </a:prstGeom>
        </p:spPr>
      </p:pic>
      <p:pic>
        <p:nvPicPr>
          <p:cNvPr id="23" name="图片 22">
            <a:extLst>
              <a:ext uri="{FF2B5EF4-FFF2-40B4-BE49-F238E27FC236}">
                <a16:creationId xmlns:a16="http://schemas.microsoft.com/office/drawing/2014/main" id="{8F63EF8C-CE29-444B-B6A7-8742FC8744ED}"/>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2933026" y="1970268"/>
            <a:ext cx="1484492" cy="1484492"/>
          </a:xfrm>
          <a:prstGeom prst="rect">
            <a:avLst/>
          </a:prstGeom>
        </p:spPr>
      </p:pic>
      <p:pic>
        <p:nvPicPr>
          <p:cNvPr id="10" name="图片 9">
            <a:extLst>
              <a:ext uri="{FF2B5EF4-FFF2-40B4-BE49-F238E27FC236}">
                <a16:creationId xmlns:a16="http://schemas.microsoft.com/office/drawing/2014/main" id="{E6B1D24D-3F34-44E0-A49A-6C53684037EA}"/>
              </a:ext>
            </a:extLst>
          </p:cNvPr>
          <p:cNvPicPr>
            <a:picLocks noChangeAspect="1"/>
          </p:cNvPicPr>
          <p:nvPr userDrawn="1"/>
        </p:nvPicPr>
        <p:blipFill rotWithShape="1">
          <a:blip r:embed="rId7" cstate="hqprint">
            <a:extLst>
              <a:ext uri="{28A0092B-C50C-407E-A947-70E740481C1C}">
                <a14:useLocalDpi xmlns:a14="http://schemas.microsoft.com/office/drawing/2010/main" val="0"/>
              </a:ext>
            </a:extLst>
          </a:blip>
          <a:srcRect/>
          <a:stretch/>
        </p:blipFill>
        <p:spPr>
          <a:xfrm rot="11700000">
            <a:off x="11641880" y="5362974"/>
            <a:ext cx="404336" cy="463057"/>
          </a:xfrm>
          <a:prstGeom prst="rect">
            <a:avLst/>
          </a:prstGeom>
        </p:spPr>
      </p:pic>
      <p:pic>
        <p:nvPicPr>
          <p:cNvPr id="17" name="图片 16">
            <a:extLst>
              <a:ext uri="{FF2B5EF4-FFF2-40B4-BE49-F238E27FC236}">
                <a16:creationId xmlns:a16="http://schemas.microsoft.com/office/drawing/2014/main" id="{C1EEA55C-9B2D-49ED-884B-62743B81D9F9}"/>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3526883" y="1868798"/>
            <a:ext cx="1094089" cy="1094089"/>
          </a:xfrm>
          <a:prstGeom prst="rect">
            <a:avLst/>
          </a:prstGeom>
        </p:spPr>
      </p:pic>
      <p:pic>
        <p:nvPicPr>
          <p:cNvPr id="11" name="图片 10">
            <a:extLst>
              <a:ext uri="{FF2B5EF4-FFF2-40B4-BE49-F238E27FC236}">
                <a16:creationId xmlns:a16="http://schemas.microsoft.com/office/drawing/2014/main" id="{ACF066A8-11FA-4580-8679-10260E6E3EB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0855"/>
          <a:stretch/>
        </p:blipFill>
        <p:spPr>
          <a:xfrm>
            <a:off x="6710629" y="5448780"/>
            <a:ext cx="6858000" cy="3370348"/>
          </a:xfrm>
          <a:prstGeom prst="rect">
            <a:avLst/>
          </a:prstGeom>
        </p:spPr>
      </p:pic>
      <p:pic>
        <p:nvPicPr>
          <p:cNvPr id="24" name="图片 23">
            <a:extLst>
              <a:ext uri="{FF2B5EF4-FFF2-40B4-BE49-F238E27FC236}">
                <a16:creationId xmlns:a16="http://schemas.microsoft.com/office/drawing/2014/main" id="{B92D2615-5F7D-4CA1-9C30-3B61BCDE79AA}"/>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rot="15050061">
            <a:off x="3208158" y="134736"/>
            <a:ext cx="1199611" cy="1199611"/>
          </a:xfrm>
          <a:prstGeom prst="rect">
            <a:avLst/>
          </a:prstGeom>
        </p:spPr>
      </p:pic>
      <p:pic>
        <p:nvPicPr>
          <p:cNvPr id="16" name="图片 15">
            <a:extLst>
              <a:ext uri="{FF2B5EF4-FFF2-40B4-BE49-F238E27FC236}">
                <a16:creationId xmlns:a16="http://schemas.microsoft.com/office/drawing/2014/main" id="{AB72CBFB-A28A-47ED-897F-3C2A3AEB9CB5}"/>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rot="20919072">
            <a:off x="8424292" y="3890855"/>
            <a:ext cx="1572392" cy="1572392"/>
          </a:xfrm>
          <a:prstGeom prst="rect">
            <a:avLst/>
          </a:prstGeom>
        </p:spPr>
      </p:pic>
      <p:pic>
        <p:nvPicPr>
          <p:cNvPr id="43" name="图片 42">
            <a:extLst>
              <a:ext uri="{FF2B5EF4-FFF2-40B4-BE49-F238E27FC236}">
                <a16:creationId xmlns:a16="http://schemas.microsoft.com/office/drawing/2014/main" id="{DF4E99C3-5FE7-4F01-8AFE-2E7718B655A6}"/>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rot="15661037">
            <a:off x="1880771" y="1313079"/>
            <a:ext cx="2520229" cy="2520229"/>
          </a:xfrm>
          <a:prstGeom prst="rect">
            <a:avLst/>
          </a:prstGeom>
        </p:spPr>
      </p:pic>
      <p:pic>
        <p:nvPicPr>
          <p:cNvPr id="18" name="图片 17">
            <a:extLst>
              <a:ext uri="{FF2B5EF4-FFF2-40B4-BE49-F238E27FC236}">
                <a16:creationId xmlns:a16="http://schemas.microsoft.com/office/drawing/2014/main" id="{A5A304EC-E88B-4E12-9730-6FEDB5C3A96C}"/>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rot="17456896">
            <a:off x="2285806" y="2076098"/>
            <a:ext cx="2277279" cy="2277279"/>
          </a:xfrm>
          <a:prstGeom prst="rect">
            <a:avLst/>
          </a:prstGeom>
        </p:spPr>
      </p:pic>
      <p:pic>
        <p:nvPicPr>
          <p:cNvPr id="31" name="图片 30">
            <a:extLst>
              <a:ext uri="{FF2B5EF4-FFF2-40B4-BE49-F238E27FC236}">
                <a16:creationId xmlns:a16="http://schemas.microsoft.com/office/drawing/2014/main" id="{6827CD57-7F63-49B7-8C03-2BBBE54E0429}"/>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rot="2640524">
            <a:off x="8003164" y="4649018"/>
            <a:ext cx="1867692" cy="1867692"/>
          </a:xfrm>
          <a:prstGeom prst="rect">
            <a:avLst/>
          </a:prstGeom>
        </p:spPr>
      </p:pic>
      <p:pic>
        <p:nvPicPr>
          <p:cNvPr id="13" name="图片 12">
            <a:extLst>
              <a:ext uri="{FF2B5EF4-FFF2-40B4-BE49-F238E27FC236}">
                <a16:creationId xmlns:a16="http://schemas.microsoft.com/office/drawing/2014/main" id="{77096112-1209-443B-B19A-0D9DD3B14AB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22670"/>
          <a:stretch/>
        </p:blipFill>
        <p:spPr>
          <a:xfrm rot="495784">
            <a:off x="-649702" y="3104510"/>
            <a:ext cx="6383432" cy="4968292"/>
          </a:xfrm>
          <a:prstGeom prst="rect">
            <a:avLst/>
          </a:prstGeom>
        </p:spPr>
      </p:pic>
      <p:pic>
        <p:nvPicPr>
          <p:cNvPr id="20" name="图片 19">
            <a:extLst>
              <a:ext uri="{FF2B5EF4-FFF2-40B4-BE49-F238E27FC236}">
                <a16:creationId xmlns:a16="http://schemas.microsoft.com/office/drawing/2014/main" id="{8F98C993-71AC-421D-BCFA-697F7B8F6D29}"/>
              </a:ext>
            </a:extLst>
          </p:cNvPr>
          <p:cNvPicPr>
            <a:picLocks noChangeAspect="1"/>
          </p:cNvPicPr>
          <p:nvPr userDrawn="1"/>
        </p:nvPicPr>
        <p:blipFill rotWithShape="1">
          <a:blip r:embed="rId11" cstate="hqprint">
            <a:extLst>
              <a:ext uri="{28A0092B-C50C-407E-A947-70E740481C1C}">
                <a14:useLocalDpi xmlns:a14="http://schemas.microsoft.com/office/drawing/2010/main" val="0"/>
              </a:ext>
            </a:extLst>
          </a:blip>
          <a:srcRect r="14076"/>
          <a:stretch/>
        </p:blipFill>
        <p:spPr>
          <a:xfrm>
            <a:off x="7886110" y="4260381"/>
            <a:ext cx="1810236" cy="2106806"/>
          </a:xfrm>
          <a:prstGeom prst="rect">
            <a:avLst/>
          </a:prstGeom>
        </p:spPr>
      </p:pic>
      <p:pic>
        <p:nvPicPr>
          <p:cNvPr id="14" name="图片 13">
            <a:extLst>
              <a:ext uri="{FF2B5EF4-FFF2-40B4-BE49-F238E27FC236}">
                <a16:creationId xmlns:a16="http://schemas.microsoft.com/office/drawing/2014/main" id="{000B009C-EA5A-4082-BFB6-D4788DDCE4B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8665"/>
          <a:stretch/>
        </p:blipFill>
        <p:spPr>
          <a:xfrm rot="832928">
            <a:off x="-1564731" y="5355830"/>
            <a:ext cx="6994284" cy="3590549"/>
          </a:xfrm>
          <a:prstGeom prst="rect">
            <a:avLst/>
          </a:prstGeom>
        </p:spPr>
      </p:pic>
      <p:pic>
        <p:nvPicPr>
          <p:cNvPr id="15" name="图片 14">
            <a:extLst>
              <a:ext uri="{FF2B5EF4-FFF2-40B4-BE49-F238E27FC236}">
                <a16:creationId xmlns:a16="http://schemas.microsoft.com/office/drawing/2014/main" id="{96609F93-407D-4062-BF59-D3B07CCCF059}"/>
              </a:ext>
            </a:extLst>
          </p:cNvPr>
          <p:cNvPicPr>
            <a:picLocks noChangeAspect="1"/>
          </p:cNvPicPr>
          <p:nvPr userDrawn="1"/>
        </p:nvPicPr>
        <p:blipFill rotWithShape="1">
          <a:blip r:embed="rId15"/>
          <a:srcRect l="1077" t="52715"/>
          <a:stretch/>
        </p:blipFill>
        <p:spPr>
          <a:xfrm>
            <a:off x="0" y="5416078"/>
            <a:ext cx="12192000" cy="1557774"/>
          </a:xfrm>
          <a:prstGeom prst="rect">
            <a:avLst/>
          </a:prstGeom>
        </p:spPr>
      </p:pic>
      <p:pic>
        <p:nvPicPr>
          <p:cNvPr id="27" name="图片 26">
            <a:extLst>
              <a:ext uri="{FF2B5EF4-FFF2-40B4-BE49-F238E27FC236}">
                <a16:creationId xmlns:a16="http://schemas.microsoft.com/office/drawing/2014/main" id="{ECFD1BB8-19C4-4654-89B0-6555818D5EC0}"/>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439532" y="4380005"/>
            <a:ext cx="3587502" cy="3587502"/>
          </a:xfrm>
          <a:prstGeom prst="rect">
            <a:avLst/>
          </a:prstGeom>
        </p:spPr>
      </p:pic>
      <p:pic>
        <p:nvPicPr>
          <p:cNvPr id="19" name="图片 18">
            <a:extLst>
              <a:ext uri="{FF2B5EF4-FFF2-40B4-BE49-F238E27FC236}">
                <a16:creationId xmlns:a16="http://schemas.microsoft.com/office/drawing/2014/main" id="{4627EF09-A3C2-4BB1-A463-A51090F4DB79}"/>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rot="2294969">
            <a:off x="-124138" y="5174798"/>
            <a:ext cx="2520229" cy="2520229"/>
          </a:xfrm>
          <a:prstGeom prst="rect">
            <a:avLst/>
          </a:prstGeom>
        </p:spPr>
      </p:pic>
      <p:pic>
        <p:nvPicPr>
          <p:cNvPr id="28" name="图片 27">
            <a:extLst>
              <a:ext uri="{FF2B5EF4-FFF2-40B4-BE49-F238E27FC236}">
                <a16:creationId xmlns:a16="http://schemas.microsoft.com/office/drawing/2014/main" id="{C4155797-C75E-494F-884A-0656AA35F8AC}"/>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838535" y="6153796"/>
            <a:ext cx="256217" cy="293427"/>
          </a:xfrm>
          <a:prstGeom prst="rect">
            <a:avLst/>
          </a:prstGeom>
        </p:spPr>
      </p:pic>
      <p:pic>
        <p:nvPicPr>
          <p:cNvPr id="29" name="图片 28">
            <a:extLst>
              <a:ext uri="{FF2B5EF4-FFF2-40B4-BE49-F238E27FC236}">
                <a16:creationId xmlns:a16="http://schemas.microsoft.com/office/drawing/2014/main" id="{9F9BA5EA-51F0-4193-9ED2-AECAA5674BA1}"/>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3016230" y="6737253"/>
            <a:ext cx="256217" cy="293427"/>
          </a:xfrm>
          <a:prstGeom prst="rect">
            <a:avLst/>
          </a:prstGeom>
        </p:spPr>
      </p:pic>
      <p:pic>
        <p:nvPicPr>
          <p:cNvPr id="30" name="图片 29">
            <a:extLst>
              <a:ext uri="{FF2B5EF4-FFF2-40B4-BE49-F238E27FC236}">
                <a16:creationId xmlns:a16="http://schemas.microsoft.com/office/drawing/2014/main" id="{3DFB32AB-66A6-4FFC-B32D-988386F5ED48}"/>
              </a:ext>
            </a:extLst>
          </p:cNvPr>
          <p:cNvPicPr>
            <a:picLocks noChangeAspect="1"/>
          </p:cNvPicPr>
          <p:nvPr userDrawn="1"/>
        </p:nvPicPr>
        <p:blipFill>
          <a:blip r:embed="rId18" cstate="hqprint">
            <a:extLst>
              <a:ext uri="{28A0092B-C50C-407E-A947-70E740481C1C}">
                <a14:useLocalDpi xmlns:a14="http://schemas.microsoft.com/office/drawing/2010/main" val="0"/>
              </a:ext>
            </a:extLst>
          </a:blip>
          <a:stretch>
            <a:fillRect/>
          </a:stretch>
        </p:blipFill>
        <p:spPr>
          <a:xfrm rot="7145307">
            <a:off x="3311960" y="6360240"/>
            <a:ext cx="1227221" cy="1227221"/>
          </a:xfrm>
          <a:prstGeom prst="rect">
            <a:avLst/>
          </a:prstGeom>
        </p:spPr>
      </p:pic>
      <p:pic>
        <p:nvPicPr>
          <p:cNvPr id="32" name="图片 31">
            <a:extLst>
              <a:ext uri="{FF2B5EF4-FFF2-40B4-BE49-F238E27FC236}">
                <a16:creationId xmlns:a16="http://schemas.microsoft.com/office/drawing/2014/main" id="{077F3FA7-2B15-442C-874C-7D4699EC4048}"/>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rot="10800000">
            <a:off x="2537795" y="-1934738"/>
            <a:ext cx="3504587" cy="3504587"/>
          </a:xfrm>
          <a:prstGeom prst="rect">
            <a:avLst/>
          </a:prstGeom>
        </p:spPr>
      </p:pic>
      <p:pic>
        <p:nvPicPr>
          <p:cNvPr id="34" name="图片 33">
            <a:extLst>
              <a:ext uri="{FF2B5EF4-FFF2-40B4-BE49-F238E27FC236}">
                <a16:creationId xmlns:a16="http://schemas.microsoft.com/office/drawing/2014/main" id="{258E3EDD-7C76-44AF-A92B-2D0E3D65B9F4}"/>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rot="19449063">
            <a:off x="-4352124" y="9007488"/>
            <a:ext cx="1867692" cy="1867692"/>
          </a:xfrm>
          <a:prstGeom prst="rect">
            <a:avLst/>
          </a:prstGeom>
        </p:spPr>
      </p:pic>
      <p:pic>
        <p:nvPicPr>
          <p:cNvPr id="40" name="图片 39">
            <a:extLst>
              <a:ext uri="{FF2B5EF4-FFF2-40B4-BE49-F238E27FC236}">
                <a16:creationId xmlns:a16="http://schemas.microsoft.com/office/drawing/2014/main" id="{ADCDD936-865E-4CF4-8D3E-321D6E0691E1}"/>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3734579" y="2524878"/>
            <a:ext cx="256217" cy="293427"/>
          </a:xfrm>
          <a:prstGeom prst="rect">
            <a:avLst/>
          </a:prstGeom>
        </p:spPr>
      </p:pic>
      <p:pic>
        <p:nvPicPr>
          <p:cNvPr id="41" name="图片 40">
            <a:extLst>
              <a:ext uri="{FF2B5EF4-FFF2-40B4-BE49-F238E27FC236}">
                <a16:creationId xmlns:a16="http://schemas.microsoft.com/office/drawing/2014/main" id="{C9C610CF-CBAA-4894-A0F5-E236D4CF1F24}"/>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3446762" y="110382"/>
            <a:ext cx="256217" cy="293427"/>
          </a:xfrm>
          <a:prstGeom prst="rect">
            <a:avLst/>
          </a:prstGeom>
        </p:spPr>
      </p:pic>
      <p:pic>
        <p:nvPicPr>
          <p:cNvPr id="42" name="图片 41">
            <a:extLst>
              <a:ext uri="{FF2B5EF4-FFF2-40B4-BE49-F238E27FC236}">
                <a16:creationId xmlns:a16="http://schemas.microsoft.com/office/drawing/2014/main" id="{D608710F-DE21-4716-A121-A5AD172C6BA3}"/>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9715201" y="6379331"/>
            <a:ext cx="256217" cy="293427"/>
          </a:xfrm>
          <a:prstGeom prst="rect">
            <a:avLst/>
          </a:prstGeom>
        </p:spPr>
      </p:pic>
    </p:spTree>
    <p:extLst>
      <p:ext uri="{BB962C8B-B14F-4D97-AF65-F5344CB8AC3E}">
        <p14:creationId xmlns:p14="http://schemas.microsoft.com/office/powerpoint/2010/main" val="36449663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竖排标题与文本">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14240ED0-7BE0-49E3-A153-BE8D1180E96B}"/>
              </a:ext>
            </a:extLst>
          </p:cNvPr>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370463" y="-127142"/>
            <a:ext cx="404336" cy="463057"/>
          </a:xfrm>
          <a:prstGeom prst="rect">
            <a:avLst/>
          </a:prstGeom>
        </p:spPr>
      </p:pic>
      <p:pic>
        <p:nvPicPr>
          <p:cNvPr id="8" name="图片 7">
            <a:extLst>
              <a:ext uri="{FF2B5EF4-FFF2-40B4-BE49-F238E27FC236}">
                <a16:creationId xmlns:a16="http://schemas.microsoft.com/office/drawing/2014/main" id="{2704E37A-FA21-4D1A-98C9-DE37ABE2E992}"/>
              </a:ext>
            </a:extLst>
          </p:cNvPr>
          <p:cNvPicPr>
            <a:picLocks noChangeAspect="1"/>
          </p:cNvPicPr>
          <p:nvPr userDrawn="1"/>
        </p:nvPicPr>
        <p:blipFill rotWithShape="1">
          <a:blip r:embed="rId3" cstate="hqprint">
            <a:extLst>
              <a:ext uri="{28A0092B-C50C-407E-A947-70E740481C1C}">
                <a14:useLocalDpi xmlns:a14="http://schemas.microsoft.com/office/drawing/2010/main" val="0"/>
              </a:ext>
            </a:extLst>
          </a:blip>
          <a:srcRect r="-5788"/>
          <a:stretch/>
        </p:blipFill>
        <p:spPr>
          <a:xfrm>
            <a:off x="7603347" y="173835"/>
            <a:ext cx="404336" cy="463057"/>
          </a:xfrm>
          <a:prstGeom prst="rect">
            <a:avLst/>
          </a:prstGeom>
        </p:spPr>
      </p:pic>
      <p:pic>
        <p:nvPicPr>
          <p:cNvPr id="9" name="图片 8">
            <a:extLst>
              <a:ext uri="{FF2B5EF4-FFF2-40B4-BE49-F238E27FC236}">
                <a16:creationId xmlns:a16="http://schemas.microsoft.com/office/drawing/2014/main" id="{6B1A1F0E-B380-4C95-8264-63EA9D49F65E}"/>
              </a:ext>
            </a:extLst>
          </p:cNvPr>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4695411" y="173836"/>
            <a:ext cx="404336" cy="463057"/>
          </a:xfrm>
          <a:prstGeom prst="rect">
            <a:avLst/>
          </a:prstGeom>
        </p:spPr>
      </p:pic>
      <p:pic>
        <p:nvPicPr>
          <p:cNvPr id="10" name="图片 9">
            <a:extLst>
              <a:ext uri="{FF2B5EF4-FFF2-40B4-BE49-F238E27FC236}">
                <a16:creationId xmlns:a16="http://schemas.microsoft.com/office/drawing/2014/main" id="{E6B1D24D-3F34-44E0-A49A-6C53684037EA}"/>
              </a:ext>
            </a:extLst>
          </p:cNvPr>
          <p:cNvPicPr>
            <a:picLocks noChangeAspect="1"/>
          </p:cNvPicPr>
          <p:nvPr userDrawn="1"/>
        </p:nvPicPr>
        <p:blipFill rotWithShape="1">
          <a:blip r:embed="rId4" cstate="hqprint">
            <a:extLst>
              <a:ext uri="{28A0092B-C50C-407E-A947-70E740481C1C}">
                <a14:useLocalDpi xmlns:a14="http://schemas.microsoft.com/office/drawing/2010/main" val="0"/>
              </a:ext>
            </a:extLst>
          </a:blip>
          <a:srcRect/>
          <a:stretch/>
        </p:blipFill>
        <p:spPr>
          <a:xfrm rot="11700000">
            <a:off x="11641880" y="5362974"/>
            <a:ext cx="404336" cy="463057"/>
          </a:xfrm>
          <a:prstGeom prst="rect">
            <a:avLst/>
          </a:prstGeom>
        </p:spPr>
      </p:pic>
      <p:pic>
        <p:nvPicPr>
          <p:cNvPr id="11" name="图片 10">
            <a:extLst>
              <a:ext uri="{FF2B5EF4-FFF2-40B4-BE49-F238E27FC236}">
                <a16:creationId xmlns:a16="http://schemas.microsoft.com/office/drawing/2014/main" id="{ACF066A8-11FA-4580-8679-10260E6E3EB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50855"/>
          <a:stretch/>
        </p:blipFill>
        <p:spPr>
          <a:xfrm>
            <a:off x="6651041" y="5630779"/>
            <a:ext cx="6858000" cy="3370348"/>
          </a:xfrm>
          <a:prstGeom prst="rect">
            <a:avLst/>
          </a:prstGeom>
        </p:spPr>
      </p:pic>
      <p:sp>
        <p:nvSpPr>
          <p:cNvPr id="12" name="矩形 11">
            <a:extLst>
              <a:ext uri="{FF2B5EF4-FFF2-40B4-BE49-F238E27FC236}">
                <a16:creationId xmlns:a16="http://schemas.microsoft.com/office/drawing/2014/main" id="{44D987F4-6D0D-444F-8AE1-710C6EFA9622}"/>
              </a:ext>
            </a:extLst>
          </p:cNvPr>
          <p:cNvSpPr/>
          <p:nvPr userDrawn="1"/>
        </p:nvSpPr>
        <p:spPr>
          <a:xfrm>
            <a:off x="444522" y="409073"/>
            <a:ext cx="11302955" cy="6125075"/>
          </a:xfrm>
          <a:prstGeom prst="rect">
            <a:avLst/>
          </a:prstGeom>
          <a:solidFill>
            <a:schemeClr val="bg1"/>
          </a:solidFill>
          <a:ln>
            <a:noFill/>
          </a:ln>
          <a:effectLst>
            <a:outerShdw blurRad="50800" dist="508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77096112-1209-443B-B19A-0D9DD3B14AB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rot="495784">
            <a:off x="-110046" y="4720902"/>
            <a:ext cx="2312918" cy="2327889"/>
          </a:xfrm>
          <a:prstGeom prst="rect">
            <a:avLst/>
          </a:prstGeom>
        </p:spPr>
      </p:pic>
      <p:pic>
        <p:nvPicPr>
          <p:cNvPr id="14" name="图片 13">
            <a:extLst>
              <a:ext uri="{FF2B5EF4-FFF2-40B4-BE49-F238E27FC236}">
                <a16:creationId xmlns:a16="http://schemas.microsoft.com/office/drawing/2014/main" id="{000B009C-EA5A-4082-BFB6-D4788DDCE4B3}"/>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48665"/>
          <a:stretch/>
        </p:blipFill>
        <p:spPr>
          <a:xfrm rot="478330">
            <a:off x="-1189223" y="5840789"/>
            <a:ext cx="6994284" cy="3590549"/>
          </a:xfrm>
          <a:prstGeom prst="rect">
            <a:avLst/>
          </a:prstGeom>
        </p:spPr>
      </p:pic>
      <p:pic>
        <p:nvPicPr>
          <p:cNvPr id="15" name="图片 14">
            <a:extLst>
              <a:ext uri="{FF2B5EF4-FFF2-40B4-BE49-F238E27FC236}">
                <a16:creationId xmlns:a16="http://schemas.microsoft.com/office/drawing/2014/main" id="{96609F93-407D-4062-BF59-D3B07CCCF059}"/>
              </a:ext>
            </a:extLst>
          </p:cNvPr>
          <p:cNvPicPr>
            <a:picLocks noChangeAspect="1"/>
          </p:cNvPicPr>
          <p:nvPr userDrawn="1"/>
        </p:nvPicPr>
        <p:blipFill rotWithShape="1">
          <a:blip r:embed="rId7"/>
          <a:srcRect l="1077" t="52715"/>
          <a:stretch/>
        </p:blipFill>
        <p:spPr>
          <a:xfrm>
            <a:off x="0" y="5875263"/>
            <a:ext cx="12192000" cy="1181100"/>
          </a:xfrm>
          <a:prstGeom prst="rect">
            <a:avLst/>
          </a:prstGeom>
        </p:spPr>
      </p:pic>
      <p:pic>
        <p:nvPicPr>
          <p:cNvPr id="16" name="图片 15">
            <a:extLst>
              <a:ext uri="{FF2B5EF4-FFF2-40B4-BE49-F238E27FC236}">
                <a16:creationId xmlns:a16="http://schemas.microsoft.com/office/drawing/2014/main" id="{AB72CBFB-A28A-47ED-897F-3C2A3AEB9CB5}"/>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rot="1142953">
            <a:off x="-1132990" y="-522016"/>
            <a:ext cx="2057400" cy="2057400"/>
          </a:xfrm>
          <a:prstGeom prst="rect">
            <a:avLst/>
          </a:prstGeom>
        </p:spPr>
      </p:pic>
      <p:pic>
        <p:nvPicPr>
          <p:cNvPr id="17" name="图片 16">
            <a:extLst>
              <a:ext uri="{FF2B5EF4-FFF2-40B4-BE49-F238E27FC236}">
                <a16:creationId xmlns:a16="http://schemas.microsoft.com/office/drawing/2014/main" id="{C1EEA55C-9B2D-49ED-884B-62743B81D9F9}"/>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11185888" y="734092"/>
            <a:ext cx="2099970" cy="2099970"/>
          </a:xfrm>
          <a:prstGeom prst="rect">
            <a:avLst/>
          </a:prstGeom>
        </p:spPr>
      </p:pic>
      <p:pic>
        <p:nvPicPr>
          <p:cNvPr id="18" name="图片 17">
            <a:extLst>
              <a:ext uri="{FF2B5EF4-FFF2-40B4-BE49-F238E27FC236}">
                <a16:creationId xmlns:a16="http://schemas.microsoft.com/office/drawing/2014/main" id="{A5A304EC-E88B-4E12-9730-6FEDB5C3A96C}"/>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780052" y="-410425"/>
            <a:ext cx="2911642" cy="2911642"/>
          </a:xfrm>
          <a:prstGeom prst="rect">
            <a:avLst/>
          </a:prstGeom>
        </p:spPr>
      </p:pic>
      <p:pic>
        <p:nvPicPr>
          <p:cNvPr id="19" name="图片 18">
            <a:extLst>
              <a:ext uri="{FF2B5EF4-FFF2-40B4-BE49-F238E27FC236}">
                <a16:creationId xmlns:a16="http://schemas.microsoft.com/office/drawing/2014/main" id="{4627EF09-A3C2-4BB1-A463-A51090F4DB79}"/>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rot="2294969">
            <a:off x="-147370" y="5630393"/>
            <a:ext cx="2106806" cy="2106806"/>
          </a:xfrm>
          <a:prstGeom prst="rect">
            <a:avLst/>
          </a:prstGeom>
        </p:spPr>
      </p:pic>
      <p:pic>
        <p:nvPicPr>
          <p:cNvPr id="20" name="图片 19">
            <a:extLst>
              <a:ext uri="{FF2B5EF4-FFF2-40B4-BE49-F238E27FC236}">
                <a16:creationId xmlns:a16="http://schemas.microsoft.com/office/drawing/2014/main" id="{8F98C993-71AC-421D-BCFA-697F7B8F6D29}"/>
              </a:ext>
            </a:extLst>
          </p:cNvPr>
          <p:cNvPicPr>
            <a:picLocks noChangeAspect="1"/>
          </p:cNvPicPr>
          <p:nvPr userDrawn="1"/>
        </p:nvPicPr>
        <p:blipFill rotWithShape="1">
          <a:blip r:embed="rId11" cstate="hqprint">
            <a:extLst>
              <a:ext uri="{28A0092B-C50C-407E-A947-70E740481C1C}">
                <a14:useLocalDpi xmlns:a14="http://schemas.microsoft.com/office/drawing/2010/main" val="0"/>
              </a:ext>
            </a:extLst>
          </a:blip>
          <a:srcRect r="14076"/>
          <a:stretch/>
        </p:blipFill>
        <p:spPr>
          <a:xfrm>
            <a:off x="10220906" y="5100393"/>
            <a:ext cx="1810236" cy="2106806"/>
          </a:xfrm>
          <a:prstGeom prst="rect">
            <a:avLst/>
          </a:prstGeom>
        </p:spPr>
      </p:pic>
      <p:pic>
        <p:nvPicPr>
          <p:cNvPr id="21" name="图片 20">
            <a:extLst>
              <a:ext uri="{FF2B5EF4-FFF2-40B4-BE49-F238E27FC236}">
                <a16:creationId xmlns:a16="http://schemas.microsoft.com/office/drawing/2014/main" id="{732B7B05-201F-476A-BBA1-DA2EADFD2F7C}"/>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053553" y="5911670"/>
            <a:ext cx="2037488" cy="2037488"/>
          </a:xfrm>
          <a:prstGeom prst="rect">
            <a:avLst/>
          </a:prstGeom>
        </p:spPr>
      </p:pic>
      <p:pic>
        <p:nvPicPr>
          <p:cNvPr id="22" name="图片 21">
            <a:extLst>
              <a:ext uri="{FF2B5EF4-FFF2-40B4-BE49-F238E27FC236}">
                <a16:creationId xmlns:a16="http://schemas.microsoft.com/office/drawing/2014/main" id="{927132A0-C21C-48E9-BA76-C35F4631302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3425056" y="6365846"/>
            <a:ext cx="2213811" cy="2213811"/>
          </a:xfrm>
          <a:prstGeom prst="rect">
            <a:avLst/>
          </a:prstGeom>
        </p:spPr>
      </p:pic>
      <p:pic>
        <p:nvPicPr>
          <p:cNvPr id="23" name="图片 22">
            <a:extLst>
              <a:ext uri="{FF2B5EF4-FFF2-40B4-BE49-F238E27FC236}">
                <a16:creationId xmlns:a16="http://schemas.microsoft.com/office/drawing/2014/main" id="{8F63EF8C-CE29-444B-B6A7-8742FC8744ED}"/>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11364458" y="2192979"/>
            <a:ext cx="1932204" cy="1932204"/>
          </a:xfrm>
          <a:prstGeom prst="rect">
            <a:avLst/>
          </a:prstGeom>
        </p:spPr>
      </p:pic>
      <p:pic>
        <p:nvPicPr>
          <p:cNvPr id="24" name="图片 23">
            <a:extLst>
              <a:ext uri="{FF2B5EF4-FFF2-40B4-BE49-F238E27FC236}">
                <a16:creationId xmlns:a16="http://schemas.microsoft.com/office/drawing/2014/main" id="{B92D2615-5F7D-4CA1-9C30-3B61BCDE79AA}"/>
              </a:ext>
            </a:extLst>
          </p:cNvPr>
          <p:cNvPicPr>
            <a:picLocks noChangeAspect="1"/>
          </p:cNvPicPr>
          <p:nvPr userDrawn="1"/>
        </p:nvPicPr>
        <p:blipFill>
          <a:blip r:embed="rId15" cstate="hqprint">
            <a:extLst>
              <a:ext uri="{28A0092B-C50C-407E-A947-70E740481C1C}">
                <a14:useLocalDpi xmlns:a14="http://schemas.microsoft.com/office/drawing/2010/main" val="0"/>
              </a:ext>
            </a:extLst>
          </a:blip>
          <a:stretch>
            <a:fillRect/>
          </a:stretch>
        </p:blipFill>
        <p:spPr>
          <a:xfrm>
            <a:off x="-871643" y="2009118"/>
            <a:ext cx="1734938" cy="1734938"/>
          </a:xfrm>
          <a:prstGeom prst="rect">
            <a:avLst/>
          </a:prstGeom>
        </p:spPr>
      </p:pic>
      <p:pic>
        <p:nvPicPr>
          <p:cNvPr id="25" name="图片 24">
            <a:extLst>
              <a:ext uri="{FF2B5EF4-FFF2-40B4-BE49-F238E27FC236}">
                <a16:creationId xmlns:a16="http://schemas.microsoft.com/office/drawing/2014/main" id="{2C1798D6-229F-4AA9-9F05-A266B33EF162}"/>
              </a:ext>
            </a:extLst>
          </p:cNvPr>
          <p:cNvPicPr>
            <a:picLocks noChangeAspect="1"/>
          </p:cNvPicPr>
          <p:nvPr userDrawn="1"/>
        </p:nvPicPr>
        <p:blipFill>
          <a:blip r:embed="rId16" cstate="hqprint">
            <a:extLst>
              <a:ext uri="{28A0092B-C50C-407E-A947-70E740481C1C}">
                <a14:useLocalDpi xmlns:a14="http://schemas.microsoft.com/office/drawing/2010/main" val="0"/>
              </a:ext>
            </a:extLst>
          </a:blip>
          <a:stretch>
            <a:fillRect/>
          </a:stretch>
        </p:blipFill>
        <p:spPr>
          <a:xfrm rot="3147629">
            <a:off x="-474658" y="2743523"/>
            <a:ext cx="1370954" cy="1370954"/>
          </a:xfrm>
          <a:prstGeom prst="rect">
            <a:avLst/>
          </a:prstGeom>
        </p:spPr>
      </p:pic>
      <p:pic>
        <p:nvPicPr>
          <p:cNvPr id="26" name="图片 25">
            <a:extLst>
              <a:ext uri="{FF2B5EF4-FFF2-40B4-BE49-F238E27FC236}">
                <a16:creationId xmlns:a16="http://schemas.microsoft.com/office/drawing/2014/main" id="{4213BAF1-A4A4-45F8-AC2E-FF0F504860A4}"/>
              </a:ext>
            </a:extLst>
          </p:cNvPr>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9270847" y="-30630"/>
            <a:ext cx="404336" cy="463057"/>
          </a:xfrm>
          <a:prstGeom prst="rect">
            <a:avLst/>
          </a:prstGeom>
        </p:spPr>
      </p:pic>
      <p:pic>
        <p:nvPicPr>
          <p:cNvPr id="27" name="图片 26">
            <a:extLst>
              <a:ext uri="{FF2B5EF4-FFF2-40B4-BE49-F238E27FC236}">
                <a16:creationId xmlns:a16="http://schemas.microsoft.com/office/drawing/2014/main" id="{ECFD1BB8-19C4-4654-89B0-6555818D5EC0}"/>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10849726" y="5791398"/>
            <a:ext cx="2028527" cy="2028527"/>
          </a:xfrm>
          <a:prstGeom prst="rect">
            <a:avLst/>
          </a:prstGeom>
        </p:spPr>
      </p:pic>
      <p:pic>
        <p:nvPicPr>
          <p:cNvPr id="28" name="图片 27">
            <a:extLst>
              <a:ext uri="{FF2B5EF4-FFF2-40B4-BE49-F238E27FC236}">
                <a16:creationId xmlns:a16="http://schemas.microsoft.com/office/drawing/2014/main" id="{C4155797-C75E-494F-884A-0656AA35F8AC}"/>
              </a:ext>
            </a:extLst>
          </p:cNvPr>
          <p:cNvPicPr>
            <a:picLocks noChangeAspect="1"/>
          </p:cNvPicPr>
          <p:nvPr userDrawn="1"/>
        </p:nvPicPr>
        <p:blipFill rotWithShape="1">
          <a:blip r:embed="rId18" cstate="hqprint">
            <a:extLst>
              <a:ext uri="{28A0092B-C50C-407E-A947-70E740481C1C}">
                <a14:useLocalDpi xmlns:a14="http://schemas.microsoft.com/office/drawing/2010/main" val="0"/>
              </a:ext>
            </a:extLst>
          </a:blip>
          <a:srcRect r="-5788"/>
          <a:stretch/>
        </p:blipFill>
        <p:spPr>
          <a:xfrm>
            <a:off x="444523" y="6009689"/>
            <a:ext cx="256217" cy="293427"/>
          </a:xfrm>
          <a:prstGeom prst="rect">
            <a:avLst/>
          </a:prstGeom>
        </p:spPr>
      </p:pic>
      <p:pic>
        <p:nvPicPr>
          <p:cNvPr id="29" name="图片 28">
            <a:extLst>
              <a:ext uri="{FF2B5EF4-FFF2-40B4-BE49-F238E27FC236}">
                <a16:creationId xmlns:a16="http://schemas.microsoft.com/office/drawing/2014/main" id="{9F9BA5EA-51F0-4193-9ED2-AECAA5674BA1}"/>
              </a:ext>
            </a:extLst>
          </p:cNvPr>
          <p:cNvPicPr>
            <a:picLocks noChangeAspect="1"/>
          </p:cNvPicPr>
          <p:nvPr userDrawn="1"/>
        </p:nvPicPr>
        <p:blipFill rotWithShape="1">
          <a:blip r:embed="rId18" cstate="hqprint">
            <a:extLst>
              <a:ext uri="{28A0092B-C50C-407E-A947-70E740481C1C}">
                <a14:useLocalDpi xmlns:a14="http://schemas.microsoft.com/office/drawing/2010/main" val="0"/>
              </a:ext>
            </a:extLst>
          </a:blip>
          <a:srcRect r="-5788"/>
          <a:stretch/>
        </p:blipFill>
        <p:spPr>
          <a:xfrm>
            <a:off x="3016230" y="6737253"/>
            <a:ext cx="256217" cy="293427"/>
          </a:xfrm>
          <a:prstGeom prst="rect">
            <a:avLst/>
          </a:prstGeom>
        </p:spPr>
      </p:pic>
      <p:pic>
        <p:nvPicPr>
          <p:cNvPr id="30" name="图片 29">
            <a:extLst>
              <a:ext uri="{FF2B5EF4-FFF2-40B4-BE49-F238E27FC236}">
                <a16:creationId xmlns:a16="http://schemas.microsoft.com/office/drawing/2014/main" id="{3DFB32AB-66A6-4FFC-B32D-988386F5ED48}"/>
              </a:ext>
            </a:extLst>
          </p:cNvPr>
          <p:cNvPicPr>
            <a:picLocks noChangeAspect="1"/>
          </p:cNvPicPr>
          <p:nvPr userDrawn="1"/>
        </p:nvPicPr>
        <p:blipFill>
          <a:blip r:embed="rId19" cstate="hqprint">
            <a:extLst>
              <a:ext uri="{28A0092B-C50C-407E-A947-70E740481C1C}">
                <a14:useLocalDpi xmlns:a14="http://schemas.microsoft.com/office/drawing/2010/main" val="0"/>
              </a:ext>
            </a:extLst>
          </a:blip>
          <a:stretch>
            <a:fillRect/>
          </a:stretch>
        </p:blipFill>
        <p:spPr>
          <a:xfrm rot="7145307">
            <a:off x="3311960" y="6360240"/>
            <a:ext cx="1227221" cy="1227221"/>
          </a:xfrm>
          <a:prstGeom prst="rect">
            <a:avLst/>
          </a:prstGeom>
        </p:spPr>
      </p:pic>
    </p:spTree>
    <p:extLst>
      <p:ext uri="{BB962C8B-B14F-4D97-AF65-F5344CB8AC3E}">
        <p14:creationId xmlns:p14="http://schemas.microsoft.com/office/powerpoint/2010/main" val="36132403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840568"/>
            <a:ext cx="10363200" cy="1960033"/>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8801" y="5181601"/>
            <a:ext cx="8534400" cy="2336800"/>
          </a:xfrm>
          <a:prstGeom prst="rect">
            <a:avLst/>
          </a:prstGeom>
        </p:spPr>
        <p:txBody>
          <a:bodyPr/>
          <a:lstStyle>
            <a:lvl1pPr marL="0" indent="0" algn="ctr">
              <a:buNone/>
              <a:defRPr>
                <a:solidFill>
                  <a:schemeClr val="tx1">
                    <a:tint val="75000"/>
                  </a:schemeClr>
                </a:solidFill>
              </a:defRPr>
            </a:lvl1pPr>
            <a:lvl2pPr marL="609295" indent="0" algn="ctr">
              <a:buNone/>
              <a:defRPr>
                <a:solidFill>
                  <a:schemeClr val="tx1">
                    <a:tint val="75000"/>
                  </a:schemeClr>
                </a:solidFill>
              </a:defRPr>
            </a:lvl2pPr>
            <a:lvl3pPr marL="1219225" indent="0" algn="ctr">
              <a:buNone/>
              <a:defRPr>
                <a:solidFill>
                  <a:schemeClr val="tx1">
                    <a:tint val="75000"/>
                  </a:schemeClr>
                </a:solidFill>
              </a:defRPr>
            </a:lvl3pPr>
            <a:lvl4pPr marL="1828520" indent="0" algn="ctr">
              <a:buNone/>
              <a:defRPr>
                <a:solidFill>
                  <a:schemeClr val="tx1">
                    <a:tint val="75000"/>
                  </a:schemeClr>
                </a:solidFill>
              </a:defRPr>
            </a:lvl4pPr>
            <a:lvl5pPr marL="2437815" indent="0" algn="ctr">
              <a:buNone/>
              <a:defRPr>
                <a:solidFill>
                  <a:schemeClr val="tx1">
                    <a:tint val="75000"/>
                  </a:schemeClr>
                </a:solidFill>
              </a:defRPr>
            </a:lvl5pPr>
            <a:lvl6pPr marL="3047745" indent="0" algn="ctr">
              <a:buNone/>
              <a:defRPr>
                <a:solidFill>
                  <a:schemeClr val="tx1">
                    <a:tint val="75000"/>
                  </a:schemeClr>
                </a:solidFill>
              </a:defRPr>
            </a:lvl6pPr>
            <a:lvl7pPr marL="3657041" indent="0" algn="ctr">
              <a:buNone/>
              <a:defRPr>
                <a:solidFill>
                  <a:schemeClr val="tx1">
                    <a:tint val="75000"/>
                  </a:schemeClr>
                </a:solidFill>
              </a:defRPr>
            </a:lvl7pPr>
            <a:lvl8pPr marL="4266336" indent="0" algn="ctr">
              <a:buNone/>
              <a:defRPr>
                <a:solidFill>
                  <a:schemeClr val="tx1">
                    <a:tint val="75000"/>
                  </a:schemeClr>
                </a:solidFill>
              </a:defRPr>
            </a:lvl8pPr>
            <a:lvl9pPr marL="487626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218040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838201" y="1209823"/>
            <a:ext cx="10781714" cy="524724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Content Placeholder 2"/>
          <p:cNvSpPr>
            <a:spLocks noGrp="1"/>
          </p:cNvSpPr>
          <p:nvPr>
            <p:ph idx="13"/>
          </p:nvPr>
        </p:nvSpPr>
        <p:spPr>
          <a:xfrm>
            <a:off x="841375" y="739180"/>
            <a:ext cx="10747058" cy="464458"/>
          </a:xfrm>
          <a:prstGeom prst="rect">
            <a:avLst/>
          </a:prstGeom>
        </p:spPr>
        <p:txBody>
          <a:bodyPr/>
          <a:lstStyle>
            <a:lvl1pPr marL="0" indent="0">
              <a:lnSpc>
                <a:spcPct val="120000"/>
              </a:lnSpc>
              <a:buSzPct val="80000"/>
              <a:buFont typeface="Wingdings" panose="05000000000000000000" pitchFamily="2" charset="2"/>
              <a:buNone/>
              <a:defRPr b="0">
                <a:solidFill>
                  <a:srgbClr val="07836E"/>
                </a:solidFill>
              </a:defRPr>
            </a:lvl1pPr>
          </a:lstStyle>
          <a:p>
            <a:pPr lvl="0"/>
            <a:r>
              <a:rPr lang="en-US" dirty="0"/>
              <a:t>Click to edit Master text styles</a:t>
            </a:r>
          </a:p>
        </p:txBody>
      </p:sp>
    </p:spTree>
    <p:extLst>
      <p:ext uri="{BB962C8B-B14F-4D97-AF65-F5344CB8AC3E}">
        <p14:creationId xmlns:p14="http://schemas.microsoft.com/office/powerpoint/2010/main" val="1922672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70B0B79-C3CF-4125-82B7-4936F71F6F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ACE523E-5A35-4FCD-B81B-0809C21AEE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2DD2808-2C8F-4F14-84D5-28C4CC7460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D19352-EDEF-4CE6-A9AA-7F307EF05D9C}" type="datetimeFigureOut">
              <a:rPr lang="zh-CN" altLang="en-US" smtClean="0"/>
              <a:t>2026/9/7</a:t>
            </a:fld>
            <a:endParaRPr lang="zh-CN" altLang="en-US"/>
          </a:p>
        </p:txBody>
      </p:sp>
      <p:sp>
        <p:nvSpPr>
          <p:cNvPr id="5" name="页脚占位符 4">
            <a:extLst>
              <a:ext uri="{FF2B5EF4-FFF2-40B4-BE49-F238E27FC236}">
                <a16:creationId xmlns:a16="http://schemas.microsoft.com/office/drawing/2014/main" id="{D18AB9A6-F346-4484-BA6E-F999D8C611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C7D7757-23C2-435A-A0E8-96D44EACA6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3769146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750901" y="1693010"/>
            <a:ext cx="8802855" cy="1015663"/>
          </a:xfrm>
          <a:prstGeom prst="rect">
            <a:avLst/>
          </a:prstGeom>
        </p:spPr>
        <p:txBody>
          <a:bodyPr wrap="square">
            <a:spAutoFit/>
          </a:bodyPr>
          <a:lstStyle/>
          <a:p>
            <a:pPr algn="ctr">
              <a:defRPr/>
            </a:pPr>
            <a:r>
              <a:rPr lang="en-US" altLang="zh-CN" sz="6000" b="1" dirty="0">
                <a:latin typeface="宋体" panose="02010600030101010101" pitchFamily="2" charset="-122"/>
                <a:ea typeface="宋体" panose="02010600030101010101" pitchFamily="2" charset="-122"/>
              </a:rPr>
              <a:t>《</a:t>
            </a:r>
            <a:r>
              <a:rPr lang="zh-CN" altLang="en-US" sz="6000" b="1" dirty="0">
                <a:latin typeface="宋体" panose="02010600030101010101" pitchFamily="2" charset="-122"/>
                <a:ea typeface="宋体" panose="02010600030101010101" pitchFamily="2" charset="-122"/>
              </a:rPr>
              <a:t>数据库原理与应用</a:t>
            </a:r>
            <a:r>
              <a:rPr lang="en-US" altLang="zh-CN" sz="6000" b="1" dirty="0">
                <a:latin typeface="宋体" panose="02010600030101010101" pitchFamily="2" charset="-122"/>
                <a:ea typeface="宋体" panose="02010600030101010101" pitchFamily="2" charset="-122"/>
              </a:rPr>
              <a:t>》</a:t>
            </a:r>
            <a:endParaRPr lang="zh-CN" altLang="en-US" sz="6000" b="1" dirty="0">
              <a:latin typeface="宋体" panose="02010600030101010101" pitchFamily="2" charset="-122"/>
              <a:ea typeface="宋体" panose="02010600030101010101" pitchFamily="2" charset="-122"/>
            </a:endParaRPr>
          </a:p>
        </p:txBody>
      </p:sp>
      <p:sp>
        <p:nvSpPr>
          <p:cNvPr id="13" name="副标题 3074"/>
          <p:cNvSpPr txBox="1"/>
          <p:nvPr/>
        </p:nvSpPr>
        <p:spPr>
          <a:xfrm>
            <a:off x="4739417" y="3281725"/>
            <a:ext cx="3406374" cy="14123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kumimoji="1" lang="zh-CN" altLang="en-US" sz="2400" b="1" dirty="0">
                <a:latin typeface="仿宋" panose="02010609060101010101" pitchFamily="49" charset="-122"/>
                <a:ea typeface="仿宋" panose="02010609060101010101" pitchFamily="49" charset="-122"/>
                <a:cs typeface="Verdana" panose="020B0604030504040204"/>
              </a:rPr>
              <a:t>授课教师</a:t>
            </a:r>
            <a:r>
              <a:rPr kumimoji="1" lang="zh-CN" altLang="zh-CN" sz="2400" b="1" dirty="0">
                <a:latin typeface="仿宋" panose="02010609060101010101" pitchFamily="49" charset="-122"/>
                <a:ea typeface="仿宋" panose="02010609060101010101" pitchFamily="49" charset="-122"/>
                <a:cs typeface="Verdana" panose="020B0604030504040204"/>
              </a:rPr>
              <a:t>：</a:t>
            </a:r>
            <a:r>
              <a:rPr kumimoji="1" lang="zh-CN" altLang="en-US" sz="2400" b="1" dirty="0">
                <a:latin typeface="仿宋" panose="02010609060101010101" pitchFamily="49" charset="-122"/>
                <a:ea typeface="仿宋" panose="02010609060101010101" pitchFamily="49" charset="-122"/>
                <a:cs typeface="Verdana" panose="020B0604030504040204"/>
              </a:rPr>
              <a:t>王晨</a:t>
            </a:r>
            <a:br>
              <a:rPr kumimoji="1" lang="en-US" altLang="zh-CN" sz="2400" b="1" dirty="0">
                <a:latin typeface="仿宋" panose="02010609060101010101" pitchFamily="49" charset="-122"/>
                <a:ea typeface="仿宋" panose="02010609060101010101" pitchFamily="49" charset="-122"/>
                <a:cs typeface="Verdana" panose="020B0604030504040204"/>
              </a:rPr>
            </a:br>
            <a:r>
              <a:rPr kumimoji="1" lang="zh-CN" altLang="en-US" sz="2400" b="1" dirty="0">
                <a:latin typeface="仿宋" panose="02010609060101010101" pitchFamily="49" charset="-122"/>
                <a:ea typeface="仿宋" panose="02010609060101010101" pitchFamily="49" charset="-122"/>
                <a:cs typeface="Verdana" panose="020B0604030504040204"/>
              </a:rPr>
              <a:t>办公室：</a:t>
            </a:r>
            <a:r>
              <a:rPr kumimoji="1" lang="en-US" altLang="zh-CN" sz="2400" b="1" dirty="0">
                <a:latin typeface="仿宋" panose="02010609060101010101" pitchFamily="49" charset="-122"/>
                <a:ea typeface="仿宋" panose="02010609060101010101" pitchFamily="49" charset="-122"/>
                <a:cs typeface="Verdana" panose="020B0604030504040204"/>
              </a:rPr>
              <a:t>15#116</a:t>
            </a:r>
          </a:p>
          <a:p>
            <a:pPr marL="0" indent="0">
              <a:lnSpc>
                <a:spcPct val="150000"/>
              </a:lnSpc>
              <a:buNone/>
            </a:pPr>
            <a:r>
              <a:rPr kumimoji="1" lang="zh-CN" altLang="en-US" sz="2400" b="1" dirty="0">
                <a:latin typeface="仿宋" panose="02010609060101010101" pitchFamily="49" charset="-122"/>
                <a:ea typeface="仿宋" panose="02010609060101010101" pitchFamily="49" charset="-122"/>
                <a:cs typeface="Verdana" panose="020B0604030504040204"/>
              </a:rPr>
              <a:t>电话：</a:t>
            </a:r>
            <a:r>
              <a:rPr kumimoji="1" lang="en-US" altLang="zh-CN" sz="2400" b="1" dirty="0">
                <a:latin typeface="仿宋" panose="02010609060101010101" pitchFamily="49" charset="-122"/>
                <a:ea typeface="仿宋" panose="02010609060101010101" pitchFamily="49" charset="-122"/>
                <a:cs typeface="Verdana" panose="020B0604030504040204"/>
              </a:rPr>
              <a:t>17786379422</a:t>
            </a:r>
          </a:p>
        </p:txBody>
      </p:sp>
      <p:sp>
        <p:nvSpPr>
          <p:cNvPr id="10" name="副标题 3074"/>
          <p:cNvSpPr txBox="1"/>
          <p:nvPr/>
        </p:nvSpPr>
        <p:spPr>
          <a:xfrm>
            <a:off x="3701592" y="5481431"/>
            <a:ext cx="4901472" cy="4680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kumimoji="1" lang="zh-CN" altLang="en-US" b="1" dirty="0">
                <a:solidFill>
                  <a:srgbClr val="5A7A92"/>
                </a:solidFill>
                <a:latin typeface="宋体" panose="02010600030101010101" pitchFamily="2" charset="-122"/>
                <a:ea typeface="宋体" panose="02010600030101010101" pitchFamily="2" charset="-122"/>
                <a:cs typeface="Verdana" panose="020B0604030504040204"/>
              </a:rPr>
              <a:t>计算机与自动化学院</a:t>
            </a:r>
            <a:endParaRPr kumimoji="1" lang="en-US" altLang="zh-CN" b="1" dirty="0">
              <a:solidFill>
                <a:srgbClr val="5A7A92"/>
              </a:solidFill>
              <a:latin typeface="宋体" panose="02010600030101010101" pitchFamily="2" charset="-122"/>
              <a:ea typeface="宋体" panose="02010600030101010101" pitchFamily="2" charset="-122"/>
              <a:cs typeface="Verdana" panose="020B0604030504040204"/>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BBD69-E26E-A8DD-D7E7-2A0B925AA9A2}"/>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1B469ABC-6117-20A0-8D97-2121A7AC0A7A}"/>
              </a:ext>
            </a:extLst>
          </p:cNvPr>
          <p:cNvSpPr>
            <a:spLocks noGrp="1"/>
          </p:cNvSpPr>
          <p:nvPr>
            <p:ph type="title" idx="4294967295"/>
          </p:nvPr>
        </p:nvSpPr>
        <p:spPr>
          <a:xfrm>
            <a:off x="818372" y="685308"/>
            <a:ext cx="2741613" cy="428625"/>
          </a:xfrm>
        </p:spPr>
        <p:txBody>
          <a:bodyPr>
            <a:normAutofit fontScale="90000"/>
          </a:bodyPr>
          <a:lstStyle/>
          <a:p>
            <a:r>
              <a:rPr lang="zh-CN" altLang="en-US" b="1" dirty="0">
                <a:latin typeface="微软雅黑" panose="020B0503020204020204" pitchFamily="34" charset="-122"/>
                <a:ea typeface="微软雅黑" panose="020B0503020204020204" pitchFamily="34" charset="-122"/>
              </a:rPr>
              <a:t>本章目录</a:t>
            </a:r>
          </a:p>
        </p:txBody>
      </p:sp>
      <p:grpSp>
        <p:nvGrpSpPr>
          <p:cNvPr id="5" name="组合 4">
            <a:extLst>
              <a:ext uri="{FF2B5EF4-FFF2-40B4-BE49-F238E27FC236}">
                <a16:creationId xmlns:a16="http://schemas.microsoft.com/office/drawing/2014/main" id="{61E963D3-081A-D7D7-A90C-7CAEDDE93A16}"/>
              </a:ext>
            </a:extLst>
          </p:cNvPr>
          <p:cNvGrpSpPr/>
          <p:nvPr/>
        </p:nvGrpSpPr>
        <p:grpSpPr>
          <a:xfrm>
            <a:off x="684987" y="1524761"/>
            <a:ext cx="4809167" cy="626329"/>
            <a:chOff x="1288061" y="2521302"/>
            <a:chExt cx="4908997" cy="626655"/>
          </a:xfrm>
        </p:grpSpPr>
        <p:sp>
          <p:nvSpPr>
            <p:cNvPr id="7" name="TextBox 6">
              <a:extLst>
                <a:ext uri="{FF2B5EF4-FFF2-40B4-BE49-F238E27FC236}">
                  <a16:creationId xmlns:a16="http://schemas.microsoft.com/office/drawing/2014/main" id="{D53816B7-1924-FE8A-EF7C-7D58439183D3}"/>
                </a:ext>
              </a:extLst>
            </p:cNvPr>
            <p:cNvSpPr txBox="1"/>
            <p:nvPr/>
          </p:nvSpPr>
          <p:spPr>
            <a:xfrm>
              <a:off x="2003466" y="2537139"/>
              <a:ext cx="4193592" cy="460767"/>
            </a:xfrm>
            <a:prstGeom prst="rect">
              <a:avLst/>
            </a:prstGeom>
            <a:solidFill>
              <a:srgbClr val="FF0000"/>
            </a:solidFill>
          </p:spPr>
          <p:txBody>
            <a:bodyPr wrap="square" rtlCol="0">
              <a:spAutoFit/>
            </a:bodyPr>
            <a:lstStyle/>
            <a:p>
              <a:pPr>
                <a:lnSpc>
                  <a:spcPct val="130000"/>
                </a:lnSpc>
              </a:pPr>
              <a:r>
                <a:rPr lang="zh-CN" altLang="en-US" sz="1999" dirty="0"/>
                <a:t>信息、数据、数据处理与数据管理</a:t>
              </a:r>
            </a:p>
          </p:txBody>
        </p:sp>
        <p:cxnSp>
          <p:nvCxnSpPr>
            <p:cNvPr id="8" name="直接连接符 7">
              <a:extLst>
                <a:ext uri="{FF2B5EF4-FFF2-40B4-BE49-F238E27FC236}">
                  <a16:creationId xmlns:a16="http://schemas.microsoft.com/office/drawing/2014/main" id="{AD41ED02-B08B-0D27-00F5-00A3C4428996}"/>
                </a:ext>
              </a:extLst>
            </p:cNvPr>
            <p:cNvCxnSpPr>
              <a:cxnSpLocks/>
            </p:cNvCxnSpPr>
            <p:nvPr/>
          </p:nvCxnSpPr>
          <p:spPr bwMode="auto">
            <a:xfrm>
              <a:off x="1374775" y="3147957"/>
              <a:ext cx="4777479" cy="0"/>
            </a:xfrm>
            <a:prstGeom prst="line">
              <a:avLst/>
            </a:prstGeom>
            <a:solidFill>
              <a:schemeClr val="accent1"/>
            </a:solidFill>
            <a:ln w="28575" cap="flat" cmpd="sng" algn="ctr">
              <a:solidFill>
                <a:srgbClr val="FFC000"/>
              </a:solidFill>
              <a:prstDash val="solid"/>
              <a:round/>
              <a:headEnd type="none" w="med" len="med"/>
              <a:tailEnd type="none" w="med" len="med"/>
            </a:ln>
            <a:effectLst/>
          </p:spPr>
        </p:cxnSp>
        <p:grpSp>
          <p:nvGrpSpPr>
            <p:cNvPr id="10" name="组合 9">
              <a:extLst>
                <a:ext uri="{FF2B5EF4-FFF2-40B4-BE49-F238E27FC236}">
                  <a16:creationId xmlns:a16="http://schemas.microsoft.com/office/drawing/2014/main" id="{7B7609EF-E8F7-0A24-A650-A478872ED7B5}"/>
                </a:ext>
              </a:extLst>
            </p:cNvPr>
            <p:cNvGrpSpPr/>
            <p:nvPr/>
          </p:nvGrpSpPr>
          <p:grpSpPr>
            <a:xfrm>
              <a:off x="1288061" y="2521302"/>
              <a:ext cx="590716" cy="626655"/>
              <a:chOff x="6242320" y="1105727"/>
              <a:chExt cx="590408" cy="626656"/>
            </a:xfrm>
          </p:grpSpPr>
          <p:sp>
            <p:nvSpPr>
              <p:cNvPr id="11" name="TextBox 6">
                <a:extLst>
                  <a:ext uri="{FF2B5EF4-FFF2-40B4-BE49-F238E27FC236}">
                    <a16:creationId xmlns:a16="http://schemas.microsoft.com/office/drawing/2014/main" id="{5D2CA67D-2435-E399-068F-BD965330A3A6}"/>
                  </a:ext>
                </a:extLst>
              </p:cNvPr>
              <p:cNvSpPr txBox="1"/>
              <p:nvPr/>
            </p:nvSpPr>
            <p:spPr>
              <a:xfrm>
                <a:off x="6327224" y="1105727"/>
                <a:ext cx="448425" cy="492443"/>
              </a:xfrm>
              <a:prstGeom prst="rect">
                <a:avLst/>
              </a:prstGeom>
              <a:noFill/>
            </p:spPr>
            <p:txBody>
              <a:bodyPr vert="horz" wrap="square" lIns="0" tIns="0" rIns="0" bIns="0" rtlCol="0" anchor="ctr">
                <a:spAutoFit/>
              </a:bodyPr>
              <a:lstStyle/>
              <a:p>
                <a:pPr algn="l"/>
                <a:r>
                  <a:rPr lang="en-US" altLang="zh-CN" sz="3198" dirty="0">
                    <a:solidFill>
                      <a:srgbClr val="FF9900"/>
                    </a:solidFill>
                    <a:latin typeface="Impact" panose="020B0806030902050204" pitchFamily="34" charset="0"/>
                    <a:ea typeface="微软雅黑" panose="020B0503020204020204" pitchFamily="34" charset="-122"/>
                  </a:rPr>
                  <a:t>01</a:t>
                </a:r>
                <a:endParaRPr lang="zh-CN" altLang="en-US" sz="3198" dirty="0">
                  <a:solidFill>
                    <a:srgbClr val="FF9900"/>
                  </a:solidFill>
                  <a:latin typeface="微软雅黑" panose="020B0503020204020204" pitchFamily="34" charset="-122"/>
                  <a:ea typeface="微软雅黑" panose="020B0503020204020204" pitchFamily="34" charset="-122"/>
                </a:endParaRPr>
              </a:p>
            </p:txBody>
          </p:sp>
          <p:sp>
            <p:nvSpPr>
              <p:cNvPr id="12" name="文本框 22">
                <a:extLst>
                  <a:ext uri="{FF2B5EF4-FFF2-40B4-BE49-F238E27FC236}">
                    <a16:creationId xmlns:a16="http://schemas.microsoft.com/office/drawing/2014/main" id="{BF505BB1-EB2A-A281-E414-36BC08AE9EA6}"/>
                  </a:ext>
                </a:extLst>
              </p:cNvPr>
              <p:cNvSpPr txBox="1"/>
              <p:nvPr/>
            </p:nvSpPr>
            <p:spPr>
              <a:xfrm>
                <a:off x="6242320" y="1516939"/>
                <a:ext cx="590408" cy="215444"/>
              </a:xfrm>
              <a:prstGeom prst="rect">
                <a:avLst/>
              </a:prstGeom>
              <a:no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grpSp>
      <p:grpSp>
        <p:nvGrpSpPr>
          <p:cNvPr id="13" name="组合 12">
            <a:extLst>
              <a:ext uri="{FF2B5EF4-FFF2-40B4-BE49-F238E27FC236}">
                <a16:creationId xmlns:a16="http://schemas.microsoft.com/office/drawing/2014/main" id="{9BEC25BA-A0E0-587B-210D-9483D10C3F65}"/>
              </a:ext>
            </a:extLst>
          </p:cNvPr>
          <p:cNvGrpSpPr/>
          <p:nvPr/>
        </p:nvGrpSpPr>
        <p:grpSpPr>
          <a:xfrm>
            <a:off x="684986" y="2604141"/>
            <a:ext cx="4765275" cy="666403"/>
            <a:chOff x="1288061" y="3601244"/>
            <a:chExt cx="4864195" cy="666750"/>
          </a:xfrm>
          <a:solidFill>
            <a:schemeClr val="bg1">
              <a:lumMod val="85000"/>
            </a:schemeClr>
          </a:solidFill>
        </p:grpSpPr>
        <p:sp>
          <p:nvSpPr>
            <p:cNvPr id="14" name="矩形 13">
              <a:extLst>
                <a:ext uri="{FF2B5EF4-FFF2-40B4-BE49-F238E27FC236}">
                  <a16:creationId xmlns:a16="http://schemas.microsoft.com/office/drawing/2014/main" id="{AEED309D-A788-AF29-FDE7-E480C87759C2}"/>
                </a:ext>
              </a:extLst>
            </p:cNvPr>
            <p:cNvSpPr/>
            <p:nvPr/>
          </p:nvSpPr>
          <p:spPr>
            <a:xfrm>
              <a:off x="2060575" y="3601244"/>
              <a:ext cx="3657600"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15" name="组合 14">
              <a:extLst>
                <a:ext uri="{FF2B5EF4-FFF2-40B4-BE49-F238E27FC236}">
                  <a16:creationId xmlns:a16="http://schemas.microsoft.com/office/drawing/2014/main" id="{953C36E3-30A8-B4E6-5B26-8FA2E8B06C88}"/>
                </a:ext>
              </a:extLst>
            </p:cNvPr>
            <p:cNvGrpSpPr/>
            <p:nvPr/>
          </p:nvGrpSpPr>
          <p:grpSpPr>
            <a:xfrm>
              <a:off x="1288061" y="3623526"/>
              <a:ext cx="590716" cy="631762"/>
              <a:chOff x="6242320" y="2373233"/>
              <a:chExt cx="590408" cy="631762"/>
            </a:xfrm>
            <a:grpFill/>
          </p:grpSpPr>
          <p:sp>
            <p:nvSpPr>
              <p:cNvPr id="18" name="TextBox 6">
                <a:extLst>
                  <a:ext uri="{FF2B5EF4-FFF2-40B4-BE49-F238E27FC236}">
                    <a16:creationId xmlns:a16="http://schemas.microsoft.com/office/drawing/2014/main" id="{BD1DF9E9-8C4C-8C7F-050D-929ED812D3FB}"/>
                  </a:ext>
                </a:extLst>
              </p:cNvPr>
              <p:cNvSpPr txBox="1"/>
              <p:nvPr/>
            </p:nvSpPr>
            <p:spPr>
              <a:xfrm>
                <a:off x="6327224" y="2373233"/>
                <a:ext cx="448425" cy="492443"/>
              </a:xfrm>
              <a:prstGeom prst="rect">
                <a:avLst/>
              </a:prstGeom>
              <a:noFill/>
            </p:spPr>
            <p:txBody>
              <a:bodyPr vert="horz" wrap="square" lIns="0" tIns="0" rIns="0" bIns="0" rtlCol="0" anchor="ctr">
                <a:spAutoFit/>
              </a:bodyPr>
              <a:lstStyle/>
              <a:p>
                <a:pPr algn="l"/>
                <a:r>
                  <a:rPr lang="en-US" altLang="zh-CN" sz="3198" dirty="0">
                    <a:solidFill>
                      <a:srgbClr val="01ACBE"/>
                    </a:solidFill>
                    <a:latin typeface="Impact" panose="020B0806030902050204" pitchFamily="34" charset="0"/>
                    <a:ea typeface="微软雅黑" panose="020B0503020204020204" pitchFamily="34" charset="-122"/>
                  </a:rPr>
                  <a:t>02</a:t>
                </a:r>
                <a:endParaRPr lang="zh-CN" altLang="en-US" sz="3198" dirty="0">
                  <a:solidFill>
                    <a:srgbClr val="01ACBE"/>
                  </a:solidFill>
                  <a:latin typeface="微软雅黑" panose="020B0503020204020204" pitchFamily="34" charset="-122"/>
                  <a:ea typeface="微软雅黑" panose="020B0503020204020204" pitchFamily="34" charset="-122"/>
                </a:endParaRPr>
              </a:p>
            </p:txBody>
          </p:sp>
          <p:sp>
            <p:nvSpPr>
              <p:cNvPr id="19" name="文本框 23">
                <a:extLst>
                  <a:ext uri="{FF2B5EF4-FFF2-40B4-BE49-F238E27FC236}">
                    <a16:creationId xmlns:a16="http://schemas.microsoft.com/office/drawing/2014/main" id="{A9BEC89A-F0E3-1ED6-E35E-9BFB6B5115F5}"/>
                  </a:ext>
                </a:extLst>
              </p:cNvPr>
              <p:cNvSpPr txBox="1"/>
              <p:nvPr/>
            </p:nvSpPr>
            <p:spPr>
              <a:xfrm>
                <a:off x="6242320" y="2789551"/>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sp>
          <p:nvSpPr>
            <p:cNvPr id="16" name="TextBox 19">
              <a:extLst>
                <a:ext uri="{FF2B5EF4-FFF2-40B4-BE49-F238E27FC236}">
                  <a16:creationId xmlns:a16="http://schemas.microsoft.com/office/drawing/2014/main" id="{E39483F7-E88F-6A5F-5312-4BE4D1548910}"/>
                </a:ext>
              </a:extLst>
            </p:cNvPr>
            <p:cNvSpPr txBox="1"/>
            <p:nvPr/>
          </p:nvSpPr>
          <p:spPr>
            <a:xfrm>
              <a:off x="2151869" y="3623151"/>
              <a:ext cx="3185304" cy="460767"/>
            </a:xfrm>
            <a:prstGeom prst="rect">
              <a:avLst/>
            </a:prstGeom>
            <a:grpFill/>
          </p:spPr>
          <p:txBody>
            <a:bodyPr wrap="square" rtlCol="0">
              <a:spAutoFit/>
            </a:bodyPr>
            <a:lstStyle/>
            <a:p>
              <a:pPr>
                <a:lnSpc>
                  <a:spcPct val="130000"/>
                </a:lnSpc>
              </a:pPr>
              <a:r>
                <a:rPr lang="zh-CN" altLang="en-US" sz="1999" dirty="0"/>
                <a:t>数据库技术的产生、发展</a:t>
              </a:r>
            </a:p>
          </p:txBody>
        </p:sp>
        <p:cxnSp>
          <p:nvCxnSpPr>
            <p:cNvPr id="17" name="直接连接符 16">
              <a:extLst>
                <a:ext uri="{FF2B5EF4-FFF2-40B4-BE49-F238E27FC236}">
                  <a16:creationId xmlns:a16="http://schemas.microsoft.com/office/drawing/2014/main" id="{41C049DD-105E-F3B8-3A2F-8A0ED23D6610}"/>
                </a:ext>
              </a:extLst>
            </p:cNvPr>
            <p:cNvCxnSpPr>
              <a:cxnSpLocks/>
            </p:cNvCxnSpPr>
            <p:nvPr/>
          </p:nvCxnSpPr>
          <p:spPr bwMode="auto">
            <a:xfrm>
              <a:off x="1374775" y="4267994"/>
              <a:ext cx="4777481" cy="0"/>
            </a:xfrm>
            <a:prstGeom prst="line">
              <a:avLst/>
            </a:prstGeom>
            <a:grpFill/>
            <a:ln w="28575" cap="flat" cmpd="sng" algn="ctr">
              <a:solidFill>
                <a:srgbClr val="00DBD6"/>
              </a:solidFill>
              <a:prstDash val="solid"/>
              <a:round/>
              <a:headEnd type="none" w="med" len="med"/>
              <a:tailEnd type="none" w="med" len="med"/>
            </a:ln>
            <a:effectLst/>
          </p:spPr>
        </p:cxnSp>
      </p:grpSp>
      <p:grpSp>
        <p:nvGrpSpPr>
          <p:cNvPr id="20" name="组合 19">
            <a:extLst>
              <a:ext uri="{FF2B5EF4-FFF2-40B4-BE49-F238E27FC236}">
                <a16:creationId xmlns:a16="http://schemas.microsoft.com/office/drawing/2014/main" id="{07B976D0-A9D1-29E8-0F58-7B7E58A8A100}"/>
              </a:ext>
            </a:extLst>
          </p:cNvPr>
          <p:cNvGrpSpPr/>
          <p:nvPr/>
        </p:nvGrpSpPr>
        <p:grpSpPr>
          <a:xfrm>
            <a:off x="684986" y="3618026"/>
            <a:ext cx="4765275" cy="667683"/>
            <a:chOff x="1288061" y="4615657"/>
            <a:chExt cx="4864195" cy="668031"/>
          </a:xfrm>
          <a:solidFill>
            <a:schemeClr val="bg1">
              <a:lumMod val="85000"/>
            </a:schemeClr>
          </a:solidFill>
        </p:grpSpPr>
        <p:grpSp>
          <p:nvGrpSpPr>
            <p:cNvPr id="21" name="组合 20">
              <a:extLst>
                <a:ext uri="{FF2B5EF4-FFF2-40B4-BE49-F238E27FC236}">
                  <a16:creationId xmlns:a16="http://schemas.microsoft.com/office/drawing/2014/main" id="{9B779E4C-30E1-90F4-0CD8-EB78B25E1872}"/>
                </a:ext>
              </a:extLst>
            </p:cNvPr>
            <p:cNvGrpSpPr/>
            <p:nvPr/>
          </p:nvGrpSpPr>
          <p:grpSpPr>
            <a:xfrm>
              <a:off x="1288061" y="4615657"/>
              <a:ext cx="4864195" cy="668031"/>
              <a:chOff x="1288061" y="4615657"/>
              <a:chExt cx="4864195" cy="668031"/>
            </a:xfrm>
            <a:grpFill/>
          </p:grpSpPr>
          <p:sp>
            <p:nvSpPr>
              <p:cNvPr id="23" name="矩形 22">
                <a:extLst>
                  <a:ext uri="{FF2B5EF4-FFF2-40B4-BE49-F238E27FC236}">
                    <a16:creationId xmlns:a16="http://schemas.microsoft.com/office/drawing/2014/main" id="{80A73407-B08F-EB9C-0A5B-C68CC5B1437F}"/>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24" name="组合 23">
                <a:extLst>
                  <a:ext uri="{FF2B5EF4-FFF2-40B4-BE49-F238E27FC236}">
                    <a16:creationId xmlns:a16="http://schemas.microsoft.com/office/drawing/2014/main" id="{6BF14FD8-9D59-FADD-3AB7-FF746478D49B}"/>
                  </a:ext>
                </a:extLst>
              </p:cNvPr>
              <p:cNvGrpSpPr/>
              <p:nvPr/>
            </p:nvGrpSpPr>
            <p:grpSpPr>
              <a:xfrm>
                <a:off x="1288061" y="4635789"/>
                <a:ext cx="590716" cy="620494"/>
                <a:chOff x="6242320" y="3640739"/>
                <a:chExt cx="590408" cy="620494"/>
              </a:xfrm>
              <a:grpFill/>
            </p:grpSpPr>
            <p:sp>
              <p:nvSpPr>
                <p:cNvPr id="26" name="TextBox 6">
                  <a:extLst>
                    <a:ext uri="{FF2B5EF4-FFF2-40B4-BE49-F238E27FC236}">
                      <a16:creationId xmlns:a16="http://schemas.microsoft.com/office/drawing/2014/main" id="{488C0D9E-8471-A964-A7F6-4764001D0B25}"/>
                    </a:ext>
                  </a:extLst>
                </p:cNvPr>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198" dirty="0">
                      <a:solidFill>
                        <a:srgbClr val="00B050"/>
                      </a:solidFill>
                      <a:latin typeface="Impact" panose="020B0806030902050204" pitchFamily="34" charset="0"/>
                      <a:ea typeface="微软雅黑" panose="020B0503020204020204" pitchFamily="34" charset="-122"/>
                    </a:rPr>
                    <a:t>03</a:t>
                  </a:r>
                  <a:endParaRPr lang="zh-CN" altLang="en-US" sz="3198" dirty="0">
                    <a:solidFill>
                      <a:srgbClr val="00B050"/>
                    </a:solidFill>
                    <a:latin typeface="微软雅黑" panose="020B0503020204020204" pitchFamily="34" charset="-122"/>
                    <a:ea typeface="微软雅黑" panose="020B0503020204020204" pitchFamily="34" charset="-122"/>
                  </a:endParaRPr>
                </a:p>
              </p:txBody>
            </p:sp>
            <p:sp>
              <p:nvSpPr>
                <p:cNvPr id="27" name="文本框 24">
                  <a:extLst>
                    <a:ext uri="{FF2B5EF4-FFF2-40B4-BE49-F238E27FC236}">
                      <a16:creationId xmlns:a16="http://schemas.microsoft.com/office/drawing/2014/main" id="{65ECBDD2-F370-290B-2658-ECB019A169DA}"/>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25" name="直接连接符 24">
                <a:extLst>
                  <a:ext uri="{FF2B5EF4-FFF2-40B4-BE49-F238E27FC236}">
                    <a16:creationId xmlns:a16="http://schemas.microsoft.com/office/drawing/2014/main" id="{E868362A-229B-3B0C-28BA-5B0C8739E978}"/>
                  </a:ext>
                </a:extLst>
              </p:cNvPr>
              <p:cNvCxnSpPr>
                <a:cxnSpLocks/>
              </p:cNvCxnSpPr>
              <p:nvPr/>
            </p:nvCxnSpPr>
            <p:spPr bwMode="auto">
              <a:xfrm>
                <a:off x="1374775" y="5283688"/>
                <a:ext cx="4777481" cy="0"/>
              </a:xfrm>
              <a:prstGeom prst="line">
                <a:avLst/>
              </a:prstGeom>
              <a:grpFill/>
              <a:ln w="28575" cap="flat" cmpd="sng" algn="ctr">
                <a:solidFill>
                  <a:srgbClr val="FF8181"/>
                </a:solidFill>
                <a:prstDash val="solid"/>
                <a:round/>
                <a:headEnd type="none" w="med" len="med"/>
                <a:tailEnd type="none" w="med" len="med"/>
              </a:ln>
              <a:effectLst/>
            </p:spPr>
          </p:cxnSp>
        </p:grpSp>
        <p:sp>
          <p:nvSpPr>
            <p:cNvPr id="22" name="TextBox 20">
              <a:extLst>
                <a:ext uri="{FF2B5EF4-FFF2-40B4-BE49-F238E27FC236}">
                  <a16:creationId xmlns:a16="http://schemas.microsoft.com/office/drawing/2014/main" id="{ADCA5CD1-6E11-16B0-4D7D-6770437BCAD9}"/>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数据库系统和数据库管理系统</a:t>
              </a:r>
            </a:p>
          </p:txBody>
        </p:sp>
      </p:grpSp>
      <p:grpSp>
        <p:nvGrpSpPr>
          <p:cNvPr id="28" name="组合 27">
            <a:extLst>
              <a:ext uri="{FF2B5EF4-FFF2-40B4-BE49-F238E27FC236}">
                <a16:creationId xmlns:a16="http://schemas.microsoft.com/office/drawing/2014/main" id="{F29CE5E4-3B85-6F3B-3719-93B1BC3B6521}"/>
              </a:ext>
            </a:extLst>
          </p:cNvPr>
          <p:cNvGrpSpPr/>
          <p:nvPr/>
        </p:nvGrpSpPr>
        <p:grpSpPr>
          <a:xfrm>
            <a:off x="707408" y="4709619"/>
            <a:ext cx="4742853" cy="667683"/>
            <a:chOff x="1288061" y="4615657"/>
            <a:chExt cx="4841307" cy="668031"/>
          </a:xfrm>
          <a:solidFill>
            <a:schemeClr val="bg1">
              <a:lumMod val="85000"/>
            </a:schemeClr>
          </a:solidFill>
        </p:grpSpPr>
        <p:grpSp>
          <p:nvGrpSpPr>
            <p:cNvPr id="29" name="组合 28">
              <a:extLst>
                <a:ext uri="{FF2B5EF4-FFF2-40B4-BE49-F238E27FC236}">
                  <a16:creationId xmlns:a16="http://schemas.microsoft.com/office/drawing/2014/main" id="{756D9F59-6DF4-1CAF-665D-CABDF8B2746B}"/>
                </a:ext>
              </a:extLst>
            </p:cNvPr>
            <p:cNvGrpSpPr/>
            <p:nvPr/>
          </p:nvGrpSpPr>
          <p:grpSpPr>
            <a:xfrm>
              <a:off x="1288061" y="4615657"/>
              <a:ext cx="4841307" cy="668031"/>
              <a:chOff x="1288061" y="4615657"/>
              <a:chExt cx="4841307" cy="668031"/>
            </a:xfrm>
            <a:grpFill/>
          </p:grpSpPr>
          <p:sp>
            <p:nvSpPr>
              <p:cNvPr id="31" name="矩形 30">
                <a:extLst>
                  <a:ext uri="{FF2B5EF4-FFF2-40B4-BE49-F238E27FC236}">
                    <a16:creationId xmlns:a16="http://schemas.microsoft.com/office/drawing/2014/main" id="{115DAAF3-8E52-026F-05FE-CFBB063D308F}"/>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32" name="组合 31">
                <a:extLst>
                  <a:ext uri="{FF2B5EF4-FFF2-40B4-BE49-F238E27FC236}">
                    <a16:creationId xmlns:a16="http://schemas.microsoft.com/office/drawing/2014/main" id="{360126D5-5469-D287-3626-FAA3416F896D}"/>
                  </a:ext>
                </a:extLst>
              </p:cNvPr>
              <p:cNvGrpSpPr/>
              <p:nvPr/>
            </p:nvGrpSpPr>
            <p:grpSpPr>
              <a:xfrm>
                <a:off x="1288061" y="4635789"/>
                <a:ext cx="590716" cy="620494"/>
                <a:chOff x="6242320" y="3640739"/>
                <a:chExt cx="590408" cy="620494"/>
              </a:xfrm>
              <a:grpFill/>
            </p:grpSpPr>
            <p:sp>
              <p:nvSpPr>
                <p:cNvPr id="34" name="TextBox 6">
                  <a:extLst>
                    <a:ext uri="{FF2B5EF4-FFF2-40B4-BE49-F238E27FC236}">
                      <a16:creationId xmlns:a16="http://schemas.microsoft.com/office/drawing/2014/main" id="{F649774B-B4DA-1861-9186-A9F047130C3A}"/>
                    </a:ext>
                  </a:extLst>
                </p:cNvPr>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198" dirty="0">
                      <a:solidFill>
                        <a:schemeClr val="accent5">
                          <a:lumMod val="60000"/>
                          <a:lumOff val="40000"/>
                        </a:schemeClr>
                      </a:solidFill>
                      <a:latin typeface="Impact" panose="020B0806030902050204" pitchFamily="34" charset="0"/>
                      <a:ea typeface="微软雅黑" panose="020B0503020204020204" pitchFamily="34" charset="-122"/>
                    </a:rPr>
                    <a:t>04</a:t>
                  </a:r>
                  <a:endParaRPr lang="zh-CN" altLang="en-US" sz="3198" dirty="0">
                    <a:solidFill>
                      <a:schemeClr val="accent5">
                        <a:lumMod val="60000"/>
                        <a:lumOff val="40000"/>
                      </a:schemeClr>
                    </a:solidFill>
                    <a:latin typeface="微软雅黑" panose="020B0503020204020204" pitchFamily="34" charset="-122"/>
                    <a:ea typeface="微软雅黑" panose="020B0503020204020204" pitchFamily="34" charset="-122"/>
                  </a:endParaRPr>
                </a:p>
              </p:txBody>
            </p:sp>
            <p:sp>
              <p:nvSpPr>
                <p:cNvPr id="35" name="文本框 24">
                  <a:extLst>
                    <a:ext uri="{FF2B5EF4-FFF2-40B4-BE49-F238E27FC236}">
                      <a16:creationId xmlns:a16="http://schemas.microsoft.com/office/drawing/2014/main" id="{12B03782-F628-FC81-2A92-CC5F9313C1F7}"/>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33" name="直接连接符 32">
                <a:extLst>
                  <a:ext uri="{FF2B5EF4-FFF2-40B4-BE49-F238E27FC236}">
                    <a16:creationId xmlns:a16="http://schemas.microsoft.com/office/drawing/2014/main" id="{098B4BCB-929F-DEE3-EDDA-72BEBD337C73}"/>
                  </a:ext>
                </a:extLst>
              </p:cNvPr>
              <p:cNvCxnSpPr>
                <a:cxnSpLocks/>
              </p:cNvCxnSpPr>
              <p:nvPr/>
            </p:nvCxnSpPr>
            <p:spPr bwMode="auto">
              <a:xfrm>
                <a:off x="1374775" y="5283688"/>
                <a:ext cx="4754593" cy="0"/>
              </a:xfrm>
              <a:prstGeom prst="line">
                <a:avLst/>
              </a:prstGeom>
              <a:grpFill/>
              <a:ln w="28575" cap="flat" cmpd="sng" algn="ctr">
                <a:solidFill>
                  <a:srgbClr val="7ABC32"/>
                </a:solidFill>
                <a:prstDash val="solid"/>
                <a:round/>
                <a:headEnd type="none" w="med" len="med"/>
                <a:tailEnd type="none" w="med" len="med"/>
              </a:ln>
              <a:effectLst/>
            </p:spPr>
          </p:cxnSp>
        </p:grpSp>
        <p:sp>
          <p:nvSpPr>
            <p:cNvPr id="30" name="TextBox 20">
              <a:extLst>
                <a:ext uri="{FF2B5EF4-FFF2-40B4-BE49-F238E27FC236}">
                  <a16:creationId xmlns:a16="http://schemas.microsoft.com/office/drawing/2014/main" id="{D96AAE29-81B9-759B-2E27-F261091DFEFF}"/>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数据库系统的内部体系结构</a:t>
              </a:r>
            </a:p>
          </p:txBody>
        </p:sp>
      </p:grpSp>
      <p:grpSp>
        <p:nvGrpSpPr>
          <p:cNvPr id="38" name="组合 37">
            <a:extLst>
              <a:ext uri="{FF2B5EF4-FFF2-40B4-BE49-F238E27FC236}">
                <a16:creationId xmlns:a16="http://schemas.microsoft.com/office/drawing/2014/main" id="{079819F2-60F6-655B-5AF2-22873B7B8046}"/>
              </a:ext>
            </a:extLst>
          </p:cNvPr>
          <p:cNvGrpSpPr/>
          <p:nvPr/>
        </p:nvGrpSpPr>
        <p:grpSpPr>
          <a:xfrm>
            <a:off x="6592666" y="1524563"/>
            <a:ext cx="4765274" cy="632234"/>
            <a:chOff x="1288061" y="2515394"/>
            <a:chExt cx="4864193" cy="632563"/>
          </a:xfrm>
          <a:solidFill>
            <a:schemeClr val="bg1">
              <a:lumMod val="85000"/>
            </a:schemeClr>
          </a:solidFill>
        </p:grpSpPr>
        <p:sp>
          <p:nvSpPr>
            <p:cNvPr id="39" name="矩形 38">
              <a:extLst>
                <a:ext uri="{FF2B5EF4-FFF2-40B4-BE49-F238E27FC236}">
                  <a16:creationId xmlns:a16="http://schemas.microsoft.com/office/drawing/2014/main" id="{116CE598-E198-7DD3-1C01-81DBBBB0DE6C}"/>
                </a:ext>
              </a:extLst>
            </p:cNvPr>
            <p:cNvSpPr/>
            <p:nvPr/>
          </p:nvSpPr>
          <p:spPr>
            <a:xfrm>
              <a:off x="2060574" y="2515394"/>
              <a:ext cx="3670047"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0" name="TextBox 6">
              <a:extLst>
                <a:ext uri="{FF2B5EF4-FFF2-40B4-BE49-F238E27FC236}">
                  <a16:creationId xmlns:a16="http://schemas.microsoft.com/office/drawing/2014/main" id="{71C02FA3-A842-3410-E1CF-F65194987F3E}"/>
                </a:ext>
              </a:extLst>
            </p:cNvPr>
            <p:cNvSpPr txBox="1"/>
            <p:nvPr/>
          </p:nvSpPr>
          <p:spPr>
            <a:xfrm>
              <a:off x="2151869" y="2515394"/>
              <a:ext cx="3566304" cy="460767"/>
            </a:xfrm>
            <a:prstGeom prst="rect">
              <a:avLst/>
            </a:prstGeom>
            <a:grpFill/>
          </p:spPr>
          <p:txBody>
            <a:bodyPr wrap="square" rtlCol="0">
              <a:spAutoFit/>
            </a:bodyPr>
            <a:lstStyle/>
            <a:p>
              <a:pPr>
                <a:lnSpc>
                  <a:spcPct val="130000"/>
                </a:lnSpc>
              </a:pPr>
              <a:r>
                <a:rPr lang="zh-CN" altLang="en-US" sz="1999" dirty="0"/>
                <a:t>数据库系统的外部体系结构</a:t>
              </a:r>
            </a:p>
          </p:txBody>
        </p:sp>
        <p:cxnSp>
          <p:nvCxnSpPr>
            <p:cNvPr id="41" name="直接连接符 40">
              <a:extLst>
                <a:ext uri="{FF2B5EF4-FFF2-40B4-BE49-F238E27FC236}">
                  <a16:creationId xmlns:a16="http://schemas.microsoft.com/office/drawing/2014/main" id="{1E362F9B-7BA5-1B95-3B2A-67BD92527C5A}"/>
                </a:ext>
              </a:extLst>
            </p:cNvPr>
            <p:cNvCxnSpPr>
              <a:cxnSpLocks/>
            </p:cNvCxnSpPr>
            <p:nvPr/>
          </p:nvCxnSpPr>
          <p:spPr bwMode="auto">
            <a:xfrm>
              <a:off x="1374775" y="3147957"/>
              <a:ext cx="4777479" cy="0"/>
            </a:xfrm>
            <a:prstGeom prst="line">
              <a:avLst/>
            </a:prstGeom>
            <a:grpFill/>
            <a:ln w="28575" cap="flat" cmpd="sng" algn="ctr">
              <a:solidFill>
                <a:srgbClr val="FFC000"/>
              </a:solidFill>
              <a:prstDash val="solid"/>
              <a:round/>
              <a:headEnd type="none" w="med" len="med"/>
              <a:tailEnd type="none" w="med" len="med"/>
            </a:ln>
            <a:effectLst/>
          </p:spPr>
        </p:cxnSp>
        <p:grpSp>
          <p:nvGrpSpPr>
            <p:cNvPr id="42" name="组合 41">
              <a:extLst>
                <a:ext uri="{FF2B5EF4-FFF2-40B4-BE49-F238E27FC236}">
                  <a16:creationId xmlns:a16="http://schemas.microsoft.com/office/drawing/2014/main" id="{B1F87C87-3355-B889-A8DD-C7DBC47138A1}"/>
                </a:ext>
              </a:extLst>
            </p:cNvPr>
            <p:cNvGrpSpPr/>
            <p:nvPr/>
          </p:nvGrpSpPr>
          <p:grpSpPr>
            <a:xfrm>
              <a:off x="1288061" y="2521302"/>
              <a:ext cx="590716" cy="626655"/>
              <a:chOff x="6242320" y="1105727"/>
              <a:chExt cx="590408" cy="626656"/>
            </a:xfrm>
            <a:grpFill/>
          </p:grpSpPr>
          <p:sp>
            <p:nvSpPr>
              <p:cNvPr id="43" name="TextBox 6">
                <a:extLst>
                  <a:ext uri="{FF2B5EF4-FFF2-40B4-BE49-F238E27FC236}">
                    <a16:creationId xmlns:a16="http://schemas.microsoft.com/office/drawing/2014/main" id="{9CD2D703-08D4-FAD1-3205-E340F60BC8DD}"/>
                  </a:ext>
                </a:extLst>
              </p:cNvPr>
              <p:cNvSpPr txBox="1"/>
              <p:nvPr/>
            </p:nvSpPr>
            <p:spPr>
              <a:xfrm>
                <a:off x="6327224" y="1105727"/>
                <a:ext cx="448425" cy="492443"/>
              </a:xfrm>
              <a:prstGeom prst="rect">
                <a:avLst/>
              </a:prstGeom>
              <a:noFill/>
            </p:spPr>
            <p:txBody>
              <a:bodyPr vert="horz" wrap="square" lIns="0" tIns="0" rIns="0" bIns="0" rtlCol="0" anchor="ctr">
                <a:spAutoFit/>
              </a:bodyPr>
              <a:lstStyle/>
              <a:p>
                <a:pPr algn="l"/>
                <a:r>
                  <a:rPr lang="en-US" altLang="zh-CN" sz="3198" dirty="0">
                    <a:solidFill>
                      <a:srgbClr val="FF9900"/>
                    </a:solidFill>
                    <a:latin typeface="Impact" panose="020B0806030902050204" pitchFamily="34" charset="0"/>
                    <a:ea typeface="微软雅黑" panose="020B0503020204020204" pitchFamily="34" charset="-122"/>
                  </a:rPr>
                  <a:t>05</a:t>
                </a:r>
                <a:endParaRPr lang="zh-CN" altLang="en-US" sz="3198" dirty="0">
                  <a:solidFill>
                    <a:srgbClr val="FF9900"/>
                  </a:solidFill>
                  <a:latin typeface="微软雅黑" panose="020B0503020204020204" pitchFamily="34" charset="-122"/>
                  <a:ea typeface="微软雅黑" panose="020B0503020204020204" pitchFamily="34" charset="-122"/>
                </a:endParaRPr>
              </a:p>
            </p:txBody>
          </p:sp>
          <p:sp>
            <p:nvSpPr>
              <p:cNvPr id="44" name="文本框 22">
                <a:extLst>
                  <a:ext uri="{FF2B5EF4-FFF2-40B4-BE49-F238E27FC236}">
                    <a16:creationId xmlns:a16="http://schemas.microsoft.com/office/drawing/2014/main" id="{8B40F688-D97E-7E93-63A0-F02C6E40CD6F}"/>
                  </a:ext>
                </a:extLst>
              </p:cNvPr>
              <p:cNvSpPr txBox="1"/>
              <p:nvPr/>
            </p:nvSpPr>
            <p:spPr>
              <a:xfrm>
                <a:off x="6242320" y="151693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grpSp>
      <p:grpSp>
        <p:nvGrpSpPr>
          <p:cNvPr id="45" name="组合 44">
            <a:extLst>
              <a:ext uri="{FF2B5EF4-FFF2-40B4-BE49-F238E27FC236}">
                <a16:creationId xmlns:a16="http://schemas.microsoft.com/office/drawing/2014/main" id="{41D46857-8128-884A-58BC-38F186E45359}"/>
              </a:ext>
            </a:extLst>
          </p:cNvPr>
          <p:cNvGrpSpPr/>
          <p:nvPr/>
        </p:nvGrpSpPr>
        <p:grpSpPr>
          <a:xfrm>
            <a:off x="6592666" y="2609848"/>
            <a:ext cx="4765275" cy="666403"/>
            <a:chOff x="1288061" y="3601244"/>
            <a:chExt cx="4864195" cy="666750"/>
          </a:xfrm>
          <a:solidFill>
            <a:schemeClr val="bg1">
              <a:lumMod val="85000"/>
            </a:schemeClr>
          </a:solidFill>
        </p:grpSpPr>
        <p:sp>
          <p:nvSpPr>
            <p:cNvPr id="46" name="矩形 45">
              <a:extLst>
                <a:ext uri="{FF2B5EF4-FFF2-40B4-BE49-F238E27FC236}">
                  <a16:creationId xmlns:a16="http://schemas.microsoft.com/office/drawing/2014/main" id="{9F4F70FB-8A05-26FF-9145-E289E07C86B6}"/>
                </a:ext>
              </a:extLst>
            </p:cNvPr>
            <p:cNvSpPr/>
            <p:nvPr/>
          </p:nvSpPr>
          <p:spPr>
            <a:xfrm>
              <a:off x="2060575" y="3601244"/>
              <a:ext cx="3657600"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47" name="组合 46">
              <a:extLst>
                <a:ext uri="{FF2B5EF4-FFF2-40B4-BE49-F238E27FC236}">
                  <a16:creationId xmlns:a16="http://schemas.microsoft.com/office/drawing/2014/main" id="{6C8BF09F-2ECA-1A28-6486-2BB69E405A05}"/>
                </a:ext>
              </a:extLst>
            </p:cNvPr>
            <p:cNvGrpSpPr/>
            <p:nvPr/>
          </p:nvGrpSpPr>
          <p:grpSpPr>
            <a:xfrm>
              <a:off x="1288061" y="3623526"/>
              <a:ext cx="590716" cy="631762"/>
              <a:chOff x="6242320" y="2373233"/>
              <a:chExt cx="590408" cy="631762"/>
            </a:xfrm>
            <a:grpFill/>
          </p:grpSpPr>
          <p:sp>
            <p:nvSpPr>
              <p:cNvPr id="50" name="TextBox 6">
                <a:extLst>
                  <a:ext uri="{FF2B5EF4-FFF2-40B4-BE49-F238E27FC236}">
                    <a16:creationId xmlns:a16="http://schemas.microsoft.com/office/drawing/2014/main" id="{1BC71544-06B5-50CD-A164-A34550E17A71}"/>
                  </a:ext>
                </a:extLst>
              </p:cNvPr>
              <p:cNvSpPr txBox="1"/>
              <p:nvPr/>
            </p:nvSpPr>
            <p:spPr>
              <a:xfrm>
                <a:off x="6327224" y="2373233"/>
                <a:ext cx="448425" cy="492443"/>
              </a:xfrm>
              <a:prstGeom prst="rect">
                <a:avLst/>
              </a:prstGeom>
              <a:noFill/>
            </p:spPr>
            <p:txBody>
              <a:bodyPr vert="horz" wrap="square" lIns="0" tIns="0" rIns="0" bIns="0" rtlCol="0" anchor="ctr">
                <a:spAutoFit/>
              </a:bodyPr>
              <a:lstStyle/>
              <a:p>
                <a:pPr algn="l"/>
                <a:r>
                  <a:rPr lang="en-US" altLang="zh-CN" sz="3198" dirty="0">
                    <a:solidFill>
                      <a:srgbClr val="01ACBE"/>
                    </a:solidFill>
                    <a:latin typeface="Impact" panose="020B0806030902050204" pitchFamily="34" charset="0"/>
                    <a:ea typeface="微软雅黑" panose="020B0503020204020204" pitchFamily="34" charset="-122"/>
                  </a:rPr>
                  <a:t>06</a:t>
                </a:r>
                <a:endParaRPr lang="zh-CN" altLang="en-US" sz="3198" dirty="0">
                  <a:solidFill>
                    <a:srgbClr val="01ACBE"/>
                  </a:solidFill>
                  <a:latin typeface="微软雅黑" panose="020B0503020204020204" pitchFamily="34" charset="-122"/>
                  <a:ea typeface="微软雅黑" panose="020B0503020204020204" pitchFamily="34" charset="-122"/>
                </a:endParaRPr>
              </a:p>
            </p:txBody>
          </p:sp>
          <p:sp>
            <p:nvSpPr>
              <p:cNvPr id="51" name="文本框 23">
                <a:extLst>
                  <a:ext uri="{FF2B5EF4-FFF2-40B4-BE49-F238E27FC236}">
                    <a16:creationId xmlns:a16="http://schemas.microsoft.com/office/drawing/2014/main" id="{0E86A39C-AE1D-47B2-488C-65540E4B18BA}"/>
                  </a:ext>
                </a:extLst>
              </p:cNvPr>
              <p:cNvSpPr txBox="1"/>
              <p:nvPr/>
            </p:nvSpPr>
            <p:spPr>
              <a:xfrm>
                <a:off x="6242320" y="2789551"/>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sp>
          <p:nvSpPr>
            <p:cNvPr id="48" name="TextBox 19">
              <a:extLst>
                <a:ext uri="{FF2B5EF4-FFF2-40B4-BE49-F238E27FC236}">
                  <a16:creationId xmlns:a16="http://schemas.microsoft.com/office/drawing/2014/main" id="{336110E1-EBCC-10D3-0B7F-07490F80B2A7}"/>
                </a:ext>
              </a:extLst>
            </p:cNvPr>
            <p:cNvSpPr txBox="1"/>
            <p:nvPr/>
          </p:nvSpPr>
          <p:spPr>
            <a:xfrm>
              <a:off x="2151869" y="3623151"/>
              <a:ext cx="3185304" cy="460767"/>
            </a:xfrm>
            <a:prstGeom prst="rect">
              <a:avLst/>
            </a:prstGeom>
            <a:grpFill/>
          </p:spPr>
          <p:txBody>
            <a:bodyPr wrap="square" rtlCol="0">
              <a:spAutoFit/>
            </a:bodyPr>
            <a:lstStyle/>
            <a:p>
              <a:pPr>
                <a:lnSpc>
                  <a:spcPct val="130000"/>
                </a:lnSpc>
              </a:pPr>
              <a:r>
                <a:rPr lang="zh-CN" altLang="en-US" sz="1999" dirty="0"/>
                <a:t>三个世界及其有关概念</a:t>
              </a:r>
            </a:p>
          </p:txBody>
        </p:sp>
        <p:cxnSp>
          <p:nvCxnSpPr>
            <p:cNvPr id="49" name="直接连接符 48">
              <a:extLst>
                <a:ext uri="{FF2B5EF4-FFF2-40B4-BE49-F238E27FC236}">
                  <a16:creationId xmlns:a16="http://schemas.microsoft.com/office/drawing/2014/main" id="{6C2FC50C-0A1E-75CE-BAD7-7F22547598BB}"/>
                </a:ext>
              </a:extLst>
            </p:cNvPr>
            <p:cNvCxnSpPr>
              <a:cxnSpLocks/>
            </p:cNvCxnSpPr>
            <p:nvPr/>
          </p:nvCxnSpPr>
          <p:spPr bwMode="auto">
            <a:xfrm>
              <a:off x="1374775" y="4267994"/>
              <a:ext cx="4777481" cy="0"/>
            </a:xfrm>
            <a:prstGeom prst="line">
              <a:avLst/>
            </a:prstGeom>
            <a:grpFill/>
            <a:ln w="28575" cap="flat" cmpd="sng" algn="ctr">
              <a:solidFill>
                <a:srgbClr val="00DBD6"/>
              </a:solidFill>
              <a:prstDash val="solid"/>
              <a:round/>
              <a:headEnd type="none" w="med" len="med"/>
              <a:tailEnd type="none" w="med" len="med"/>
            </a:ln>
            <a:effectLst/>
          </p:spPr>
        </p:cxnSp>
      </p:grpSp>
      <p:grpSp>
        <p:nvGrpSpPr>
          <p:cNvPr id="52" name="组合 51">
            <a:extLst>
              <a:ext uri="{FF2B5EF4-FFF2-40B4-BE49-F238E27FC236}">
                <a16:creationId xmlns:a16="http://schemas.microsoft.com/office/drawing/2014/main" id="{02E84FA9-3723-BE47-65E4-F2DF8CCE63B7}"/>
              </a:ext>
            </a:extLst>
          </p:cNvPr>
          <p:cNvGrpSpPr/>
          <p:nvPr/>
        </p:nvGrpSpPr>
        <p:grpSpPr>
          <a:xfrm>
            <a:off x="6592666" y="3623733"/>
            <a:ext cx="4765275" cy="667683"/>
            <a:chOff x="1288061" y="4615657"/>
            <a:chExt cx="4864195" cy="668031"/>
          </a:xfrm>
          <a:solidFill>
            <a:schemeClr val="bg1">
              <a:lumMod val="85000"/>
            </a:schemeClr>
          </a:solidFill>
        </p:grpSpPr>
        <p:grpSp>
          <p:nvGrpSpPr>
            <p:cNvPr id="53" name="组合 52">
              <a:extLst>
                <a:ext uri="{FF2B5EF4-FFF2-40B4-BE49-F238E27FC236}">
                  <a16:creationId xmlns:a16="http://schemas.microsoft.com/office/drawing/2014/main" id="{ADA313C8-7E69-33A2-2F34-86CDD4DE3800}"/>
                </a:ext>
              </a:extLst>
            </p:cNvPr>
            <p:cNvGrpSpPr/>
            <p:nvPr/>
          </p:nvGrpSpPr>
          <p:grpSpPr>
            <a:xfrm>
              <a:off x="1288061" y="4615657"/>
              <a:ext cx="4864195" cy="668031"/>
              <a:chOff x="1288061" y="4615657"/>
              <a:chExt cx="4864195" cy="668031"/>
            </a:xfrm>
            <a:grpFill/>
          </p:grpSpPr>
          <p:sp>
            <p:nvSpPr>
              <p:cNvPr id="55" name="矩形 54">
                <a:extLst>
                  <a:ext uri="{FF2B5EF4-FFF2-40B4-BE49-F238E27FC236}">
                    <a16:creationId xmlns:a16="http://schemas.microsoft.com/office/drawing/2014/main" id="{96E992DA-1E88-66B4-50C5-16B2EEB273E4}"/>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56" name="组合 55">
                <a:extLst>
                  <a:ext uri="{FF2B5EF4-FFF2-40B4-BE49-F238E27FC236}">
                    <a16:creationId xmlns:a16="http://schemas.microsoft.com/office/drawing/2014/main" id="{05CD9812-E365-DF89-984F-A592C662828D}"/>
                  </a:ext>
                </a:extLst>
              </p:cNvPr>
              <p:cNvGrpSpPr/>
              <p:nvPr/>
            </p:nvGrpSpPr>
            <p:grpSpPr>
              <a:xfrm>
                <a:off x="1288061" y="4635789"/>
                <a:ext cx="590716" cy="620494"/>
                <a:chOff x="6242320" y="3640739"/>
                <a:chExt cx="590408" cy="620494"/>
              </a:xfrm>
              <a:grpFill/>
            </p:grpSpPr>
            <p:sp>
              <p:nvSpPr>
                <p:cNvPr id="58" name="TextBox 6">
                  <a:extLst>
                    <a:ext uri="{FF2B5EF4-FFF2-40B4-BE49-F238E27FC236}">
                      <a16:creationId xmlns:a16="http://schemas.microsoft.com/office/drawing/2014/main" id="{3E20F021-5CFE-BE9A-E67D-D2D6B6DA45BE}"/>
                    </a:ext>
                  </a:extLst>
                </p:cNvPr>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198" dirty="0">
                      <a:solidFill>
                        <a:srgbClr val="00B050"/>
                      </a:solidFill>
                      <a:latin typeface="Impact" panose="020B0806030902050204" pitchFamily="34" charset="0"/>
                      <a:ea typeface="微软雅黑" panose="020B0503020204020204" pitchFamily="34" charset="-122"/>
                    </a:rPr>
                    <a:t>07</a:t>
                  </a:r>
                  <a:endParaRPr lang="zh-CN" altLang="en-US" sz="3198" dirty="0">
                    <a:solidFill>
                      <a:srgbClr val="00B050"/>
                    </a:solidFill>
                    <a:latin typeface="微软雅黑" panose="020B0503020204020204" pitchFamily="34" charset="-122"/>
                    <a:ea typeface="微软雅黑" panose="020B0503020204020204" pitchFamily="34" charset="-122"/>
                  </a:endParaRPr>
                </a:p>
              </p:txBody>
            </p:sp>
            <p:sp>
              <p:nvSpPr>
                <p:cNvPr id="59" name="文本框 24">
                  <a:extLst>
                    <a:ext uri="{FF2B5EF4-FFF2-40B4-BE49-F238E27FC236}">
                      <a16:creationId xmlns:a16="http://schemas.microsoft.com/office/drawing/2014/main" id="{AF5FE639-B025-B724-DF64-CAF2152F2268}"/>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57" name="直接连接符 56">
                <a:extLst>
                  <a:ext uri="{FF2B5EF4-FFF2-40B4-BE49-F238E27FC236}">
                    <a16:creationId xmlns:a16="http://schemas.microsoft.com/office/drawing/2014/main" id="{FFB6E839-57A2-713D-A69F-CE4B71649303}"/>
                  </a:ext>
                </a:extLst>
              </p:cNvPr>
              <p:cNvCxnSpPr>
                <a:cxnSpLocks/>
              </p:cNvCxnSpPr>
              <p:nvPr/>
            </p:nvCxnSpPr>
            <p:spPr bwMode="auto">
              <a:xfrm>
                <a:off x="1374775" y="5283688"/>
                <a:ext cx="4777481" cy="0"/>
              </a:xfrm>
              <a:prstGeom prst="line">
                <a:avLst/>
              </a:prstGeom>
              <a:grpFill/>
              <a:ln w="28575" cap="flat" cmpd="sng" algn="ctr">
                <a:solidFill>
                  <a:srgbClr val="FF8181"/>
                </a:solidFill>
                <a:prstDash val="solid"/>
                <a:round/>
                <a:headEnd type="none" w="med" len="med"/>
                <a:tailEnd type="none" w="med" len="med"/>
              </a:ln>
              <a:effectLst/>
            </p:spPr>
          </p:cxnSp>
        </p:grpSp>
        <p:sp>
          <p:nvSpPr>
            <p:cNvPr id="54" name="TextBox 20">
              <a:extLst>
                <a:ext uri="{FF2B5EF4-FFF2-40B4-BE49-F238E27FC236}">
                  <a16:creationId xmlns:a16="http://schemas.microsoft.com/office/drawing/2014/main" id="{2E647FC7-D695-3E55-8B3A-8ACE787EF9DF}"/>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数据模型的分类</a:t>
              </a:r>
            </a:p>
          </p:txBody>
        </p:sp>
      </p:grpSp>
      <p:grpSp>
        <p:nvGrpSpPr>
          <p:cNvPr id="60" name="组合 59">
            <a:extLst>
              <a:ext uri="{FF2B5EF4-FFF2-40B4-BE49-F238E27FC236}">
                <a16:creationId xmlns:a16="http://schemas.microsoft.com/office/drawing/2014/main" id="{0310D652-CF69-9B80-4C78-3B8147440E40}"/>
              </a:ext>
            </a:extLst>
          </p:cNvPr>
          <p:cNvGrpSpPr/>
          <p:nvPr/>
        </p:nvGrpSpPr>
        <p:grpSpPr>
          <a:xfrm>
            <a:off x="6615088" y="4715326"/>
            <a:ext cx="4742853" cy="667683"/>
            <a:chOff x="1288061" y="4615657"/>
            <a:chExt cx="4841307" cy="668031"/>
          </a:xfrm>
          <a:solidFill>
            <a:schemeClr val="bg1">
              <a:lumMod val="85000"/>
            </a:schemeClr>
          </a:solidFill>
        </p:grpSpPr>
        <p:grpSp>
          <p:nvGrpSpPr>
            <p:cNvPr id="61" name="组合 60">
              <a:extLst>
                <a:ext uri="{FF2B5EF4-FFF2-40B4-BE49-F238E27FC236}">
                  <a16:creationId xmlns:a16="http://schemas.microsoft.com/office/drawing/2014/main" id="{3DCA0AB6-ABB7-F492-4CDA-F286F6054953}"/>
                </a:ext>
              </a:extLst>
            </p:cNvPr>
            <p:cNvGrpSpPr/>
            <p:nvPr/>
          </p:nvGrpSpPr>
          <p:grpSpPr>
            <a:xfrm>
              <a:off x="1288061" y="4615657"/>
              <a:ext cx="4841307" cy="668031"/>
              <a:chOff x="1288061" y="4615657"/>
              <a:chExt cx="4841307" cy="668031"/>
            </a:xfrm>
            <a:grpFill/>
          </p:grpSpPr>
          <p:sp>
            <p:nvSpPr>
              <p:cNvPr id="63" name="矩形 62">
                <a:extLst>
                  <a:ext uri="{FF2B5EF4-FFF2-40B4-BE49-F238E27FC236}">
                    <a16:creationId xmlns:a16="http://schemas.microsoft.com/office/drawing/2014/main" id="{C2DED94E-D5B3-272B-221E-AE812C8A4548}"/>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64" name="组合 63">
                <a:extLst>
                  <a:ext uri="{FF2B5EF4-FFF2-40B4-BE49-F238E27FC236}">
                    <a16:creationId xmlns:a16="http://schemas.microsoft.com/office/drawing/2014/main" id="{C034FA9B-AAD9-0355-56EB-615C9E4FBC75}"/>
                  </a:ext>
                </a:extLst>
              </p:cNvPr>
              <p:cNvGrpSpPr/>
              <p:nvPr/>
            </p:nvGrpSpPr>
            <p:grpSpPr>
              <a:xfrm>
                <a:off x="1288061" y="4635789"/>
                <a:ext cx="590716" cy="620494"/>
                <a:chOff x="6242320" y="3640739"/>
                <a:chExt cx="590408" cy="620494"/>
              </a:xfrm>
              <a:grpFill/>
            </p:grpSpPr>
            <p:sp>
              <p:nvSpPr>
                <p:cNvPr id="66" name="TextBox 6">
                  <a:extLst>
                    <a:ext uri="{FF2B5EF4-FFF2-40B4-BE49-F238E27FC236}">
                      <a16:creationId xmlns:a16="http://schemas.microsoft.com/office/drawing/2014/main" id="{4D5EDD7B-A4D1-6588-921D-4A1CC974A0BE}"/>
                    </a:ext>
                  </a:extLst>
                </p:cNvPr>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198" dirty="0">
                      <a:solidFill>
                        <a:schemeClr val="accent5">
                          <a:lumMod val="60000"/>
                          <a:lumOff val="40000"/>
                        </a:schemeClr>
                      </a:solidFill>
                      <a:latin typeface="Impact" panose="020B0806030902050204" pitchFamily="34" charset="0"/>
                      <a:ea typeface="微软雅黑" panose="020B0503020204020204" pitchFamily="34" charset="-122"/>
                    </a:rPr>
                    <a:t>08</a:t>
                  </a:r>
                  <a:endParaRPr lang="zh-CN" altLang="en-US" sz="3198" dirty="0">
                    <a:solidFill>
                      <a:schemeClr val="accent5">
                        <a:lumMod val="60000"/>
                        <a:lumOff val="40000"/>
                      </a:schemeClr>
                    </a:solidFill>
                    <a:latin typeface="微软雅黑" panose="020B0503020204020204" pitchFamily="34" charset="-122"/>
                    <a:ea typeface="微软雅黑" panose="020B0503020204020204" pitchFamily="34" charset="-122"/>
                  </a:endParaRPr>
                </a:p>
              </p:txBody>
            </p:sp>
            <p:sp>
              <p:nvSpPr>
                <p:cNvPr id="67" name="文本框 24">
                  <a:extLst>
                    <a:ext uri="{FF2B5EF4-FFF2-40B4-BE49-F238E27FC236}">
                      <a16:creationId xmlns:a16="http://schemas.microsoft.com/office/drawing/2014/main" id="{0FA1CD75-C69E-7423-5296-06FF0B8366B8}"/>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65" name="直接连接符 64">
                <a:extLst>
                  <a:ext uri="{FF2B5EF4-FFF2-40B4-BE49-F238E27FC236}">
                    <a16:creationId xmlns:a16="http://schemas.microsoft.com/office/drawing/2014/main" id="{837EA2FB-BB5D-D692-3BF9-16EA6C04117D}"/>
                  </a:ext>
                </a:extLst>
              </p:cNvPr>
              <p:cNvCxnSpPr>
                <a:cxnSpLocks/>
              </p:cNvCxnSpPr>
              <p:nvPr/>
            </p:nvCxnSpPr>
            <p:spPr bwMode="auto">
              <a:xfrm>
                <a:off x="1374775" y="5283688"/>
                <a:ext cx="4754593" cy="0"/>
              </a:xfrm>
              <a:prstGeom prst="line">
                <a:avLst/>
              </a:prstGeom>
              <a:grpFill/>
              <a:ln w="28575" cap="flat" cmpd="sng" algn="ctr">
                <a:solidFill>
                  <a:srgbClr val="7ABC32"/>
                </a:solidFill>
                <a:prstDash val="solid"/>
                <a:round/>
                <a:headEnd type="none" w="med" len="med"/>
                <a:tailEnd type="none" w="med" len="med"/>
              </a:ln>
              <a:effectLst/>
            </p:spPr>
          </p:cxnSp>
        </p:grpSp>
        <p:sp>
          <p:nvSpPr>
            <p:cNvPr id="62" name="TextBox 20">
              <a:extLst>
                <a:ext uri="{FF2B5EF4-FFF2-40B4-BE49-F238E27FC236}">
                  <a16:creationId xmlns:a16="http://schemas.microsoft.com/office/drawing/2014/main" id="{F1A28239-0C26-E22A-4BA4-FC54B0EACA13}"/>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数据库领域的新技术</a:t>
              </a:r>
            </a:p>
          </p:txBody>
        </p:sp>
      </p:grpSp>
    </p:spTree>
    <p:extLst>
      <p:ext uri="{BB962C8B-B14F-4D97-AF65-F5344CB8AC3E}">
        <p14:creationId xmlns:p14="http://schemas.microsoft.com/office/powerpoint/2010/main" val="11910118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837180" y="836777"/>
            <a:ext cx="2741772" cy="507127"/>
          </a:xfrm>
          <a:prstGeom prst="rect">
            <a:avLst/>
          </a:prstGeom>
          <a:noFill/>
        </p:spPr>
        <p:txBody>
          <a:bodyPr wrap="square" rtlCol="0">
            <a:spAutoFit/>
          </a:bodyPr>
          <a:lstStyle/>
          <a:p>
            <a:pPr algn="just">
              <a:lnSpc>
                <a:spcPct val="150000"/>
              </a:lnSpc>
            </a:pPr>
            <a:r>
              <a:rPr lang="en-US" altLang="zh-CN" sz="2000" b="1" dirty="0"/>
              <a:t>1.1.1 </a:t>
            </a:r>
            <a:r>
              <a:rPr lang="zh-CN" altLang="en-US" sz="2000" b="1" dirty="0"/>
              <a:t>信息与数据</a:t>
            </a:r>
          </a:p>
        </p:txBody>
      </p:sp>
      <p:sp>
        <p:nvSpPr>
          <p:cNvPr id="6" name="AutoShape 15">
            <a:extLst>
              <a:ext uri="{FF2B5EF4-FFF2-40B4-BE49-F238E27FC236}">
                <a16:creationId xmlns:a16="http://schemas.microsoft.com/office/drawing/2014/main" id="{80AB54EA-95D9-7184-B6D6-4C1B20AC85AF}"/>
              </a:ext>
            </a:extLst>
          </p:cNvPr>
          <p:cNvSpPr>
            <a:spLocks noChangeArrowheads="1"/>
          </p:cNvSpPr>
          <p:nvPr/>
        </p:nvSpPr>
        <p:spPr bwMode="auto">
          <a:xfrm>
            <a:off x="2810856" y="2541858"/>
            <a:ext cx="2970253" cy="2972238"/>
          </a:xfrm>
          <a:prstGeom prst="horizontalScroll">
            <a:avLst>
              <a:gd name="adj" fmla="val 6370"/>
            </a:avLst>
          </a:prstGeom>
          <a:solidFill>
            <a:srgbClr val="FF99CC">
              <a:alpha val="43137"/>
            </a:srgbClr>
          </a:solidFill>
          <a:ln w="19050">
            <a:solidFill>
              <a:srgbClr val="F3FE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dirty="0">
                <a:latin typeface="+mn-lt"/>
                <a:ea typeface="+mn-ea"/>
              </a:rPr>
              <a:t>学号：</a:t>
            </a:r>
            <a:r>
              <a:rPr lang="en-US" altLang="zh-CN" sz="2399" dirty="0">
                <a:latin typeface="+mn-lt"/>
                <a:ea typeface="+mn-ea"/>
              </a:rPr>
              <a:t>S1</a:t>
            </a:r>
          </a:p>
          <a:p>
            <a:pPr eaLnBrk="1" hangingPunct="1">
              <a:spcBef>
                <a:spcPct val="0"/>
              </a:spcBef>
              <a:buSzTx/>
              <a:buFontTx/>
              <a:buNone/>
            </a:pPr>
            <a:r>
              <a:rPr lang="zh-CN" altLang="en-US" sz="2399" dirty="0">
                <a:latin typeface="+mn-lt"/>
                <a:ea typeface="+mn-ea"/>
              </a:rPr>
              <a:t>姓名：赵亦</a:t>
            </a:r>
          </a:p>
          <a:p>
            <a:pPr eaLnBrk="1" hangingPunct="1">
              <a:spcBef>
                <a:spcPct val="0"/>
              </a:spcBef>
              <a:buSzTx/>
              <a:buFontTx/>
              <a:buNone/>
            </a:pPr>
            <a:r>
              <a:rPr lang="zh-CN" altLang="en-US" sz="2399" dirty="0">
                <a:latin typeface="+mn-lt"/>
                <a:ea typeface="+mn-ea"/>
              </a:rPr>
              <a:t>性别：女</a:t>
            </a:r>
          </a:p>
          <a:p>
            <a:pPr eaLnBrk="1" hangingPunct="1">
              <a:spcBef>
                <a:spcPct val="0"/>
              </a:spcBef>
              <a:buSzTx/>
              <a:buFontTx/>
              <a:buNone/>
            </a:pPr>
            <a:r>
              <a:rPr lang="zh-CN" altLang="en-US" sz="2399" dirty="0">
                <a:latin typeface="+mn-lt"/>
                <a:ea typeface="+mn-ea"/>
              </a:rPr>
              <a:t>年龄：</a:t>
            </a:r>
            <a:r>
              <a:rPr lang="en-US" altLang="zh-CN" sz="2399" dirty="0">
                <a:latin typeface="+mn-lt"/>
                <a:ea typeface="+mn-ea"/>
              </a:rPr>
              <a:t>17</a:t>
            </a:r>
            <a:r>
              <a:rPr lang="zh-CN" altLang="en-US" sz="2399" dirty="0">
                <a:latin typeface="+mn-lt"/>
                <a:ea typeface="+mn-ea"/>
              </a:rPr>
              <a:t>岁</a:t>
            </a:r>
          </a:p>
          <a:p>
            <a:pPr eaLnBrk="1" hangingPunct="1">
              <a:spcBef>
                <a:spcPct val="0"/>
              </a:spcBef>
              <a:buSzTx/>
              <a:buFontTx/>
              <a:buNone/>
            </a:pPr>
            <a:r>
              <a:rPr lang="zh-CN" altLang="en-US" sz="2399" dirty="0">
                <a:latin typeface="+mn-lt"/>
                <a:ea typeface="+mn-ea"/>
              </a:rPr>
              <a:t>所在系别：计算机 </a:t>
            </a:r>
            <a:endParaRPr lang="zh-CN" altLang="en-US" sz="2799" dirty="0">
              <a:latin typeface="+mn-lt"/>
              <a:ea typeface="+mn-ea"/>
            </a:endParaRPr>
          </a:p>
        </p:txBody>
      </p:sp>
      <p:sp>
        <p:nvSpPr>
          <p:cNvPr id="7" name="AutoShape 23">
            <a:extLst>
              <a:ext uri="{FF2B5EF4-FFF2-40B4-BE49-F238E27FC236}">
                <a16:creationId xmlns:a16="http://schemas.microsoft.com/office/drawing/2014/main" id="{78FDF06C-3A5C-F415-81C4-27A8DFC677E0}"/>
              </a:ext>
            </a:extLst>
          </p:cNvPr>
          <p:cNvSpPr>
            <a:spLocks noChangeArrowheads="1"/>
          </p:cNvSpPr>
          <p:nvPr/>
        </p:nvSpPr>
        <p:spPr bwMode="auto">
          <a:xfrm>
            <a:off x="7821107" y="2541858"/>
            <a:ext cx="2487904" cy="978160"/>
          </a:xfrm>
          <a:prstGeom prst="flowChartAlternateProcess">
            <a:avLst/>
          </a:prstGeom>
          <a:solidFill>
            <a:schemeClr val="tx2">
              <a:lumMod val="40000"/>
              <a:lumOff val="60000"/>
            </a:schemeClr>
          </a:solidFill>
          <a:ln w="19050" algn="ctr">
            <a:noFill/>
            <a:miter lim="800000"/>
            <a:headEnd/>
            <a:tailEnd/>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bg1"/>
                </a:solidFill>
                <a:latin typeface="微软雅黑" panose="020B0503020204020204" pitchFamily="34" charset="-122"/>
                <a:ea typeface="微软雅黑" panose="020B0503020204020204" pitchFamily="34" charset="-122"/>
              </a:rPr>
              <a:t>信息的特征</a:t>
            </a:r>
          </a:p>
          <a:p>
            <a:pPr algn="ctr" eaLnBrk="1" hangingPunct="1">
              <a:spcBef>
                <a:spcPct val="0"/>
              </a:spcBef>
              <a:buSzTx/>
              <a:buFontTx/>
              <a:buNone/>
            </a:pPr>
            <a:endParaRPr lang="en-US" altLang="zh-CN" sz="1999" dirty="0">
              <a:solidFill>
                <a:srgbClr val="996633"/>
              </a:solidFill>
              <a:ea typeface="宋体" panose="02010600030101010101" pitchFamily="2" charset="-122"/>
            </a:endParaRPr>
          </a:p>
        </p:txBody>
      </p:sp>
      <p:sp>
        <p:nvSpPr>
          <p:cNvPr id="8" name="AutoShape 20">
            <a:extLst>
              <a:ext uri="{FF2B5EF4-FFF2-40B4-BE49-F238E27FC236}">
                <a16:creationId xmlns:a16="http://schemas.microsoft.com/office/drawing/2014/main" id="{C1E45E13-A08F-19F6-2807-F3F34344A472}"/>
              </a:ext>
            </a:extLst>
          </p:cNvPr>
          <p:cNvSpPr>
            <a:spLocks noChangeArrowheads="1"/>
          </p:cNvSpPr>
          <p:nvPr/>
        </p:nvSpPr>
        <p:spPr bwMode="auto">
          <a:xfrm>
            <a:off x="7821107" y="5126198"/>
            <a:ext cx="2487904" cy="1295501"/>
          </a:xfrm>
          <a:prstGeom prst="flowChartPunchedTape">
            <a:avLst/>
          </a:prstGeom>
          <a:solidFill>
            <a:srgbClr val="FFFF99"/>
          </a:solidFill>
          <a:ln w="19050"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tx1">
                    <a:lumMod val="75000"/>
                    <a:lumOff val="25000"/>
                  </a:schemeClr>
                </a:solidFill>
                <a:latin typeface="微软雅黑" panose="020B0503020204020204" pitchFamily="34" charset="-122"/>
                <a:ea typeface="微软雅黑" panose="020B0503020204020204" pitchFamily="34" charset="-122"/>
              </a:rPr>
              <a:t>可存储、加工、</a:t>
            </a:r>
          </a:p>
          <a:p>
            <a:pPr algn="ctr" eaLnBrk="1" hangingPunct="1">
              <a:spcBef>
                <a:spcPct val="0"/>
              </a:spcBef>
              <a:buSzTx/>
              <a:buFontTx/>
              <a:buNone/>
            </a:pPr>
            <a:r>
              <a:rPr lang="zh-CN" altLang="en-US" sz="2399" dirty="0">
                <a:solidFill>
                  <a:schemeClr val="tx1">
                    <a:lumMod val="75000"/>
                    <a:lumOff val="25000"/>
                  </a:schemeClr>
                </a:solidFill>
                <a:latin typeface="微软雅黑" panose="020B0503020204020204" pitchFamily="34" charset="-122"/>
                <a:ea typeface="微软雅黑" panose="020B0503020204020204" pitchFamily="34" charset="-122"/>
              </a:rPr>
              <a:t>传递和再生 </a:t>
            </a:r>
          </a:p>
        </p:txBody>
      </p:sp>
      <p:sp>
        <p:nvSpPr>
          <p:cNvPr id="10" name="AutoShape 19">
            <a:extLst>
              <a:ext uri="{FF2B5EF4-FFF2-40B4-BE49-F238E27FC236}">
                <a16:creationId xmlns:a16="http://schemas.microsoft.com/office/drawing/2014/main" id="{E56553AB-8C6F-EA1E-2803-3E799235BAD4}"/>
              </a:ext>
            </a:extLst>
          </p:cNvPr>
          <p:cNvSpPr>
            <a:spLocks noChangeArrowheads="1"/>
          </p:cNvSpPr>
          <p:nvPr/>
        </p:nvSpPr>
        <p:spPr bwMode="auto">
          <a:xfrm>
            <a:off x="7814120" y="4159128"/>
            <a:ext cx="2494893" cy="1143583"/>
          </a:xfrm>
          <a:prstGeom prst="flowChartPunchedTape">
            <a:avLst/>
          </a:prstGeom>
          <a:solidFill>
            <a:srgbClr val="FFFF99"/>
          </a:solidFill>
          <a:ln w="19050"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tx1">
                    <a:lumMod val="75000"/>
                    <a:lumOff val="25000"/>
                  </a:schemeClr>
                </a:solidFill>
                <a:latin typeface="微软雅黑" panose="020B0503020204020204" pitchFamily="34" charset="-122"/>
                <a:ea typeface="微软雅黑" panose="020B0503020204020204" pitchFamily="34" charset="-122"/>
              </a:rPr>
              <a:t>可以感知 </a:t>
            </a:r>
          </a:p>
        </p:txBody>
      </p:sp>
      <p:sp>
        <p:nvSpPr>
          <p:cNvPr id="11" name="AutoShape 17">
            <a:extLst>
              <a:ext uri="{FF2B5EF4-FFF2-40B4-BE49-F238E27FC236}">
                <a16:creationId xmlns:a16="http://schemas.microsoft.com/office/drawing/2014/main" id="{A5509C16-BBA1-FCFE-AA85-78A087CE8111}"/>
              </a:ext>
            </a:extLst>
          </p:cNvPr>
          <p:cNvSpPr>
            <a:spLocks noChangeArrowheads="1"/>
          </p:cNvSpPr>
          <p:nvPr/>
        </p:nvSpPr>
        <p:spPr bwMode="auto">
          <a:xfrm>
            <a:off x="7821107" y="3193856"/>
            <a:ext cx="2487905" cy="1141784"/>
          </a:xfrm>
          <a:prstGeom prst="flowChartPunchedTape">
            <a:avLst/>
          </a:prstGeom>
          <a:solidFill>
            <a:srgbClr val="FFFF99"/>
          </a:solidFill>
          <a:ln w="19050"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tx1">
                    <a:lumMod val="75000"/>
                    <a:lumOff val="25000"/>
                  </a:schemeClr>
                </a:solidFill>
                <a:latin typeface="微软雅黑" panose="020B0503020204020204" pitchFamily="34" charset="-122"/>
                <a:ea typeface="微软雅黑" panose="020B0503020204020204" pitchFamily="34" charset="-122"/>
              </a:rPr>
              <a:t>源于物质和能量 </a:t>
            </a:r>
          </a:p>
        </p:txBody>
      </p:sp>
      <p:sp>
        <p:nvSpPr>
          <p:cNvPr id="12" name="文本框 11">
            <a:extLst>
              <a:ext uri="{FF2B5EF4-FFF2-40B4-BE49-F238E27FC236}">
                <a16:creationId xmlns:a16="http://schemas.microsoft.com/office/drawing/2014/main" id="{1D672CB7-36E3-C2D2-67BF-634AD46BA812}"/>
              </a:ext>
            </a:extLst>
          </p:cNvPr>
          <p:cNvSpPr txBox="1"/>
          <p:nvPr/>
        </p:nvSpPr>
        <p:spPr>
          <a:xfrm>
            <a:off x="764777" y="1422870"/>
            <a:ext cx="10873014" cy="1296060"/>
          </a:xfrm>
          <a:prstGeom prst="rect">
            <a:avLst/>
          </a:prstGeom>
          <a:noFill/>
        </p:spPr>
        <p:txBody>
          <a:bodyPr wrap="square" rtlCol="0">
            <a:spAutoFit/>
          </a:bodyPr>
          <a:lstStyle/>
          <a:p>
            <a:pPr marL="342729" indent="-342729" algn="just">
              <a:lnSpc>
                <a:spcPct val="150000"/>
              </a:lnSpc>
              <a:buFont typeface="Wingdings" panose="05000000000000000000" pitchFamily="2" charset="2"/>
              <a:buChar char="ü"/>
            </a:pPr>
            <a:r>
              <a:rPr lang="zh-CN" altLang="en-US" sz="1799" dirty="0">
                <a:solidFill>
                  <a:srgbClr val="0070C0"/>
                </a:solidFill>
              </a:rPr>
              <a:t>信息</a:t>
            </a:r>
            <a:r>
              <a:rPr lang="zh-CN" altLang="en-US" sz="1799" dirty="0"/>
              <a:t>是人脑对现实世界事物的存在方式、运动状态以及事物之间联系的抽象反映。</a:t>
            </a:r>
            <a:endParaRPr lang="en-US" altLang="zh-CN" sz="1799" dirty="0"/>
          </a:p>
          <a:p>
            <a:pPr marL="342729" indent="-342729" algn="just">
              <a:lnSpc>
                <a:spcPct val="150000"/>
              </a:lnSpc>
              <a:buFont typeface="Wingdings" panose="05000000000000000000" pitchFamily="2" charset="2"/>
              <a:buChar char="ü"/>
            </a:pPr>
            <a:r>
              <a:rPr lang="zh-CN" altLang="en-US" sz="1799" dirty="0"/>
              <a:t>信息是客观存在的，人类有意识地对信息进行采集并加工、传递，从而形成了各种消息、情报、指令、数据及信号等。</a:t>
            </a:r>
          </a:p>
        </p:txBody>
      </p:sp>
    </p:spTree>
    <p:extLst>
      <p:ext uri="{BB962C8B-B14F-4D97-AF65-F5344CB8AC3E}">
        <p14:creationId xmlns:p14="http://schemas.microsoft.com/office/powerpoint/2010/main" val="29251751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checkerboard(across)">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checkerboard(across)">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checkerboard(across)">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847073" y="945892"/>
            <a:ext cx="2741772" cy="507127"/>
          </a:xfrm>
          <a:prstGeom prst="rect">
            <a:avLst/>
          </a:prstGeom>
          <a:noFill/>
        </p:spPr>
        <p:txBody>
          <a:bodyPr wrap="square" rtlCol="0">
            <a:spAutoFit/>
          </a:bodyPr>
          <a:lstStyle/>
          <a:p>
            <a:pPr algn="just">
              <a:lnSpc>
                <a:spcPct val="150000"/>
              </a:lnSpc>
            </a:pPr>
            <a:r>
              <a:rPr lang="en-US" altLang="zh-CN" sz="2000" b="1" dirty="0"/>
              <a:t>1.1.1 </a:t>
            </a:r>
            <a:r>
              <a:rPr lang="zh-CN" altLang="en-US" sz="2000" b="1" dirty="0"/>
              <a:t>信息与数据</a:t>
            </a:r>
          </a:p>
        </p:txBody>
      </p:sp>
      <p:sp>
        <p:nvSpPr>
          <p:cNvPr id="12" name="文本框 11">
            <a:extLst>
              <a:ext uri="{FF2B5EF4-FFF2-40B4-BE49-F238E27FC236}">
                <a16:creationId xmlns:a16="http://schemas.microsoft.com/office/drawing/2014/main" id="{1D672CB7-36E3-C2D2-67BF-634AD46BA812}"/>
              </a:ext>
            </a:extLst>
          </p:cNvPr>
          <p:cNvSpPr txBox="1"/>
          <p:nvPr/>
        </p:nvSpPr>
        <p:spPr>
          <a:xfrm>
            <a:off x="764777" y="1548258"/>
            <a:ext cx="10873014" cy="1296060"/>
          </a:xfrm>
          <a:prstGeom prst="rect">
            <a:avLst/>
          </a:prstGeom>
          <a:noFill/>
        </p:spPr>
        <p:txBody>
          <a:bodyPr wrap="square" rtlCol="0">
            <a:spAutoFit/>
          </a:bodyPr>
          <a:lstStyle/>
          <a:p>
            <a:pPr marL="342729" indent="-342729" algn="just">
              <a:lnSpc>
                <a:spcPct val="150000"/>
              </a:lnSpc>
              <a:buFont typeface="Wingdings" panose="05000000000000000000" pitchFamily="2" charset="2"/>
              <a:buChar char="ü"/>
            </a:pPr>
            <a:r>
              <a:rPr lang="zh-CN" altLang="en-US" sz="1799" dirty="0">
                <a:solidFill>
                  <a:srgbClr val="0070C0"/>
                </a:solidFill>
              </a:rPr>
              <a:t>数据</a:t>
            </a:r>
            <a:r>
              <a:rPr lang="zh-CN" altLang="en-US" sz="1799" dirty="0"/>
              <a:t>是由用来记录信息的可识别的符号组合的，是信息的具体表现形式。</a:t>
            </a:r>
            <a:endParaRPr lang="en-US" altLang="zh-CN" sz="1799" dirty="0"/>
          </a:p>
          <a:p>
            <a:pPr algn="just">
              <a:lnSpc>
                <a:spcPct val="150000"/>
              </a:lnSpc>
            </a:pPr>
            <a:endParaRPr lang="en-US" altLang="zh-CN" sz="1799" dirty="0"/>
          </a:p>
          <a:p>
            <a:pPr marL="342729" indent="-342729" algn="just">
              <a:lnSpc>
                <a:spcPct val="150000"/>
              </a:lnSpc>
              <a:buFont typeface="Wingdings" panose="05000000000000000000" pitchFamily="2" charset="2"/>
              <a:buChar char="ü"/>
            </a:pPr>
            <a:r>
              <a:rPr lang="zh-CN" altLang="en-US" sz="1799" dirty="0"/>
              <a:t>数据的表现包括数字、文字、图形、图像、声音和视频等，它们都可以经过数字化后存储到计算机中。</a:t>
            </a:r>
          </a:p>
        </p:txBody>
      </p:sp>
      <p:sp>
        <p:nvSpPr>
          <p:cNvPr id="14" name="AutoShape 5">
            <a:extLst>
              <a:ext uri="{FF2B5EF4-FFF2-40B4-BE49-F238E27FC236}">
                <a16:creationId xmlns:a16="http://schemas.microsoft.com/office/drawing/2014/main" id="{4C39FDB8-8883-4407-4B30-AF8EEC5AA518}"/>
              </a:ext>
            </a:extLst>
          </p:cNvPr>
          <p:cNvSpPr>
            <a:spLocks noChangeArrowheads="1"/>
          </p:cNvSpPr>
          <p:nvPr/>
        </p:nvSpPr>
        <p:spPr bwMode="auto">
          <a:xfrm>
            <a:off x="4648161" y="3631713"/>
            <a:ext cx="1447839" cy="2088062"/>
          </a:xfrm>
          <a:prstGeom prst="horizontalScroll">
            <a:avLst>
              <a:gd name="adj" fmla="val 6370"/>
            </a:avLst>
          </a:prstGeom>
          <a:solidFill>
            <a:srgbClr val="FF99CC">
              <a:alpha val="43137"/>
            </a:srgbClr>
          </a:solidFill>
          <a:ln w="19050">
            <a:solidFill>
              <a:schemeClr val="bg1">
                <a:lumMod val="9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en-US" altLang="zh-CN" sz="2399" dirty="0">
                <a:latin typeface="+mn-lt"/>
                <a:ea typeface="+mn-ea"/>
              </a:rPr>
              <a:t>S1</a:t>
            </a:r>
          </a:p>
          <a:p>
            <a:pPr algn="ctr" eaLnBrk="1" hangingPunct="1">
              <a:spcBef>
                <a:spcPct val="0"/>
              </a:spcBef>
              <a:buSzTx/>
              <a:buFontTx/>
              <a:buNone/>
            </a:pPr>
            <a:r>
              <a:rPr lang="zh-CN" altLang="en-US" sz="2399" dirty="0">
                <a:latin typeface="+mn-lt"/>
                <a:ea typeface="+mn-ea"/>
              </a:rPr>
              <a:t>赵亦</a:t>
            </a:r>
          </a:p>
          <a:p>
            <a:pPr algn="ctr" eaLnBrk="1" hangingPunct="1">
              <a:spcBef>
                <a:spcPct val="0"/>
              </a:spcBef>
              <a:buSzTx/>
              <a:buFontTx/>
              <a:buNone/>
            </a:pPr>
            <a:r>
              <a:rPr lang="zh-CN" altLang="en-US" sz="2399" dirty="0">
                <a:latin typeface="+mn-lt"/>
                <a:ea typeface="+mn-ea"/>
              </a:rPr>
              <a:t>女</a:t>
            </a:r>
          </a:p>
          <a:p>
            <a:pPr algn="ctr" eaLnBrk="1" hangingPunct="1">
              <a:spcBef>
                <a:spcPct val="0"/>
              </a:spcBef>
              <a:buSzTx/>
              <a:buFontTx/>
              <a:buNone/>
            </a:pPr>
            <a:r>
              <a:rPr lang="en-US" altLang="zh-CN" sz="2399" dirty="0">
                <a:latin typeface="+mn-lt"/>
                <a:ea typeface="+mn-ea"/>
              </a:rPr>
              <a:t>17</a:t>
            </a:r>
            <a:r>
              <a:rPr lang="zh-CN" altLang="en-US" sz="2399" dirty="0">
                <a:latin typeface="+mn-lt"/>
                <a:ea typeface="+mn-ea"/>
              </a:rPr>
              <a:t>岁</a:t>
            </a:r>
          </a:p>
          <a:p>
            <a:pPr algn="ctr" eaLnBrk="1" hangingPunct="1">
              <a:spcBef>
                <a:spcPct val="0"/>
              </a:spcBef>
              <a:buSzTx/>
              <a:buFontTx/>
              <a:buNone/>
            </a:pPr>
            <a:r>
              <a:rPr lang="zh-CN" altLang="en-US" sz="2399" dirty="0">
                <a:latin typeface="+mn-lt"/>
                <a:ea typeface="+mn-ea"/>
              </a:rPr>
              <a:t>计算机 </a:t>
            </a:r>
          </a:p>
        </p:txBody>
      </p:sp>
    </p:spTree>
    <p:extLst>
      <p:ext uri="{BB962C8B-B14F-4D97-AF65-F5344CB8AC3E}">
        <p14:creationId xmlns:p14="http://schemas.microsoft.com/office/powerpoint/2010/main" val="30344164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782690" y="915709"/>
            <a:ext cx="2741772" cy="507127"/>
          </a:xfrm>
          <a:prstGeom prst="rect">
            <a:avLst/>
          </a:prstGeom>
          <a:noFill/>
        </p:spPr>
        <p:txBody>
          <a:bodyPr wrap="square" rtlCol="0">
            <a:spAutoFit/>
          </a:bodyPr>
          <a:lstStyle/>
          <a:p>
            <a:pPr algn="just">
              <a:lnSpc>
                <a:spcPct val="150000"/>
              </a:lnSpc>
            </a:pPr>
            <a:r>
              <a:rPr lang="en-US" altLang="zh-CN" sz="2000" b="1" dirty="0"/>
              <a:t>1.1.1 </a:t>
            </a:r>
            <a:r>
              <a:rPr lang="zh-CN" altLang="en-US" sz="2000" b="1" dirty="0"/>
              <a:t>信息与数据</a:t>
            </a:r>
          </a:p>
        </p:txBody>
      </p:sp>
      <p:sp>
        <p:nvSpPr>
          <p:cNvPr id="12" name="文本框 11">
            <a:extLst>
              <a:ext uri="{FF2B5EF4-FFF2-40B4-BE49-F238E27FC236}">
                <a16:creationId xmlns:a16="http://schemas.microsoft.com/office/drawing/2014/main" id="{1D672CB7-36E3-C2D2-67BF-634AD46BA812}"/>
              </a:ext>
            </a:extLst>
          </p:cNvPr>
          <p:cNvSpPr txBox="1"/>
          <p:nvPr/>
        </p:nvSpPr>
        <p:spPr>
          <a:xfrm>
            <a:off x="782690" y="1662033"/>
            <a:ext cx="10873014" cy="3089494"/>
          </a:xfrm>
          <a:prstGeom prst="rect">
            <a:avLst/>
          </a:prstGeom>
          <a:noFill/>
        </p:spPr>
        <p:txBody>
          <a:bodyPr wrap="square" rtlCol="0">
            <a:spAutoFit/>
          </a:bodyPr>
          <a:lstStyle/>
          <a:p>
            <a:pPr marL="342729" indent="-342729" algn="just">
              <a:lnSpc>
                <a:spcPct val="150000"/>
              </a:lnSpc>
              <a:buFont typeface="Wingdings" panose="05000000000000000000" pitchFamily="2" charset="2"/>
              <a:buChar char="ü"/>
            </a:pPr>
            <a:r>
              <a:rPr lang="zh-CN" altLang="en-US" sz="1799" dirty="0">
                <a:solidFill>
                  <a:srgbClr val="0070C0"/>
                </a:solidFill>
              </a:rPr>
              <a:t>数据与信息的联系</a:t>
            </a:r>
            <a:endParaRPr lang="en-US" altLang="zh-CN" sz="1799" dirty="0">
              <a:solidFill>
                <a:srgbClr val="0070C0"/>
              </a:solidFill>
            </a:endParaRPr>
          </a:p>
          <a:p>
            <a:pPr marL="342729" indent="-342729" algn="just">
              <a:lnSpc>
                <a:spcPct val="150000"/>
              </a:lnSpc>
              <a:buFont typeface="Wingdings" panose="05000000000000000000" pitchFamily="2" charset="2"/>
              <a:buChar char="ü"/>
            </a:pPr>
            <a:endParaRPr lang="en-US" altLang="zh-CN" sz="1799" dirty="0"/>
          </a:p>
          <a:p>
            <a:pPr marL="342729" indent="-342729" algn="just">
              <a:lnSpc>
                <a:spcPct val="150000"/>
              </a:lnSpc>
              <a:buFont typeface="Wingdings" panose="05000000000000000000" pitchFamily="2" charset="2"/>
              <a:buChar char="ü"/>
            </a:pPr>
            <a:endParaRPr lang="en-US" altLang="zh-CN" sz="1799" dirty="0"/>
          </a:p>
          <a:p>
            <a:pPr marL="342729" indent="-342729" algn="just">
              <a:lnSpc>
                <a:spcPct val="150000"/>
              </a:lnSpc>
              <a:buFont typeface="Wingdings" panose="05000000000000000000" pitchFamily="2" charset="2"/>
              <a:buChar char="ü"/>
            </a:pPr>
            <a:r>
              <a:rPr lang="zh-CN" altLang="en-US" sz="1799" dirty="0"/>
              <a:t>数据是信息的符号表示，信息则是对数据的语义解释。</a:t>
            </a:r>
            <a:endParaRPr lang="en-US" altLang="zh-CN" sz="1799" dirty="0"/>
          </a:p>
          <a:p>
            <a:pPr marL="952024" lvl="1" indent="-342729" algn="just">
              <a:lnSpc>
                <a:spcPct val="150000"/>
              </a:lnSpc>
              <a:buFont typeface="Arial" panose="020B0604020202020204" pitchFamily="34" charset="0"/>
              <a:buChar char="•"/>
            </a:pPr>
            <a:r>
              <a:rPr lang="zh-CN" altLang="en-US" sz="1999" dirty="0"/>
              <a:t>本门课程的考试人数为</a:t>
            </a:r>
            <a:r>
              <a:rPr lang="en-US" altLang="zh-CN" sz="1999" dirty="0"/>
              <a:t>100</a:t>
            </a:r>
            <a:r>
              <a:rPr lang="zh-CN" altLang="en-US" sz="1999" dirty="0"/>
              <a:t>，考试通过率为</a:t>
            </a:r>
            <a:r>
              <a:rPr lang="en-US" altLang="zh-CN" sz="1999" dirty="0"/>
              <a:t>90%</a:t>
            </a:r>
          </a:p>
          <a:p>
            <a:pPr marL="952024" lvl="1" indent="-342729" algn="just">
              <a:lnSpc>
                <a:spcPct val="150000"/>
              </a:lnSpc>
              <a:buFont typeface="Arial" panose="020B0604020202020204" pitchFamily="34" charset="0"/>
              <a:buChar char="•"/>
            </a:pPr>
            <a:r>
              <a:rPr lang="zh-CN" altLang="en-US" sz="1999" dirty="0"/>
              <a:t>数据“</a:t>
            </a:r>
            <a:r>
              <a:rPr lang="en-US" altLang="zh-CN" sz="1999" dirty="0"/>
              <a:t>100”</a:t>
            </a:r>
            <a:r>
              <a:rPr lang="zh-CN" altLang="en-US" sz="1999" dirty="0"/>
              <a:t>和“</a:t>
            </a:r>
            <a:r>
              <a:rPr lang="en-US" altLang="zh-CN" sz="1999" dirty="0"/>
              <a:t>90%”</a:t>
            </a:r>
            <a:r>
              <a:rPr lang="zh-CN" altLang="en-US" sz="1999" dirty="0"/>
              <a:t>被赋予了特定的语义，此处的</a:t>
            </a:r>
            <a:r>
              <a:rPr lang="en-US" altLang="zh-CN" sz="1999" dirty="0"/>
              <a:t>100</a:t>
            </a:r>
            <a:r>
              <a:rPr lang="zh-CN" altLang="en-US" sz="1999" dirty="0"/>
              <a:t>表示的是“考试人数为</a:t>
            </a:r>
            <a:r>
              <a:rPr lang="en-US" altLang="zh-CN" sz="1999" dirty="0"/>
              <a:t>100”</a:t>
            </a:r>
            <a:r>
              <a:rPr lang="zh-CN" altLang="en-US" sz="1999" dirty="0"/>
              <a:t>，</a:t>
            </a:r>
            <a:r>
              <a:rPr lang="en-US" altLang="zh-CN" sz="1999" dirty="0"/>
              <a:t>90%</a:t>
            </a:r>
            <a:r>
              <a:rPr lang="zh-CN" altLang="en-US" sz="1999" dirty="0"/>
              <a:t>表示的是“考试通过率是</a:t>
            </a:r>
            <a:r>
              <a:rPr lang="en-US" altLang="zh-CN" sz="1999" dirty="0"/>
              <a:t>90%”</a:t>
            </a:r>
            <a:r>
              <a:rPr lang="zh-CN" altLang="en-US" sz="1999" dirty="0"/>
              <a:t>。</a:t>
            </a:r>
          </a:p>
        </p:txBody>
      </p:sp>
      <p:sp>
        <p:nvSpPr>
          <p:cNvPr id="6" name="文本框 5">
            <a:extLst>
              <a:ext uri="{FF2B5EF4-FFF2-40B4-BE49-F238E27FC236}">
                <a16:creationId xmlns:a16="http://schemas.microsoft.com/office/drawing/2014/main" id="{07B249D6-AD81-E125-04AA-D1D23A7F899B}"/>
              </a:ext>
            </a:extLst>
          </p:cNvPr>
          <p:cNvSpPr txBox="1"/>
          <p:nvPr/>
        </p:nvSpPr>
        <p:spPr>
          <a:xfrm>
            <a:off x="3987935" y="2149316"/>
            <a:ext cx="2184265" cy="465206"/>
          </a:xfrm>
          <a:prstGeom prst="rect">
            <a:avLst/>
          </a:prstGeom>
          <a:solidFill>
            <a:schemeClr val="accent2">
              <a:lumMod val="20000"/>
              <a:lumOff val="80000"/>
            </a:schemeClr>
          </a:solidFill>
        </p:spPr>
        <p:txBody>
          <a:bodyPr wrap="square" rtlCol="0" anchor="ctr">
            <a:spAutoFit/>
          </a:bodyPr>
          <a:lstStyle/>
          <a:p>
            <a:pPr algn="ctr">
              <a:lnSpc>
                <a:spcPct val="150000"/>
              </a:lnSpc>
            </a:pPr>
            <a:r>
              <a:rPr lang="zh-CN" altLang="en-US" sz="1799" dirty="0">
                <a:solidFill>
                  <a:srgbClr val="FF00FF"/>
                </a:solidFill>
              </a:rPr>
              <a:t>信息</a:t>
            </a:r>
            <a:r>
              <a:rPr lang="en-US" altLang="zh-CN" sz="1799" dirty="0">
                <a:solidFill>
                  <a:srgbClr val="FF00FF"/>
                </a:solidFill>
              </a:rPr>
              <a:t>=</a:t>
            </a:r>
            <a:r>
              <a:rPr lang="zh-CN" altLang="en-US" sz="1799" dirty="0">
                <a:solidFill>
                  <a:srgbClr val="FF00FF"/>
                </a:solidFill>
              </a:rPr>
              <a:t>数据</a:t>
            </a:r>
            <a:r>
              <a:rPr lang="en-US" altLang="zh-CN" sz="1799" dirty="0">
                <a:solidFill>
                  <a:srgbClr val="FF00FF"/>
                </a:solidFill>
              </a:rPr>
              <a:t>+</a:t>
            </a:r>
            <a:r>
              <a:rPr lang="zh-CN" altLang="en-US" sz="1799" dirty="0">
                <a:solidFill>
                  <a:srgbClr val="FF00FF"/>
                </a:solidFill>
              </a:rPr>
              <a:t>语义</a:t>
            </a:r>
          </a:p>
        </p:txBody>
      </p:sp>
    </p:spTree>
    <p:extLst>
      <p:ext uri="{BB962C8B-B14F-4D97-AF65-F5344CB8AC3E}">
        <p14:creationId xmlns:p14="http://schemas.microsoft.com/office/powerpoint/2010/main" val="13251585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819523" y="608343"/>
            <a:ext cx="4170905" cy="507127"/>
          </a:xfrm>
          <a:prstGeom prst="rect">
            <a:avLst/>
          </a:prstGeom>
          <a:noFill/>
        </p:spPr>
        <p:txBody>
          <a:bodyPr wrap="square" rtlCol="0">
            <a:spAutoFit/>
          </a:bodyPr>
          <a:lstStyle/>
          <a:p>
            <a:pPr algn="just">
              <a:lnSpc>
                <a:spcPct val="150000"/>
              </a:lnSpc>
            </a:pPr>
            <a:r>
              <a:rPr lang="en-US" altLang="zh-CN" sz="2000" b="1" dirty="0"/>
              <a:t>1.1.2 </a:t>
            </a:r>
            <a:r>
              <a:rPr lang="zh-CN" altLang="en-US" sz="2000" b="1" dirty="0"/>
              <a:t>数据处理与数据管理</a:t>
            </a:r>
          </a:p>
        </p:txBody>
      </p:sp>
      <p:sp>
        <p:nvSpPr>
          <p:cNvPr id="7" name="AutoShape 4">
            <a:extLst>
              <a:ext uri="{FF2B5EF4-FFF2-40B4-BE49-F238E27FC236}">
                <a16:creationId xmlns:a16="http://schemas.microsoft.com/office/drawing/2014/main" id="{2C167D0A-1BD6-3AC9-F1E0-F392F4CEB9BD}"/>
              </a:ext>
            </a:extLst>
          </p:cNvPr>
          <p:cNvSpPr>
            <a:spLocks noChangeArrowheads="1"/>
          </p:cNvSpPr>
          <p:nvPr/>
        </p:nvSpPr>
        <p:spPr bwMode="auto">
          <a:xfrm>
            <a:off x="1617750" y="1760920"/>
            <a:ext cx="3372678" cy="1998576"/>
          </a:xfrm>
          <a:prstGeom prst="flowChartAlternateProcess">
            <a:avLst/>
          </a:prstGeom>
          <a:solidFill>
            <a:schemeClr val="tx2">
              <a:lumMod val="20000"/>
              <a:lumOff val="80000"/>
              <a:alpha val="76077"/>
            </a:schemeClr>
          </a:solidFill>
          <a:ln w="19050" algn="ctr">
            <a:noFill/>
            <a:miter lim="800000"/>
            <a:headEnd/>
            <a:tailEnd/>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just"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将数据转换成信息的</a:t>
            </a:r>
            <a:endParaRPr lang="en-US" altLang="zh-CN" sz="2399" b="1" dirty="0">
              <a:solidFill>
                <a:srgbClr val="000066"/>
              </a:solidFill>
              <a:latin typeface="微软雅黑" panose="020B0503020204020204" pitchFamily="34" charset="-122"/>
              <a:ea typeface="微软雅黑" panose="020B0503020204020204" pitchFamily="34" charset="-122"/>
            </a:endParaRPr>
          </a:p>
          <a:p>
            <a:pPr algn="just"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过程，包括数据的收</a:t>
            </a:r>
            <a:endParaRPr lang="en-US" altLang="zh-CN" sz="2399" b="1" dirty="0">
              <a:solidFill>
                <a:srgbClr val="000066"/>
              </a:solidFill>
              <a:latin typeface="微软雅黑" panose="020B0503020204020204" pitchFamily="34" charset="-122"/>
              <a:ea typeface="微软雅黑" panose="020B0503020204020204" pitchFamily="34" charset="-122"/>
            </a:endParaRPr>
          </a:p>
          <a:p>
            <a:pPr algn="just"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集、管理、加工利用</a:t>
            </a:r>
          </a:p>
          <a:p>
            <a:pPr algn="just"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乃至信息输出、演变</a:t>
            </a:r>
            <a:endParaRPr lang="en-US" altLang="zh-CN" sz="2399" b="1" dirty="0">
              <a:solidFill>
                <a:srgbClr val="000066"/>
              </a:solidFill>
              <a:latin typeface="微软雅黑" panose="020B0503020204020204" pitchFamily="34" charset="-122"/>
              <a:ea typeface="微软雅黑" panose="020B0503020204020204" pitchFamily="34" charset="-122"/>
            </a:endParaRPr>
          </a:p>
          <a:p>
            <a:pPr algn="just"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推导等</a:t>
            </a:r>
          </a:p>
        </p:txBody>
      </p:sp>
      <p:sp>
        <p:nvSpPr>
          <p:cNvPr id="8" name="Text Box 7">
            <a:extLst>
              <a:ext uri="{FF2B5EF4-FFF2-40B4-BE49-F238E27FC236}">
                <a16:creationId xmlns:a16="http://schemas.microsoft.com/office/drawing/2014/main" id="{E637E5B4-08B2-63FD-8EBD-861BD9045098}"/>
              </a:ext>
            </a:extLst>
          </p:cNvPr>
          <p:cNvSpPr txBox="1">
            <a:spLocks noChangeArrowheads="1"/>
          </p:cNvSpPr>
          <p:nvPr/>
        </p:nvSpPr>
        <p:spPr bwMode="auto">
          <a:xfrm>
            <a:off x="2513149" y="1175631"/>
            <a:ext cx="1517871" cy="525127"/>
          </a:xfrm>
          <a:prstGeom prst="rect">
            <a:avLst/>
          </a:prstGeom>
          <a:noFill/>
          <a:ln>
            <a:noFill/>
          </a:ln>
          <a:effectLst/>
          <a:extLst>
            <a:ext uri="{909E8E84-426E-40DD-AFC4-6F175D3DCCD1}">
              <a14:hiddenFill xmlns:a14="http://schemas.microsoft.com/office/drawing/2010/main">
                <a:solidFill>
                  <a:srgbClr val="FFFF99">
                    <a:alpha val="76077"/>
                  </a:srgbClr>
                </a:solidFill>
              </a14:hiddenFill>
            </a:ext>
            <a:ext uri="{91240B29-F687-4F45-9708-019B960494DF}">
              <a14:hiddenLine xmlns:a14="http://schemas.microsoft.com/office/drawing/2010/main" w="19050" algn="ctr">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spAutoFit/>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dirty="0">
                <a:solidFill>
                  <a:schemeClr val="tx1">
                    <a:lumMod val="65000"/>
                    <a:lumOff val="35000"/>
                  </a:schemeClr>
                </a:solidFill>
                <a:latin typeface="微软雅黑" panose="020B0503020204020204" pitchFamily="34" charset="-122"/>
                <a:ea typeface="微软雅黑" panose="020B0503020204020204" pitchFamily="34" charset="-122"/>
              </a:rPr>
              <a:t>数据处理</a:t>
            </a:r>
            <a:r>
              <a:rPr lang="zh-CN" altLang="en-US" sz="2799" dirty="0">
                <a:solidFill>
                  <a:schemeClr val="tx1">
                    <a:lumMod val="65000"/>
                    <a:lumOff val="35000"/>
                  </a:schemeClr>
                </a:solidFill>
                <a:latin typeface="微软雅黑" panose="020B0503020204020204" pitchFamily="34" charset="-122"/>
                <a:ea typeface="微软雅黑" panose="020B0503020204020204" pitchFamily="34" charset="-122"/>
              </a:rPr>
              <a:t> </a:t>
            </a:r>
          </a:p>
        </p:txBody>
      </p:sp>
      <p:sp>
        <p:nvSpPr>
          <p:cNvPr id="9" name="Text Box 8">
            <a:extLst>
              <a:ext uri="{FF2B5EF4-FFF2-40B4-BE49-F238E27FC236}">
                <a16:creationId xmlns:a16="http://schemas.microsoft.com/office/drawing/2014/main" id="{FD3BB6B1-0A77-7701-18A3-CEDA80362F90}"/>
              </a:ext>
            </a:extLst>
          </p:cNvPr>
          <p:cNvSpPr txBox="1">
            <a:spLocks noChangeArrowheads="1"/>
          </p:cNvSpPr>
          <p:nvPr/>
        </p:nvSpPr>
        <p:spPr bwMode="auto">
          <a:xfrm>
            <a:off x="7727273" y="1259775"/>
            <a:ext cx="1503453" cy="463605"/>
          </a:xfrm>
          <a:prstGeom prst="rect">
            <a:avLst/>
          </a:prstGeom>
          <a:noFill/>
          <a:ln>
            <a:noFill/>
          </a:ln>
          <a:effectLst/>
          <a:extLst>
            <a:ext uri="{909E8E84-426E-40DD-AFC4-6F175D3DCCD1}">
              <a14:hiddenFill xmlns:a14="http://schemas.microsoft.com/office/drawing/2010/main">
                <a:solidFill>
                  <a:srgbClr val="FFFF99">
                    <a:alpha val="76077"/>
                  </a:srgbClr>
                </a:solidFill>
              </a14:hiddenFill>
            </a:ext>
            <a:ext uri="{91240B29-F687-4F45-9708-019B960494DF}">
              <a14:hiddenLine xmlns:a14="http://schemas.microsoft.com/office/drawing/2010/main" w="19050" algn="ctr">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spAutoFit/>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dirty="0">
                <a:solidFill>
                  <a:schemeClr val="tx1">
                    <a:lumMod val="65000"/>
                    <a:lumOff val="35000"/>
                  </a:schemeClr>
                </a:solidFill>
                <a:latin typeface="微软雅黑" panose="020B0503020204020204" pitchFamily="34" charset="-122"/>
                <a:ea typeface="微软雅黑" panose="020B0503020204020204" pitchFamily="34" charset="-122"/>
              </a:rPr>
              <a:t>数据管理</a:t>
            </a:r>
            <a:r>
              <a:rPr lang="zh-CN" altLang="en-US" sz="2399" dirty="0">
                <a:solidFill>
                  <a:schemeClr val="bg1">
                    <a:lumMod val="50000"/>
                  </a:schemeClr>
                </a:solidFill>
                <a:latin typeface="微软雅黑" panose="020B0503020204020204" pitchFamily="34" charset="-122"/>
                <a:ea typeface="微软雅黑" panose="020B0503020204020204" pitchFamily="34" charset="-122"/>
              </a:rPr>
              <a:t> </a:t>
            </a:r>
          </a:p>
        </p:txBody>
      </p:sp>
      <p:sp>
        <p:nvSpPr>
          <p:cNvPr id="10" name="AutoShape 5">
            <a:extLst>
              <a:ext uri="{FF2B5EF4-FFF2-40B4-BE49-F238E27FC236}">
                <a16:creationId xmlns:a16="http://schemas.microsoft.com/office/drawing/2014/main" id="{C9A3C964-587E-9F1D-FC3E-081C552E32FF}"/>
              </a:ext>
            </a:extLst>
          </p:cNvPr>
          <p:cNvSpPr>
            <a:spLocks noChangeArrowheads="1"/>
          </p:cNvSpPr>
          <p:nvPr/>
        </p:nvSpPr>
        <p:spPr bwMode="auto">
          <a:xfrm>
            <a:off x="7069676" y="1812021"/>
            <a:ext cx="2846493" cy="1947474"/>
          </a:xfrm>
          <a:prstGeom prst="flowChartAlternateProcess">
            <a:avLst/>
          </a:prstGeom>
          <a:solidFill>
            <a:schemeClr val="tx2">
              <a:lumMod val="20000"/>
              <a:lumOff val="80000"/>
              <a:alpha val="76077"/>
            </a:schemeClr>
          </a:solidFill>
          <a:ln w="19050" algn="ctr">
            <a:noFill/>
            <a:miter lim="800000"/>
            <a:headEnd/>
            <a:tailEnd/>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数据的分类、组织、</a:t>
            </a:r>
            <a:endParaRPr lang="en-US" altLang="zh-CN" sz="2399" b="1"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编码、存储、维护、</a:t>
            </a:r>
            <a:endParaRPr lang="en-US" altLang="zh-CN" sz="2399" b="1"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检索等操作 </a:t>
            </a:r>
          </a:p>
        </p:txBody>
      </p:sp>
      <p:sp>
        <p:nvSpPr>
          <p:cNvPr id="11" name="AutoShape 12">
            <a:extLst>
              <a:ext uri="{FF2B5EF4-FFF2-40B4-BE49-F238E27FC236}">
                <a16:creationId xmlns:a16="http://schemas.microsoft.com/office/drawing/2014/main" id="{C6C9AF31-522A-1E16-A68C-56CCFBB68E2B}"/>
              </a:ext>
            </a:extLst>
          </p:cNvPr>
          <p:cNvSpPr>
            <a:spLocks noChangeArrowheads="1"/>
          </p:cNvSpPr>
          <p:nvPr/>
        </p:nvSpPr>
        <p:spPr bwMode="auto">
          <a:xfrm>
            <a:off x="3666242" y="4881213"/>
            <a:ext cx="4966288" cy="647363"/>
          </a:xfrm>
          <a:prstGeom prst="flowChartAlternateProcess">
            <a:avLst/>
          </a:prstGeom>
          <a:solidFill>
            <a:srgbClr val="FF99CC">
              <a:alpha val="34901"/>
            </a:srgbClr>
          </a:solidFill>
          <a:ln w="19050" algn="ctr">
            <a:solidFill>
              <a:srgbClr val="F3F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a:spcBef>
                <a:spcPct val="0"/>
              </a:spcBef>
              <a:buSzTx/>
              <a:buNone/>
            </a:pPr>
            <a:r>
              <a:rPr lang="zh-CN" altLang="en-US" sz="2599" dirty="0">
                <a:solidFill>
                  <a:schemeClr val="tx1">
                    <a:lumMod val="65000"/>
                    <a:lumOff val="35000"/>
                  </a:schemeClr>
                </a:solidFill>
                <a:latin typeface="微软雅黑" panose="020B0503020204020204" pitchFamily="34" charset="-122"/>
                <a:ea typeface="微软雅黑" panose="020B0503020204020204" pitchFamily="34" charset="-122"/>
              </a:rPr>
              <a:t>信息＝数据＋数据处理</a:t>
            </a:r>
          </a:p>
        </p:txBody>
      </p:sp>
      <p:sp>
        <p:nvSpPr>
          <p:cNvPr id="13" name="AutoShape 9">
            <a:extLst>
              <a:ext uri="{FF2B5EF4-FFF2-40B4-BE49-F238E27FC236}">
                <a16:creationId xmlns:a16="http://schemas.microsoft.com/office/drawing/2014/main" id="{B7CD2100-6F70-558A-D78D-283595E5CE37}"/>
              </a:ext>
            </a:extLst>
          </p:cNvPr>
          <p:cNvSpPr>
            <a:spLocks noChangeArrowheads="1"/>
          </p:cNvSpPr>
          <p:nvPr/>
        </p:nvSpPr>
        <p:spPr bwMode="auto">
          <a:xfrm>
            <a:off x="3333941" y="3937671"/>
            <a:ext cx="1656487" cy="934550"/>
          </a:xfrm>
          <a:prstGeom prst="wedgeRoundRectCallout">
            <a:avLst>
              <a:gd name="adj1" fmla="val 46264"/>
              <a:gd name="adj2" fmla="val 67319"/>
              <a:gd name="adj3" fmla="val 16667"/>
            </a:avLst>
          </a:prstGeom>
          <a:solidFill>
            <a:srgbClr val="FFFF99"/>
          </a:solidFill>
          <a:ln w="9525">
            <a:noFill/>
            <a:miter lim="800000"/>
            <a:headEnd/>
            <a:tailEnd/>
          </a:ln>
          <a:effectLst/>
        </p:spPr>
        <p:txBody>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kumimoji="1" lang="zh-CN" altLang="en-US" sz="2399" b="1" dirty="0">
                <a:solidFill>
                  <a:schemeClr val="tx1">
                    <a:lumMod val="75000"/>
                    <a:lumOff val="25000"/>
                  </a:schemeClr>
                </a:solidFill>
                <a:latin typeface="微软雅黑" panose="020B0503020204020204" pitchFamily="34" charset="-122"/>
                <a:ea typeface="微软雅黑" panose="020B0503020204020204" pitchFamily="34" charset="-122"/>
              </a:rPr>
              <a:t>产出</a:t>
            </a:r>
          </a:p>
          <a:p>
            <a:pPr eaLnBrk="1" hangingPunct="1">
              <a:spcBef>
                <a:spcPct val="0"/>
              </a:spcBef>
              <a:buSzTx/>
              <a:buFontTx/>
              <a:buNone/>
            </a:pPr>
            <a:r>
              <a:rPr kumimoji="1" lang="zh-CN" altLang="en-US" sz="2399" b="1" dirty="0">
                <a:solidFill>
                  <a:schemeClr val="tx1">
                    <a:lumMod val="75000"/>
                    <a:lumOff val="25000"/>
                  </a:schemeClr>
                </a:solidFill>
                <a:latin typeface="微软雅黑" panose="020B0503020204020204" pitchFamily="34" charset="-122"/>
                <a:ea typeface="微软雅黑" panose="020B0503020204020204" pitchFamily="34" charset="-122"/>
              </a:rPr>
              <a:t>输出结果</a:t>
            </a:r>
            <a:r>
              <a:rPr kumimoji="1" lang="zh-CN" altLang="en-US" sz="2599" dirty="0">
                <a:solidFill>
                  <a:schemeClr val="tx2">
                    <a:lumMod val="60000"/>
                    <a:lumOff val="40000"/>
                  </a:schemeClr>
                </a:solidFill>
                <a:latin typeface="微软雅黑" panose="020B0503020204020204" pitchFamily="34" charset="-122"/>
                <a:ea typeface="微软雅黑" panose="020B0503020204020204" pitchFamily="34" charset="-122"/>
              </a:rPr>
              <a:t> </a:t>
            </a:r>
            <a:r>
              <a:rPr kumimoji="1" lang="zh-CN" altLang="en-US" sz="2399" dirty="0">
                <a:solidFill>
                  <a:schemeClr val="tx2">
                    <a:lumMod val="60000"/>
                    <a:lumOff val="40000"/>
                  </a:schemeClr>
                </a:solidFill>
                <a:latin typeface="微软雅黑" panose="020B0503020204020204" pitchFamily="34" charset="-122"/>
                <a:ea typeface="微软雅黑" panose="020B0503020204020204" pitchFamily="34" charset="-122"/>
              </a:rPr>
              <a:t> </a:t>
            </a:r>
            <a:r>
              <a:rPr kumimoji="1" lang="zh-CN" altLang="en-US" sz="2399" dirty="0">
                <a:solidFill>
                  <a:schemeClr val="accent2"/>
                </a:solidFill>
                <a:latin typeface="微软雅黑" panose="020B0503020204020204" pitchFamily="34" charset="-122"/>
                <a:ea typeface="微软雅黑" panose="020B0503020204020204" pitchFamily="34" charset="-122"/>
              </a:rPr>
              <a:t>                                           </a:t>
            </a:r>
          </a:p>
        </p:txBody>
      </p:sp>
      <p:sp>
        <p:nvSpPr>
          <p:cNvPr id="14" name="AutoShape 10">
            <a:extLst>
              <a:ext uri="{FF2B5EF4-FFF2-40B4-BE49-F238E27FC236}">
                <a16:creationId xmlns:a16="http://schemas.microsoft.com/office/drawing/2014/main" id="{551DC242-B77A-407C-5924-43B3AB6A6D64}"/>
              </a:ext>
            </a:extLst>
          </p:cNvPr>
          <p:cNvSpPr>
            <a:spLocks noChangeArrowheads="1"/>
          </p:cNvSpPr>
          <p:nvPr/>
        </p:nvSpPr>
        <p:spPr bwMode="auto">
          <a:xfrm>
            <a:off x="5945067" y="3973371"/>
            <a:ext cx="1294726" cy="863150"/>
          </a:xfrm>
          <a:prstGeom prst="wedgeRoundRectCallout">
            <a:avLst>
              <a:gd name="adj1" fmla="val -49634"/>
              <a:gd name="adj2" fmla="val 70954"/>
              <a:gd name="adj3" fmla="val 16667"/>
            </a:avLst>
          </a:prstGeom>
          <a:solidFill>
            <a:srgbClr val="FFFF99"/>
          </a:solidFill>
          <a:ln w="9525">
            <a:noFill/>
            <a:miter lim="800000"/>
            <a:headEnd/>
            <a:tailEnd/>
          </a:ln>
          <a:effectLst/>
        </p:spPr>
        <p:txBody>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kumimoji="1" lang="zh-CN" altLang="en-US" sz="2399" b="1" dirty="0">
                <a:solidFill>
                  <a:schemeClr val="tx1">
                    <a:lumMod val="75000"/>
                    <a:lumOff val="25000"/>
                  </a:schemeClr>
                </a:solidFill>
                <a:latin typeface="微软雅黑" panose="020B0503020204020204" pitchFamily="34" charset="-122"/>
                <a:ea typeface="微软雅黑" panose="020B0503020204020204" pitchFamily="34" charset="-122"/>
              </a:rPr>
              <a:t>原料</a:t>
            </a:r>
          </a:p>
          <a:p>
            <a:pPr eaLnBrk="1" hangingPunct="1">
              <a:spcBef>
                <a:spcPct val="0"/>
              </a:spcBef>
              <a:buSzTx/>
              <a:buFontTx/>
              <a:buNone/>
            </a:pPr>
            <a:r>
              <a:rPr kumimoji="1" lang="zh-CN" altLang="en-US" sz="2399" b="1" dirty="0">
                <a:solidFill>
                  <a:schemeClr val="tx1">
                    <a:lumMod val="75000"/>
                    <a:lumOff val="25000"/>
                  </a:schemeClr>
                </a:solidFill>
                <a:latin typeface="微软雅黑" panose="020B0503020204020204" pitchFamily="34" charset="-122"/>
                <a:ea typeface="微软雅黑" panose="020B0503020204020204" pitchFamily="34" charset="-122"/>
              </a:rPr>
              <a:t>输入</a:t>
            </a:r>
            <a:endParaRPr kumimoji="1" lang="zh-CN" altLang="en-US" sz="2599"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 name="Text Box 11">
            <a:extLst>
              <a:ext uri="{FF2B5EF4-FFF2-40B4-BE49-F238E27FC236}">
                <a16:creationId xmlns:a16="http://schemas.microsoft.com/office/drawing/2014/main" id="{FF394A66-1347-F3F6-4943-2EC6805C56DA}"/>
              </a:ext>
            </a:extLst>
          </p:cNvPr>
          <p:cNvSpPr txBox="1">
            <a:spLocks noChangeArrowheads="1"/>
          </p:cNvSpPr>
          <p:nvPr/>
        </p:nvSpPr>
        <p:spPr bwMode="auto">
          <a:xfrm>
            <a:off x="1854260" y="5658126"/>
            <a:ext cx="7966303" cy="46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spcBef>
                <a:spcPct val="0"/>
              </a:spcBef>
              <a:buSzTx/>
              <a:buFontTx/>
              <a:buNone/>
            </a:pPr>
            <a:r>
              <a:rPr lang="en-US" altLang="zh-CN" sz="2399"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2399" dirty="0">
                <a:solidFill>
                  <a:schemeClr val="tx1">
                    <a:lumMod val="65000"/>
                    <a:lumOff val="35000"/>
                  </a:schemeClr>
                </a:solidFill>
                <a:latin typeface="微软雅黑" panose="020B0503020204020204" pitchFamily="34" charset="-122"/>
                <a:ea typeface="微软雅黑" panose="020B0503020204020204" pitchFamily="34" charset="-122"/>
              </a:rPr>
              <a:t>数据处理”的真正含义应该是为了产生信息而处理数据 </a:t>
            </a:r>
          </a:p>
        </p:txBody>
      </p:sp>
    </p:spTree>
    <p:extLst>
      <p:ext uri="{BB962C8B-B14F-4D97-AF65-F5344CB8AC3E}">
        <p14:creationId xmlns:p14="http://schemas.microsoft.com/office/powerpoint/2010/main" val="37221563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blinds(horizontal)">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checkerboard(across)">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amond(i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ppt_x"/>
                                          </p:val>
                                        </p:tav>
                                        <p:tav tm="100000">
                                          <p:val>
                                            <p:strVal val="#ppt_x"/>
                                          </p:val>
                                        </p:tav>
                                      </p:tavLst>
                                    </p:anim>
                                    <p:anim calcmode="lin" valueType="num">
                                      <p:cBhvr additive="base">
                                        <p:cTn id="4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11" grpId="0" animBg="1"/>
      <p:bldP spid="13" grpId="0" animBg="1"/>
      <p:bldP spid="14" grpId="0" animBg="1"/>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576959"/>
            <a:ext cx="10698480" cy="538609"/>
          </a:xfrm>
          <a:prstGeom prst="rect">
            <a:avLst/>
          </a:prstGeom>
          <a:noFill/>
        </p:spPr>
        <p:txBody>
          <a:bodyPr wrap="square">
            <a:spAutoFit/>
          </a:bodyPr>
          <a:lstStyle/>
          <a:p>
            <a:r>
              <a:rPr lang="zh-CN" altLang="en-US" sz="2900" b="1" dirty="0">
                <a:solidFill>
                  <a:srgbClr val="C00000"/>
                </a:solidFill>
                <a:latin typeface="微软雅黑"/>
                <a:ea typeface="微软雅黑"/>
                <a:cs typeface="微软雅黑"/>
              </a:rPr>
              <a:t>练一练</a:t>
            </a:r>
            <a:endParaRPr sz="2900" b="1" dirty="0">
              <a:solidFill>
                <a:srgbClr val="C00000"/>
              </a:solidFill>
              <a:latin typeface="微软雅黑"/>
              <a:ea typeface="微软雅黑"/>
              <a:cs typeface="微软雅黑"/>
            </a:endParaRPr>
          </a:p>
        </p:txBody>
      </p:sp>
      <p:sp>
        <p:nvSpPr>
          <p:cNvPr id="3" name="Rectangle 2"/>
          <p:cNvSpPr/>
          <p:nvPr/>
        </p:nvSpPr>
        <p:spPr>
          <a:xfrm>
            <a:off x="822960" y="1115568"/>
            <a:ext cx="10561320" cy="3175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7260" y="1654177"/>
            <a:ext cx="10469880" cy="3030510"/>
          </a:xfrm>
          <a:prstGeom prst="rect">
            <a:avLst/>
          </a:prstGeom>
          <a:noFill/>
        </p:spPr>
        <p:txBody>
          <a:bodyPr wrap="square">
            <a:spAutoFit/>
          </a:bodyPr>
          <a:lstStyle/>
          <a:p>
            <a:pPr>
              <a:lnSpc>
                <a:spcPct val="120000"/>
              </a:lnSpc>
            </a:pPr>
            <a:r>
              <a:rPr sz="2100" b="1" dirty="0">
                <a:solidFill>
                  <a:srgbClr val="C00000"/>
                </a:solidFill>
                <a:latin typeface="微软雅黑"/>
                <a:ea typeface="微软雅黑"/>
                <a:cs typeface="微软雅黑"/>
              </a:rPr>
              <a:t>【</a:t>
            </a:r>
            <a:r>
              <a:rPr lang="zh-CN" altLang="en-US" sz="2100" b="1" dirty="0">
                <a:solidFill>
                  <a:srgbClr val="C00000"/>
                </a:solidFill>
                <a:latin typeface="微软雅黑"/>
                <a:ea typeface="微软雅黑"/>
                <a:cs typeface="微软雅黑"/>
              </a:rPr>
              <a:t>问题一</a:t>
            </a:r>
            <a:r>
              <a:rPr sz="2100" b="1" dirty="0">
                <a:solidFill>
                  <a:srgbClr val="C00000"/>
                </a:solidFill>
                <a:latin typeface="微软雅黑"/>
                <a:ea typeface="微软雅黑"/>
                <a:cs typeface="微软雅黑"/>
              </a:rPr>
              <a:t>】</a:t>
            </a:r>
            <a:r>
              <a:rPr lang="zh-CN" altLang="en-US" sz="2100" dirty="0">
                <a:solidFill>
                  <a:srgbClr val="262626"/>
                </a:solidFill>
                <a:latin typeface="微软雅黑"/>
                <a:ea typeface="微软雅黑"/>
                <a:cs typeface="微软雅黑"/>
              </a:rPr>
              <a:t>下面关于数据与信息的描述，正确的是（   ）</a:t>
            </a:r>
            <a:endParaRPr lang="en-US" altLang="zh-CN" sz="2100" dirty="0">
              <a:solidFill>
                <a:srgbClr val="262626"/>
              </a:solidFill>
              <a:latin typeface="微软雅黑"/>
              <a:ea typeface="微软雅黑"/>
              <a:cs typeface="微软雅黑"/>
            </a:endParaRPr>
          </a:p>
          <a:p>
            <a:pPr>
              <a:lnSpc>
                <a:spcPct val="120000"/>
              </a:lnSpc>
            </a:pPr>
            <a:r>
              <a:rPr lang="en-US" sz="2100" b="1" dirty="0">
                <a:solidFill>
                  <a:srgbClr val="262626"/>
                </a:solidFill>
                <a:latin typeface="微软雅黑"/>
                <a:ea typeface="微软雅黑"/>
                <a:cs typeface="微软雅黑"/>
              </a:rPr>
              <a:t>         </a:t>
            </a:r>
          </a:p>
          <a:p>
            <a:pPr>
              <a:lnSpc>
                <a:spcPct val="120000"/>
              </a:lnSpc>
              <a:spcAft>
                <a:spcPts val="500"/>
              </a:spcAft>
            </a:pPr>
            <a:r>
              <a:rPr lang="en-US" sz="2100" b="1" dirty="0">
                <a:solidFill>
                  <a:srgbClr val="262626"/>
                </a:solidFill>
                <a:latin typeface="微软雅黑"/>
                <a:ea typeface="微软雅黑"/>
                <a:cs typeface="微软雅黑"/>
              </a:rPr>
              <a:t>          A   </a:t>
            </a:r>
            <a:r>
              <a:rPr lang="zh-CN" altLang="en-US" sz="2100" b="1" dirty="0">
                <a:solidFill>
                  <a:srgbClr val="262626"/>
                </a:solidFill>
                <a:latin typeface="微软雅黑"/>
                <a:ea typeface="微软雅黑"/>
                <a:cs typeface="微软雅黑"/>
              </a:rPr>
              <a:t>数据就是信息，二者不存在区别</a:t>
            </a:r>
            <a:endParaRPr lang="en-US" altLang="zh-CN" sz="2100" b="1" dirty="0">
              <a:solidFill>
                <a:srgbClr val="262626"/>
              </a:solidFill>
              <a:latin typeface="微软雅黑"/>
              <a:ea typeface="微软雅黑"/>
              <a:cs typeface="微软雅黑"/>
            </a:endParaRPr>
          </a:p>
          <a:p>
            <a:pPr>
              <a:lnSpc>
                <a:spcPct val="120000"/>
              </a:lnSpc>
              <a:spcAft>
                <a:spcPts val="500"/>
              </a:spcAft>
            </a:pPr>
            <a:r>
              <a:rPr lang="en-US" sz="2100" b="1" dirty="0">
                <a:solidFill>
                  <a:srgbClr val="262626"/>
                </a:solidFill>
                <a:latin typeface="微软雅黑"/>
                <a:ea typeface="微软雅黑"/>
                <a:cs typeface="微软雅黑"/>
              </a:rPr>
              <a:t>          B   </a:t>
            </a:r>
            <a:r>
              <a:rPr lang="zh-CN" altLang="en-US" sz="2100" b="1" dirty="0">
                <a:solidFill>
                  <a:srgbClr val="262626"/>
                </a:solidFill>
                <a:latin typeface="微软雅黑"/>
                <a:ea typeface="微软雅黑"/>
                <a:cs typeface="微软雅黑"/>
              </a:rPr>
              <a:t>数据是经过加工之后的信息</a:t>
            </a:r>
            <a:endParaRPr lang="en-US" altLang="zh-CN" sz="2100" b="1" dirty="0">
              <a:solidFill>
                <a:srgbClr val="262626"/>
              </a:solidFill>
              <a:latin typeface="微软雅黑"/>
              <a:ea typeface="微软雅黑"/>
              <a:cs typeface="微软雅黑"/>
            </a:endParaRPr>
          </a:p>
          <a:p>
            <a:pPr>
              <a:lnSpc>
                <a:spcPct val="120000"/>
              </a:lnSpc>
              <a:spcAft>
                <a:spcPts val="500"/>
              </a:spcAft>
            </a:pPr>
            <a:r>
              <a:rPr lang="en-US" sz="2100" b="1" dirty="0">
                <a:solidFill>
                  <a:srgbClr val="262626"/>
                </a:solidFill>
                <a:latin typeface="微软雅黑"/>
                <a:ea typeface="微软雅黑"/>
                <a:cs typeface="微软雅黑"/>
              </a:rPr>
              <a:t>          C   </a:t>
            </a:r>
            <a:r>
              <a:rPr lang="zh-CN" altLang="en-US" sz="2100" b="1" dirty="0">
                <a:solidFill>
                  <a:srgbClr val="262626"/>
                </a:solidFill>
                <a:latin typeface="微软雅黑"/>
                <a:ea typeface="微软雅黑"/>
                <a:cs typeface="微软雅黑"/>
              </a:rPr>
              <a:t>信息是经过加工、具有意义的数据</a:t>
            </a:r>
            <a:endParaRPr lang="en-US" altLang="zh-CN" sz="2100" b="1" dirty="0">
              <a:solidFill>
                <a:srgbClr val="262626"/>
              </a:solidFill>
              <a:latin typeface="微软雅黑"/>
              <a:ea typeface="微软雅黑"/>
              <a:cs typeface="微软雅黑"/>
            </a:endParaRPr>
          </a:p>
          <a:p>
            <a:pPr>
              <a:lnSpc>
                <a:spcPct val="120000"/>
              </a:lnSpc>
              <a:spcAft>
                <a:spcPts val="500"/>
              </a:spcAft>
            </a:pPr>
            <a:r>
              <a:rPr lang="en-US" sz="2100" b="1" dirty="0">
                <a:solidFill>
                  <a:srgbClr val="262626"/>
                </a:solidFill>
                <a:latin typeface="微软雅黑"/>
                <a:ea typeface="微软雅黑"/>
                <a:cs typeface="微软雅黑"/>
              </a:rPr>
              <a:t>          D   </a:t>
            </a:r>
            <a:r>
              <a:rPr lang="zh-CN" altLang="en-US" sz="2100" b="1" dirty="0">
                <a:solidFill>
                  <a:srgbClr val="262626"/>
                </a:solidFill>
                <a:latin typeface="微软雅黑"/>
                <a:ea typeface="微软雅黑"/>
                <a:cs typeface="微软雅黑"/>
              </a:rPr>
              <a:t>数字才能够称为数据，文字不属于数据</a:t>
            </a:r>
            <a:endParaRPr sz="2100" b="1" dirty="0">
              <a:solidFill>
                <a:srgbClr val="1F3B73"/>
              </a:solidFill>
              <a:latin typeface="微软雅黑"/>
              <a:ea typeface="微软雅黑"/>
              <a:cs typeface="微软雅黑"/>
            </a:endParaRPr>
          </a:p>
          <a:p>
            <a:pPr>
              <a:lnSpc>
                <a:spcPct val="120000"/>
              </a:lnSpc>
              <a:spcAft>
                <a:spcPts val="500"/>
              </a:spcAft>
            </a:pPr>
            <a:endParaRPr sz="2100" b="0" dirty="0">
              <a:solidFill>
                <a:srgbClr val="262626"/>
              </a:solidFill>
              <a:latin typeface="微软雅黑"/>
              <a:ea typeface="微软雅黑"/>
              <a:cs typeface="微软雅黑"/>
            </a:endParaRPr>
          </a:p>
        </p:txBody>
      </p:sp>
      <p:sp>
        <p:nvSpPr>
          <p:cNvPr id="7" name="文本框 6">
            <a:extLst>
              <a:ext uri="{FF2B5EF4-FFF2-40B4-BE49-F238E27FC236}">
                <a16:creationId xmlns:a16="http://schemas.microsoft.com/office/drawing/2014/main" id="{D3C1750B-FAB9-4741-8E74-194994AA801B}"/>
              </a:ext>
            </a:extLst>
          </p:cNvPr>
          <p:cNvSpPr txBox="1"/>
          <p:nvPr/>
        </p:nvSpPr>
        <p:spPr>
          <a:xfrm>
            <a:off x="5916058" y="4812927"/>
            <a:ext cx="7557570" cy="369332"/>
          </a:xfrm>
          <a:prstGeom prst="rect">
            <a:avLst/>
          </a:prstGeom>
          <a:noFill/>
        </p:spPr>
        <p:txBody>
          <a:bodyPr wrap="square">
            <a:spAutoFit/>
          </a:bodyPr>
          <a:lstStyle/>
          <a:p>
            <a:r>
              <a:rPr lang="en-US" altLang="zh-CN" sz="1800" b="1" dirty="0">
                <a:solidFill>
                  <a:srgbClr val="C00000"/>
                </a:solidFill>
                <a:latin typeface="微软雅黑"/>
                <a:ea typeface="微软雅黑"/>
                <a:cs typeface="微软雅黑"/>
              </a:rPr>
              <a:t>【</a:t>
            </a:r>
            <a:r>
              <a:rPr lang="zh-CN" altLang="en-US" b="1" dirty="0">
                <a:solidFill>
                  <a:srgbClr val="C00000"/>
                </a:solidFill>
                <a:latin typeface="微软雅黑"/>
                <a:ea typeface="微软雅黑"/>
                <a:cs typeface="微软雅黑"/>
              </a:rPr>
              <a:t>正确答案：</a:t>
            </a:r>
            <a:r>
              <a:rPr lang="en-US" altLang="zh-CN" b="1" dirty="0">
                <a:solidFill>
                  <a:srgbClr val="C00000"/>
                </a:solidFill>
                <a:latin typeface="微软雅黑"/>
                <a:ea typeface="微软雅黑"/>
                <a:cs typeface="微软雅黑"/>
              </a:rPr>
              <a:t>C</a:t>
            </a:r>
            <a:r>
              <a:rPr lang="en-US" altLang="zh-CN" sz="1800" b="1" dirty="0">
                <a:solidFill>
                  <a:srgbClr val="C00000"/>
                </a:solidFill>
                <a:latin typeface="微软雅黑"/>
                <a:ea typeface="微软雅黑"/>
                <a:cs typeface="微软雅黑"/>
              </a:rPr>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576959"/>
            <a:ext cx="10698480" cy="538609"/>
          </a:xfrm>
          <a:prstGeom prst="rect">
            <a:avLst/>
          </a:prstGeom>
          <a:noFill/>
        </p:spPr>
        <p:txBody>
          <a:bodyPr wrap="square">
            <a:spAutoFit/>
          </a:bodyPr>
          <a:lstStyle/>
          <a:p>
            <a:r>
              <a:rPr lang="zh-CN" altLang="en-US" sz="2900" b="1" dirty="0">
                <a:solidFill>
                  <a:srgbClr val="C00000"/>
                </a:solidFill>
                <a:latin typeface="微软雅黑"/>
                <a:ea typeface="微软雅黑"/>
                <a:cs typeface="微软雅黑"/>
              </a:rPr>
              <a:t>练一练</a:t>
            </a:r>
            <a:endParaRPr sz="2900" b="1" dirty="0">
              <a:solidFill>
                <a:srgbClr val="C00000"/>
              </a:solidFill>
              <a:latin typeface="微软雅黑"/>
              <a:ea typeface="微软雅黑"/>
              <a:cs typeface="微软雅黑"/>
            </a:endParaRPr>
          </a:p>
        </p:txBody>
      </p:sp>
      <p:sp>
        <p:nvSpPr>
          <p:cNvPr id="3" name="Rectangle 2"/>
          <p:cNvSpPr/>
          <p:nvPr/>
        </p:nvSpPr>
        <p:spPr>
          <a:xfrm>
            <a:off x="822960" y="1115568"/>
            <a:ext cx="10561320" cy="3175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7260" y="1654177"/>
            <a:ext cx="10469880" cy="2578591"/>
          </a:xfrm>
          <a:prstGeom prst="rect">
            <a:avLst/>
          </a:prstGeom>
          <a:noFill/>
        </p:spPr>
        <p:txBody>
          <a:bodyPr wrap="square">
            <a:spAutoFit/>
          </a:bodyPr>
          <a:lstStyle/>
          <a:p>
            <a:pPr>
              <a:lnSpc>
                <a:spcPct val="120000"/>
              </a:lnSpc>
            </a:pPr>
            <a:r>
              <a:rPr sz="2100" b="1" dirty="0">
                <a:solidFill>
                  <a:srgbClr val="C00000"/>
                </a:solidFill>
                <a:latin typeface="微软雅黑"/>
                <a:ea typeface="微软雅黑"/>
                <a:cs typeface="微软雅黑"/>
              </a:rPr>
              <a:t>【</a:t>
            </a:r>
            <a:r>
              <a:rPr lang="zh-CN" altLang="en-US" sz="2100" b="1" dirty="0">
                <a:solidFill>
                  <a:srgbClr val="C00000"/>
                </a:solidFill>
                <a:latin typeface="微软雅黑"/>
                <a:ea typeface="微软雅黑"/>
                <a:cs typeface="微软雅黑"/>
              </a:rPr>
              <a:t>问题二</a:t>
            </a:r>
            <a:r>
              <a:rPr sz="2100" b="1" dirty="0">
                <a:solidFill>
                  <a:srgbClr val="C00000"/>
                </a:solidFill>
                <a:latin typeface="微软雅黑"/>
                <a:ea typeface="微软雅黑"/>
                <a:cs typeface="微软雅黑"/>
              </a:rPr>
              <a:t>】</a:t>
            </a:r>
            <a:r>
              <a:rPr lang="zh-CN" altLang="en-US" sz="2100" dirty="0">
                <a:latin typeface="微软雅黑"/>
                <a:ea typeface="微软雅黑"/>
                <a:cs typeface="微软雅黑"/>
              </a:rPr>
              <a:t>下列选项当中，</a:t>
            </a:r>
            <a:r>
              <a:rPr lang="zh-CN" altLang="en-US" sz="2100" dirty="0">
                <a:solidFill>
                  <a:srgbClr val="262626"/>
                </a:solidFill>
                <a:latin typeface="微软雅黑"/>
                <a:ea typeface="微软雅黑"/>
                <a:cs typeface="微软雅黑"/>
              </a:rPr>
              <a:t>不属于数据处理操作的是（   ）</a:t>
            </a:r>
            <a:endParaRPr lang="en-US" altLang="zh-CN" sz="2100" dirty="0">
              <a:solidFill>
                <a:srgbClr val="262626"/>
              </a:solidFill>
              <a:latin typeface="微软雅黑"/>
              <a:ea typeface="微软雅黑"/>
              <a:cs typeface="微软雅黑"/>
            </a:endParaRPr>
          </a:p>
          <a:p>
            <a:pPr>
              <a:lnSpc>
                <a:spcPct val="120000"/>
              </a:lnSpc>
            </a:pPr>
            <a:r>
              <a:rPr lang="en-US" sz="2100" b="1" dirty="0">
                <a:solidFill>
                  <a:srgbClr val="262626"/>
                </a:solidFill>
                <a:latin typeface="微软雅黑"/>
                <a:ea typeface="微软雅黑"/>
                <a:cs typeface="微软雅黑"/>
              </a:rPr>
              <a:t>         </a:t>
            </a:r>
          </a:p>
          <a:p>
            <a:pPr>
              <a:lnSpc>
                <a:spcPct val="120000"/>
              </a:lnSpc>
              <a:spcAft>
                <a:spcPts val="500"/>
              </a:spcAft>
            </a:pPr>
            <a:r>
              <a:rPr lang="en-US" sz="2100" b="1" dirty="0">
                <a:solidFill>
                  <a:srgbClr val="262626"/>
                </a:solidFill>
                <a:latin typeface="微软雅黑"/>
                <a:ea typeface="微软雅黑"/>
                <a:cs typeface="微软雅黑"/>
              </a:rPr>
              <a:t>          A   </a:t>
            </a:r>
            <a:r>
              <a:rPr lang="zh-CN" altLang="en-US" sz="2100" b="1" dirty="0">
                <a:solidFill>
                  <a:srgbClr val="262626"/>
                </a:solidFill>
                <a:latin typeface="微软雅黑"/>
                <a:ea typeface="微软雅黑"/>
                <a:cs typeface="微软雅黑"/>
              </a:rPr>
              <a:t>采集政务平台用户访问日志</a:t>
            </a:r>
            <a:endParaRPr lang="en-US" altLang="zh-CN" sz="2100" b="1" dirty="0">
              <a:solidFill>
                <a:srgbClr val="262626"/>
              </a:solidFill>
              <a:latin typeface="微软雅黑"/>
              <a:ea typeface="微软雅黑"/>
              <a:cs typeface="微软雅黑"/>
            </a:endParaRPr>
          </a:p>
          <a:p>
            <a:pPr>
              <a:lnSpc>
                <a:spcPct val="120000"/>
              </a:lnSpc>
              <a:spcAft>
                <a:spcPts val="500"/>
              </a:spcAft>
            </a:pPr>
            <a:r>
              <a:rPr lang="en-US" sz="2100" b="1" dirty="0">
                <a:solidFill>
                  <a:srgbClr val="262626"/>
                </a:solidFill>
                <a:latin typeface="微软雅黑"/>
                <a:ea typeface="微软雅黑"/>
                <a:cs typeface="微软雅黑"/>
              </a:rPr>
              <a:t>          B   </a:t>
            </a:r>
            <a:r>
              <a:rPr lang="zh-CN" altLang="en-US" sz="2100" b="1" dirty="0">
                <a:solidFill>
                  <a:srgbClr val="262626"/>
                </a:solidFill>
                <a:latin typeface="微软雅黑"/>
                <a:ea typeface="微软雅黑"/>
                <a:cs typeface="微软雅黑"/>
              </a:rPr>
              <a:t>对学生成绩进行排序、求和统计</a:t>
            </a:r>
            <a:endParaRPr lang="en-US" altLang="zh-CN" sz="2100" b="1" dirty="0">
              <a:solidFill>
                <a:srgbClr val="262626"/>
              </a:solidFill>
              <a:latin typeface="微软雅黑"/>
              <a:ea typeface="微软雅黑"/>
              <a:cs typeface="微软雅黑"/>
            </a:endParaRPr>
          </a:p>
          <a:p>
            <a:pPr>
              <a:lnSpc>
                <a:spcPct val="120000"/>
              </a:lnSpc>
              <a:spcAft>
                <a:spcPts val="500"/>
              </a:spcAft>
            </a:pPr>
            <a:r>
              <a:rPr lang="en-US" sz="2100" b="1" dirty="0">
                <a:solidFill>
                  <a:srgbClr val="262626"/>
                </a:solidFill>
                <a:latin typeface="微软雅黑"/>
                <a:ea typeface="微软雅黑"/>
                <a:cs typeface="微软雅黑"/>
              </a:rPr>
              <a:t>          C   </a:t>
            </a:r>
            <a:r>
              <a:rPr lang="zh-CN" altLang="en-US" sz="2100" b="1" dirty="0">
                <a:solidFill>
                  <a:srgbClr val="262626"/>
                </a:solidFill>
                <a:latin typeface="微软雅黑"/>
                <a:ea typeface="微软雅黑"/>
                <a:cs typeface="微软雅黑"/>
              </a:rPr>
              <a:t>将计算结果报表进行导出展示</a:t>
            </a:r>
            <a:endParaRPr lang="en-US" altLang="zh-CN" sz="2100" b="1" dirty="0">
              <a:solidFill>
                <a:srgbClr val="262626"/>
              </a:solidFill>
              <a:latin typeface="微软雅黑"/>
              <a:ea typeface="微软雅黑"/>
              <a:cs typeface="微软雅黑"/>
            </a:endParaRPr>
          </a:p>
          <a:p>
            <a:pPr>
              <a:lnSpc>
                <a:spcPct val="120000"/>
              </a:lnSpc>
              <a:spcAft>
                <a:spcPts val="500"/>
              </a:spcAft>
            </a:pPr>
            <a:r>
              <a:rPr lang="en-US" sz="2100" b="1" dirty="0">
                <a:solidFill>
                  <a:srgbClr val="262626"/>
                </a:solidFill>
                <a:latin typeface="微软雅黑"/>
                <a:ea typeface="微软雅黑"/>
                <a:cs typeface="微软雅黑"/>
              </a:rPr>
              <a:t>          D   </a:t>
            </a:r>
            <a:r>
              <a:rPr lang="zh-CN" altLang="en-US" sz="2100" b="1" dirty="0">
                <a:solidFill>
                  <a:srgbClr val="262626"/>
                </a:solidFill>
                <a:latin typeface="微软雅黑"/>
                <a:ea typeface="微软雅黑"/>
                <a:cs typeface="微软雅黑"/>
              </a:rPr>
              <a:t>数据库定期备份与权限分配</a:t>
            </a:r>
            <a:endParaRPr sz="2100" b="0" dirty="0">
              <a:solidFill>
                <a:srgbClr val="262626"/>
              </a:solidFill>
              <a:latin typeface="微软雅黑"/>
              <a:ea typeface="微软雅黑"/>
              <a:cs typeface="微软雅黑"/>
            </a:endParaRPr>
          </a:p>
        </p:txBody>
      </p:sp>
      <p:sp>
        <p:nvSpPr>
          <p:cNvPr id="7" name="文本框 6">
            <a:extLst>
              <a:ext uri="{FF2B5EF4-FFF2-40B4-BE49-F238E27FC236}">
                <a16:creationId xmlns:a16="http://schemas.microsoft.com/office/drawing/2014/main" id="{D3C1750B-FAB9-4741-8E74-194994AA801B}"/>
              </a:ext>
            </a:extLst>
          </p:cNvPr>
          <p:cNvSpPr txBox="1"/>
          <p:nvPr/>
        </p:nvSpPr>
        <p:spPr>
          <a:xfrm>
            <a:off x="5916058" y="4812927"/>
            <a:ext cx="7557570" cy="369332"/>
          </a:xfrm>
          <a:prstGeom prst="rect">
            <a:avLst/>
          </a:prstGeom>
          <a:noFill/>
        </p:spPr>
        <p:txBody>
          <a:bodyPr wrap="square">
            <a:spAutoFit/>
          </a:bodyPr>
          <a:lstStyle/>
          <a:p>
            <a:r>
              <a:rPr lang="en-US" altLang="zh-CN" sz="1800" b="1" dirty="0">
                <a:solidFill>
                  <a:srgbClr val="C00000"/>
                </a:solidFill>
                <a:latin typeface="微软雅黑"/>
                <a:ea typeface="微软雅黑"/>
                <a:cs typeface="微软雅黑"/>
              </a:rPr>
              <a:t>【</a:t>
            </a:r>
            <a:r>
              <a:rPr lang="zh-CN" altLang="en-US" b="1" dirty="0">
                <a:solidFill>
                  <a:srgbClr val="C00000"/>
                </a:solidFill>
                <a:latin typeface="微软雅黑"/>
                <a:ea typeface="微软雅黑"/>
                <a:cs typeface="微软雅黑"/>
              </a:rPr>
              <a:t>正确答案：</a:t>
            </a:r>
            <a:r>
              <a:rPr lang="en-US" altLang="zh-CN" b="1" dirty="0">
                <a:solidFill>
                  <a:srgbClr val="C00000"/>
                </a:solidFill>
                <a:latin typeface="微软雅黑"/>
                <a:ea typeface="微软雅黑"/>
                <a:cs typeface="微软雅黑"/>
              </a:rPr>
              <a:t>D</a:t>
            </a:r>
            <a:r>
              <a:rPr lang="en-US" altLang="zh-CN" sz="1800" b="1" dirty="0">
                <a:solidFill>
                  <a:srgbClr val="C00000"/>
                </a:solidFill>
                <a:latin typeface="微软雅黑"/>
                <a:ea typeface="微软雅黑"/>
                <a:cs typeface="微软雅黑"/>
              </a:rPr>
              <a:t>】</a:t>
            </a:r>
            <a:endParaRPr lang="zh-CN" altLang="en-US" dirty="0"/>
          </a:p>
        </p:txBody>
      </p:sp>
    </p:spTree>
    <p:extLst>
      <p:ext uri="{BB962C8B-B14F-4D97-AF65-F5344CB8AC3E}">
        <p14:creationId xmlns:p14="http://schemas.microsoft.com/office/powerpoint/2010/main" val="103278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7FC5C-B953-E876-B1B8-B295DE7EC4FF}"/>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B75FB663-D051-FE23-A2A0-DDFCE313994F}"/>
              </a:ext>
            </a:extLst>
          </p:cNvPr>
          <p:cNvSpPr>
            <a:spLocks noGrp="1"/>
          </p:cNvSpPr>
          <p:nvPr>
            <p:ph type="title" idx="4294967295"/>
          </p:nvPr>
        </p:nvSpPr>
        <p:spPr>
          <a:xfrm>
            <a:off x="818372" y="685308"/>
            <a:ext cx="2741613" cy="428625"/>
          </a:xfrm>
        </p:spPr>
        <p:txBody>
          <a:bodyPr>
            <a:normAutofit fontScale="90000"/>
          </a:bodyPr>
          <a:lstStyle/>
          <a:p>
            <a:r>
              <a:rPr lang="zh-CN" altLang="en-US" b="1" dirty="0">
                <a:latin typeface="微软雅黑" panose="020B0503020204020204" pitchFamily="34" charset="-122"/>
                <a:ea typeface="微软雅黑" panose="020B0503020204020204" pitchFamily="34" charset="-122"/>
              </a:rPr>
              <a:t>本章目录</a:t>
            </a:r>
          </a:p>
        </p:txBody>
      </p:sp>
      <p:grpSp>
        <p:nvGrpSpPr>
          <p:cNvPr id="5" name="组合 4">
            <a:extLst>
              <a:ext uri="{FF2B5EF4-FFF2-40B4-BE49-F238E27FC236}">
                <a16:creationId xmlns:a16="http://schemas.microsoft.com/office/drawing/2014/main" id="{643A067C-C639-B19C-055C-3D8A4485DF53}"/>
              </a:ext>
            </a:extLst>
          </p:cNvPr>
          <p:cNvGrpSpPr/>
          <p:nvPr/>
        </p:nvGrpSpPr>
        <p:grpSpPr>
          <a:xfrm>
            <a:off x="684987" y="1518856"/>
            <a:ext cx="4865113" cy="632234"/>
            <a:chOff x="1288061" y="2515394"/>
            <a:chExt cx="4966104" cy="632563"/>
          </a:xfrm>
          <a:solidFill>
            <a:schemeClr val="bg1">
              <a:lumMod val="85000"/>
            </a:schemeClr>
          </a:solidFill>
        </p:grpSpPr>
        <p:sp>
          <p:nvSpPr>
            <p:cNvPr id="6" name="矩形 5">
              <a:extLst>
                <a:ext uri="{FF2B5EF4-FFF2-40B4-BE49-F238E27FC236}">
                  <a16:creationId xmlns:a16="http://schemas.microsoft.com/office/drawing/2014/main" id="{382E3589-DF3F-E2A7-70B4-60E84C889499}"/>
                </a:ext>
              </a:extLst>
            </p:cNvPr>
            <p:cNvSpPr/>
            <p:nvPr/>
          </p:nvSpPr>
          <p:spPr>
            <a:xfrm>
              <a:off x="2060574" y="2515394"/>
              <a:ext cx="4111102"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 name="TextBox 6">
              <a:extLst>
                <a:ext uri="{FF2B5EF4-FFF2-40B4-BE49-F238E27FC236}">
                  <a16:creationId xmlns:a16="http://schemas.microsoft.com/office/drawing/2014/main" id="{893BD7B5-E171-647B-85FC-6FBE52806BDF}"/>
                </a:ext>
              </a:extLst>
            </p:cNvPr>
            <p:cNvSpPr txBox="1"/>
            <p:nvPr/>
          </p:nvSpPr>
          <p:spPr>
            <a:xfrm>
              <a:off x="2060573" y="2535216"/>
              <a:ext cx="4193592" cy="460767"/>
            </a:xfrm>
            <a:prstGeom prst="rect">
              <a:avLst/>
            </a:prstGeom>
            <a:grpFill/>
          </p:spPr>
          <p:txBody>
            <a:bodyPr wrap="square" rtlCol="0">
              <a:spAutoFit/>
            </a:bodyPr>
            <a:lstStyle/>
            <a:p>
              <a:pPr>
                <a:lnSpc>
                  <a:spcPct val="130000"/>
                </a:lnSpc>
              </a:pPr>
              <a:r>
                <a:rPr lang="zh-CN" altLang="en-US" sz="1999" dirty="0"/>
                <a:t>信息、数据、数据处理与数据管理</a:t>
              </a:r>
            </a:p>
          </p:txBody>
        </p:sp>
        <p:cxnSp>
          <p:nvCxnSpPr>
            <p:cNvPr id="8" name="直接连接符 7">
              <a:extLst>
                <a:ext uri="{FF2B5EF4-FFF2-40B4-BE49-F238E27FC236}">
                  <a16:creationId xmlns:a16="http://schemas.microsoft.com/office/drawing/2014/main" id="{ACDB0932-A48E-3A40-62EF-DC45A85A44E6}"/>
                </a:ext>
              </a:extLst>
            </p:cNvPr>
            <p:cNvCxnSpPr>
              <a:cxnSpLocks/>
            </p:cNvCxnSpPr>
            <p:nvPr/>
          </p:nvCxnSpPr>
          <p:spPr bwMode="auto">
            <a:xfrm>
              <a:off x="1374775" y="3147957"/>
              <a:ext cx="4777479" cy="0"/>
            </a:xfrm>
            <a:prstGeom prst="line">
              <a:avLst/>
            </a:prstGeom>
            <a:grpFill/>
            <a:ln w="28575" cap="flat" cmpd="sng" algn="ctr">
              <a:solidFill>
                <a:srgbClr val="FFC000"/>
              </a:solidFill>
              <a:prstDash val="solid"/>
              <a:round/>
              <a:headEnd type="none" w="med" len="med"/>
              <a:tailEnd type="none" w="med" len="med"/>
            </a:ln>
            <a:effectLst/>
          </p:spPr>
        </p:cxnSp>
        <p:grpSp>
          <p:nvGrpSpPr>
            <p:cNvPr id="10" name="组合 9">
              <a:extLst>
                <a:ext uri="{FF2B5EF4-FFF2-40B4-BE49-F238E27FC236}">
                  <a16:creationId xmlns:a16="http://schemas.microsoft.com/office/drawing/2014/main" id="{60538D09-B612-EEA8-19B2-8446DC7AA56A}"/>
                </a:ext>
              </a:extLst>
            </p:cNvPr>
            <p:cNvGrpSpPr/>
            <p:nvPr/>
          </p:nvGrpSpPr>
          <p:grpSpPr>
            <a:xfrm>
              <a:off x="1288061" y="2521302"/>
              <a:ext cx="590716" cy="626655"/>
              <a:chOff x="6242320" y="1105727"/>
              <a:chExt cx="590408" cy="626656"/>
            </a:xfrm>
            <a:grpFill/>
          </p:grpSpPr>
          <p:sp>
            <p:nvSpPr>
              <p:cNvPr id="11" name="TextBox 6">
                <a:extLst>
                  <a:ext uri="{FF2B5EF4-FFF2-40B4-BE49-F238E27FC236}">
                    <a16:creationId xmlns:a16="http://schemas.microsoft.com/office/drawing/2014/main" id="{FA3C51AB-9985-B321-E4BB-10C3C815154D}"/>
                  </a:ext>
                </a:extLst>
              </p:cNvPr>
              <p:cNvSpPr txBox="1"/>
              <p:nvPr/>
            </p:nvSpPr>
            <p:spPr>
              <a:xfrm>
                <a:off x="6327224" y="1105727"/>
                <a:ext cx="448425" cy="492443"/>
              </a:xfrm>
              <a:prstGeom prst="rect">
                <a:avLst/>
              </a:prstGeom>
              <a:noFill/>
            </p:spPr>
            <p:txBody>
              <a:bodyPr vert="horz" wrap="square" lIns="0" tIns="0" rIns="0" bIns="0" rtlCol="0" anchor="ctr">
                <a:spAutoFit/>
              </a:bodyPr>
              <a:lstStyle/>
              <a:p>
                <a:pPr algn="l"/>
                <a:r>
                  <a:rPr lang="en-US" altLang="zh-CN" sz="3198" dirty="0">
                    <a:solidFill>
                      <a:srgbClr val="FF9900"/>
                    </a:solidFill>
                    <a:latin typeface="Impact" panose="020B0806030902050204" pitchFamily="34" charset="0"/>
                    <a:ea typeface="微软雅黑" panose="020B0503020204020204" pitchFamily="34" charset="-122"/>
                  </a:rPr>
                  <a:t>01</a:t>
                </a:r>
                <a:endParaRPr lang="zh-CN" altLang="en-US" sz="3198" dirty="0">
                  <a:solidFill>
                    <a:srgbClr val="FF9900"/>
                  </a:solidFill>
                  <a:latin typeface="微软雅黑" panose="020B0503020204020204" pitchFamily="34" charset="-122"/>
                  <a:ea typeface="微软雅黑" panose="020B0503020204020204" pitchFamily="34" charset="-122"/>
                </a:endParaRPr>
              </a:p>
            </p:txBody>
          </p:sp>
          <p:sp>
            <p:nvSpPr>
              <p:cNvPr id="12" name="文本框 22">
                <a:extLst>
                  <a:ext uri="{FF2B5EF4-FFF2-40B4-BE49-F238E27FC236}">
                    <a16:creationId xmlns:a16="http://schemas.microsoft.com/office/drawing/2014/main" id="{D7D5D19B-86CE-22B4-F8ED-56520D4BB55E}"/>
                  </a:ext>
                </a:extLst>
              </p:cNvPr>
              <p:cNvSpPr txBox="1"/>
              <p:nvPr/>
            </p:nvSpPr>
            <p:spPr>
              <a:xfrm>
                <a:off x="6242320" y="151693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grpSp>
      <p:grpSp>
        <p:nvGrpSpPr>
          <p:cNvPr id="13" name="组合 12">
            <a:extLst>
              <a:ext uri="{FF2B5EF4-FFF2-40B4-BE49-F238E27FC236}">
                <a16:creationId xmlns:a16="http://schemas.microsoft.com/office/drawing/2014/main" id="{399AE1F3-7F0D-5798-9283-0A922E0296F8}"/>
              </a:ext>
            </a:extLst>
          </p:cNvPr>
          <p:cNvGrpSpPr/>
          <p:nvPr/>
        </p:nvGrpSpPr>
        <p:grpSpPr>
          <a:xfrm>
            <a:off x="684986" y="2604141"/>
            <a:ext cx="4765275" cy="666403"/>
            <a:chOff x="1288061" y="3601244"/>
            <a:chExt cx="4864195" cy="666750"/>
          </a:xfrm>
          <a:solidFill>
            <a:srgbClr val="FF0000"/>
          </a:solidFill>
        </p:grpSpPr>
        <p:sp>
          <p:nvSpPr>
            <p:cNvPr id="14" name="矩形 13">
              <a:extLst>
                <a:ext uri="{FF2B5EF4-FFF2-40B4-BE49-F238E27FC236}">
                  <a16:creationId xmlns:a16="http://schemas.microsoft.com/office/drawing/2014/main" id="{0473A58E-136F-B224-B434-6ACB6BE021D9}"/>
                </a:ext>
              </a:extLst>
            </p:cNvPr>
            <p:cNvSpPr/>
            <p:nvPr/>
          </p:nvSpPr>
          <p:spPr>
            <a:xfrm>
              <a:off x="2060575" y="3601244"/>
              <a:ext cx="3657600"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15" name="组合 14">
              <a:extLst>
                <a:ext uri="{FF2B5EF4-FFF2-40B4-BE49-F238E27FC236}">
                  <a16:creationId xmlns:a16="http://schemas.microsoft.com/office/drawing/2014/main" id="{C4EC8A09-4F81-65EA-6BBB-EBC58316C7AB}"/>
                </a:ext>
              </a:extLst>
            </p:cNvPr>
            <p:cNvGrpSpPr/>
            <p:nvPr/>
          </p:nvGrpSpPr>
          <p:grpSpPr>
            <a:xfrm>
              <a:off x="1288061" y="3623526"/>
              <a:ext cx="590716" cy="631762"/>
              <a:chOff x="6242320" y="2373233"/>
              <a:chExt cx="590408" cy="631762"/>
            </a:xfrm>
            <a:grpFill/>
          </p:grpSpPr>
          <p:sp>
            <p:nvSpPr>
              <p:cNvPr id="18" name="TextBox 6">
                <a:extLst>
                  <a:ext uri="{FF2B5EF4-FFF2-40B4-BE49-F238E27FC236}">
                    <a16:creationId xmlns:a16="http://schemas.microsoft.com/office/drawing/2014/main" id="{8C3FF8F9-6357-1376-76B0-9DAE1ED7BEA4}"/>
                  </a:ext>
                </a:extLst>
              </p:cNvPr>
              <p:cNvSpPr txBox="1"/>
              <p:nvPr/>
            </p:nvSpPr>
            <p:spPr>
              <a:xfrm>
                <a:off x="6327224" y="2373233"/>
                <a:ext cx="448425" cy="492443"/>
              </a:xfrm>
              <a:prstGeom prst="rect">
                <a:avLst/>
              </a:prstGeom>
              <a:noFill/>
            </p:spPr>
            <p:txBody>
              <a:bodyPr vert="horz" wrap="square" lIns="0" tIns="0" rIns="0" bIns="0" rtlCol="0" anchor="ctr">
                <a:spAutoFit/>
              </a:bodyPr>
              <a:lstStyle/>
              <a:p>
                <a:pPr algn="l"/>
                <a:r>
                  <a:rPr lang="en-US" altLang="zh-CN" sz="3198" dirty="0">
                    <a:solidFill>
                      <a:srgbClr val="01ACBE"/>
                    </a:solidFill>
                    <a:latin typeface="Impact" panose="020B0806030902050204" pitchFamily="34" charset="0"/>
                    <a:ea typeface="微软雅黑" panose="020B0503020204020204" pitchFamily="34" charset="-122"/>
                  </a:rPr>
                  <a:t>02</a:t>
                </a:r>
                <a:endParaRPr lang="zh-CN" altLang="en-US" sz="3198" dirty="0">
                  <a:solidFill>
                    <a:srgbClr val="01ACBE"/>
                  </a:solidFill>
                  <a:latin typeface="微软雅黑" panose="020B0503020204020204" pitchFamily="34" charset="-122"/>
                  <a:ea typeface="微软雅黑" panose="020B0503020204020204" pitchFamily="34" charset="-122"/>
                </a:endParaRPr>
              </a:p>
            </p:txBody>
          </p:sp>
          <p:sp>
            <p:nvSpPr>
              <p:cNvPr id="19" name="文本框 23">
                <a:extLst>
                  <a:ext uri="{FF2B5EF4-FFF2-40B4-BE49-F238E27FC236}">
                    <a16:creationId xmlns:a16="http://schemas.microsoft.com/office/drawing/2014/main" id="{CC1A4F4B-0BAE-E163-1260-EAC8271CA7E4}"/>
                  </a:ext>
                </a:extLst>
              </p:cNvPr>
              <p:cNvSpPr txBox="1"/>
              <p:nvPr/>
            </p:nvSpPr>
            <p:spPr>
              <a:xfrm>
                <a:off x="6242320" y="2789551"/>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sp>
          <p:nvSpPr>
            <p:cNvPr id="16" name="TextBox 19">
              <a:extLst>
                <a:ext uri="{FF2B5EF4-FFF2-40B4-BE49-F238E27FC236}">
                  <a16:creationId xmlns:a16="http://schemas.microsoft.com/office/drawing/2014/main" id="{998D2855-6905-42E3-C662-99AFFC338E5B}"/>
                </a:ext>
              </a:extLst>
            </p:cNvPr>
            <p:cNvSpPr txBox="1"/>
            <p:nvPr/>
          </p:nvSpPr>
          <p:spPr>
            <a:xfrm>
              <a:off x="2151869" y="3623151"/>
              <a:ext cx="3185304" cy="460767"/>
            </a:xfrm>
            <a:prstGeom prst="rect">
              <a:avLst/>
            </a:prstGeom>
            <a:grpFill/>
          </p:spPr>
          <p:txBody>
            <a:bodyPr wrap="square" rtlCol="0">
              <a:spAutoFit/>
            </a:bodyPr>
            <a:lstStyle/>
            <a:p>
              <a:pPr>
                <a:lnSpc>
                  <a:spcPct val="130000"/>
                </a:lnSpc>
              </a:pPr>
              <a:r>
                <a:rPr lang="zh-CN" altLang="en-US" sz="1999" dirty="0"/>
                <a:t>数据库技术的产生、发展</a:t>
              </a:r>
            </a:p>
          </p:txBody>
        </p:sp>
        <p:cxnSp>
          <p:nvCxnSpPr>
            <p:cNvPr id="17" name="直接连接符 16">
              <a:extLst>
                <a:ext uri="{FF2B5EF4-FFF2-40B4-BE49-F238E27FC236}">
                  <a16:creationId xmlns:a16="http://schemas.microsoft.com/office/drawing/2014/main" id="{A37FE685-058C-C3CF-C979-F899E714A42A}"/>
                </a:ext>
              </a:extLst>
            </p:cNvPr>
            <p:cNvCxnSpPr>
              <a:cxnSpLocks/>
            </p:cNvCxnSpPr>
            <p:nvPr/>
          </p:nvCxnSpPr>
          <p:spPr bwMode="auto">
            <a:xfrm>
              <a:off x="1374775" y="4267994"/>
              <a:ext cx="4777481" cy="0"/>
            </a:xfrm>
            <a:prstGeom prst="line">
              <a:avLst/>
            </a:prstGeom>
            <a:grpFill/>
            <a:ln w="28575" cap="flat" cmpd="sng" algn="ctr">
              <a:solidFill>
                <a:srgbClr val="00DBD6"/>
              </a:solidFill>
              <a:prstDash val="solid"/>
              <a:round/>
              <a:headEnd type="none" w="med" len="med"/>
              <a:tailEnd type="none" w="med" len="med"/>
            </a:ln>
            <a:effectLst/>
          </p:spPr>
        </p:cxnSp>
      </p:grpSp>
      <p:grpSp>
        <p:nvGrpSpPr>
          <p:cNvPr id="20" name="组合 19">
            <a:extLst>
              <a:ext uri="{FF2B5EF4-FFF2-40B4-BE49-F238E27FC236}">
                <a16:creationId xmlns:a16="http://schemas.microsoft.com/office/drawing/2014/main" id="{9DC7C2F3-2F1D-A45C-7163-34202EC141FE}"/>
              </a:ext>
            </a:extLst>
          </p:cNvPr>
          <p:cNvGrpSpPr/>
          <p:nvPr/>
        </p:nvGrpSpPr>
        <p:grpSpPr>
          <a:xfrm>
            <a:off x="684986" y="3618026"/>
            <a:ext cx="4765275" cy="667683"/>
            <a:chOff x="1288061" y="4615657"/>
            <a:chExt cx="4864195" cy="668031"/>
          </a:xfrm>
          <a:solidFill>
            <a:schemeClr val="bg1">
              <a:lumMod val="85000"/>
            </a:schemeClr>
          </a:solidFill>
        </p:grpSpPr>
        <p:grpSp>
          <p:nvGrpSpPr>
            <p:cNvPr id="21" name="组合 20">
              <a:extLst>
                <a:ext uri="{FF2B5EF4-FFF2-40B4-BE49-F238E27FC236}">
                  <a16:creationId xmlns:a16="http://schemas.microsoft.com/office/drawing/2014/main" id="{36097BC7-748F-116B-FFBE-2956B0E90ACF}"/>
                </a:ext>
              </a:extLst>
            </p:cNvPr>
            <p:cNvGrpSpPr/>
            <p:nvPr/>
          </p:nvGrpSpPr>
          <p:grpSpPr>
            <a:xfrm>
              <a:off x="1288061" y="4615657"/>
              <a:ext cx="4864195" cy="668031"/>
              <a:chOff x="1288061" y="4615657"/>
              <a:chExt cx="4864195" cy="668031"/>
            </a:xfrm>
            <a:grpFill/>
          </p:grpSpPr>
          <p:sp>
            <p:nvSpPr>
              <p:cNvPr id="23" name="矩形 22">
                <a:extLst>
                  <a:ext uri="{FF2B5EF4-FFF2-40B4-BE49-F238E27FC236}">
                    <a16:creationId xmlns:a16="http://schemas.microsoft.com/office/drawing/2014/main" id="{BC2518AE-6991-9C16-4677-DF88DEC01D75}"/>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24" name="组合 23">
                <a:extLst>
                  <a:ext uri="{FF2B5EF4-FFF2-40B4-BE49-F238E27FC236}">
                    <a16:creationId xmlns:a16="http://schemas.microsoft.com/office/drawing/2014/main" id="{8CD218EE-A859-4841-417C-5338E1625194}"/>
                  </a:ext>
                </a:extLst>
              </p:cNvPr>
              <p:cNvGrpSpPr/>
              <p:nvPr/>
            </p:nvGrpSpPr>
            <p:grpSpPr>
              <a:xfrm>
                <a:off x="1288061" y="4635789"/>
                <a:ext cx="590716" cy="620494"/>
                <a:chOff x="6242320" y="3640739"/>
                <a:chExt cx="590408" cy="620494"/>
              </a:xfrm>
              <a:grpFill/>
            </p:grpSpPr>
            <p:sp>
              <p:nvSpPr>
                <p:cNvPr id="26" name="TextBox 6">
                  <a:extLst>
                    <a:ext uri="{FF2B5EF4-FFF2-40B4-BE49-F238E27FC236}">
                      <a16:creationId xmlns:a16="http://schemas.microsoft.com/office/drawing/2014/main" id="{2B21C542-89AF-AA00-6228-9247FDB84D7F}"/>
                    </a:ext>
                  </a:extLst>
                </p:cNvPr>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198" dirty="0">
                      <a:solidFill>
                        <a:srgbClr val="00B050"/>
                      </a:solidFill>
                      <a:latin typeface="Impact" panose="020B0806030902050204" pitchFamily="34" charset="0"/>
                      <a:ea typeface="微软雅黑" panose="020B0503020204020204" pitchFamily="34" charset="-122"/>
                    </a:rPr>
                    <a:t>03</a:t>
                  </a:r>
                  <a:endParaRPr lang="zh-CN" altLang="en-US" sz="3198" dirty="0">
                    <a:solidFill>
                      <a:srgbClr val="00B050"/>
                    </a:solidFill>
                    <a:latin typeface="微软雅黑" panose="020B0503020204020204" pitchFamily="34" charset="-122"/>
                    <a:ea typeface="微软雅黑" panose="020B0503020204020204" pitchFamily="34" charset="-122"/>
                  </a:endParaRPr>
                </a:p>
              </p:txBody>
            </p:sp>
            <p:sp>
              <p:nvSpPr>
                <p:cNvPr id="27" name="文本框 24">
                  <a:extLst>
                    <a:ext uri="{FF2B5EF4-FFF2-40B4-BE49-F238E27FC236}">
                      <a16:creationId xmlns:a16="http://schemas.microsoft.com/office/drawing/2014/main" id="{1D13149F-E478-61FF-50DD-CB7446B0BB2E}"/>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25" name="直接连接符 24">
                <a:extLst>
                  <a:ext uri="{FF2B5EF4-FFF2-40B4-BE49-F238E27FC236}">
                    <a16:creationId xmlns:a16="http://schemas.microsoft.com/office/drawing/2014/main" id="{DEF3C33B-9F6B-7540-E083-F6E7032F4D9E}"/>
                  </a:ext>
                </a:extLst>
              </p:cNvPr>
              <p:cNvCxnSpPr>
                <a:cxnSpLocks/>
              </p:cNvCxnSpPr>
              <p:nvPr/>
            </p:nvCxnSpPr>
            <p:spPr bwMode="auto">
              <a:xfrm>
                <a:off x="1374775" y="5283688"/>
                <a:ext cx="4777481" cy="0"/>
              </a:xfrm>
              <a:prstGeom prst="line">
                <a:avLst/>
              </a:prstGeom>
              <a:grpFill/>
              <a:ln w="28575" cap="flat" cmpd="sng" algn="ctr">
                <a:solidFill>
                  <a:srgbClr val="FF8181"/>
                </a:solidFill>
                <a:prstDash val="solid"/>
                <a:round/>
                <a:headEnd type="none" w="med" len="med"/>
                <a:tailEnd type="none" w="med" len="med"/>
              </a:ln>
              <a:effectLst/>
            </p:spPr>
          </p:cxnSp>
        </p:grpSp>
        <p:sp>
          <p:nvSpPr>
            <p:cNvPr id="22" name="TextBox 20">
              <a:extLst>
                <a:ext uri="{FF2B5EF4-FFF2-40B4-BE49-F238E27FC236}">
                  <a16:creationId xmlns:a16="http://schemas.microsoft.com/office/drawing/2014/main" id="{DA980540-24A6-1C52-EFB7-F86E7B38BFD9}"/>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数据库系统和数据库管理系统</a:t>
              </a:r>
            </a:p>
          </p:txBody>
        </p:sp>
      </p:grpSp>
      <p:grpSp>
        <p:nvGrpSpPr>
          <p:cNvPr id="28" name="组合 27">
            <a:extLst>
              <a:ext uri="{FF2B5EF4-FFF2-40B4-BE49-F238E27FC236}">
                <a16:creationId xmlns:a16="http://schemas.microsoft.com/office/drawing/2014/main" id="{D699673A-8143-4316-893D-BB158DFADCF5}"/>
              </a:ext>
            </a:extLst>
          </p:cNvPr>
          <p:cNvGrpSpPr/>
          <p:nvPr/>
        </p:nvGrpSpPr>
        <p:grpSpPr>
          <a:xfrm>
            <a:off x="707408" y="4709619"/>
            <a:ext cx="4742853" cy="667683"/>
            <a:chOff x="1288061" y="4615657"/>
            <a:chExt cx="4841307" cy="668031"/>
          </a:xfrm>
          <a:solidFill>
            <a:schemeClr val="bg1">
              <a:lumMod val="85000"/>
            </a:schemeClr>
          </a:solidFill>
        </p:grpSpPr>
        <p:grpSp>
          <p:nvGrpSpPr>
            <p:cNvPr id="29" name="组合 28">
              <a:extLst>
                <a:ext uri="{FF2B5EF4-FFF2-40B4-BE49-F238E27FC236}">
                  <a16:creationId xmlns:a16="http://schemas.microsoft.com/office/drawing/2014/main" id="{BC86683B-52E8-B6D5-EABD-65DEBA3EC3C8}"/>
                </a:ext>
              </a:extLst>
            </p:cNvPr>
            <p:cNvGrpSpPr/>
            <p:nvPr/>
          </p:nvGrpSpPr>
          <p:grpSpPr>
            <a:xfrm>
              <a:off x="1288061" y="4615657"/>
              <a:ext cx="4841307" cy="668031"/>
              <a:chOff x="1288061" y="4615657"/>
              <a:chExt cx="4841307" cy="668031"/>
            </a:xfrm>
            <a:grpFill/>
          </p:grpSpPr>
          <p:sp>
            <p:nvSpPr>
              <p:cNvPr id="31" name="矩形 30">
                <a:extLst>
                  <a:ext uri="{FF2B5EF4-FFF2-40B4-BE49-F238E27FC236}">
                    <a16:creationId xmlns:a16="http://schemas.microsoft.com/office/drawing/2014/main" id="{1743232D-3F32-6352-70D1-D397EC8358A0}"/>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32" name="组合 31">
                <a:extLst>
                  <a:ext uri="{FF2B5EF4-FFF2-40B4-BE49-F238E27FC236}">
                    <a16:creationId xmlns:a16="http://schemas.microsoft.com/office/drawing/2014/main" id="{6F601971-3673-DED6-A9A9-FBA6B833C7A7}"/>
                  </a:ext>
                </a:extLst>
              </p:cNvPr>
              <p:cNvGrpSpPr/>
              <p:nvPr/>
            </p:nvGrpSpPr>
            <p:grpSpPr>
              <a:xfrm>
                <a:off x="1288061" y="4635789"/>
                <a:ext cx="590716" cy="620494"/>
                <a:chOff x="6242320" y="3640739"/>
                <a:chExt cx="590408" cy="620494"/>
              </a:xfrm>
              <a:grpFill/>
            </p:grpSpPr>
            <p:sp>
              <p:nvSpPr>
                <p:cNvPr id="34" name="TextBox 6">
                  <a:extLst>
                    <a:ext uri="{FF2B5EF4-FFF2-40B4-BE49-F238E27FC236}">
                      <a16:creationId xmlns:a16="http://schemas.microsoft.com/office/drawing/2014/main" id="{4FFC92CC-DE41-751E-7F85-426DE0FB94A1}"/>
                    </a:ext>
                  </a:extLst>
                </p:cNvPr>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198" dirty="0">
                      <a:solidFill>
                        <a:schemeClr val="accent5">
                          <a:lumMod val="60000"/>
                          <a:lumOff val="40000"/>
                        </a:schemeClr>
                      </a:solidFill>
                      <a:latin typeface="Impact" panose="020B0806030902050204" pitchFamily="34" charset="0"/>
                      <a:ea typeface="微软雅黑" panose="020B0503020204020204" pitchFamily="34" charset="-122"/>
                    </a:rPr>
                    <a:t>04</a:t>
                  </a:r>
                  <a:endParaRPr lang="zh-CN" altLang="en-US" sz="3198" dirty="0">
                    <a:solidFill>
                      <a:schemeClr val="accent5">
                        <a:lumMod val="60000"/>
                        <a:lumOff val="40000"/>
                      </a:schemeClr>
                    </a:solidFill>
                    <a:latin typeface="微软雅黑" panose="020B0503020204020204" pitchFamily="34" charset="-122"/>
                    <a:ea typeface="微软雅黑" panose="020B0503020204020204" pitchFamily="34" charset="-122"/>
                  </a:endParaRPr>
                </a:p>
              </p:txBody>
            </p:sp>
            <p:sp>
              <p:nvSpPr>
                <p:cNvPr id="35" name="文本框 24">
                  <a:extLst>
                    <a:ext uri="{FF2B5EF4-FFF2-40B4-BE49-F238E27FC236}">
                      <a16:creationId xmlns:a16="http://schemas.microsoft.com/office/drawing/2014/main" id="{2A7ABFCA-B906-DD85-61FA-1E2CEA8A4939}"/>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33" name="直接连接符 32">
                <a:extLst>
                  <a:ext uri="{FF2B5EF4-FFF2-40B4-BE49-F238E27FC236}">
                    <a16:creationId xmlns:a16="http://schemas.microsoft.com/office/drawing/2014/main" id="{3EAC44AA-B989-CF28-5F94-400A91C71CF7}"/>
                  </a:ext>
                </a:extLst>
              </p:cNvPr>
              <p:cNvCxnSpPr>
                <a:cxnSpLocks/>
              </p:cNvCxnSpPr>
              <p:nvPr/>
            </p:nvCxnSpPr>
            <p:spPr bwMode="auto">
              <a:xfrm>
                <a:off x="1374775" y="5283688"/>
                <a:ext cx="4754593" cy="0"/>
              </a:xfrm>
              <a:prstGeom prst="line">
                <a:avLst/>
              </a:prstGeom>
              <a:grpFill/>
              <a:ln w="28575" cap="flat" cmpd="sng" algn="ctr">
                <a:solidFill>
                  <a:srgbClr val="7ABC32"/>
                </a:solidFill>
                <a:prstDash val="solid"/>
                <a:round/>
                <a:headEnd type="none" w="med" len="med"/>
                <a:tailEnd type="none" w="med" len="med"/>
              </a:ln>
              <a:effectLst/>
            </p:spPr>
          </p:cxnSp>
        </p:grpSp>
        <p:sp>
          <p:nvSpPr>
            <p:cNvPr id="30" name="TextBox 20">
              <a:extLst>
                <a:ext uri="{FF2B5EF4-FFF2-40B4-BE49-F238E27FC236}">
                  <a16:creationId xmlns:a16="http://schemas.microsoft.com/office/drawing/2014/main" id="{5D936419-41D8-F635-491E-30B1A71123FD}"/>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数据库系统的内部体系结构</a:t>
              </a:r>
            </a:p>
          </p:txBody>
        </p:sp>
      </p:grpSp>
      <p:grpSp>
        <p:nvGrpSpPr>
          <p:cNvPr id="38" name="组合 37">
            <a:extLst>
              <a:ext uri="{FF2B5EF4-FFF2-40B4-BE49-F238E27FC236}">
                <a16:creationId xmlns:a16="http://schemas.microsoft.com/office/drawing/2014/main" id="{FB9D414A-77D5-2064-6FBE-8D298E1733B3}"/>
              </a:ext>
            </a:extLst>
          </p:cNvPr>
          <p:cNvGrpSpPr/>
          <p:nvPr/>
        </p:nvGrpSpPr>
        <p:grpSpPr>
          <a:xfrm>
            <a:off x="6592666" y="1524563"/>
            <a:ext cx="4765274" cy="632234"/>
            <a:chOff x="1288061" y="2515394"/>
            <a:chExt cx="4864193" cy="632563"/>
          </a:xfrm>
          <a:solidFill>
            <a:schemeClr val="bg1">
              <a:lumMod val="85000"/>
            </a:schemeClr>
          </a:solidFill>
        </p:grpSpPr>
        <p:sp>
          <p:nvSpPr>
            <p:cNvPr id="39" name="矩形 38">
              <a:extLst>
                <a:ext uri="{FF2B5EF4-FFF2-40B4-BE49-F238E27FC236}">
                  <a16:creationId xmlns:a16="http://schemas.microsoft.com/office/drawing/2014/main" id="{3FB88089-4B2D-7838-2971-660A15C45D69}"/>
                </a:ext>
              </a:extLst>
            </p:cNvPr>
            <p:cNvSpPr/>
            <p:nvPr/>
          </p:nvSpPr>
          <p:spPr>
            <a:xfrm>
              <a:off x="2060574" y="2515394"/>
              <a:ext cx="3670047"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0" name="TextBox 6">
              <a:extLst>
                <a:ext uri="{FF2B5EF4-FFF2-40B4-BE49-F238E27FC236}">
                  <a16:creationId xmlns:a16="http://schemas.microsoft.com/office/drawing/2014/main" id="{C397E424-DCFF-450C-B276-611F6DD0DC41}"/>
                </a:ext>
              </a:extLst>
            </p:cNvPr>
            <p:cNvSpPr txBox="1"/>
            <p:nvPr/>
          </p:nvSpPr>
          <p:spPr>
            <a:xfrm>
              <a:off x="2151869" y="2515394"/>
              <a:ext cx="3566304" cy="460767"/>
            </a:xfrm>
            <a:prstGeom prst="rect">
              <a:avLst/>
            </a:prstGeom>
            <a:grpFill/>
          </p:spPr>
          <p:txBody>
            <a:bodyPr wrap="square" rtlCol="0">
              <a:spAutoFit/>
            </a:bodyPr>
            <a:lstStyle/>
            <a:p>
              <a:pPr>
                <a:lnSpc>
                  <a:spcPct val="130000"/>
                </a:lnSpc>
              </a:pPr>
              <a:r>
                <a:rPr lang="zh-CN" altLang="en-US" sz="1999" dirty="0"/>
                <a:t>数据库系统的外部体系结构</a:t>
              </a:r>
            </a:p>
          </p:txBody>
        </p:sp>
        <p:cxnSp>
          <p:nvCxnSpPr>
            <p:cNvPr id="41" name="直接连接符 40">
              <a:extLst>
                <a:ext uri="{FF2B5EF4-FFF2-40B4-BE49-F238E27FC236}">
                  <a16:creationId xmlns:a16="http://schemas.microsoft.com/office/drawing/2014/main" id="{767C29B0-E221-4FB5-05E3-A2B91892B3AB}"/>
                </a:ext>
              </a:extLst>
            </p:cNvPr>
            <p:cNvCxnSpPr>
              <a:cxnSpLocks/>
            </p:cNvCxnSpPr>
            <p:nvPr/>
          </p:nvCxnSpPr>
          <p:spPr bwMode="auto">
            <a:xfrm>
              <a:off x="1374775" y="3147957"/>
              <a:ext cx="4777479" cy="0"/>
            </a:xfrm>
            <a:prstGeom prst="line">
              <a:avLst/>
            </a:prstGeom>
            <a:grpFill/>
            <a:ln w="28575" cap="flat" cmpd="sng" algn="ctr">
              <a:solidFill>
                <a:srgbClr val="FFC000"/>
              </a:solidFill>
              <a:prstDash val="solid"/>
              <a:round/>
              <a:headEnd type="none" w="med" len="med"/>
              <a:tailEnd type="none" w="med" len="med"/>
            </a:ln>
            <a:effectLst/>
          </p:spPr>
        </p:cxnSp>
        <p:grpSp>
          <p:nvGrpSpPr>
            <p:cNvPr id="42" name="组合 41">
              <a:extLst>
                <a:ext uri="{FF2B5EF4-FFF2-40B4-BE49-F238E27FC236}">
                  <a16:creationId xmlns:a16="http://schemas.microsoft.com/office/drawing/2014/main" id="{FAB55B5F-6690-9F69-FDBC-B9D485040231}"/>
                </a:ext>
              </a:extLst>
            </p:cNvPr>
            <p:cNvGrpSpPr/>
            <p:nvPr/>
          </p:nvGrpSpPr>
          <p:grpSpPr>
            <a:xfrm>
              <a:off x="1288061" y="2521302"/>
              <a:ext cx="590716" cy="626655"/>
              <a:chOff x="6242320" y="1105727"/>
              <a:chExt cx="590408" cy="626656"/>
            </a:xfrm>
            <a:grpFill/>
          </p:grpSpPr>
          <p:sp>
            <p:nvSpPr>
              <p:cNvPr id="43" name="TextBox 6">
                <a:extLst>
                  <a:ext uri="{FF2B5EF4-FFF2-40B4-BE49-F238E27FC236}">
                    <a16:creationId xmlns:a16="http://schemas.microsoft.com/office/drawing/2014/main" id="{0D8D2638-837F-A1EE-6DD8-A72C4803E41C}"/>
                  </a:ext>
                </a:extLst>
              </p:cNvPr>
              <p:cNvSpPr txBox="1"/>
              <p:nvPr/>
            </p:nvSpPr>
            <p:spPr>
              <a:xfrm>
                <a:off x="6327224" y="1105727"/>
                <a:ext cx="448425" cy="492443"/>
              </a:xfrm>
              <a:prstGeom prst="rect">
                <a:avLst/>
              </a:prstGeom>
              <a:noFill/>
            </p:spPr>
            <p:txBody>
              <a:bodyPr vert="horz" wrap="square" lIns="0" tIns="0" rIns="0" bIns="0" rtlCol="0" anchor="ctr">
                <a:spAutoFit/>
              </a:bodyPr>
              <a:lstStyle/>
              <a:p>
                <a:pPr algn="l"/>
                <a:r>
                  <a:rPr lang="en-US" altLang="zh-CN" sz="3198" dirty="0">
                    <a:solidFill>
                      <a:srgbClr val="FF9900"/>
                    </a:solidFill>
                    <a:latin typeface="Impact" panose="020B0806030902050204" pitchFamily="34" charset="0"/>
                    <a:ea typeface="微软雅黑" panose="020B0503020204020204" pitchFamily="34" charset="-122"/>
                  </a:rPr>
                  <a:t>05</a:t>
                </a:r>
                <a:endParaRPr lang="zh-CN" altLang="en-US" sz="3198" dirty="0">
                  <a:solidFill>
                    <a:srgbClr val="FF9900"/>
                  </a:solidFill>
                  <a:latin typeface="微软雅黑" panose="020B0503020204020204" pitchFamily="34" charset="-122"/>
                  <a:ea typeface="微软雅黑" panose="020B0503020204020204" pitchFamily="34" charset="-122"/>
                </a:endParaRPr>
              </a:p>
            </p:txBody>
          </p:sp>
          <p:sp>
            <p:nvSpPr>
              <p:cNvPr id="44" name="文本框 22">
                <a:extLst>
                  <a:ext uri="{FF2B5EF4-FFF2-40B4-BE49-F238E27FC236}">
                    <a16:creationId xmlns:a16="http://schemas.microsoft.com/office/drawing/2014/main" id="{80F51F65-4F0E-420F-55F5-B0516FBF6031}"/>
                  </a:ext>
                </a:extLst>
              </p:cNvPr>
              <p:cNvSpPr txBox="1"/>
              <p:nvPr/>
            </p:nvSpPr>
            <p:spPr>
              <a:xfrm>
                <a:off x="6242320" y="151693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grpSp>
      <p:grpSp>
        <p:nvGrpSpPr>
          <p:cNvPr id="45" name="组合 44">
            <a:extLst>
              <a:ext uri="{FF2B5EF4-FFF2-40B4-BE49-F238E27FC236}">
                <a16:creationId xmlns:a16="http://schemas.microsoft.com/office/drawing/2014/main" id="{F5B5410C-994F-8C1B-3300-D51737B26B8A}"/>
              </a:ext>
            </a:extLst>
          </p:cNvPr>
          <p:cNvGrpSpPr/>
          <p:nvPr/>
        </p:nvGrpSpPr>
        <p:grpSpPr>
          <a:xfrm>
            <a:off x="6592666" y="2609848"/>
            <a:ext cx="4765275" cy="666403"/>
            <a:chOff x="1288061" y="3601244"/>
            <a:chExt cx="4864195" cy="666750"/>
          </a:xfrm>
          <a:solidFill>
            <a:schemeClr val="bg1">
              <a:lumMod val="85000"/>
            </a:schemeClr>
          </a:solidFill>
        </p:grpSpPr>
        <p:sp>
          <p:nvSpPr>
            <p:cNvPr id="46" name="矩形 45">
              <a:extLst>
                <a:ext uri="{FF2B5EF4-FFF2-40B4-BE49-F238E27FC236}">
                  <a16:creationId xmlns:a16="http://schemas.microsoft.com/office/drawing/2014/main" id="{8A73504E-DFD7-FF80-7430-D8FADCBE5E18}"/>
                </a:ext>
              </a:extLst>
            </p:cNvPr>
            <p:cNvSpPr/>
            <p:nvPr/>
          </p:nvSpPr>
          <p:spPr>
            <a:xfrm>
              <a:off x="2060575" y="3601244"/>
              <a:ext cx="3657600"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47" name="组合 46">
              <a:extLst>
                <a:ext uri="{FF2B5EF4-FFF2-40B4-BE49-F238E27FC236}">
                  <a16:creationId xmlns:a16="http://schemas.microsoft.com/office/drawing/2014/main" id="{8F33AD91-5525-0293-C360-417BAB2D6D0E}"/>
                </a:ext>
              </a:extLst>
            </p:cNvPr>
            <p:cNvGrpSpPr/>
            <p:nvPr/>
          </p:nvGrpSpPr>
          <p:grpSpPr>
            <a:xfrm>
              <a:off x="1288061" y="3623526"/>
              <a:ext cx="590716" cy="631762"/>
              <a:chOff x="6242320" y="2373233"/>
              <a:chExt cx="590408" cy="631762"/>
            </a:xfrm>
            <a:grpFill/>
          </p:grpSpPr>
          <p:sp>
            <p:nvSpPr>
              <p:cNvPr id="50" name="TextBox 6">
                <a:extLst>
                  <a:ext uri="{FF2B5EF4-FFF2-40B4-BE49-F238E27FC236}">
                    <a16:creationId xmlns:a16="http://schemas.microsoft.com/office/drawing/2014/main" id="{9128FBA3-89AE-29D0-D424-90B865B30C2D}"/>
                  </a:ext>
                </a:extLst>
              </p:cNvPr>
              <p:cNvSpPr txBox="1"/>
              <p:nvPr/>
            </p:nvSpPr>
            <p:spPr>
              <a:xfrm>
                <a:off x="6327224" y="2373233"/>
                <a:ext cx="448425" cy="492443"/>
              </a:xfrm>
              <a:prstGeom prst="rect">
                <a:avLst/>
              </a:prstGeom>
              <a:noFill/>
            </p:spPr>
            <p:txBody>
              <a:bodyPr vert="horz" wrap="square" lIns="0" tIns="0" rIns="0" bIns="0" rtlCol="0" anchor="ctr">
                <a:spAutoFit/>
              </a:bodyPr>
              <a:lstStyle/>
              <a:p>
                <a:pPr algn="l"/>
                <a:r>
                  <a:rPr lang="en-US" altLang="zh-CN" sz="3198" dirty="0">
                    <a:solidFill>
                      <a:srgbClr val="01ACBE"/>
                    </a:solidFill>
                    <a:latin typeface="Impact" panose="020B0806030902050204" pitchFamily="34" charset="0"/>
                    <a:ea typeface="微软雅黑" panose="020B0503020204020204" pitchFamily="34" charset="-122"/>
                  </a:rPr>
                  <a:t>06</a:t>
                </a:r>
                <a:endParaRPr lang="zh-CN" altLang="en-US" sz="3198" dirty="0">
                  <a:solidFill>
                    <a:srgbClr val="01ACBE"/>
                  </a:solidFill>
                  <a:latin typeface="微软雅黑" panose="020B0503020204020204" pitchFamily="34" charset="-122"/>
                  <a:ea typeface="微软雅黑" panose="020B0503020204020204" pitchFamily="34" charset="-122"/>
                </a:endParaRPr>
              </a:p>
            </p:txBody>
          </p:sp>
          <p:sp>
            <p:nvSpPr>
              <p:cNvPr id="51" name="文本框 23">
                <a:extLst>
                  <a:ext uri="{FF2B5EF4-FFF2-40B4-BE49-F238E27FC236}">
                    <a16:creationId xmlns:a16="http://schemas.microsoft.com/office/drawing/2014/main" id="{E46E5A6A-E65A-A2E0-304E-496CC2551DFD}"/>
                  </a:ext>
                </a:extLst>
              </p:cNvPr>
              <p:cNvSpPr txBox="1"/>
              <p:nvPr/>
            </p:nvSpPr>
            <p:spPr>
              <a:xfrm>
                <a:off x="6242320" y="2789551"/>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sp>
          <p:nvSpPr>
            <p:cNvPr id="48" name="TextBox 19">
              <a:extLst>
                <a:ext uri="{FF2B5EF4-FFF2-40B4-BE49-F238E27FC236}">
                  <a16:creationId xmlns:a16="http://schemas.microsoft.com/office/drawing/2014/main" id="{5F3A56B3-5C59-19FC-DE19-EF2E4523AC93}"/>
                </a:ext>
              </a:extLst>
            </p:cNvPr>
            <p:cNvSpPr txBox="1"/>
            <p:nvPr/>
          </p:nvSpPr>
          <p:spPr>
            <a:xfrm>
              <a:off x="2151869" y="3623151"/>
              <a:ext cx="3185304" cy="460767"/>
            </a:xfrm>
            <a:prstGeom prst="rect">
              <a:avLst/>
            </a:prstGeom>
            <a:grpFill/>
          </p:spPr>
          <p:txBody>
            <a:bodyPr wrap="square" rtlCol="0">
              <a:spAutoFit/>
            </a:bodyPr>
            <a:lstStyle/>
            <a:p>
              <a:pPr>
                <a:lnSpc>
                  <a:spcPct val="130000"/>
                </a:lnSpc>
              </a:pPr>
              <a:r>
                <a:rPr lang="zh-CN" altLang="en-US" sz="1999" dirty="0"/>
                <a:t>三个世界及其有关概念</a:t>
              </a:r>
            </a:p>
          </p:txBody>
        </p:sp>
        <p:cxnSp>
          <p:nvCxnSpPr>
            <p:cNvPr id="49" name="直接连接符 48">
              <a:extLst>
                <a:ext uri="{FF2B5EF4-FFF2-40B4-BE49-F238E27FC236}">
                  <a16:creationId xmlns:a16="http://schemas.microsoft.com/office/drawing/2014/main" id="{E3A936EC-18FA-3517-9406-F5E8EFD4E86E}"/>
                </a:ext>
              </a:extLst>
            </p:cNvPr>
            <p:cNvCxnSpPr>
              <a:cxnSpLocks/>
            </p:cNvCxnSpPr>
            <p:nvPr/>
          </p:nvCxnSpPr>
          <p:spPr bwMode="auto">
            <a:xfrm>
              <a:off x="1374775" y="4267994"/>
              <a:ext cx="4777481" cy="0"/>
            </a:xfrm>
            <a:prstGeom prst="line">
              <a:avLst/>
            </a:prstGeom>
            <a:grpFill/>
            <a:ln w="28575" cap="flat" cmpd="sng" algn="ctr">
              <a:solidFill>
                <a:srgbClr val="00DBD6"/>
              </a:solidFill>
              <a:prstDash val="solid"/>
              <a:round/>
              <a:headEnd type="none" w="med" len="med"/>
              <a:tailEnd type="none" w="med" len="med"/>
            </a:ln>
            <a:effectLst/>
          </p:spPr>
        </p:cxnSp>
      </p:grpSp>
      <p:grpSp>
        <p:nvGrpSpPr>
          <p:cNvPr id="52" name="组合 51">
            <a:extLst>
              <a:ext uri="{FF2B5EF4-FFF2-40B4-BE49-F238E27FC236}">
                <a16:creationId xmlns:a16="http://schemas.microsoft.com/office/drawing/2014/main" id="{4D7E8BFD-907E-303C-2BDA-4D6DA3785286}"/>
              </a:ext>
            </a:extLst>
          </p:cNvPr>
          <p:cNvGrpSpPr/>
          <p:nvPr/>
        </p:nvGrpSpPr>
        <p:grpSpPr>
          <a:xfrm>
            <a:off x="6592666" y="3623733"/>
            <a:ext cx="4765275" cy="667683"/>
            <a:chOff x="1288061" y="4615657"/>
            <a:chExt cx="4864195" cy="668031"/>
          </a:xfrm>
          <a:solidFill>
            <a:schemeClr val="bg1">
              <a:lumMod val="85000"/>
            </a:schemeClr>
          </a:solidFill>
        </p:grpSpPr>
        <p:grpSp>
          <p:nvGrpSpPr>
            <p:cNvPr id="53" name="组合 52">
              <a:extLst>
                <a:ext uri="{FF2B5EF4-FFF2-40B4-BE49-F238E27FC236}">
                  <a16:creationId xmlns:a16="http://schemas.microsoft.com/office/drawing/2014/main" id="{43C23EF7-D93F-3B63-2F17-0562C4336D82}"/>
                </a:ext>
              </a:extLst>
            </p:cNvPr>
            <p:cNvGrpSpPr/>
            <p:nvPr/>
          </p:nvGrpSpPr>
          <p:grpSpPr>
            <a:xfrm>
              <a:off x="1288061" y="4615657"/>
              <a:ext cx="4864195" cy="668031"/>
              <a:chOff x="1288061" y="4615657"/>
              <a:chExt cx="4864195" cy="668031"/>
            </a:xfrm>
            <a:grpFill/>
          </p:grpSpPr>
          <p:sp>
            <p:nvSpPr>
              <p:cNvPr id="55" name="矩形 54">
                <a:extLst>
                  <a:ext uri="{FF2B5EF4-FFF2-40B4-BE49-F238E27FC236}">
                    <a16:creationId xmlns:a16="http://schemas.microsoft.com/office/drawing/2014/main" id="{AEA979BB-22FC-322F-D1CF-004D9BB9F5A3}"/>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56" name="组合 55">
                <a:extLst>
                  <a:ext uri="{FF2B5EF4-FFF2-40B4-BE49-F238E27FC236}">
                    <a16:creationId xmlns:a16="http://schemas.microsoft.com/office/drawing/2014/main" id="{40C973BB-C93A-3A20-C8A8-9B830568F4A4}"/>
                  </a:ext>
                </a:extLst>
              </p:cNvPr>
              <p:cNvGrpSpPr/>
              <p:nvPr/>
            </p:nvGrpSpPr>
            <p:grpSpPr>
              <a:xfrm>
                <a:off x="1288061" y="4635789"/>
                <a:ext cx="590716" cy="620494"/>
                <a:chOff x="6242320" y="3640739"/>
                <a:chExt cx="590408" cy="620494"/>
              </a:xfrm>
              <a:grpFill/>
            </p:grpSpPr>
            <p:sp>
              <p:nvSpPr>
                <p:cNvPr id="58" name="TextBox 6">
                  <a:extLst>
                    <a:ext uri="{FF2B5EF4-FFF2-40B4-BE49-F238E27FC236}">
                      <a16:creationId xmlns:a16="http://schemas.microsoft.com/office/drawing/2014/main" id="{9B51E615-62CC-1231-0DEB-72F1023A70E6}"/>
                    </a:ext>
                  </a:extLst>
                </p:cNvPr>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198" dirty="0">
                      <a:solidFill>
                        <a:srgbClr val="00B050"/>
                      </a:solidFill>
                      <a:latin typeface="Impact" panose="020B0806030902050204" pitchFamily="34" charset="0"/>
                      <a:ea typeface="微软雅黑" panose="020B0503020204020204" pitchFamily="34" charset="-122"/>
                    </a:rPr>
                    <a:t>07</a:t>
                  </a:r>
                  <a:endParaRPr lang="zh-CN" altLang="en-US" sz="3198" dirty="0">
                    <a:solidFill>
                      <a:srgbClr val="00B050"/>
                    </a:solidFill>
                    <a:latin typeface="微软雅黑" panose="020B0503020204020204" pitchFamily="34" charset="-122"/>
                    <a:ea typeface="微软雅黑" panose="020B0503020204020204" pitchFamily="34" charset="-122"/>
                  </a:endParaRPr>
                </a:p>
              </p:txBody>
            </p:sp>
            <p:sp>
              <p:nvSpPr>
                <p:cNvPr id="59" name="文本框 24">
                  <a:extLst>
                    <a:ext uri="{FF2B5EF4-FFF2-40B4-BE49-F238E27FC236}">
                      <a16:creationId xmlns:a16="http://schemas.microsoft.com/office/drawing/2014/main" id="{4A068C9C-7086-FBBC-4965-B1E134CEA163}"/>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57" name="直接连接符 56">
                <a:extLst>
                  <a:ext uri="{FF2B5EF4-FFF2-40B4-BE49-F238E27FC236}">
                    <a16:creationId xmlns:a16="http://schemas.microsoft.com/office/drawing/2014/main" id="{A21EB8F9-0B87-46D1-1E40-E0CF9BB08B87}"/>
                  </a:ext>
                </a:extLst>
              </p:cNvPr>
              <p:cNvCxnSpPr>
                <a:cxnSpLocks/>
              </p:cNvCxnSpPr>
              <p:nvPr/>
            </p:nvCxnSpPr>
            <p:spPr bwMode="auto">
              <a:xfrm>
                <a:off x="1374775" y="5283688"/>
                <a:ext cx="4777481" cy="0"/>
              </a:xfrm>
              <a:prstGeom prst="line">
                <a:avLst/>
              </a:prstGeom>
              <a:grpFill/>
              <a:ln w="28575" cap="flat" cmpd="sng" algn="ctr">
                <a:solidFill>
                  <a:srgbClr val="FF8181"/>
                </a:solidFill>
                <a:prstDash val="solid"/>
                <a:round/>
                <a:headEnd type="none" w="med" len="med"/>
                <a:tailEnd type="none" w="med" len="med"/>
              </a:ln>
              <a:effectLst/>
            </p:spPr>
          </p:cxnSp>
        </p:grpSp>
        <p:sp>
          <p:nvSpPr>
            <p:cNvPr id="54" name="TextBox 20">
              <a:extLst>
                <a:ext uri="{FF2B5EF4-FFF2-40B4-BE49-F238E27FC236}">
                  <a16:creationId xmlns:a16="http://schemas.microsoft.com/office/drawing/2014/main" id="{71738C3C-40CC-D00C-C4E7-0FFF7D776717}"/>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数据模型的分类</a:t>
              </a:r>
            </a:p>
          </p:txBody>
        </p:sp>
      </p:grpSp>
      <p:grpSp>
        <p:nvGrpSpPr>
          <p:cNvPr id="60" name="组合 59">
            <a:extLst>
              <a:ext uri="{FF2B5EF4-FFF2-40B4-BE49-F238E27FC236}">
                <a16:creationId xmlns:a16="http://schemas.microsoft.com/office/drawing/2014/main" id="{4AFFF89D-5ABF-0DE4-9134-BFFC92528D1E}"/>
              </a:ext>
            </a:extLst>
          </p:cNvPr>
          <p:cNvGrpSpPr/>
          <p:nvPr/>
        </p:nvGrpSpPr>
        <p:grpSpPr>
          <a:xfrm>
            <a:off x="6615088" y="4715326"/>
            <a:ext cx="4742853" cy="667683"/>
            <a:chOff x="1288061" y="4615657"/>
            <a:chExt cx="4841307" cy="668031"/>
          </a:xfrm>
          <a:solidFill>
            <a:schemeClr val="bg1">
              <a:lumMod val="85000"/>
            </a:schemeClr>
          </a:solidFill>
        </p:grpSpPr>
        <p:grpSp>
          <p:nvGrpSpPr>
            <p:cNvPr id="61" name="组合 60">
              <a:extLst>
                <a:ext uri="{FF2B5EF4-FFF2-40B4-BE49-F238E27FC236}">
                  <a16:creationId xmlns:a16="http://schemas.microsoft.com/office/drawing/2014/main" id="{9DC4D61E-BADA-DCAD-ED5D-F4E8DA041D1A}"/>
                </a:ext>
              </a:extLst>
            </p:cNvPr>
            <p:cNvGrpSpPr/>
            <p:nvPr/>
          </p:nvGrpSpPr>
          <p:grpSpPr>
            <a:xfrm>
              <a:off x="1288061" y="4615657"/>
              <a:ext cx="4841307" cy="668031"/>
              <a:chOff x="1288061" y="4615657"/>
              <a:chExt cx="4841307" cy="668031"/>
            </a:xfrm>
            <a:grpFill/>
          </p:grpSpPr>
          <p:sp>
            <p:nvSpPr>
              <p:cNvPr id="63" name="矩形 62">
                <a:extLst>
                  <a:ext uri="{FF2B5EF4-FFF2-40B4-BE49-F238E27FC236}">
                    <a16:creationId xmlns:a16="http://schemas.microsoft.com/office/drawing/2014/main" id="{B93EBEF3-49AD-DB05-05D6-DCC78975F5C4}"/>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64" name="组合 63">
                <a:extLst>
                  <a:ext uri="{FF2B5EF4-FFF2-40B4-BE49-F238E27FC236}">
                    <a16:creationId xmlns:a16="http://schemas.microsoft.com/office/drawing/2014/main" id="{8AE7B9FD-F5A8-A0BF-83A4-EEED475FC016}"/>
                  </a:ext>
                </a:extLst>
              </p:cNvPr>
              <p:cNvGrpSpPr/>
              <p:nvPr/>
            </p:nvGrpSpPr>
            <p:grpSpPr>
              <a:xfrm>
                <a:off x="1288061" y="4635789"/>
                <a:ext cx="590716" cy="620494"/>
                <a:chOff x="6242320" y="3640739"/>
                <a:chExt cx="590408" cy="620494"/>
              </a:xfrm>
              <a:grpFill/>
            </p:grpSpPr>
            <p:sp>
              <p:nvSpPr>
                <p:cNvPr id="66" name="TextBox 6">
                  <a:extLst>
                    <a:ext uri="{FF2B5EF4-FFF2-40B4-BE49-F238E27FC236}">
                      <a16:creationId xmlns:a16="http://schemas.microsoft.com/office/drawing/2014/main" id="{1D3DE6F8-2154-87C8-103F-2CB646958BD9}"/>
                    </a:ext>
                  </a:extLst>
                </p:cNvPr>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198" dirty="0">
                      <a:solidFill>
                        <a:schemeClr val="accent5">
                          <a:lumMod val="60000"/>
                          <a:lumOff val="40000"/>
                        </a:schemeClr>
                      </a:solidFill>
                      <a:latin typeface="Impact" panose="020B0806030902050204" pitchFamily="34" charset="0"/>
                      <a:ea typeface="微软雅黑" panose="020B0503020204020204" pitchFamily="34" charset="-122"/>
                    </a:rPr>
                    <a:t>08</a:t>
                  </a:r>
                  <a:endParaRPr lang="zh-CN" altLang="en-US" sz="3198" dirty="0">
                    <a:solidFill>
                      <a:schemeClr val="accent5">
                        <a:lumMod val="60000"/>
                        <a:lumOff val="40000"/>
                      </a:schemeClr>
                    </a:solidFill>
                    <a:latin typeface="微软雅黑" panose="020B0503020204020204" pitchFamily="34" charset="-122"/>
                    <a:ea typeface="微软雅黑" panose="020B0503020204020204" pitchFamily="34" charset="-122"/>
                  </a:endParaRPr>
                </a:p>
              </p:txBody>
            </p:sp>
            <p:sp>
              <p:nvSpPr>
                <p:cNvPr id="67" name="文本框 24">
                  <a:extLst>
                    <a:ext uri="{FF2B5EF4-FFF2-40B4-BE49-F238E27FC236}">
                      <a16:creationId xmlns:a16="http://schemas.microsoft.com/office/drawing/2014/main" id="{D7F56640-30BD-ACBC-ADC7-73976843C359}"/>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65" name="直接连接符 64">
                <a:extLst>
                  <a:ext uri="{FF2B5EF4-FFF2-40B4-BE49-F238E27FC236}">
                    <a16:creationId xmlns:a16="http://schemas.microsoft.com/office/drawing/2014/main" id="{D8747C4C-9EBA-95C0-0475-F347C01FFA8F}"/>
                  </a:ext>
                </a:extLst>
              </p:cNvPr>
              <p:cNvCxnSpPr>
                <a:cxnSpLocks/>
              </p:cNvCxnSpPr>
              <p:nvPr/>
            </p:nvCxnSpPr>
            <p:spPr bwMode="auto">
              <a:xfrm>
                <a:off x="1374775" y="5283688"/>
                <a:ext cx="4754593" cy="0"/>
              </a:xfrm>
              <a:prstGeom prst="line">
                <a:avLst/>
              </a:prstGeom>
              <a:grpFill/>
              <a:ln w="28575" cap="flat" cmpd="sng" algn="ctr">
                <a:solidFill>
                  <a:srgbClr val="7ABC32"/>
                </a:solidFill>
                <a:prstDash val="solid"/>
                <a:round/>
                <a:headEnd type="none" w="med" len="med"/>
                <a:tailEnd type="none" w="med" len="med"/>
              </a:ln>
              <a:effectLst/>
            </p:spPr>
          </p:cxnSp>
        </p:grpSp>
        <p:sp>
          <p:nvSpPr>
            <p:cNvPr id="62" name="TextBox 20">
              <a:extLst>
                <a:ext uri="{FF2B5EF4-FFF2-40B4-BE49-F238E27FC236}">
                  <a16:creationId xmlns:a16="http://schemas.microsoft.com/office/drawing/2014/main" id="{BDC922D8-1B68-DD42-F22C-65FE7C4249CC}"/>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数据库领域的新技术</a:t>
              </a:r>
            </a:p>
          </p:txBody>
        </p:sp>
      </p:grpSp>
    </p:spTree>
    <p:extLst>
      <p:ext uri="{BB962C8B-B14F-4D97-AF65-F5344CB8AC3E}">
        <p14:creationId xmlns:p14="http://schemas.microsoft.com/office/powerpoint/2010/main" val="4136329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786384" y="629899"/>
            <a:ext cx="9061704" cy="428625"/>
          </a:xfrm>
        </p:spPr>
        <p:txBody>
          <a:bodyPr>
            <a:normAutofit/>
          </a:bodyPr>
          <a:lstStyle/>
          <a:p>
            <a:r>
              <a:rPr lang="en-US" altLang="zh-CN" sz="2400" b="1" dirty="0">
                <a:latin typeface="微软雅黑" panose="020B0503020204020204" pitchFamily="34" charset="-122"/>
                <a:ea typeface="微软雅黑" panose="020B0503020204020204" pitchFamily="34" charset="-122"/>
              </a:rPr>
              <a:t>1.2</a:t>
            </a:r>
            <a:r>
              <a:rPr lang="zh-CN" altLang="en-US" sz="2400" b="1" dirty="0">
                <a:latin typeface="微软雅黑" panose="020B0503020204020204" pitchFamily="34" charset="-122"/>
                <a:ea typeface="微软雅黑" panose="020B0503020204020204" pitchFamily="34" charset="-122"/>
              </a:rPr>
              <a:t> 数据库技术的产生、发展</a:t>
            </a:r>
          </a:p>
        </p:txBody>
      </p:sp>
      <p:sp>
        <p:nvSpPr>
          <p:cNvPr id="12" name="AutoShape 5">
            <a:extLst>
              <a:ext uri="{FF2B5EF4-FFF2-40B4-BE49-F238E27FC236}">
                <a16:creationId xmlns:a16="http://schemas.microsoft.com/office/drawing/2014/main" id="{49D2760F-94F5-C5B9-E25D-29F06EDA581C}"/>
              </a:ext>
            </a:extLst>
          </p:cNvPr>
          <p:cNvSpPr>
            <a:spLocks noChangeArrowheads="1"/>
          </p:cNvSpPr>
          <p:nvPr/>
        </p:nvSpPr>
        <p:spPr bwMode="auto">
          <a:xfrm>
            <a:off x="1526382" y="1397980"/>
            <a:ext cx="2448238" cy="1007538"/>
          </a:xfrm>
          <a:prstGeom prst="flowChartPunchedTape">
            <a:avLst/>
          </a:prstGeom>
          <a:solidFill>
            <a:srgbClr val="FFFF99"/>
          </a:solidFill>
          <a:ln w="19050" algn="ctr">
            <a:solidFill>
              <a:schemeClr val="bg1">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人工管理阶段 </a:t>
            </a:r>
          </a:p>
        </p:txBody>
      </p:sp>
      <p:sp>
        <p:nvSpPr>
          <p:cNvPr id="16" name="AutoShape 6">
            <a:extLst>
              <a:ext uri="{FF2B5EF4-FFF2-40B4-BE49-F238E27FC236}">
                <a16:creationId xmlns:a16="http://schemas.microsoft.com/office/drawing/2014/main" id="{ADF6BC8C-770A-E428-C8BA-04EECCB43F1B}"/>
              </a:ext>
            </a:extLst>
          </p:cNvPr>
          <p:cNvSpPr>
            <a:spLocks noChangeArrowheads="1"/>
          </p:cNvSpPr>
          <p:nvPr/>
        </p:nvSpPr>
        <p:spPr bwMode="auto">
          <a:xfrm>
            <a:off x="1526380" y="2076892"/>
            <a:ext cx="2448237" cy="1654901"/>
          </a:xfrm>
          <a:prstGeom prst="flowChartPunchedTape">
            <a:avLst/>
          </a:prstGeom>
          <a:solidFill>
            <a:srgbClr val="FFFF99"/>
          </a:solidFill>
          <a:ln w="19050" algn="ctr">
            <a:solidFill>
              <a:schemeClr val="bg1">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文件系统阶段 </a:t>
            </a:r>
          </a:p>
        </p:txBody>
      </p:sp>
      <p:sp>
        <p:nvSpPr>
          <p:cNvPr id="17" name="AutoShape 7">
            <a:extLst>
              <a:ext uri="{FF2B5EF4-FFF2-40B4-BE49-F238E27FC236}">
                <a16:creationId xmlns:a16="http://schemas.microsoft.com/office/drawing/2014/main" id="{93720DC9-F6A9-C982-BE0E-76EC5F17A02B}"/>
              </a:ext>
            </a:extLst>
          </p:cNvPr>
          <p:cNvSpPr>
            <a:spLocks noChangeArrowheads="1"/>
          </p:cNvSpPr>
          <p:nvPr/>
        </p:nvSpPr>
        <p:spPr bwMode="auto">
          <a:xfrm>
            <a:off x="1526381" y="3325180"/>
            <a:ext cx="2448238" cy="1007537"/>
          </a:xfrm>
          <a:prstGeom prst="flowChartPunchedTape">
            <a:avLst/>
          </a:prstGeom>
          <a:solidFill>
            <a:srgbClr val="FFFF99"/>
          </a:solidFill>
          <a:ln w="19050" algn="ctr">
            <a:solidFill>
              <a:schemeClr val="bg1">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b="1" dirty="0">
                <a:solidFill>
                  <a:srgbClr val="000066"/>
                </a:solidFill>
                <a:latin typeface="微软雅黑" panose="020B0503020204020204" pitchFamily="34" charset="-122"/>
                <a:ea typeface="微软雅黑" panose="020B0503020204020204" pitchFamily="34" charset="-122"/>
              </a:rPr>
              <a:t>数据库系统阶段 </a:t>
            </a:r>
          </a:p>
        </p:txBody>
      </p:sp>
      <p:sp>
        <p:nvSpPr>
          <p:cNvPr id="18" name="AutoShape 8">
            <a:extLst>
              <a:ext uri="{FF2B5EF4-FFF2-40B4-BE49-F238E27FC236}">
                <a16:creationId xmlns:a16="http://schemas.microsoft.com/office/drawing/2014/main" id="{FB2AE4D5-26FA-F11B-5BE0-B82392F21E38}"/>
              </a:ext>
            </a:extLst>
          </p:cNvPr>
          <p:cNvSpPr>
            <a:spLocks noChangeArrowheads="1"/>
          </p:cNvSpPr>
          <p:nvPr/>
        </p:nvSpPr>
        <p:spPr bwMode="auto">
          <a:xfrm>
            <a:off x="3974620" y="1372672"/>
            <a:ext cx="6549789" cy="767117"/>
          </a:xfrm>
          <a:prstGeom prst="leftArrowCallout">
            <a:avLst>
              <a:gd name="adj1" fmla="val 25000"/>
              <a:gd name="adj2" fmla="val 25000"/>
              <a:gd name="adj3" fmla="val 42795"/>
              <a:gd name="adj4" fmla="val 92181"/>
            </a:avLst>
          </a:prstGeom>
          <a:solidFill>
            <a:schemeClr val="accent1">
              <a:alpha val="45097"/>
            </a:schemeClr>
          </a:solidFill>
          <a:ln w="19050"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199" dirty="0">
                <a:solidFill>
                  <a:srgbClr val="000066"/>
                </a:solidFill>
                <a:latin typeface="微软雅黑" panose="020B0503020204020204" pitchFamily="34" charset="-122"/>
                <a:ea typeface="微软雅黑" panose="020B0503020204020204" pitchFamily="34" charset="-122"/>
              </a:rPr>
              <a:t>数据无专门的存取设备，无专用软件管理数据，</a:t>
            </a:r>
          </a:p>
          <a:p>
            <a:pPr algn="ctr" eaLnBrk="1" hangingPunct="1">
              <a:spcBef>
                <a:spcPct val="0"/>
              </a:spcBef>
              <a:buSzTx/>
              <a:buFontTx/>
              <a:buNone/>
            </a:pPr>
            <a:r>
              <a:rPr lang="zh-CN" altLang="en-US" sz="2199" dirty="0">
                <a:solidFill>
                  <a:srgbClr val="000066"/>
                </a:solidFill>
                <a:latin typeface="微软雅黑" panose="020B0503020204020204" pitchFamily="34" charset="-122"/>
                <a:ea typeface="微软雅黑" panose="020B0503020204020204" pitchFamily="34" charset="-122"/>
              </a:rPr>
              <a:t>不共享，无独立性</a:t>
            </a:r>
          </a:p>
        </p:txBody>
      </p:sp>
      <p:sp>
        <p:nvSpPr>
          <p:cNvPr id="19" name="AutoShape 9">
            <a:extLst>
              <a:ext uri="{FF2B5EF4-FFF2-40B4-BE49-F238E27FC236}">
                <a16:creationId xmlns:a16="http://schemas.microsoft.com/office/drawing/2014/main" id="{43A01A04-3F7F-484D-72D6-6DE176D7E12D}"/>
              </a:ext>
            </a:extLst>
          </p:cNvPr>
          <p:cNvSpPr>
            <a:spLocks noChangeArrowheads="1"/>
          </p:cNvSpPr>
          <p:nvPr/>
        </p:nvSpPr>
        <p:spPr bwMode="auto">
          <a:xfrm>
            <a:off x="3974620" y="2211188"/>
            <a:ext cx="6549789" cy="1239193"/>
          </a:xfrm>
          <a:prstGeom prst="leftArrowCallout">
            <a:avLst>
              <a:gd name="adj1" fmla="val 25000"/>
              <a:gd name="adj2" fmla="val 25000"/>
              <a:gd name="adj3" fmla="val 22414"/>
              <a:gd name="adj4" fmla="val 92181"/>
            </a:avLst>
          </a:prstGeom>
          <a:solidFill>
            <a:schemeClr val="accent1">
              <a:alpha val="45097"/>
            </a:schemeClr>
          </a:solidFill>
          <a:ln w="19050"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199" dirty="0">
                <a:solidFill>
                  <a:srgbClr val="000066"/>
                </a:solidFill>
                <a:latin typeface="微软雅黑" panose="020B0503020204020204" pitchFamily="34" charset="-122"/>
                <a:ea typeface="微软雅黑" panose="020B0503020204020204" pitchFamily="34" charset="-122"/>
              </a:rPr>
              <a:t>数据以文件形式长期保存，由文件系统管理</a:t>
            </a:r>
          </a:p>
          <a:p>
            <a:pPr algn="ctr" eaLnBrk="1" hangingPunct="1">
              <a:spcBef>
                <a:spcPct val="0"/>
              </a:spcBef>
              <a:buSzTx/>
              <a:buFontTx/>
              <a:buNone/>
            </a:pPr>
            <a:r>
              <a:rPr lang="zh-CN" altLang="en-US" sz="2199" dirty="0">
                <a:solidFill>
                  <a:srgbClr val="000066"/>
                </a:solidFill>
                <a:latin typeface="微软雅黑" panose="020B0503020204020204" pitchFamily="34" charset="-122"/>
                <a:ea typeface="微软雅黑" panose="020B0503020204020204" pitchFamily="34" charset="-122"/>
              </a:rPr>
              <a:t>数据 ，程序与数据间有一定独立性，</a:t>
            </a:r>
            <a:r>
              <a:rPr lang="zh-CN" altLang="zh-CN" sz="2199" dirty="0">
                <a:solidFill>
                  <a:srgbClr val="000066"/>
                </a:solidFill>
                <a:latin typeface="微软雅黑" panose="020B0503020204020204" pitchFamily="34" charset="-122"/>
                <a:ea typeface="微软雅黑" panose="020B0503020204020204" pitchFamily="34" charset="-122"/>
              </a:rPr>
              <a:t>文件的形</a:t>
            </a:r>
            <a:endParaRPr lang="en-US" altLang="zh-CN" sz="2199" dirty="0">
              <a:solidFill>
                <a:srgbClr val="000066"/>
              </a:solidFill>
              <a:latin typeface="微软雅黑" panose="020B0503020204020204" pitchFamily="34" charset="-122"/>
              <a:ea typeface="微软雅黑" panose="020B0503020204020204" pitchFamily="34" charset="-122"/>
            </a:endParaRPr>
          </a:p>
          <a:p>
            <a:pPr algn="ctr" eaLnBrk="1" hangingPunct="1">
              <a:spcBef>
                <a:spcPct val="0"/>
              </a:spcBef>
              <a:buSzTx/>
              <a:buFontTx/>
              <a:buNone/>
            </a:pPr>
            <a:r>
              <a:rPr lang="zh-CN" altLang="zh-CN" sz="2199" dirty="0">
                <a:solidFill>
                  <a:srgbClr val="000066"/>
                </a:solidFill>
                <a:latin typeface="微软雅黑" panose="020B0503020204020204" pitchFamily="34" charset="-122"/>
                <a:ea typeface="微软雅黑" panose="020B0503020204020204" pitchFamily="34" charset="-122"/>
              </a:rPr>
              <a:t>式已经多样化</a:t>
            </a:r>
            <a:r>
              <a:rPr lang="zh-CN" altLang="en-US" sz="2199" dirty="0">
                <a:solidFill>
                  <a:srgbClr val="000066"/>
                </a:solidFill>
                <a:latin typeface="微软雅黑" panose="020B0503020204020204" pitchFamily="34" charset="-122"/>
                <a:ea typeface="微软雅黑" panose="020B0503020204020204" pitchFamily="34" charset="-122"/>
              </a:rPr>
              <a:t>，</a:t>
            </a:r>
            <a:r>
              <a:rPr lang="zh-CN" altLang="zh-CN" sz="2199" dirty="0">
                <a:solidFill>
                  <a:srgbClr val="000066"/>
                </a:solidFill>
                <a:latin typeface="微软雅黑" panose="020B0503020204020204" pitchFamily="34" charset="-122"/>
                <a:ea typeface="微软雅黑" panose="020B0503020204020204" pitchFamily="34" charset="-122"/>
              </a:rPr>
              <a:t>数据具有一定的共享性</a:t>
            </a:r>
            <a:endParaRPr lang="zh-CN" altLang="en-US" sz="2199" dirty="0">
              <a:solidFill>
                <a:srgbClr val="000066"/>
              </a:solidFill>
              <a:latin typeface="微软雅黑" panose="020B0503020204020204" pitchFamily="34" charset="-122"/>
              <a:ea typeface="微软雅黑" panose="020B0503020204020204" pitchFamily="34" charset="-122"/>
            </a:endParaRPr>
          </a:p>
        </p:txBody>
      </p:sp>
      <p:sp>
        <p:nvSpPr>
          <p:cNvPr id="20" name="AutoShape 10">
            <a:extLst>
              <a:ext uri="{FF2B5EF4-FFF2-40B4-BE49-F238E27FC236}">
                <a16:creationId xmlns:a16="http://schemas.microsoft.com/office/drawing/2014/main" id="{47C54918-E1C2-3349-7078-6D8269D842C3}"/>
              </a:ext>
            </a:extLst>
          </p:cNvPr>
          <p:cNvSpPr>
            <a:spLocks noChangeArrowheads="1"/>
          </p:cNvSpPr>
          <p:nvPr/>
        </p:nvSpPr>
        <p:spPr bwMode="auto">
          <a:xfrm>
            <a:off x="3974620" y="3513771"/>
            <a:ext cx="6549789" cy="791750"/>
          </a:xfrm>
          <a:prstGeom prst="leftArrowCallout">
            <a:avLst>
              <a:gd name="adj1" fmla="val 25000"/>
              <a:gd name="adj2" fmla="val 25000"/>
              <a:gd name="adj3" fmla="val 42795"/>
              <a:gd name="adj4" fmla="val 92181"/>
            </a:avLst>
          </a:prstGeom>
          <a:solidFill>
            <a:schemeClr val="accent1">
              <a:alpha val="45097"/>
            </a:schemeClr>
          </a:solidFill>
          <a:ln w="19050"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199" dirty="0">
                <a:solidFill>
                  <a:srgbClr val="000066"/>
                </a:solidFill>
                <a:latin typeface="微软雅黑" panose="020B0503020204020204" pitchFamily="34" charset="-122"/>
                <a:ea typeface="微软雅黑" panose="020B0503020204020204" pitchFamily="34" charset="-122"/>
              </a:rPr>
              <a:t>数据结构化 ，共享性高、冗余度低 ，</a:t>
            </a:r>
          </a:p>
          <a:p>
            <a:pPr algn="ctr" eaLnBrk="1" hangingPunct="1">
              <a:spcBef>
                <a:spcPct val="0"/>
              </a:spcBef>
              <a:buSzTx/>
              <a:buFontTx/>
              <a:buNone/>
            </a:pPr>
            <a:r>
              <a:rPr lang="zh-CN" altLang="en-US" sz="2199" dirty="0">
                <a:solidFill>
                  <a:srgbClr val="000066"/>
                </a:solidFill>
                <a:latin typeface="微软雅黑" panose="020B0503020204020204" pitchFamily="34" charset="-122"/>
                <a:ea typeface="微软雅黑" panose="020B0503020204020204" pitchFamily="34" charset="-122"/>
              </a:rPr>
              <a:t>独立性高 ，有统一的数据管理和控制功能 </a:t>
            </a:r>
          </a:p>
        </p:txBody>
      </p:sp>
      <p:sp>
        <p:nvSpPr>
          <p:cNvPr id="21" name="Line 11">
            <a:extLst>
              <a:ext uri="{FF2B5EF4-FFF2-40B4-BE49-F238E27FC236}">
                <a16:creationId xmlns:a16="http://schemas.microsoft.com/office/drawing/2014/main" id="{05A08D97-1F4E-5566-572F-9EBD2A801A45}"/>
              </a:ext>
            </a:extLst>
          </p:cNvPr>
          <p:cNvSpPr>
            <a:spLocks noChangeShapeType="1"/>
          </p:cNvSpPr>
          <p:nvPr/>
        </p:nvSpPr>
        <p:spPr bwMode="auto">
          <a:xfrm>
            <a:off x="7568847" y="4305520"/>
            <a:ext cx="2531128"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p>
            <a:endParaRPr lang="zh-CN" altLang="en-US" sz="1799">
              <a:latin typeface="微软雅黑" panose="020B0503020204020204" pitchFamily="34" charset="-122"/>
              <a:ea typeface="微软雅黑" panose="020B0503020204020204" pitchFamily="34" charset="-122"/>
            </a:endParaRPr>
          </a:p>
        </p:txBody>
      </p:sp>
      <p:sp>
        <p:nvSpPr>
          <p:cNvPr id="22" name="Line 12">
            <a:extLst>
              <a:ext uri="{FF2B5EF4-FFF2-40B4-BE49-F238E27FC236}">
                <a16:creationId xmlns:a16="http://schemas.microsoft.com/office/drawing/2014/main" id="{238D32EB-6687-9A92-048C-AF871B6CECE9}"/>
              </a:ext>
            </a:extLst>
          </p:cNvPr>
          <p:cNvSpPr>
            <a:spLocks noChangeShapeType="1"/>
          </p:cNvSpPr>
          <p:nvPr/>
        </p:nvSpPr>
        <p:spPr bwMode="auto">
          <a:xfrm flipH="1">
            <a:off x="8852655" y="4305521"/>
            <a:ext cx="0" cy="427568"/>
          </a:xfrm>
          <a:prstGeom prst="line">
            <a:avLst/>
          </a:prstGeom>
          <a:noFill/>
          <a:ln w="28575">
            <a:solidFill>
              <a:srgbClr val="CC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p>
            <a:endParaRPr lang="zh-CN" altLang="en-US" sz="1799">
              <a:latin typeface="微软雅黑" panose="020B0503020204020204" pitchFamily="34" charset="-122"/>
              <a:ea typeface="微软雅黑" panose="020B0503020204020204" pitchFamily="34" charset="-122"/>
            </a:endParaRPr>
          </a:p>
        </p:txBody>
      </p:sp>
      <p:sp>
        <p:nvSpPr>
          <p:cNvPr id="23" name="Text Box 13">
            <a:extLst>
              <a:ext uri="{FF2B5EF4-FFF2-40B4-BE49-F238E27FC236}">
                <a16:creationId xmlns:a16="http://schemas.microsoft.com/office/drawing/2014/main" id="{B5E30FAF-81C9-191F-614F-E021DD686028}"/>
              </a:ext>
            </a:extLst>
          </p:cNvPr>
          <p:cNvSpPr txBox="1">
            <a:spLocks noChangeArrowheads="1"/>
          </p:cNvSpPr>
          <p:nvPr/>
        </p:nvSpPr>
        <p:spPr bwMode="auto">
          <a:xfrm>
            <a:off x="8375066" y="4777358"/>
            <a:ext cx="955178" cy="401428"/>
          </a:xfrm>
          <a:prstGeom prst="rect">
            <a:avLst/>
          </a:prstGeom>
          <a:noFill/>
          <a:ln w="28575" algn="ctr">
            <a:solidFill>
              <a:srgbClr val="CC0000"/>
            </a:solidFill>
            <a:miter lim="800000"/>
            <a:headEnd/>
            <a:tailEnd type="none" w="lg" len="lg"/>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953" tIns="46776" rIns="89953" bIns="46776">
            <a:spAutoFit/>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en-US" altLang="zh-CN" sz="1999" dirty="0">
                <a:solidFill>
                  <a:srgbClr val="000066"/>
                </a:solidFill>
                <a:latin typeface="微软雅黑" panose="020B0503020204020204" pitchFamily="34" charset="-122"/>
                <a:ea typeface="微软雅黑" panose="020B0503020204020204" pitchFamily="34" charset="-122"/>
              </a:rPr>
              <a:t>DBMS</a:t>
            </a:r>
          </a:p>
        </p:txBody>
      </p:sp>
      <p:sp>
        <p:nvSpPr>
          <p:cNvPr id="24" name="AutoShape 15">
            <a:extLst>
              <a:ext uri="{FF2B5EF4-FFF2-40B4-BE49-F238E27FC236}">
                <a16:creationId xmlns:a16="http://schemas.microsoft.com/office/drawing/2014/main" id="{529BCD86-AFBC-9714-D8E3-CA4297460A20}"/>
              </a:ext>
            </a:extLst>
          </p:cNvPr>
          <p:cNvSpPr>
            <a:spLocks noChangeArrowheads="1"/>
          </p:cNvSpPr>
          <p:nvPr/>
        </p:nvSpPr>
        <p:spPr bwMode="auto">
          <a:xfrm rot="10800000">
            <a:off x="7728100" y="5293865"/>
            <a:ext cx="1150338" cy="740976"/>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5263 h 21600"/>
              <a:gd name="T14" fmla="*/ 20956 w 21600"/>
              <a:gd name="T15" fmla="*/ 6895 h 21600"/>
            </a:gdLst>
            <a:ahLst/>
            <a:cxnLst>
              <a:cxn ang="T8">
                <a:pos x="T0" y="T1"/>
              </a:cxn>
              <a:cxn ang="T9">
                <a:pos x="T2" y="T3"/>
              </a:cxn>
              <a:cxn ang="T10">
                <a:pos x="T4" y="T5"/>
              </a:cxn>
              <a:cxn ang="T11">
                <a:pos x="T6" y="T7"/>
              </a:cxn>
            </a:cxnLst>
            <a:rect l="T12" t="T13" r="T14" b="T15"/>
            <a:pathLst>
              <a:path w="21600" h="21600">
                <a:moveTo>
                  <a:pt x="21600" y="6079"/>
                </a:moveTo>
                <a:lnTo>
                  <a:pt x="16803" y="0"/>
                </a:lnTo>
                <a:lnTo>
                  <a:pt x="16803" y="5263"/>
                </a:lnTo>
                <a:lnTo>
                  <a:pt x="12427" y="5263"/>
                </a:lnTo>
                <a:cubicBezTo>
                  <a:pt x="5564" y="5263"/>
                  <a:pt x="0" y="8350"/>
                  <a:pt x="0" y="12158"/>
                </a:cubicBezTo>
                <a:lnTo>
                  <a:pt x="0" y="21600"/>
                </a:lnTo>
                <a:lnTo>
                  <a:pt x="1668" y="21600"/>
                </a:lnTo>
                <a:lnTo>
                  <a:pt x="1668" y="12158"/>
                </a:lnTo>
                <a:cubicBezTo>
                  <a:pt x="1668" y="9251"/>
                  <a:pt x="6485" y="6895"/>
                  <a:pt x="12427" y="6895"/>
                </a:cubicBezTo>
                <a:lnTo>
                  <a:pt x="16803" y="6895"/>
                </a:lnTo>
                <a:lnTo>
                  <a:pt x="16803" y="12158"/>
                </a:lnTo>
                <a:lnTo>
                  <a:pt x="21600" y="6079"/>
                </a:lnTo>
                <a:close/>
              </a:path>
            </a:pathLst>
          </a:custGeom>
          <a:solidFill>
            <a:schemeClr val="tx2">
              <a:lumMod val="40000"/>
              <a:lumOff val="60000"/>
            </a:schemeClr>
          </a:solidFill>
          <a:ln w="25400" algn="ctr">
            <a:noFill/>
            <a:miter lim="800000"/>
            <a:headEnd/>
            <a:tailEnd type="none" w="lg" len="lg"/>
          </a:ln>
          <a:effectLst/>
        </p:spPr>
        <p:txBody>
          <a:bodyPr wrap="none" lIns="89953" tIns="46776" rIns="89953" bIns="46776" anchor="ctr"/>
          <a:lstStyle/>
          <a:p>
            <a:endParaRPr lang="zh-CN" altLang="en-US" sz="1799">
              <a:latin typeface="微软雅黑" panose="020B0503020204020204" pitchFamily="34" charset="-122"/>
              <a:ea typeface="微软雅黑" panose="020B0503020204020204" pitchFamily="34" charset="-122"/>
            </a:endParaRPr>
          </a:p>
        </p:txBody>
      </p:sp>
      <p:sp>
        <p:nvSpPr>
          <p:cNvPr id="25" name="AutoShape 16">
            <a:extLst>
              <a:ext uri="{FF2B5EF4-FFF2-40B4-BE49-F238E27FC236}">
                <a16:creationId xmlns:a16="http://schemas.microsoft.com/office/drawing/2014/main" id="{FECF142C-F7DE-3BF6-A6C4-C8794204FB56}"/>
              </a:ext>
            </a:extLst>
          </p:cNvPr>
          <p:cNvSpPr>
            <a:spLocks noChangeArrowheads="1"/>
          </p:cNvSpPr>
          <p:nvPr/>
        </p:nvSpPr>
        <p:spPr bwMode="auto">
          <a:xfrm>
            <a:off x="3502202" y="4917919"/>
            <a:ext cx="4066644" cy="1245385"/>
          </a:xfrm>
          <a:prstGeom prst="flowChartAlternateProcess">
            <a:avLst/>
          </a:prstGeom>
          <a:solidFill>
            <a:srgbClr val="FF99CC">
              <a:alpha val="47842"/>
            </a:srgbClr>
          </a:solidFill>
          <a:ln w="19050" algn="ctr">
            <a:solidFill>
              <a:srgbClr val="F3FEFF"/>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en-US" altLang="zh-CN" sz="1999" dirty="0">
                <a:solidFill>
                  <a:srgbClr val="000066"/>
                </a:solidFill>
                <a:latin typeface="微软雅黑" panose="020B0503020204020204" pitchFamily="34" charset="-122"/>
                <a:ea typeface="微软雅黑" panose="020B0503020204020204" pitchFamily="34" charset="-122"/>
              </a:rPr>
              <a:t> </a:t>
            </a:r>
            <a:r>
              <a:rPr lang="zh-CN" altLang="en-US" sz="2399" b="1" dirty="0">
                <a:solidFill>
                  <a:schemeClr val="tx1">
                    <a:lumMod val="75000"/>
                    <a:lumOff val="25000"/>
                  </a:schemeClr>
                </a:solidFill>
                <a:latin typeface="微软雅黑" panose="020B0503020204020204" pitchFamily="34" charset="-122"/>
                <a:ea typeface="微软雅黑" panose="020B0503020204020204" pitchFamily="34" charset="-122"/>
              </a:rPr>
              <a:t>数据的安全性控制、</a:t>
            </a:r>
          </a:p>
          <a:p>
            <a:pPr algn="ctr" eaLnBrk="1" hangingPunct="1">
              <a:spcBef>
                <a:spcPct val="0"/>
              </a:spcBef>
              <a:buSzTx/>
              <a:buFontTx/>
              <a:buNone/>
            </a:pPr>
            <a:r>
              <a:rPr lang="zh-CN" altLang="en-US" sz="2399" b="1" dirty="0">
                <a:solidFill>
                  <a:schemeClr val="tx1">
                    <a:lumMod val="75000"/>
                    <a:lumOff val="25000"/>
                  </a:schemeClr>
                </a:solidFill>
                <a:latin typeface="微软雅黑" panose="020B0503020204020204" pitchFamily="34" charset="-122"/>
                <a:ea typeface="微软雅黑" panose="020B0503020204020204" pitchFamily="34" charset="-122"/>
              </a:rPr>
              <a:t>  数据的完整性控制、 </a:t>
            </a:r>
          </a:p>
          <a:p>
            <a:pPr algn="ctr" eaLnBrk="1" hangingPunct="1">
              <a:spcBef>
                <a:spcPct val="0"/>
              </a:spcBef>
              <a:buSzTx/>
              <a:buFontTx/>
              <a:buNone/>
            </a:pPr>
            <a:r>
              <a:rPr lang="zh-CN" altLang="en-US" sz="2399" b="1" dirty="0">
                <a:solidFill>
                  <a:schemeClr val="tx1">
                    <a:lumMod val="75000"/>
                    <a:lumOff val="25000"/>
                  </a:schemeClr>
                </a:solidFill>
                <a:latin typeface="微软雅黑" panose="020B0503020204020204" pitchFamily="34" charset="-122"/>
                <a:ea typeface="微软雅黑" panose="020B0503020204020204" pitchFamily="34" charset="-122"/>
              </a:rPr>
              <a:t> 并发控制、 数据恢复</a:t>
            </a:r>
          </a:p>
        </p:txBody>
      </p:sp>
    </p:spTree>
    <p:extLst>
      <p:ext uri="{BB962C8B-B14F-4D97-AF65-F5344CB8AC3E}">
        <p14:creationId xmlns:p14="http://schemas.microsoft.com/office/powerpoint/2010/main" val="31589098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checkerboard(across)">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checkerboard(across)">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checkerboard(across)">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checkerboard(across)">
                                      <p:cBhvr>
                                        <p:cTn id="37" dur="500"/>
                                        <p:tgtEl>
                                          <p:spTgt spid="21"/>
                                        </p:tgtEl>
                                      </p:cBhvr>
                                    </p:animEffect>
                                  </p:childTnLst>
                                </p:cTn>
                              </p:par>
                            </p:childTnLst>
                          </p:cTn>
                        </p:par>
                        <p:par>
                          <p:cTn id="38" fill="hold">
                            <p:stCondLst>
                              <p:cond delay="500"/>
                            </p:stCondLst>
                            <p:childTnLst>
                              <p:par>
                                <p:cTn id="39" presetID="2" presetClass="entr" presetSubtype="4" fill="hold" nodeType="after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box(in)">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box(in)">
                                      <p:cBhvr>
                                        <p:cTn id="52" dur="5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additive="base">
                                        <p:cTn id="57" dur="500" fill="hold"/>
                                        <p:tgtEl>
                                          <p:spTgt spid="25"/>
                                        </p:tgtEl>
                                        <p:attrNameLst>
                                          <p:attrName>ppt_x</p:attrName>
                                        </p:attrNameLst>
                                      </p:cBhvr>
                                      <p:tavLst>
                                        <p:tav tm="0">
                                          <p:val>
                                            <p:strVal val="#ppt_x"/>
                                          </p:val>
                                        </p:tav>
                                        <p:tav tm="100000">
                                          <p:val>
                                            <p:strVal val="#ppt_x"/>
                                          </p:val>
                                        </p:tav>
                                      </p:tavLst>
                                    </p:anim>
                                    <p:anim calcmode="lin" valueType="num">
                                      <p:cBhvr additive="base">
                                        <p:cTn id="5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P spid="18" grpId="0" animBg="1"/>
      <p:bldP spid="19" grpId="0" animBg="1"/>
      <p:bldP spid="20" grpId="0" animBg="1"/>
      <p:bldP spid="23"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928992" y="741973"/>
            <a:ext cx="4170905" cy="465206"/>
          </a:xfrm>
          <a:prstGeom prst="rect">
            <a:avLst/>
          </a:prstGeom>
          <a:noFill/>
        </p:spPr>
        <p:txBody>
          <a:bodyPr wrap="square" rtlCol="0">
            <a:spAutoFit/>
          </a:bodyPr>
          <a:lstStyle/>
          <a:p>
            <a:pPr algn="just">
              <a:lnSpc>
                <a:spcPct val="150000"/>
              </a:lnSpc>
            </a:pPr>
            <a:r>
              <a:rPr lang="en-US" altLang="zh-CN" sz="1799" b="1" dirty="0">
                <a:latin typeface="微软雅黑" panose="020B0503020204020204" pitchFamily="34" charset="-122"/>
                <a:ea typeface="微软雅黑" panose="020B0503020204020204" pitchFamily="34" charset="-122"/>
              </a:rPr>
              <a:t>1. </a:t>
            </a:r>
            <a:r>
              <a:rPr lang="zh-CN" altLang="en-US" sz="1799" b="1" dirty="0">
                <a:latin typeface="微软雅黑" panose="020B0503020204020204" pitchFamily="34" charset="-122"/>
                <a:ea typeface="微软雅黑" panose="020B0503020204020204" pitchFamily="34" charset="-122"/>
              </a:rPr>
              <a:t>人工管理阶段</a:t>
            </a:r>
          </a:p>
        </p:txBody>
      </p:sp>
      <p:pic>
        <p:nvPicPr>
          <p:cNvPr id="1026" name="Picture 2">
            <a:extLst>
              <a:ext uri="{FF2B5EF4-FFF2-40B4-BE49-F238E27FC236}">
                <a16:creationId xmlns:a16="http://schemas.microsoft.com/office/drawing/2014/main" id="{E374570E-CF55-B86C-5259-FB6B8BC39D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26063" y="1844470"/>
            <a:ext cx="6778270" cy="3169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079A8F84-D802-6C9E-E677-4F342F71ACCE}"/>
              </a:ext>
            </a:extLst>
          </p:cNvPr>
          <p:cNvSpPr txBox="1"/>
          <p:nvPr/>
        </p:nvSpPr>
        <p:spPr>
          <a:xfrm>
            <a:off x="2868141" y="5345775"/>
            <a:ext cx="6102654" cy="399902"/>
          </a:xfrm>
          <a:prstGeom prst="rect">
            <a:avLst/>
          </a:prstGeom>
          <a:noFill/>
        </p:spPr>
        <p:txBody>
          <a:bodyPr wrap="square">
            <a:spAutoFit/>
          </a:bodyPr>
          <a:lstStyle/>
          <a:p>
            <a:pPr algn="ctr"/>
            <a:r>
              <a:rPr lang="zh-CN" altLang="zh-CN" sz="1999" kern="1000" dirty="0">
                <a:latin typeface="Times New Roman" panose="02020603050405020304" pitchFamily="18" charset="0"/>
                <a:ea typeface="方正书宋简体"/>
                <a:cs typeface="Times New Roman" panose="02020603050405020304" pitchFamily="18" charset="0"/>
              </a:rPr>
              <a:t>人工管理阶段应用程序与数据之间的对应关系</a:t>
            </a:r>
            <a:endParaRPr lang="zh-CN" altLang="en-US" sz="1999" dirty="0"/>
          </a:p>
        </p:txBody>
      </p:sp>
    </p:spTree>
    <p:extLst>
      <p:ext uri="{BB962C8B-B14F-4D97-AF65-F5344CB8AC3E}">
        <p14:creationId xmlns:p14="http://schemas.microsoft.com/office/powerpoint/2010/main" val="34307399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855842" y="791936"/>
            <a:ext cx="4170905" cy="465206"/>
          </a:xfrm>
          <a:prstGeom prst="rect">
            <a:avLst/>
          </a:prstGeom>
          <a:noFill/>
        </p:spPr>
        <p:txBody>
          <a:bodyPr wrap="square" rtlCol="0">
            <a:spAutoFit/>
          </a:bodyPr>
          <a:lstStyle/>
          <a:p>
            <a:pPr algn="just">
              <a:lnSpc>
                <a:spcPct val="150000"/>
              </a:lnSpc>
            </a:pPr>
            <a:r>
              <a:rPr lang="en-US" altLang="zh-CN" sz="1799" b="1" dirty="0">
                <a:latin typeface="微软雅黑" panose="020B0503020204020204" pitchFamily="34" charset="-122"/>
                <a:ea typeface="微软雅黑" panose="020B0503020204020204" pitchFamily="34" charset="-122"/>
              </a:rPr>
              <a:t>2. </a:t>
            </a:r>
            <a:r>
              <a:rPr lang="zh-CN" altLang="en-US" sz="1799" b="1" dirty="0">
                <a:latin typeface="微软雅黑" panose="020B0503020204020204" pitchFamily="34" charset="-122"/>
                <a:ea typeface="微软雅黑" panose="020B0503020204020204" pitchFamily="34" charset="-122"/>
              </a:rPr>
              <a:t>文件系统阶段</a:t>
            </a:r>
          </a:p>
        </p:txBody>
      </p:sp>
      <p:sp>
        <p:nvSpPr>
          <p:cNvPr id="6" name="文本框 5">
            <a:extLst>
              <a:ext uri="{FF2B5EF4-FFF2-40B4-BE49-F238E27FC236}">
                <a16:creationId xmlns:a16="http://schemas.microsoft.com/office/drawing/2014/main" id="{079A8F84-D802-6C9E-E677-4F342F71ACCE}"/>
              </a:ext>
            </a:extLst>
          </p:cNvPr>
          <p:cNvSpPr txBox="1"/>
          <p:nvPr/>
        </p:nvSpPr>
        <p:spPr>
          <a:xfrm>
            <a:off x="2740125" y="5457754"/>
            <a:ext cx="6102654" cy="399902"/>
          </a:xfrm>
          <a:prstGeom prst="rect">
            <a:avLst/>
          </a:prstGeom>
          <a:noFill/>
        </p:spPr>
        <p:txBody>
          <a:bodyPr wrap="square">
            <a:spAutoFit/>
          </a:bodyPr>
          <a:lstStyle/>
          <a:p>
            <a:pPr algn="ctr"/>
            <a:r>
              <a:rPr lang="zh-CN" altLang="en-US" sz="1999" kern="1000" dirty="0">
                <a:latin typeface="Times New Roman" panose="02020603050405020304" pitchFamily="18" charset="0"/>
                <a:ea typeface="方正书宋简体"/>
                <a:cs typeface="Times New Roman" panose="02020603050405020304" pitchFamily="18" charset="0"/>
              </a:rPr>
              <a:t>文件系统</a:t>
            </a:r>
            <a:r>
              <a:rPr lang="zh-CN" altLang="zh-CN" sz="1999" kern="1000" dirty="0">
                <a:latin typeface="Times New Roman" panose="02020603050405020304" pitchFamily="18" charset="0"/>
                <a:ea typeface="方正书宋简体"/>
                <a:cs typeface="Times New Roman" panose="02020603050405020304" pitchFamily="18" charset="0"/>
              </a:rPr>
              <a:t>阶段应用程序与数据之间的对应关系</a:t>
            </a:r>
            <a:endParaRPr lang="zh-CN" altLang="en-US" sz="1999" dirty="0"/>
          </a:p>
        </p:txBody>
      </p:sp>
      <p:pic>
        <p:nvPicPr>
          <p:cNvPr id="2050" name="Picture 2">
            <a:extLst>
              <a:ext uri="{FF2B5EF4-FFF2-40B4-BE49-F238E27FC236}">
                <a16:creationId xmlns:a16="http://schemas.microsoft.com/office/drawing/2014/main" id="{A6F327E0-3A48-DD3E-EB34-041F8D4285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11823" y="1610369"/>
            <a:ext cx="6988316" cy="349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02301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4498AEA-FE3F-27D3-0560-8CE4FA1787E6}"/>
              </a:ext>
            </a:extLst>
          </p:cNvPr>
          <p:cNvSpPr txBox="1"/>
          <p:nvPr/>
        </p:nvSpPr>
        <p:spPr>
          <a:xfrm>
            <a:off x="1122024" y="807195"/>
            <a:ext cx="10112339" cy="2612382"/>
          </a:xfrm>
          <a:prstGeom prst="rect">
            <a:avLst/>
          </a:prstGeom>
          <a:noFill/>
        </p:spPr>
        <p:txBody>
          <a:bodyPr wrap="square">
            <a:spAutoFit/>
          </a:bodyPr>
          <a:lstStyle/>
          <a:p>
            <a:pPr marL="457200" indent="-457200">
              <a:lnSpc>
                <a:spcPct val="150000"/>
              </a:lnSpc>
              <a:buFont typeface="Wingdings" panose="05000000000000000000" pitchFamily="2" charset="2"/>
              <a:buChar char="l"/>
            </a:pPr>
            <a:r>
              <a:rPr lang="zh-CN" altLang="en-US" sz="3600" b="1" dirty="0">
                <a:solidFill>
                  <a:srgbClr val="FF0000"/>
                </a:solidFill>
                <a:latin typeface="微软雅黑" panose="020B0503020204020204" pitchFamily="34" charset="-122"/>
                <a:ea typeface="微软雅黑" panose="020B0503020204020204" pitchFamily="34" charset="-122"/>
              </a:rPr>
              <a:t>想一想</a:t>
            </a:r>
            <a:endParaRPr lang="en-US" altLang="zh-CN" sz="3600" b="1"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我们来设想一个场景：政务系统如果用文件系统来管理居民信息，不同部门各自保存一份居民档案，如果居民修改了个人信息，只更新了其中一份文件，会造成什么样的后果？对应文件系统的哪个缺陷？</a:t>
            </a:r>
          </a:p>
        </p:txBody>
      </p:sp>
    </p:spTree>
    <p:extLst>
      <p:ext uri="{BB962C8B-B14F-4D97-AF65-F5344CB8AC3E}">
        <p14:creationId xmlns:p14="http://schemas.microsoft.com/office/powerpoint/2010/main" val="35522130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993002" y="879720"/>
            <a:ext cx="4170905" cy="465206"/>
          </a:xfrm>
          <a:prstGeom prst="rect">
            <a:avLst/>
          </a:prstGeom>
          <a:noFill/>
        </p:spPr>
        <p:txBody>
          <a:bodyPr wrap="square" rtlCol="0">
            <a:spAutoFit/>
          </a:bodyPr>
          <a:lstStyle/>
          <a:p>
            <a:pPr algn="just">
              <a:lnSpc>
                <a:spcPct val="150000"/>
              </a:lnSpc>
            </a:pPr>
            <a:r>
              <a:rPr lang="en-US" altLang="zh-CN" sz="1799" b="1" dirty="0">
                <a:latin typeface="微软雅黑" panose="020B0503020204020204" pitchFamily="34" charset="-122"/>
                <a:ea typeface="微软雅黑" panose="020B0503020204020204" pitchFamily="34" charset="-122"/>
              </a:rPr>
              <a:t>3. </a:t>
            </a:r>
            <a:r>
              <a:rPr lang="zh-CN" altLang="en-US" sz="1799" b="1" dirty="0">
                <a:latin typeface="微软雅黑" panose="020B0503020204020204" pitchFamily="34" charset="-122"/>
                <a:ea typeface="微软雅黑" panose="020B0503020204020204" pitchFamily="34" charset="-122"/>
              </a:rPr>
              <a:t>数据库系统阶段</a:t>
            </a:r>
          </a:p>
        </p:txBody>
      </p:sp>
      <p:sp>
        <p:nvSpPr>
          <p:cNvPr id="6" name="文本框 5">
            <a:extLst>
              <a:ext uri="{FF2B5EF4-FFF2-40B4-BE49-F238E27FC236}">
                <a16:creationId xmlns:a16="http://schemas.microsoft.com/office/drawing/2014/main" id="{079A8F84-D802-6C9E-E677-4F342F71ACCE}"/>
              </a:ext>
            </a:extLst>
          </p:cNvPr>
          <p:cNvSpPr txBox="1"/>
          <p:nvPr/>
        </p:nvSpPr>
        <p:spPr>
          <a:xfrm>
            <a:off x="2868141" y="5345775"/>
            <a:ext cx="6102654" cy="399902"/>
          </a:xfrm>
          <a:prstGeom prst="rect">
            <a:avLst/>
          </a:prstGeom>
          <a:noFill/>
        </p:spPr>
        <p:txBody>
          <a:bodyPr wrap="square">
            <a:spAutoFit/>
          </a:bodyPr>
          <a:lstStyle/>
          <a:p>
            <a:pPr algn="ctr"/>
            <a:r>
              <a:rPr lang="zh-CN" altLang="en-US" sz="1999" kern="1000" dirty="0">
                <a:latin typeface="Times New Roman" panose="02020603050405020304" pitchFamily="18" charset="0"/>
                <a:ea typeface="方正书宋简体"/>
                <a:cs typeface="Times New Roman" panose="02020603050405020304" pitchFamily="18" charset="0"/>
              </a:rPr>
              <a:t>数据库系统</a:t>
            </a:r>
            <a:r>
              <a:rPr lang="zh-CN" altLang="zh-CN" sz="1999" kern="1000" dirty="0">
                <a:latin typeface="Times New Roman" panose="02020603050405020304" pitchFamily="18" charset="0"/>
                <a:ea typeface="方正书宋简体"/>
                <a:cs typeface="Times New Roman" panose="02020603050405020304" pitchFamily="18" charset="0"/>
              </a:rPr>
              <a:t>阶段应用程序与数据之间的对应关系</a:t>
            </a:r>
            <a:endParaRPr lang="zh-CN" altLang="en-US" sz="1999" dirty="0"/>
          </a:p>
        </p:txBody>
      </p:sp>
      <p:pic>
        <p:nvPicPr>
          <p:cNvPr id="3074" name="Picture 2">
            <a:extLst>
              <a:ext uri="{FF2B5EF4-FFF2-40B4-BE49-F238E27FC236}">
                <a16:creationId xmlns:a16="http://schemas.microsoft.com/office/drawing/2014/main" id="{54A0A934-1471-AFAF-48C0-81C3915E0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0220" y="1913006"/>
            <a:ext cx="8716223" cy="30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55407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112">
            <a:extLst>
              <a:ext uri="{FF2B5EF4-FFF2-40B4-BE49-F238E27FC236}">
                <a16:creationId xmlns:a16="http://schemas.microsoft.com/office/drawing/2014/main" id="{5CDC4338-B242-4FAA-BCC9-CB0102F055C7}"/>
              </a:ext>
            </a:extLst>
          </p:cNvPr>
          <p:cNvGraphicFramePr>
            <a:graphicFrameLocks noGrp="1"/>
          </p:cNvGraphicFramePr>
          <p:nvPr>
            <p:extLst>
              <p:ext uri="{D42A27DB-BD31-4B8C-83A1-F6EECF244321}">
                <p14:modId xmlns:p14="http://schemas.microsoft.com/office/powerpoint/2010/main" val="4252262324"/>
              </p:ext>
            </p:extLst>
          </p:nvPr>
        </p:nvGraphicFramePr>
        <p:xfrm>
          <a:off x="1420628" y="642192"/>
          <a:ext cx="9880133" cy="5332985"/>
        </p:xfrm>
        <a:graphic>
          <a:graphicData uri="http://schemas.openxmlformats.org/drawingml/2006/table">
            <a:tbl>
              <a:tblPr/>
              <a:tblGrid>
                <a:gridCol w="2001040">
                  <a:extLst>
                    <a:ext uri="{9D8B030D-6E8A-4147-A177-3AD203B41FA5}">
                      <a16:colId xmlns:a16="http://schemas.microsoft.com/office/drawing/2014/main" val="20000"/>
                    </a:ext>
                  </a:extLst>
                </a:gridCol>
                <a:gridCol w="2188637">
                  <a:extLst>
                    <a:ext uri="{9D8B030D-6E8A-4147-A177-3AD203B41FA5}">
                      <a16:colId xmlns:a16="http://schemas.microsoft.com/office/drawing/2014/main" val="20001"/>
                    </a:ext>
                  </a:extLst>
                </a:gridCol>
                <a:gridCol w="2939027">
                  <a:extLst>
                    <a:ext uri="{9D8B030D-6E8A-4147-A177-3AD203B41FA5}">
                      <a16:colId xmlns:a16="http://schemas.microsoft.com/office/drawing/2014/main" val="20002"/>
                    </a:ext>
                  </a:extLst>
                </a:gridCol>
                <a:gridCol w="2751429">
                  <a:extLst>
                    <a:ext uri="{9D8B030D-6E8A-4147-A177-3AD203B41FA5}">
                      <a16:colId xmlns:a16="http://schemas.microsoft.com/office/drawing/2014/main" val="20003"/>
                    </a:ext>
                  </a:extLst>
                </a:gridCol>
              </a:tblGrid>
              <a:tr h="469417">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endParaRPr kumimoji="1" lang="zh-CN" altLang="zh-CN" sz="1800" b="1" i="0" u="none" strike="noStrike" cap="none" normalizeH="0" baseline="0" dirty="0">
                        <a:ln>
                          <a:noFill/>
                        </a:ln>
                        <a:solidFill>
                          <a:schemeClr val="tx1"/>
                        </a:solidFill>
                        <a:effectLst/>
                        <a:latin typeface="+mn-ea"/>
                        <a:ea typeface="+mn-ea"/>
                      </a:endParaRP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人工管理</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文件系统</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数据库系统</a:t>
                      </a:r>
                    </a:p>
                  </a:txBody>
                  <a:tcPr marL="90000" marR="90000" marT="46798" marB="46798" anchor="ctr" anchorCtr="1"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951">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时期</a:t>
                      </a:r>
                    </a:p>
                  </a:txBody>
                  <a:tcPr marL="90000" marR="90000" marT="46798" marB="46798" anchor="ctr" anchorCtr="1"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mn-ea"/>
                          <a:ea typeface="+mn-ea"/>
                          <a:cs typeface="Times New Roman" pitchFamily="18" charset="0"/>
                        </a:rPr>
                        <a:t>20</a:t>
                      </a:r>
                      <a:r>
                        <a:rPr kumimoji="1" lang="zh-CN" altLang="en-US" sz="1800" b="1" i="0" u="none" strike="noStrike" cap="none" normalizeH="0" baseline="0" dirty="0">
                          <a:ln>
                            <a:noFill/>
                          </a:ln>
                          <a:solidFill>
                            <a:schemeClr val="tx1"/>
                          </a:solidFill>
                          <a:effectLst/>
                          <a:latin typeface="+mn-ea"/>
                          <a:ea typeface="+mn-ea"/>
                          <a:cs typeface="Times New Roman" pitchFamily="18" charset="0"/>
                        </a:rPr>
                        <a:t>世纪</a:t>
                      </a:r>
                      <a:r>
                        <a:rPr kumimoji="1" lang="en-US" altLang="zh-CN" sz="1800" b="1" i="0" u="none" strike="noStrike" cap="none" normalizeH="0" baseline="0" dirty="0">
                          <a:ln>
                            <a:noFill/>
                          </a:ln>
                          <a:solidFill>
                            <a:schemeClr val="tx1"/>
                          </a:solidFill>
                          <a:effectLst/>
                          <a:latin typeface="+mn-ea"/>
                          <a:ea typeface="+mn-ea"/>
                          <a:cs typeface="Times New Roman" pitchFamily="18" charset="0"/>
                        </a:rPr>
                        <a:t>50</a:t>
                      </a:r>
                      <a:r>
                        <a:rPr kumimoji="1" lang="zh-CN" altLang="en-US" sz="1800" b="1" i="0" u="none" strike="noStrike" cap="none" normalizeH="0" baseline="0" dirty="0">
                          <a:ln>
                            <a:noFill/>
                          </a:ln>
                          <a:solidFill>
                            <a:schemeClr val="tx1"/>
                          </a:solidFill>
                          <a:effectLst/>
                          <a:latin typeface="+mn-ea"/>
                          <a:ea typeface="+mn-ea"/>
                          <a:cs typeface="Times New Roman" pitchFamily="18" charset="0"/>
                        </a:rPr>
                        <a:t>年代中期以前</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mn-ea"/>
                          <a:ea typeface="+mn-ea"/>
                          <a:cs typeface="Times New Roman" pitchFamily="18" charset="0"/>
                        </a:rPr>
                        <a:t>20</a:t>
                      </a:r>
                      <a:r>
                        <a:rPr kumimoji="1" lang="zh-CN" altLang="en-US" sz="1800" b="1" i="0" u="none" strike="noStrike" cap="none" normalizeH="0" baseline="0" dirty="0">
                          <a:ln>
                            <a:noFill/>
                          </a:ln>
                          <a:solidFill>
                            <a:schemeClr val="tx1"/>
                          </a:solidFill>
                          <a:effectLst/>
                          <a:latin typeface="+mn-ea"/>
                          <a:ea typeface="+mn-ea"/>
                          <a:cs typeface="Times New Roman" pitchFamily="18" charset="0"/>
                        </a:rPr>
                        <a:t>世纪</a:t>
                      </a:r>
                      <a:r>
                        <a:rPr kumimoji="1" lang="en-US" altLang="zh-CN" sz="1800" b="1" i="0" u="none" strike="noStrike" cap="none" normalizeH="0" baseline="0" dirty="0">
                          <a:ln>
                            <a:noFill/>
                          </a:ln>
                          <a:solidFill>
                            <a:schemeClr val="tx1"/>
                          </a:solidFill>
                          <a:effectLst/>
                          <a:latin typeface="+mn-ea"/>
                          <a:ea typeface="+mn-ea"/>
                          <a:cs typeface="Times New Roman" pitchFamily="18" charset="0"/>
                        </a:rPr>
                        <a:t>50</a:t>
                      </a:r>
                      <a:r>
                        <a:rPr kumimoji="1" lang="zh-CN" altLang="en-US" sz="1800" b="1" i="0" u="none" strike="noStrike" cap="none" normalizeH="0" baseline="0" dirty="0">
                          <a:ln>
                            <a:noFill/>
                          </a:ln>
                          <a:solidFill>
                            <a:schemeClr val="tx1"/>
                          </a:solidFill>
                          <a:effectLst/>
                          <a:latin typeface="+mn-ea"/>
                          <a:ea typeface="+mn-ea"/>
                          <a:cs typeface="Times New Roman" pitchFamily="18" charset="0"/>
                        </a:rPr>
                        <a:t>年代后期</a:t>
                      </a:r>
                      <a:r>
                        <a:rPr kumimoji="1" lang="en-US" altLang="zh-CN" sz="1800" b="1" i="0" u="none" strike="noStrike" cap="none" normalizeH="0" baseline="0" dirty="0">
                          <a:ln>
                            <a:noFill/>
                          </a:ln>
                          <a:solidFill>
                            <a:schemeClr val="tx1"/>
                          </a:solidFill>
                          <a:effectLst/>
                          <a:latin typeface="+mn-ea"/>
                          <a:ea typeface="+mn-ea"/>
                          <a:cs typeface="Times New Roman" pitchFamily="18" charset="0"/>
                        </a:rPr>
                        <a:t>-60</a:t>
                      </a:r>
                      <a:r>
                        <a:rPr kumimoji="1" lang="zh-CN" altLang="en-US" sz="1800" b="1" i="0" u="none" strike="noStrike" cap="none" normalizeH="0" baseline="0" dirty="0">
                          <a:ln>
                            <a:noFill/>
                          </a:ln>
                          <a:solidFill>
                            <a:schemeClr val="tx1"/>
                          </a:solidFill>
                          <a:effectLst/>
                          <a:latin typeface="+mn-ea"/>
                          <a:ea typeface="+mn-ea"/>
                          <a:cs typeface="Times New Roman" pitchFamily="18" charset="0"/>
                        </a:rPr>
                        <a:t>年代中期</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mn-ea"/>
                          <a:ea typeface="+mn-ea"/>
                          <a:cs typeface="Times New Roman" pitchFamily="18" charset="0"/>
                        </a:rPr>
                        <a:t>20</a:t>
                      </a:r>
                      <a:r>
                        <a:rPr kumimoji="1" lang="zh-CN" altLang="en-US" sz="1800" b="1" i="0" u="none" strike="noStrike" cap="none" normalizeH="0" baseline="0" dirty="0">
                          <a:ln>
                            <a:noFill/>
                          </a:ln>
                          <a:solidFill>
                            <a:schemeClr val="tx1"/>
                          </a:solidFill>
                          <a:effectLst/>
                          <a:latin typeface="+mn-ea"/>
                          <a:ea typeface="+mn-ea"/>
                          <a:cs typeface="Times New Roman" pitchFamily="18" charset="0"/>
                        </a:rPr>
                        <a:t>世纪</a:t>
                      </a:r>
                      <a:r>
                        <a:rPr kumimoji="1" lang="en-US" altLang="zh-CN" sz="1800" b="1" i="0" u="none" strike="noStrike" cap="none" normalizeH="0" baseline="0" dirty="0">
                          <a:ln>
                            <a:noFill/>
                          </a:ln>
                          <a:solidFill>
                            <a:schemeClr val="tx1"/>
                          </a:solidFill>
                          <a:effectLst/>
                          <a:latin typeface="+mn-ea"/>
                          <a:ea typeface="+mn-ea"/>
                          <a:cs typeface="Times New Roman" pitchFamily="18" charset="0"/>
                        </a:rPr>
                        <a:t>60</a:t>
                      </a:r>
                      <a:r>
                        <a:rPr kumimoji="1" lang="zh-CN" altLang="en-US" sz="1800" b="1" i="0" u="none" strike="noStrike" cap="none" normalizeH="0" baseline="0" dirty="0">
                          <a:ln>
                            <a:noFill/>
                          </a:ln>
                          <a:solidFill>
                            <a:schemeClr val="tx1"/>
                          </a:solidFill>
                          <a:effectLst/>
                          <a:latin typeface="+mn-ea"/>
                          <a:ea typeface="+mn-ea"/>
                          <a:cs typeface="Times New Roman" pitchFamily="18" charset="0"/>
                        </a:rPr>
                        <a:t>年代后期以来</a:t>
                      </a:r>
                    </a:p>
                  </a:txBody>
                  <a:tcPr marL="90000" marR="90000" marT="46798" marB="46798" anchor="ctr" anchorCtr="1"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91166">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硬件</a:t>
                      </a:r>
                    </a:p>
                  </a:txBody>
                  <a:tcPr marL="90000" marR="90000" marT="46798" marB="46798" anchor="ctr" anchorCtr="1"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mn-ea"/>
                          <a:ea typeface="+mn-ea"/>
                          <a:cs typeface="Times New Roman" pitchFamily="18" charset="0"/>
                        </a:rPr>
                        <a:t> </a:t>
                      </a:r>
                      <a:r>
                        <a:rPr kumimoji="1" lang="zh-CN" altLang="en-US" sz="1800" b="1" i="0" u="none" strike="noStrike" cap="none" normalizeH="0" baseline="0" dirty="0">
                          <a:ln>
                            <a:noFill/>
                          </a:ln>
                          <a:solidFill>
                            <a:schemeClr val="tx1"/>
                          </a:solidFill>
                          <a:effectLst/>
                          <a:latin typeface="+mn-ea"/>
                          <a:ea typeface="+mn-ea"/>
                          <a:cs typeface="Times New Roman" pitchFamily="18" charset="0"/>
                        </a:rPr>
                        <a:t>（电子管）运算器、控制器、磁心存储器、输入输出设备有卡片机。</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mn-ea"/>
                          <a:ea typeface="+mn-ea"/>
                          <a:cs typeface="Times New Roman" pitchFamily="18" charset="0"/>
                        </a:rPr>
                        <a:t>  </a:t>
                      </a:r>
                      <a:r>
                        <a:rPr kumimoji="1" lang="zh-CN" altLang="en-US" sz="1800" b="1" i="0" u="none" strike="noStrike" cap="none" normalizeH="0" baseline="0" dirty="0">
                          <a:ln>
                            <a:noFill/>
                          </a:ln>
                          <a:solidFill>
                            <a:schemeClr val="tx1"/>
                          </a:solidFill>
                          <a:effectLst/>
                          <a:latin typeface="+mn-ea"/>
                          <a:ea typeface="+mn-ea"/>
                          <a:cs typeface="Times New Roman" pitchFamily="18" charset="0"/>
                        </a:rPr>
                        <a:t>（晶体管）半导体存储器，输入输出设备有键盘和行式打印机，存储设备有外部磁带、磁盘存储设备。</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mn-ea"/>
                          <a:ea typeface="+mn-ea"/>
                          <a:cs typeface="Times New Roman" pitchFamily="18" charset="0"/>
                        </a:rPr>
                        <a:t>  </a:t>
                      </a:r>
                      <a:r>
                        <a:rPr kumimoji="1" lang="zh-CN" altLang="en-US" sz="1800" b="1" i="0" u="none" strike="noStrike" cap="none" normalizeH="0" baseline="0" dirty="0">
                          <a:ln>
                            <a:noFill/>
                          </a:ln>
                          <a:solidFill>
                            <a:schemeClr val="tx1"/>
                          </a:solidFill>
                          <a:effectLst/>
                          <a:latin typeface="+mn-ea"/>
                          <a:ea typeface="+mn-ea"/>
                          <a:cs typeface="Times New Roman" pitchFamily="18" charset="0"/>
                        </a:rPr>
                        <a:t>小、中、大、超大规模集成电路。外存的存储容量和速度有了显著的发展。</a:t>
                      </a:r>
                    </a:p>
                  </a:txBody>
                  <a:tcPr marL="90000" marR="90000" marT="46798" marB="46798" anchor="ctr" anchorCtr="1"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62803">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数据和程序的关系</a:t>
                      </a:r>
                    </a:p>
                  </a:txBody>
                  <a:tcPr marL="90000" marR="90000" marT="46798" marB="46798" anchor="ctr" anchorCtr="1"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程序依赖于数据</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85000"/>
                        <a:buFontTx/>
                        <a:buNone/>
                        <a:tabLst/>
                      </a:pPr>
                      <a:r>
                        <a:rPr kumimoji="1" lang="en-US" altLang="zh-CN" sz="1800" b="1" i="0" u="none" strike="noStrike" cap="none" normalizeH="0" baseline="0">
                          <a:ln>
                            <a:noFill/>
                          </a:ln>
                          <a:solidFill>
                            <a:schemeClr val="tx1"/>
                          </a:solidFill>
                          <a:effectLst/>
                          <a:latin typeface="+mn-ea"/>
                          <a:ea typeface="+mn-ea"/>
                          <a:cs typeface="Times New Roman" pitchFamily="18" charset="0"/>
                        </a:rPr>
                        <a:t>  </a:t>
                      </a:r>
                      <a:r>
                        <a:rPr kumimoji="1" lang="zh-CN" altLang="en-US" sz="1800" b="1" i="0" u="none" strike="noStrike" cap="none" normalizeH="0" baseline="0">
                          <a:ln>
                            <a:noFill/>
                          </a:ln>
                          <a:solidFill>
                            <a:schemeClr val="tx1"/>
                          </a:solidFill>
                          <a:effectLst/>
                          <a:latin typeface="+mn-ea"/>
                          <a:ea typeface="+mn-ea"/>
                          <a:cs typeface="Times New Roman" pitchFamily="18" charset="0"/>
                        </a:rPr>
                        <a:t>程序和数据的存储位置分开，但程序受数据存储格式和方法的影响。</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85000"/>
                        <a:buFontTx/>
                        <a:buNone/>
                        <a:tabLst/>
                      </a:pPr>
                      <a:r>
                        <a:rPr kumimoji="1" lang="en-US" altLang="zh-CN" sz="1800" b="1" i="0" u="none" strike="noStrike" cap="none" normalizeH="0" baseline="0">
                          <a:ln>
                            <a:noFill/>
                          </a:ln>
                          <a:solidFill>
                            <a:schemeClr val="tx1"/>
                          </a:solidFill>
                          <a:effectLst/>
                          <a:latin typeface="+mn-ea"/>
                          <a:ea typeface="+mn-ea"/>
                          <a:cs typeface="Times New Roman" pitchFamily="18" charset="0"/>
                        </a:rPr>
                        <a:t>  </a:t>
                      </a:r>
                      <a:r>
                        <a:rPr kumimoji="1" lang="zh-CN" altLang="en-US" sz="1800" b="1" i="0" u="none" strike="noStrike" cap="none" normalizeH="0" baseline="0">
                          <a:ln>
                            <a:noFill/>
                          </a:ln>
                          <a:solidFill>
                            <a:schemeClr val="tx1"/>
                          </a:solidFill>
                          <a:effectLst/>
                          <a:latin typeface="+mn-ea"/>
                          <a:ea typeface="+mn-ea"/>
                          <a:cs typeface="Times New Roman" pitchFamily="18" charset="0"/>
                        </a:rPr>
                        <a:t>程序和数据的存储位置独立分开，程序不受数据存储格式和方法的影响。</a:t>
                      </a:r>
                    </a:p>
                  </a:txBody>
                  <a:tcPr marL="90000" marR="90000" marT="46798" marB="46798" anchor="ctr" anchorCtr="1"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2063">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有无操作系统</a:t>
                      </a:r>
                    </a:p>
                  </a:txBody>
                  <a:tcPr marL="90000" marR="90000" marT="46798" marB="46798" anchor="ctr" anchorCtr="1"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无</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有</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有</a:t>
                      </a:r>
                    </a:p>
                  </a:txBody>
                  <a:tcPr marL="90000" marR="90000" marT="46798" marB="46798" anchor="ctr" anchorCtr="1"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2063">
                <a:tc>
                  <a:txBody>
                    <a:bodyPr/>
                    <a:lstStyle/>
                    <a:p>
                      <a:pPr marL="0" marR="0" lvl="0" indent="12700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数据结构化</a:t>
                      </a:r>
                    </a:p>
                  </a:txBody>
                  <a:tcPr marL="90000" marR="90000" marT="46798" marB="46798" anchor="ctr" anchorCtr="1"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非</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非</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是</a:t>
                      </a:r>
                    </a:p>
                  </a:txBody>
                  <a:tcPr marL="90000" marR="90000" marT="46798" marB="46798" anchor="ctr" anchorCtr="1"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9804">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数据共享</a:t>
                      </a:r>
                    </a:p>
                  </a:txBody>
                  <a:tcPr marL="90000" marR="90000" marT="46798" marB="46798" anchor="ctr" anchorCtr="1"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非</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非</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是</a:t>
                      </a:r>
                    </a:p>
                  </a:txBody>
                  <a:tcPr marL="90000" marR="90000" marT="46798" marB="46798" anchor="ctr" anchorCtr="1"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5645">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数据独立性</a:t>
                      </a:r>
                    </a:p>
                  </a:txBody>
                  <a:tcPr marL="90000" marR="90000" marT="46798" marB="46798" anchor="ctr" anchorCtr="1"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mn-ea"/>
                          <a:ea typeface="+mn-ea"/>
                          <a:cs typeface="Times New Roman" pitchFamily="18" charset="0"/>
                        </a:rPr>
                        <a:t>非</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非</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是</a:t>
                      </a:r>
                    </a:p>
                  </a:txBody>
                  <a:tcPr marL="90000" marR="90000" marT="46798" marB="46798" anchor="ctr" anchorCtr="1"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1457">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由</a:t>
                      </a:r>
                      <a:r>
                        <a:rPr kumimoji="1" lang="en-US" altLang="zh-CN"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DBMS</a:t>
                      </a:r>
                      <a:r>
                        <a:rPr kumimoji="1" lang="zh-CN" altLang="en-US" sz="1800" b="1" i="0" u="none" strike="noStrike" kern="1200" cap="none" normalizeH="0" baseline="0" dirty="0">
                          <a:ln>
                            <a:noFill/>
                          </a:ln>
                          <a:solidFill>
                            <a:schemeClr val="accent6">
                              <a:lumMod val="75000"/>
                            </a:schemeClr>
                          </a:solidFill>
                          <a:effectLst/>
                          <a:latin typeface="微软雅黑" panose="020B0503020204020204" pitchFamily="34" charset="-122"/>
                          <a:ea typeface="微软雅黑" panose="020B0503020204020204" pitchFamily="34" charset="-122"/>
                          <a:cs typeface="Times New Roman" pitchFamily="18" charset="0"/>
                        </a:rPr>
                        <a:t>统一管理</a:t>
                      </a:r>
                    </a:p>
                  </a:txBody>
                  <a:tcPr marL="90000" marR="90000" marT="46798" marB="46798" anchor="ctr" anchorCtr="1"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否</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mn-ea"/>
                          <a:ea typeface="+mn-ea"/>
                          <a:cs typeface="Times New Roman" pitchFamily="18" charset="0"/>
                        </a:rPr>
                        <a:t>否</a:t>
                      </a:r>
                    </a:p>
                  </a:txBody>
                  <a:tcPr marL="90000" marR="90000" marT="46798" marB="4679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mn-ea"/>
                          <a:ea typeface="+mn-ea"/>
                          <a:cs typeface="Times New Roman" pitchFamily="18" charset="0"/>
                        </a:rPr>
                        <a:t>是</a:t>
                      </a:r>
                    </a:p>
                  </a:txBody>
                  <a:tcPr marL="90000" marR="90000" marT="46798" marB="46798" anchor="ctr" anchorCtr="1"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112167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576959"/>
            <a:ext cx="10698480" cy="538609"/>
          </a:xfrm>
          <a:prstGeom prst="rect">
            <a:avLst/>
          </a:prstGeom>
          <a:noFill/>
        </p:spPr>
        <p:txBody>
          <a:bodyPr wrap="square">
            <a:spAutoFit/>
          </a:bodyPr>
          <a:lstStyle/>
          <a:p>
            <a:r>
              <a:rPr lang="zh-CN" altLang="en-US" sz="2900" b="1" dirty="0">
                <a:solidFill>
                  <a:srgbClr val="C00000"/>
                </a:solidFill>
                <a:latin typeface="微软雅黑"/>
                <a:ea typeface="微软雅黑"/>
                <a:cs typeface="微软雅黑"/>
              </a:rPr>
              <a:t>想一想</a:t>
            </a:r>
            <a:endParaRPr sz="2900" b="1" dirty="0">
              <a:solidFill>
                <a:srgbClr val="C00000"/>
              </a:solidFill>
              <a:latin typeface="微软雅黑"/>
              <a:ea typeface="微软雅黑"/>
              <a:cs typeface="微软雅黑"/>
            </a:endParaRPr>
          </a:p>
        </p:txBody>
      </p:sp>
      <p:sp>
        <p:nvSpPr>
          <p:cNvPr id="3" name="Rectangle 2"/>
          <p:cNvSpPr/>
          <p:nvPr/>
        </p:nvSpPr>
        <p:spPr>
          <a:xfrm>
            <a:off x="822960" y="1115568"/>
            <a:ext cx="10561320" cy="3175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7260" y="1654177"/>
            <a:ext cx="10469880" cy="497957"/>
          </a:xfrm>
          <a:prstGeom prst="rect">
            <a:avLst/>
          </a:prstGeom>
          <a:noFill/>
        </p:spPr>
        <p:txBody>
          <a:bodyPr wrap="square">
            <a:spAutoFit/>
          </a:bodyPr>
          <a:lstStyle/>
          <a:p>
            <a:pPr>
              <a:lnSpc>
                <a:spcPct val="120000"/>
              </a:lnSpc>
            </a:pPr>
            <a:r>
              <a:rPr lang="zh-CN" altLang="en-US" sz="2400" b="1" dirty="0">
                <a:latin typeface="微软雅黑"/>
                <a:ea typeface="微软雅黑"/>
                <a:cs typeface="微软雅黑"/>
              </a:rPr>
              <a:t>（</a:t>
            </a:r>
            <a:r>
              <a:rPr lang="en-US" altLang="zh-CN" sz="2400" b="1" dirty="0">
                <a:latin typeface="微软雅黑"/>
                <a:ea typeface="微软雅黑"/>
                <a:cs typeface="微软雅黑"/>
              </a:rPr>
              <a:t>1</a:t>
            </a:r>
            <a:r>
              <a:rPr lang="zh-CN" altLang="en-US" sz="2400" b="1" dirty="0">
                <a:latin typeface="微软雅黑"/>
                <a:ea typeface="微软雅黑"/>
                <a:cs typeface="微软雅黑"/>
              </a:rPr>
              <a:t>）三个阶段中，哪一个阶段的独立性最高？</a:t>
            </a:r>
            <a:endParaRPr sz="2400" b="0" dirty="0">
              <a:latin typeface="微软雅黑"/>
              <a:ea typeface="微软雅黑"/>
              <a:cs typeface="微软雅黑"/>
            </a:endParaRPr>
          </a:p>
        </p:txBody>
      </p:sp>
      <p:sp>
        <p:nvSpPr>
          <p:cNvPr id="8" name="TextBox 3">
            <a:extLst>
              <a:ext uri="{FF2B5EF4-FFF2-40B4-BE49-F238E27FC236}">
                <a16:creationId xmlns:a16="http://schemas.microsoft.com/office/drawing/2014/main" id="{4395AFA6-5668-4728-89C1-F2E6E0EC33D9}"/>
              </a:ext>
            </a:extLst>
          </p:cNvPr>
          <p:cNvSpPr txBox="1"/>
          <p:nvPr/>
        </p:nvSpPr>
        <p:spPr>
          <a:xfrm>
            <a:off x="904775" y="2691397"/>
            <a:ext cx="10469880" cy="497957"/>
          </a:xfrm>
          <a:prstGeom prst="rect">
            <a:avLst/>
          </a:prstGeom>
          <a:noFill/>
        </p:spPr>
        <p:txBody>
          <a:bodyPr wrap="square">
            <a:spAutoFit/>
          </a:bodyPr>
          <a:lstStyle/>
          <a:p>
            <a:pPr>
              <a:lnSpc>
                <a:spcPct val="120000"/>
              </a:lnSpc>
            </a:pPr>
            <a:r>
              <a:rPr lang="zh-CN" altLang="en-US" sz="2400" b="1" dirty="0">
                <a:latin typeface="微软雅黑"/>
                <a:ea typeface="微软雅黑"/>
                <a:cs typeface="微软雅黑"/>
              </a:rPr>
              <a:t>（</a:t>
            </a:r>
            <a:r>
              <a:rPr lang="en-US" altLang="zh-CN" sz="2400" b="1" dirty="0">
                <a:latin typeface="微软雅黑"/>
                <a:ea typeface="微软雅黑"/>
                <a:cs typeface="微软雅黑"/>
              </a:rPr>
              <a:t>2</a:t>
            </a:r>
            <a:r>
              <a:rPr lang="zh-CN" altLang="en-US" sz="2400" b="1" dirty="0">
                <a:latin typeface="微软雅黑"/>
                <a:ea typeface="微软雅黑"/>
                <a:cs typeface="微软雅黑"/>
              </a:rPr>
              <a:t>）文件系统和数据库系统最本质的区别是什么？</a:t>
            </a:r>
            <a:endParaRPr sz="2400" b="0" dirty="0">
              <a:latin typeface="微软雅黑"/>
              <a:ea typeface="微软雅黑"/>
              <a:cs typeface="微软雅黑"/>
            </a:endParaRPr>
          </a:p>
        </p:txBody>
      </p:sp>
    </p:spTree>
    <p:extLst>
      <p:ext uri="{BB962C8B-B14F-4D97-AF65-F5344CB8AC3E}">
        <p14:creationId xmlns:p14="http://schemas.microsoft.com/office/powerpoint/2010/main" val="1645733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6405D-103A-BB6B-B8EB-90BAE52A8FF7}"/>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3842429-4E2B-51F0-83EB-667EF8029319}"/>
              </a:ext>
            </a:extLst>
          </p:cNvPr>
          <p:cNvSpPr>
            <a:spLocks noGrp="1"/>
          </p:cNvSpPr>
          <p:nvPr>
            <p:ph type="title" idx="4294967295"/>
          </p:nvPr>
        </p:nvSpPr>
        <p:spPr>
          <a:xfrm>
            <a:off x="818372" y="685308"/>
            <a:ext cx="2741613" cy="428625"/>
          </a:xfrm>
        </p:spPr>
        <p:txBody>
          <a:bodyPr>
            <a:normAutofit fontScale="90000"/>
          </a:bodyPr>
          <a:lstStyle/>
          <a:p>
            <a:r>
              <a:rPr lang="zh-CN" altLang="en-US" b="1" dirty="0">
                <a:latin typeface="微软雅黑" panose="020B0503020204020204" pitchFamily="34" charset="-122"/>
                <a:ea typeface="微软雅黑" panose="020B0503020204020204" pitchFamily="34" charset="-122"/>
              </a:rPr>
              <a:t>本章目录</a:t>
            </a:r>
          </a:p>
        </p:txBody>
      </p:sp>
      <p:grpSp>
        <p:nvGrpSpPr>
          <p:cNvPr id="5" name="组合 4">
            <a:extLst>
              <a:ext uri="{FF2B5EF4-FFF2-40B4-BE49-F238E27FC236}">
                <a16:creationId xmlns:a16="http://schemas.microsoft.com/office/drawing/2014/main" id="{04BB0C65-F7DA-9974-A770-E7353047FA01}"/>
              </a:ext>
            </a:extLst>
          </p:cNvPr>
          <p:cNvGrpSpPr/>
          <p:nvPr/>
        </p:nvGrpSpPr>
        <p:grpSpPr>
          <a:xfrm>
            <a:off x="684987" y="1518856"/>
            <a:ext cx="4865113" cy="632234"/>
            <a:chOff x="1288061" y="2515394"/>
            <a:chExt cx="4966104" cy="632563"/>
          </a:xfrm>
          <a:solidFill>
            <a:schemeClr val="bg1">
              <a:lumMod val="85000"/>
            </a:schemeClr>
          </a:solidFill>
        </p:grpSpPr>
        <p:sp>
          <p:nvSpPr>
            <p:cNvPr id="6" name="矩形 5">
              <a:extLst>
                <a:ext uri="{FF2B5EF4-FFF2-40B4-BE49-F238E27FC236}">
                  <a16:creationId xmlns:a16="http://schemas.microsoft.com/office/drawing/2014/main" id="{5E2214F1-92BB-5F9F-1C2B-7A3D1D507BCF}"/>
                </a:ext>
              </a:extLst>
            </p:cNvPr>
            <p:cNvSpPr/>
            <p:nvPr/>
          </p:nvSpPr>
          <p:spPr>
            <a:xfrm>
              <a:off x="2060574" y="2515394"/>
              <a:ext cx="4111102"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 name="TextBox 6">
              <a:extLst>
                <a:ext uri="{FF2B5EF4-FFF2-40B4-BE49-F238E27FC236}">
                  <a16:creationId xmlns:a16="http://schemas.microsoft.com/office/drawing/2014/main" id="{1AB78CBC-A7D7-85C6-BF24-7D2CDC5E1015}"/>
                </a:ext>
              </a:extLst>
            </p:cNvPr>
            <p:cNvSpPr txBox="1"/>
            <p:nvPr/>
          </p:nvSpPr>
          <p:spPr>
            <a:xfrm>
              <a:off x="2060573" y="2535216"/>
              <a:ext cx="4193592" cy="460767"/>
            </a:xfrm>
            <a:prstGeom prst="rect">
              <a:avLst/>
            </a:prstGeom>
            <a:grpFill/>
          </p:spPr>
          <p:txBody>
            <a:bodyPr wrap="square" rtlCol="0">
              <a:spAutoFit/>
            </a:bodyPr>
            <a:lstStyle/>
            <a:p>
              <a:pPr>
                <a:lnSpc>
                  <a:spcPct val="130000"/>
                </a:lnSpc>
              </a:pPr>
              <a:r>
                <a:rPr lang="zh-CN" altLang="en-US" sz="1999" dirty="0"/>
                <a:t>信息、数据、数据处理与数据管理</a:t>
              </a:r>
            </a:p>
          </p:txBody>
        </p:sp>
        <p:cxnSp>
          <p:nvCxnSpPr>
            <p:cNvPr id="8" name="直接连接符 7">
              <a:extLst>
                <a:ext uri="{FF2B5EF4-FFF2-40B4-BE49-F238E27FC236}">
                  <a16:creationId xmlns:a16="http://schemas.microsoft.com/office/drawing/2014/main" id="{395CF45A-F831-CEF8-F942-DDA62A57C048}"/>
                </a:ext>
              </a:extLst>
            </p:cNvPr>
            <p:cNvCxnSpPr>
              <a:cxnSpLocks/>
            </p:cNvCxnSpPr>
            <p:nvPr/>
          </p:nvCxnSpPr>
          <p:spPr bwMode="auto">
            <a:xfrm>
              <a:off x="1374775" y="3147957"/>
              <a:ext cx="4777479" cy="0"/>
            </a:xfrm>
            <a:prstGeom prst="line">
              <a:avLst/>
            </a:prstGeom>
            <a:grpFill/>
            <a:ln w="28575" cap="flat" cmpd="sng" algn="ctr">
              <a:solidFill>
                <a:srgbClr val="FFC000"/>
              </a:solidFill>
              <a:prstDash val="solid"/>
              <a:round/>
              <a:headEnd type="none" w="med" len="med"/>
              <a:tailEnd type="none" w="med" len="med"/>
            </a:ln>
            <a:effectLst/>
          </p:spPr>
        </p:cxnSp>
        <p:grpSp>
          <p:nvGrpSpPr>
            <p:cNvPr id="10" name="组合 9">
              <a:extLst>
                <a:ext uri="{FF2B5EF4-FFF2-40B4-BE49-F238E27FC236}">
                  <a16:creationId xmlns:a16="http://schemas.microsoft.com/office/drawing/2014/main" id="{5C30AA79-8AD7-B1E9-1B08-636127D2B681}"/>
                </a:ext>
              </a:extLst>
            </p:cNvPr>
            <p:cNvGrpSpPr/>
            <p:nvPr/>
          </p:nvGrpSpPr>
          <p:grpSpPr>
            <a:xfrm>
              <a:off x="1288061" y="2521302"/>
              <a:ext cx="590716" cy="626655"/>
              <a:chOff x="6242320" y="1105727"/>
              <a:chExt cx="590408" cy="626656"/>
            </a:xfrm>
            <a:grpFill/>
          </p:grpSpPr>
          <p:sp>
            <p:nvSpPr>
              <p:cNvPr id="11" name="TextBox 6">
                <a:extLst>
                  <a:ext uri="{FF2B5EF4-FFF2-40B4-BE49-F238E27FC236}">
                    <a16:creationId xmlns:a16="http://schemas.microsoft.com/office/drawing/2014/main" id="{4EED6B60-76E1-C413-3CD8-B09D83D01E35}"/>
                  </a:ext>
                </a:extLst>
              </p:cNvPr>
              <p:cNvSpPr txBox="1"/>
              <p:nvPr/>
            </p:nvSpPr>
            <p:spPr>
              <a:xfrm>
                <a:off x="6327224" y="1105727"/>
                <a:ext cx="448425" cy="492443"/>
              </a:xfrm>
              <a:prstGeom prst="rect">
                <a:avLst/>
              </a:prstGeom>
              <a:grpFill/>
            </p:spPr>
            <p:txBody>
              <a:bodyPr vert="horz" wrap="square" lIns="0" tIns="0" rIns="0" bIns="0" rtlCol="0" anchor="ctr">
                <a:spAutoFit/>
              </a:bodyPr>
              <a:lstStyle/>
              <a:p>
                <a:pPr algn="l"/>
                <a:r>
                  <a:rPr lang="en-US" altLang="zh-CN" sz="3198" dirty="0">
                    <a:solidFill>
                      <a:srgbClr val="FF9900"/>
                    </a:solidFill>
                    <a:latin typeface="Impact" panose="020B0806030902050204" pitchFamily="34" charset="0"/>
                    <a:ea typeface="微软雅黑" panose="020B0503020204020204" pitchFamily="34" charset="-122"/>
                  </a:rPr>
                  <a:t>01</a:t>
                </a:r>
                <a:endParaRPr lang="zh-CN" altLang="en-US" sz="3198" dirty="0">
                  <a:solidFill>
                    <a:srgbClr val="FF9900"/>
                  </a:solidFill>
                  <a:latin typeface="微软雅黑" panose="020B0503020204020204" pitchFamily="34" charset="-122"/>
                  <a:ea typeface="微软雅黑" panose="020B0503020204020204" pitchFamily="34" charset="-122"/>
                </a:endParaRPr>
              </a:p>
            </p:txBody>
          </p:sp>
          <p:sp>
            <p:nvSpPr>
              <p:cNvPr id="12" name="文本框 22">
                <a:extLst>
                  <a:ext uri="{FF2B5EF4-FFF2-40B4-BE49-F238E27FC236}">
                    <a16:creationId xmlns:a16="http://schemas.microsoft.com/office/drawing/2014/main" id="{3BD51B7B-DAF1-C743-BA94-996F060571AC}"/>
                  </a:ext>
                </a:extLst>
              </p:cNvPr>
              <p:cNvSpPr txBox="1"/>
              <p:nvPr/>
            </p:nvSpPr>
            <p:spPr>
              <a:xfrm>
                <a:off x="6242320" y="151693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grpSp>
      <p:grpSp>
        <p:nvGrpSpPr>
          <p:cNvPr id="13" name="组合 12">
            <a:extLst>
              <a:ext uri="{FF2B5EF4-FFF2-40B4-BE49-F238E27FC236}">
                <a16:creationId xmlns:a16="http://schemas.microsoft.com/office/drawing/2014/main" id="{C246D414-2323-28B8-6424-449CC391EC43}"/>
              </a:ext>
            </a:extLst>
          </p:cNvPr>
          <p:cNvGrpSpPr/>
          <p:nvPr/>
        </p:nvGrpSpPr>
        <p:grpSpPr>
          <a:xfrm>
            <a:off x="684986" y="2604141"/>
            <a:ext cx="4765275" cy="666403"/>
            <a:chOff x="1288061" y="3601244"/>
            <a:chExt cx="4864195" cy="666750"/>
          </a:xfrm>
          <a:solidFill>
            <a:schemeClr val="bg1">
              <a:lumMod val="85000"/>
            </a:schemeClr>
          </a:solidFill>
        </p:grpSpPr>
        <p:sp>
          <p:nvSpPr>
            <p:cNvPr id="14" name="矩形 13">
              <a:extLst>
                <a:ext uri="{FF2B5EF4-FFF2-40B4-BE49-F238E27FC236}">
                  <a16:creationId xmlns:a16="http://schemas.microsoft.com/office/drawing/2014/main" id="{AC93BA8D-DC71-8C5C-6213-A0CDBFA532EE}"/>
                </a:ext>
              </a:extLst>
            </p:cNvPr>
            <p:cNvSpPr/>
            <p:nvPr/>
          </p:nvSpPr>
          <p:spPr>
            <a:xfrm>
              <a:off x="2060575" y="3601244"/>
              <a:ext cx="3657600"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15" name="组合 14">
              <a:extLst>
                <a:ext uri="{FF2B5EF4-FFF2-40B4-BE49-F238E27FC236}">
                  <a16:creationId xmlns:a16="http://schemas.microsoft.com/office/drawing/2014/main" id="{95176F19-A18A-9A77-76A2-0A5CDC0A0C3C}"/>
                </a:ext>
              </a:extLst>
            </p:cNvPr>
            <p:cNvGrpSpPr/>
            <p:nvPr/>
          </p:nvGrpSpPr>
          <p:grpSpPr>
            <a:xfrm>
              <a:off x="1288061" y="3623526"/>
              <a:ext cx="590716" cy="631762"/>
              <a:chOff x="6242320" y="2373233"/>
              <a:chExt cx="590408" cy="631762"/>
            </a:xfrm>
            <a:grpFill/>
          </p:grpSpPr>
          <p:sp>
            <p:nvSpPr>
              <p:cNvPr id="18" name="TextBox 6">
                <a:extLst>
                  <a:ext uri="{FF2B5EF4-FFF2-40B4-BE49-F238E27FC236}">
                    <a16:creationId xmlns:a16="http://schemas.microsoft.com/office/drawing/2014/main" id="{D503F832-4BF8-48E6-2445-EA41ACE1D88D}"/>
                  </a:ext>
                </a:extLst>
              </p:cNvPr>
              <p:cNvSpPr txBox="1"/>
              <p:nvPr/>
            </p:nvSpPr>
            <p:spPr>
              <a:xfrm>
                <a:off x="6327224" y="2373233"/>
                <a:ext cx="448425" cy="492443"/>
              </a:xfrm>
              <a:prstGeom prst="rect">
                <a:avLst/>
              </a:prstGeom>
              <a:grpFill/>
            </p:spPr>
            <p:txBody>
              <a:bodyPr vert="horz" wrap="square" lIns="0" tIns="0" rIns="0" bIns="0" rtlCol="0" anchor="ctr">
                <a:spAutoFit/>
              </a:bodyPr>
              <a:lstStyle/>
              <a:p>
                <a:pPr algn="l"/>
                <a:r>
                  <a:rPr lang="en-US" altLang="zh-CN" sz="3198" dirty="0">
                    <a:solidFill>
                      <a:srgbClr val="01ACBE"/>
                    </a:solidFill>
                    <a:latin typeface="Impact" panose="020B0806030902050204" pitchFamily="34" charset="0"/>
                    <a:ea typeface="微软雅黑" panose="020B0503020204020204" pitchFamily="34" charset="-122"/>
                  </a:rPr>
                  <a:t>02</a:t>
                </a:r>
                <a:endParaRPr lang="zh-CN" altLang="en-US" sz="3198" dirty="0">
                  <a:solidFill>
                    <a:srgbClr val="01ACBE"/>
                  </a:solidFill>
                  <a:latin typeface="微软雅黑" panose="020B0503020204020204" pitchFamily="34" charset="-122"/>
                  <a:ea typeface="微软雅黑" panose="020B0503020204020204" pitchFamily="34" charset="-122"/>
                </a:endParaRPr>
              </a:p>
            </p:txBody>
          </p:sp>
          <p:sp>
            <p:nvSpPr>
              <p:cNvPr id="19" name="文本框 23">
                <a:extLst>
                  <a:ext uri="{FF2B5EF4-FFF2-40B4-BE49-F238E27FC236}">
                    <a16:creationId xmlns:a16="http://schemas.microsoft.com/office/drawing/2014/main" id="{ACFBEA3D-E8DD-2982-119B-836D796E94E5}"/>
                  </a:ext>
                </a:extLst>
              </p:cNvPr>
              <p:cNvSpPr txBox="1"/>
              <p:nvPr/>
            </p:nvSpPr>
            <p:spPr>
              <a:xfrm>
                <a:off x="6242320" y="2789551"/>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sp>
          <p:nvSpPr>
            <p:cNvPr id="16" name="TextBox 19">
              <a:extLst>
                <a:ext uri="{FF2B5EF4-FFF2-40B4-BE49-F238E27FC236}">
                  <a16:creationId xmlns:a16="http://schemas.microsoft.com/office/drawing/2014/main" id="{963AF891-70BC-000E-DF86-DFB35B3EFEB8}"/>
                </a:ext>
              </a:extLst>
            </p:cNvPr>
            <p:cNvSpPr txBox="1"/>
            <p:nvPr/>
          </p:nvSpPr>
          <p:spPr>
            <a:xfrm>
              <a:off x="2151869" y="3623151"/>
              <a:ext cx="3185304" cy="460767"/>
            </a:xfrm>
            <a:prstGeom prst="rect">
              <a:avLst/>
            </a:prstGeom>
            <a:grpFill/>
          </p:spPr>
          <p:txBody>
            <a:bodyPr wrap="square" rtlCol="0">
              <a:spAutoFit/>
            </a:bodyPr>
            <a:lstStyle/>
            <a:p>
              <a:pPr>
                <a:lnSpc>
                  <a:spcPct val="130000"/>
                </a:lnSpc>
              </a:pPr>
              <a:r>
                <a:rPr lang="zh-CN" altLang="en-US" sz="1999" dirty="0"/>
                <a:t>数据库技术的产生、发展</a:t>
              </a:r>
            </a:p>
          </p:txBody>
        </p:sp>
        <p:cxnSp>
          <p:nvCxnSpPr>
            <p:cNvPr id="17" name="直接连接符 16">
              <a:extLst>
                <a:ext uri="{FF2B5EF4-FFF2-40B4-BE49-F238E27FC236}">
                  <a16:creationId xmlns:a16="http://schemas.microsoft.com/office/drawing/2014/main" id="{9FB1289A-0574-EC2F-BFBB-247C5613E1F1}"/>
                </a:ext>
              </a:extLst>
            </p:cNvPr>
            <p:cNvCxnSpPr>
              <a:cxnSpLocks/>
            </p:cNvCxnSpPr>
            <p:nvPr/>
          </p:nvCxnSpPr>
          <p:spPr bwMode="auto">
            <a:xfrm>
              <a:off x="1374775" y="4267994"/>
              <a:ext cx="4777481" cy="0"/>
            </a:xfrm>
            <a:prstGeom prst="line">
              <a:avLst/>
            </a:prstGeom>
            <a:grpFill/>
            <a:ln w="28575" cap="flat" cmpd="sng" algn="ctr">
              <a:solidFill>
                <a:srgbClr val="00DBD6"/>
              </a:solidFill>
              <a:prstDash val="solid"/>
              <a:round/>
              <a:headEnd type="none" w="med" len="med"/>
              <a:tailEnd type="none" w="med" len="med"/>
            </a:ln>
            <a:effectLst/>
          </p:spPr>
        </p:cxnSp>
      </p:grpSp>
      <p:grpSp>
        <p:nvGrpSpPr>
          <p:cNvPr id="20" name="组合 19">
            <a:extLst>
              <a:ext uri="{FF2B5EF4-FFF2-40B4-BE49-F238E27FC236}">
                <a16:creationId xmlns:a16="http://schemas.microsoft.com/office/drawing/2014/main" id="{0629A7D8-39DE-3F05-F7D1-9BBB7A974345}"/>
              </a:ext>
            </a:extLst>
          </p:cNvPr>
          <p:cNvGrpSpPr/>
          <p:nvPr/>
        </p:nvGrpSpPr>
        <p:grpSpPr>
          <a:xfrm>
            <a:off x="684986" y="3638144"/>
            <a:ext cx="5628914" cy="647561"/>
            <a:chOff x="1288061" y="4635789"/>
            <a:chExt cx="5745762" cy="647899"/>
          </a:xfrm>
          <a:solidFill>
            <a:srgbClr val="FF0000"/>
          </a:solidFill>
        </p:grpSpPr>
        <p:grpSp>
          <p:nvGrpSpPr>
            <p:cNvPr id="21" name="组合 20">
              <a:extLst>
                <a:ext uri="{FF2B5EF4-FFF2-40B4-BE49-F238E27FC236}">
                  <a16:creationId xmlns:a16="http://schemas.microsoft.com/office/drawing/2014/main" id="{0407C84E-D468-DC75-79BA-66A24AD4CBAA}"/>
                </a:ext>
              </a:extLst>
            </p:cNvPr>
            <p:cNvGrpSpPr/>
            <p:nvPr/>
          </p:nvGrpSpPr>
          <p:grpSpPr>
            <a:xfrm>
              <a:off x="1288061" y="4635789"/>
              <a:ext cx="4864195" cy="647899"/>
              <a:chOff x="1288061" y="4635789"/>
              <a:chExt cx="4864195" cy="647899"/>
            </a:xfrm>
            <a:grpFill/>
          </p:grpSpPr>
          <p:grpSp>
            <p:nvGrpSpPr>
              <p:cNvPr id="24" name="组合 23">
                <a:extLst>
                  <a:ext uri="{FF2B5EF4-FFF2-40B4-BE49-F238E27FC236}">
                    <a16:creationId xmlns:a16="http://schemas.microsoft.com/office/drawing/2014/main" id="{5DC08F74-50B9-BA6F-3DAA-BF138DEDEAE4}"/>
                  </a:ext>
                </a:extLst>
              </p:cNvPr>
              <p:cNvGrpSpPr/>
              <p:nvPr/>
            </p:nvGrpSpPr>
            <p:grpSpPr>
              <a:xfrm>
                <a:off x="1288061" y="4635789"/>
                <a:ext cx="590716" cy="620494"/>
                <a:chOff x="6242320" y="3640739"/>
                <a:chExt cx="590408" cy="620494"/>
              </a:xfrm>
              <a:grpFill/>
            </p:grpSpPr>
            <p:sp>
              <p:nvSpPr>
                <p:cNvPr id="26" name="TextBox 6">
                  <a:extLst>
                    <a:ext uri="{FF2B5EF4-FFF2-40B4-BE49-F238E27FC236}">
                      <a16:creationId xmlns:a16="http://schemas.microsoft.com/office/drawing/2014/main" id="{ED5F2061-D0C7-C168-7501-6A4EA085727E}"/>
                    </a:ext>
                  </a:extLst>
                </p:cNvPr>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198" dirty="0">
                      <a:solidFill>
                        <a:srgbClr val="00B050"/>
                      </a:solidFill>
                      <a:latin typeface="Impact" panose="020B0806030902050204" pitchFamily="34" charset="0"/>
                      <a:ea typeface="微软雅黑" panose="020B0503020204020204" pitchFamily="34" charset="-122"/>
                    </a:rPr>
                    <a:t>03</a:t>
                  </a:r>
                  <a:endParaRPr lang="zh-CN" altLang="en-US" sz="3198" dirty="0">
                    <a:solidFill>
                      <a:srgbClr val="00B050"/>
                    </a:solidFill>
                    <a:latin typeface="微软雅黑" panose="020B0503020204020204" pitchFamily="34" charset="-122"/>
                    <a:ea typeface="微软雅黑" panose="020B0503020204020204" pitchFamily="34" charset="-122"/>
                  </a:endParaRPr>
                </a:p>
              </p:txBody>
            </p:sp>
            <p:sp>
              <p:nvSpPr>
                <p:cNvPr id="27" name="文本框 24">
                  <a:extLst>
                    <a:ext uri="{FF2B5EF4-FFF2-40B4-BE49-F238E27FC236}">
                      <a16:creationId xmlns:a16="http://schemas.microsoft.com/office/drawing/2014/main" id="{8CAC5275-00E8-00A8-A53D-157D3ED684B7}"/>
                    </a:ext>
                  </a:extLst>
                </p:cNvPr>
                <p:cNvSpPr txBox="1"/>
                <p:nvPr/>
              </p:nvSpPr>
              <p:spPr>
                <a:xfrm>
                  <a:off x="6242320" y="4045789"/>
                  <a:ext cx="590408" cy="215444"/>
                </a:xfrm>
                <a:prstGeom prst="rect">
                  <a:avLst/>
                </a:prstGeom>
                <a:no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25" name="直接连接符 24">
                <a:extLst>
                  <a:ext uri="{FF2B5EF4-FFF2-40B4-BE49-F238E27FC236}">
                    <a16:creationId xmlns:a16="http://schemas.microsoft.com/office/drawing/2014/main" id="{19D49202-7FDD-9D58-1EEB-60823F5A7513}"/>
                  </a:ext>
                </a:extLst>
              </p:cNvPr>
              <p:cNvCxnSpPr>
                <a:cxnSpLocks/>
              </p:cNvCxnSpPr>
              <p:nvPr/>
            </p:nvCxnSpPr>
            <p:spPr bwMode="auto">
              <a:xfrm>
                <a:off x="1374775" y="5283688"/>
                <a:ext cx="4777481" cy="0"/>
              </a:xfrm>
              <a:prstGeom prst="line">
                <a:avLst/>
              </a:prstGeom>
              <a:grpFill/>
              <a:ln w="28575" cap="flat" cmpd="sng" algn="ctr">
                <a:solidFill>
                  <a:srgbClr val="FF8181"/>
                </a:solidFill>
                <a:prstDash val="solid"/>
                <a:round/>
                <a:headEnd type="none" w="med" len="med"/>
                <a:tailEnd type="none" w="med" len="med"/>
              </a:ln>
              <a:effectLst/>
            </p:spPr>
          </p:cxnSp>
        </p:grpSp>
        <p:sp>
          <p:nvSpPr>
            <p:cNvPr id="22" name="TextBox 20">
              <a:extLst>
                <a:ext uri="{FF2B5EF4-FFF2-40B4-BE49-F238E27FC236}">
                  <a16:creationId xmlns:a16="http://schemas.microsoft.com/office/drawing/2014/main" id="{C3FDA9DE-0331-EF41-35BF-BD25EF171659}"/>
                </a:ext>
              </a:extLst>
            </p:cNvPr>
            <p:cNvSpPr txBox="1"/>
            <p:nvPr/>
          </p:nvSpPr>
          <p:spPr>
            <a:xfrm>
              <a:off x="2021273" y="4715080"/>
              <a:ext cx="5012550" cy="461007"/>
            </a:xfrm>
            <a:prstGeom prst="rect">
              <a:avLst/>
            </a:prstGeom>
            <a:grpFill/>
          </p:spPr>
          <p:txBody>
            <a:bodyPr wrap="square" rtlCol="0">
              <a:spAutoFit/>
            </a:bodyPr>
            <a:lstStyle/>
            <a:p>
              <a:pPr>
                <a:lnSpc>
                  <a:spcPct val="130000"/>
                </a:lnSpc>
              </a:pPr>
              <a:r>
                <a:rPr lang="zh-CN" altLang="en-US" sz="1999" dirty="0"/>
                <a:t>数据库系统和数据库管理系统（考试高频）</a:t>
              </a:r>
            </a:p>
          </p:txBody>
        </p:sp>
      </p:grpSp>
      <p:grpSp>
        <p:nvGrpSpPr>
          <p:cNvPr id="28" name="组合 27">
            <a:extLst>
              <a:ext uri="{FF2B5EF4-FFF2-40B4-BE49-F238E27FC236}">
                <a16:creationId xmlns:a16="http://schemas.microsoft.com/office/drawing/2014/main" id="{B679BDB3-1C52-BD2D-3F58-099DCB1498E6}"/>
              </a:ext>
            </a:extLst>
          </p:cNvPr>
          <p:cNvGrpSpPr/>
          <p:nvPr/>
        </p:nvGrpSpPr>
        <p:grpSpPr>
          <a:xfrm>
            <a:off x="707408" y="4709619"/>
            <a:ext cx="4742853" cy="667683"/>
            <a:chOff x="1288061" y="4615657"/>
            <a:chExt cx="4841307" cy="668031"/>
          </a:xfrm>
          <a:solidFill>
            <a:schemeClr val="bg1">
              <a:lumMod val="85000"/>
            </a:schemeClr>
          </a:solidFill>
        </p:grpSpPr>
        <p:grpSp>
          <p:nvGrpSpPr>
            <p:cNvPr id="29" name="组合 28">
              <a:extLst>
                <a:ext uri="{FF2B5EF4-FFF2-40B4-BE49-F238E27FC236}">
                  <a16:creationId xmlns:a16="http://schemas.microsoft.com/office/drawing/2014/main" id="{4DCCD116-56F2-76B8-980B-B993AD868C45}"/>
                </a:ext>
              </a:extLst>
            </p:cNvPr>
            <p:cNvGrpSpPr/>
            <p:nvPr/>
          </p:nvGrpSpPr>
          <p:grpSpPr>
            <a:xfrm>
              <a:off x="1288061" y="4615657"/>
              <a:ext cx="4841307" cy="668031"/>
              <a:chOff x="1288061" y="4615657"/>
              <a:chExt cx="4841307" cy="668031"/>
            </a:xfrm>
            <a:grpFill/>
          </p:grpSpPr>
          <p:sp>
            <p:nvSpPr>
              <p:cNvPr id="31" name="矩形 30">
                <a:extLst>
                  <a:ext uri="{FF2B5EF4-FFF2-40B4-BE49-F238E27FC236}">
                    <a16:creationId xmlns:a16="http://schemas.microsoft.com/office/drawing/2014/main" id="{9546B5F9-B48A-BAB6-4D61-AD82A636EDB0}"/>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32" name="组合 31">
                <a:extLst>
                  <a:ext uri="{FF2B5EF4-FFF2-40B4-BE49-F238E27FC236}">
                    <a16:creationId xmlns:a16="http://schemas.microsoft.com/office/drawing/2014/main" id="{2B72BE3F-58BA-7682-BECA-3514FC5876E3}"/>
                  </a:ext>
                </a:extLst>
              </p:cNvPr>
              <p:cNvGrpSpPr/>
              <p:nvPr/>
            </p:nvGrpSpPr>
            <p:grpSpPr>
              <a:xfrm>
                <a:off x="1288061" y="4635789"/>
                <a:ext cx="590716" cy="620494"/>
                <a:chOff x="6242320" y="3640739"/>
                <a:chExt cx="590408" cy="620494"/>
              </a:xfrm>
              <a:grpFill/>
            </p:grpSpPr>
            <p:sp>
              <p:nvSpPr>
                <p:cNvPr id="34" name="TextBox 6">
                  <a:extLst>
                    <a:ext uri="{FF2B5EF4-FFF2-40B4-BE49-F238E27FC236}">
                      <a16:creationId xmlns:a16="http://schemas.microsoft.com/office/drawing/2014/main" id="{A0EF27C6-1B9B-467D-4872-B2B1A54A7738}"/>
                    </a:ext>
                  </a:extLst>
                </p:cNvPr>
                <p:cNvSpPr txBox="1"/>
                <p:nvPr/>
              </p:nvSpPr>
              <p:spPr>
                <a:xfrm>
                  <a:off x="6327224" y="3640739"/>
                  <a:ext cx="448425" cy="492443"/>
                </a:xfrm>
                <a:prstGeom prst="rect">
                  <a:avLst/>
                </a:prstGeom>
                <a:grpFill/>
              </p:spPr>
              <p:txBody>
                <a:bodyPr vert="horz" wrap="square" lIns="0" tIns="0" rIns="0" bIns="0" rtlCol="0" anchor="ctr">
                  <a:spAutoFit/>
                </a:bodyPr>
                <a:lstStyle/>
                <a:p>
                  <a:pPr algn="l"/>
                  <a:r>
                    <a:rPr lang="en-US" altLang="zh-CN" sz="3198" dirty="0">
                      <a:solidFill>
                        <a:schemeClr val="accent5">
                          <a:lumMod val="60000"/>
                          <a:lumOff val="40000"/>
                        </a:schemeClr>
                      </a:solidFill>
                      <a:latin typeface="Impact" panose="020B0806030902050204" pitchFamily="34" charset="0"/>
                      <a:ea typeface="微软雅黑" panose="020B0503020204020204" pitchFamily="34" charset="-122"/>
                    </a:rPr>
                    <a:t>04</a:t>
                  </a:r>
                  <a:endParaRPr lang="zh-CN" altLang="en-US" sz="3198" dirty="0">
                    <a:solidFill>
                      <a:schemeClr val="accent5">
                        <a:lumMod val="60000"/>
                        <a:lumOff val="40000"/>
                      </a:schemeClr>
                    </a:solidFill>
                    <a:latin typeface="微软雅黑" panose="020B0503020204020204" pitchFamily="34" charset="-122"/>
                    <a:ea typeface="微软雅黑" panose="020B0503020204020204" pitchFamily="34" charset="-122"/>
                  </a:endParaRPr>
                </a:p>
              </p:txBody>
            </p:sp>
            <p:sp>
              <p:nvSpPr>
                <p:cNvPr id="35" name="文本框 24">
                  <a:extLst>
                    <a:ext uri="{FF2B5EF4-FFF2-40B4-BE49-F238E27FC236}">
                      <a16:creationId xmlns:a16="http://schemas.microsoft.com/office/drawing/2014/main" id="{204FA61C-AB6C-B1CE-EDF7-5F19803D2298}"/>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33" name="直接连接符 32">
                <a:extLst>
                  <a:ext uri="{FF2B5EF4-FFF2-40B4-BE49-F238E27FC236}">
                    <a16:creationId xmlns:a16="http://schemas.microsoft.com/office/drawing/2014/main" id="{C850AF34-2589-6126-CD44-BE73D87BBCE5}"/>
                  </a:ext>
                </a:extLst>
              </p:cNvPr>
              <p:cNvCxnSpPr>
                <a:cxnSpLocks/>
              </p:cNvCxnSpPr>
              <p:nvPr/>
            </p:nvCxnSpPr>
            <p:spPr bwMode="auto">
              <a:xfrm>
                <a:off x="1374775" y="5283688"/>
                <a:ext cx="4754593" cy="0"/>
              </a:xfrm>
              <a:prstGeom prst="line">
                <a:avLst/>
              </a:prstGeom>
              <a:grpFill/>
              <a:ln w="28575" cap="flat" cmpd="sng" algn="ctr">
                <a:solidFill>
                  <a:srgbClr val="7ABC32"/>
                </a:solidFill>
                <a:prstDash val="solid"/>
                <a:round/>
                <a:headEnd type="none" w="med" len="med"/>
                <a:tailEnd type="none" w="med" len="med"/>
              </a:ln>
              <a:effectLst/>
            </p:spPr>
          </p:cxnSp>
        </p:grpSp>
        <p:sp>
          <p:nvSpPr>
            <p:cNvPr id="30" name="TextBox 20">
              <a:extLst>
                <a:ext uri="{FF2B5EF4-FFF2-40B4-BE49-F238E27FC236}">
                  <a16:creationId xmlns:a16="http://schemas.microsoft.com/office/drawing/2014/main" id="{482035DF-915D-4A72-3256-D3B0E2165C27}"/>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数据库系统的内部体系结构</a:t>
              </a:r>
            </a:p>
          </p:txBody>
        </p:sp>
      </p:grpSp>
      <p:grpSp>
        <p:nvGrpSpPr>
          <p:cNvPr id="38" name="组合 37">
            <a:extLst>
              <a:ext uri="{FF2B5EF4-FFF2-40B4-BE49-F238E27FC236}">
                <a16:creationId xmlns:a16="http://schemas.microsoft.com/office/drawing/2014/main" id="{A5EED75E-D467-C6B9-0368-CB648727AB4A}"/>
              </a:ext>
            </a:extLst>
          </p:cNvPr>
          <p:cNvGrpSpPr/>
          <p:nvPr/>
        </p:nvGrpSpPr>
        <p:grpSpPr>
          <a:xfrm>
            <a:off x="6592666" y="1524563"/>
            <a:ext cx="4765274" cy="632234"/>
            <a:chOff x="1288061" y="2515394"/>
            <a:chExt cx="4864193" cy="632563"/>
          </a:xfrm>
          <a:solidFill>
            <a:schemeClr val="bg1">
              <a:lumMod val="85000"/>
            </a:schemeClr>
          </a:solidFill>
        </p:grpSpPr>
        <p:sp>
          <p:nvSpPr>
            <p:cNvPr id="39" name="矩形 38">
              <a:extLst>
                <a:ext uri="{FF2B5EF4-FFF2-40B4-BE49-F238E27FC236}">
                  <a16:creationId xmlns:a16="http://schemas.microsoft.com/office/drawing/2014/main" id="{481284B7-F09B-C667-BBFB-01859CE25379}"/>
                </a:ext>
              </a:extLst>
            </p:cNvPr>
            <p:cNvSpPr/>
            <p:nvPr/>
          </p:nvSpPr>
          <p:spPr>
            <a:xfrm>
              <a:off x="2060574" y="2515394"/>
              <a:ext cx="3670047"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0" name="TextBox 6">
              <a:extLst>
                <a:ext uri="{FF2B5EF4-FFF2-40B4-BE49-F238E27FC236}">
                  <a16:creationId xmlns:a16="http://schemas.microsoft.com/office/drawing/2014/main" id="{7E254EA8-87C6-2594-649F-31E0CA943F0A}"/>
                </a:ext>
              </a:extLst>
            </p:cNvPr>
            <p:cNvSpPr txBox="1"/>
            <p:nvPr/>
          </p:nvSpPr>
          <p:spPr>
            <a:xfrm>
              <a:off x="2151869" y="2515394"/>
              <a:ext cx="3566304" cy="460767"/>
            </a:xfrm>
            <a:prstGeom prst="rect">
              <a:avLst/>
            </a:prstGeom>
            <a:grpFill/>
          </p:spPr>
          <p:txBody>
            <a:bodyPr wrap="square" rtlCol="0">
              <a:spAutoFit/>
            </a:bodyPr>
            <a:lstStyle/>
            <a:p>
              <a:pPr>
                <a:lnSpc>
                  <a:spcPct val="130000"/>
                </a:lnSpc>
              </a:pPr>
              <a:r>
                <a:rPr lang="zh-CN" altLang="en-US" sz="1999" dirty="0"/>
                <a:t>数据库系统的外部体系结构</a:t>
              </a:r>
            </a:p>
          </p:txBody>
        </p:sp>
        <p:cxnSp>
          <p:nvCxnSpPr>
            <p:cNvPr id="41" name="直接连接符 40">
              <a:extLst>
                <a:ext uri="{FF2B5EF4-FFF2-40B4-BE49-F238E27FC236}">
                  <a16:creationId xmlns:a16="http://schemas.microsoft.com/office/drawing/2014/main" id="{EA23CFCA-845D-18B4-BF06-956B9F550B82}"/>
                </a:ext>
              </a:extLst>
            </p:cNvPr>
            <p:cNvCxnSpPr>
              <a:cxnSpLocks/>
            </p:cNvCxnSpPr>
            <p:nvPr/>
          </p:nvCxnSpPr>
          <p:spPr bwMode="auto">
            <a:xfrm>
              <a:off x="1374775" y="3147957"/>
              <a:ext cx="4777479" cy="0"/>
            </a:xfrm>
            <a:prstGeom prst="line">
              <a:avLst/>
            </a:prstGeom>
            <a:grpFill/>
            <a:ln w="28575" cap="flat" cmpd="sng" algn="ctr">
              <a:solidFill>
                <a:srgbClr val="FFC000"/>
              </a:solidFill>
              <a:prstDash val="solid"/>
              <a:round/>
              <a:headEnd type="none" w="med" len="med"/>
              <a:tailEnd type="none" w="med" len="med"/>
            </a:ln>
            <a:effectLst/>
          </p:spPr>
        </p:cxnSp>
        <p:grpSp>
          <p:nvGrpSpPr>
            <p:cNvPr id="42" name="组合 41">
              <a:extLst>
                <a:ext uri="{FF2B5EF4-FFF2-40B4-BE49-F238E27FC236}">
                  <a16:creationId xmlns:a16="http://schemas.microsoft.com/office/drawing/2014/main" id="{5058E707-98AA-EDBD-564E-06D043A13783}"/>
                </a:ext>
              </a:extLst>
            </p:cNvPr>
            <p:cNvGrpSpPr/>
            <p:nvPr/>
          </p:nvGrpSpPr>
          <p:grpSpPr>
            <a:xfrm>
              <a:off x="1288061" y="2521302"/>
              <a:ext cx="590716" cy="626655"/>
              <a:chOff x="6242320" y="1105727"/>
              <a:chExt cx="590408" cy="626656"/>
            </a:xfrm>
            <a:grpFill/>
          </p:grpSpPr>
          <p:sp>
            <p:nvSpPr>
              <p:cNvPr id="43" name="TextBox 6">
                <a:extLst>
                  <a:ext uri="{FF2B5EF4-FFF2-40B4-BE49-F238E27FC236}">
                    <a16:creationId xmlns:a16="http://schemas.microsoft.com/office/drawing/2014/main" id="{806CC585-AE30-A33F-2CAE-968CE4DBA94B}"/>
                  </a:ext>
                </a:extLst>
              </p:cNvPr>
              <p:cNvSpPr txBox="1"/>
              <p:nvPr/>
            </p:nvSpPr>
            <p:spPr>
              <a:xfrm>
                <a:off x="6327224" y="1105727"/>
                <a:ext cx="448425" cy="492443"/>
              </a:xfrm>
              <a:prstGeom prst="rect">
                <a:avLst/>
              </a:prstGeom>
              <a:grpFill/>
            </p:spPr>
            <p:txBody>
              <a:bodyPr vert="horz" wrap="square" lIns="0" tIns="0" rIns="0" bIns="0" rtlCol="0" anchor="ctr">
                <a:spAutoFit/>
              </a:bodyPr>
              <a:lstStyle/>
              <a:p>
                <a:pPr algn="l"/>
                <a:r>
                  <a:rPr lang="en-US" altLang="zh-CN" sz="3198" dirty="0">
                    <a:solidFill>
                      <a:srgbClr val="FF9900"/>
                    </a:solidFill>
                    <a:latin typeface="Impact" panose="020B0806030902050204" pitchFamily="34" charset="0"/>
                    <a:ea typeface="微软雅黑" panose="020B0503020204020204" pitchFamily="34" charset="-122"/>
                  </a:rPr>
                  <a:t>05</a:t>
                </a:r>
                <a:endParaRPr lang="zh-CN" altLang="en-US" sz="3198" dirty="0">
                  <a:solidFill>
                    <a:srgbClr val="FF9900"/>
                  </a:solidFill>
                  <a:latin typeface="微软雅黑" panose="020B0503020204020204" pitchFamily="34" charset="-122"/>
                  <a:ea typeface="微软雅黑" panose="020B0503020204020204" pitchFamily="34" charset="-122"/>
                </a:endParaRPr>
              </a:p>
            </p:txBody>
          </p:sp>
          <p:sp>
            <p:nvSpPr>
              <p:cNvPr id="44" name="文本框 22">
                <a:extLst>
                  <a:ext uri="{FF2B5EF4-FFF2-40B4-BE49-F238E27FC236}">
                    <a16:creationId xmlns:a16="http://schemas.microsoft.com/office/drawing/2014/main" id="{70FCE3F2-E320-AB67-247D-FE1982F037E2}"/>
                  </a:ext>
                </a:extLst>
              </p:cNvPr>
              <p:cNvSpPr txBox="1"/>
              <p:nvPr/>
            </p:nvSpPr>
            <p:spPr>
              <a:xfrm>
                <a:off x="6242320" y="151693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grpSp>
      <p:grpSp>
        <p:nvGrpSpPr>
          <p:cNvPr id="45" name="组合 44">
            <a:extLst>
              <a:ext uri="{FF2B5EF4-FFF2-40B4-BE49-F238E27FC236}">
                <a16:creationId xmlns:a16="http://schemas.microsoft.com/office/drawing/2014/main" id="{6A6109A7-54C7-0C55-04EA-285661309E47}"/>
              </a:ext>
            </a:extLst>
          </p:cNvPr>
          <p:cNvGrpSpPr/>
          <p:nvPr/>
        </p:nvGrpSpPr>
        <p:grpSpPr>
          <a:xfrm>
            <a:off x="6592666" y="2609848"/>
            <a:ext cx="4765275" cy="666403"/>
            <a:chOff x="1288061" y="3601244"/>
            <a:chExt cx="4864195" cy="666750"/>
          </a:xfrm>
          <a:solidFill>
            <a:schemeClr val="bg1">
              <a:lumMod val="85000"/>
            </a:schemeClr>
          </a:solidFill>
        </p:grpSpPr>
        <p:sp>
          <p:nvSpPr>
            <p:cNvPr id="46" name="矩形 45">
              <a:extLst>
                <a:ext uri="{FF2B5EF4-FFF2-40B4-BE49-F238E27FC236}">
                  <a16:creationId xmlns:a16="http://schemas.microsoft.com/office/drawing/2014/main" id="{A774B291-D676-BD61-8C15-C046E5A06CB0}"/>
                </a:ext>
              </a:extLst>
            </p:cNvPr>
            <p:cNvSpPr/>
            <p:nvPr/>
          </p:nvSpPr>
          <p:spPr>
            <a:xfrm>
              <a:off x="2060575" y="3601244"/>
              <a:ext cx="3657600"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47" name="组合 46">
              <a:extLst>
                <a:ext uri="{FF2B5EF4-FFF2-40B4-BE49-F238E27FC236}">
                  <a16:creationId xmlns:a16="http://schemas.microsoft.com/office/drawing/2014/main" id="{9279AF91-6539-ACC2-95DC-FF157BE3EE11}"/>
                </a:ext>
              </a:extLst>
            </p:cNvPr>
            <p:cNvGrpSpPr/>
            <p:nvPr/>
          </p:nvGrpSpPr>
          <p:grpSpPr>
            <a:xfrm>
              <a:off x="1288061" y="3623526"/>
              <a:ext cx="590716" cy="631762"/>
              <a:chOff x="6242320" y="2373233"/>
              <a:chExt cx="590408" cy="631762"/>
            </a:xfrm>
            <a:grpFill/>
          </p:grpSpPr>
          <p:sp>
            <p:nvSpPr>
              <p:cNvPr id="50" name="TextBox 6">
                <a:extLst>
                  <a:ext uri="{FF2B5EF4-FFF2-40B4-BE49-F238E27FC236}">
                    <a16:creationId xmlns:a16="http://schemas.microsoft.com/office/drawing/2014/main" id="{36403FAB-9F74-644C-7DAE-166A48DE2973}"/>
                  </a:ext>
                </a:extLst>
              </p:cNvPr>
              <p:cNvSpPr txBox="1"/>
              <p:nvPr/>
            </p:nvSpPr>
            <p:spPr>
              <a:xfrm>
                <a:off x="6327224" y="2373233"/>
                <a:ext cx="448425" cy="492443"/>
              </a:xfrm>
              <a:prstGeom prst="rect">
                <a:avLst/>
              </a:prstGeom>
              <a:grpFill/>
            </p:spPr>
            <p:txBody>
              <a:bodyPr vert="horz" wrap="square" lIns="0" tIns="0" rIns="0" bIns="0" rtlCol="0" anchor="ctr">
                <a:spAutoFit/>
              </a:bodyPr>
              <a:lstStyle/>
              <a:p>
                <a:pPr algn="l"/>
                <a:r>
                  <a:rPr lang="en-US" altLang="zh-CN" sz="3198" dirty="0">
                    <a:solidFill>
                      <a:srgbClr val="01ACBE"/>
                    </a:solidFill>
                    <a:latin typeface="Impact" panose="020B0806030902050204" pitchFamily="34" charset="0"/>
                    <a:ea typeface="微软雅黑" panose="020B0503020204020204" pitchFamily="34" charset="-122"/>
                  </a:rPr>
                  <a:t>06</a:t>
                </a:r>
                <a:endParaRPr lang="zh-CN" altLang="en-US" sz="3198" dirty="0">
                  <a:solidFill>
                    <a:srgbClr val="01ACBE"/>
                  </a:solidFill>
                  <a:latin typeface="微软雅黑" panose="020B0503020204020204" pitchFamily="34" charset="-122"/>
                  <a:ea typeface="微软雅黑" panose="020B0503020204020204" pitchFamily="34" charset="-122"/>
                </a:endParaRPr>
              </a:p>
            </p:txBody>
          </p:sp>
          <p:sp>
            <p:nvSpPr>
              <p:cNvPr id="51" name="文本框 23">
                <a:extLst>
                  <a:ext uri="{FF2B5EF4-FFF2-40B4-BE49-F238E27FC236}">
                    <a16:creationId xmlns:a16="http://schemas.microsoft.com/office/drawing/2014/main" id="{F503EE9A-6FE8-D05C-0163-36512986C064}"/>
                  </a:ext>
                </a:extLst>
              </p:cNvPr>
              <p:cNvSpPr txBox="1"/>
              <p:nvPr/>
            </p:nvSpPr>
            <p:spPr>
              <a:xfrm>
                <a:off x="6242320" y="2789551"/>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sp>
          <p:nvSpPr>
            <p:cNvPr id="48" name="TextBox 19">
              <a:extLst>
                <a:ext uri="{FF2B5EF4-FFF2-40B4-BE49-F238E27FC236}">
                  <a16:creationId xmlns:a16="http://schemas.microsoft.com/office/drawing/2014/main" id="{68623829-9BC3-FB28-9D28-59756B83923A}"/>
                </a:ext>
              </a:extLst>
            </p:cNvPr>
            <p:cNvSpPr txBox="1"/>
            <p:nvPr/>
          </p:nvSpPr>
          <p:spPr>
            <a:xfrm>
              <a:off x="2151869" y="3623151"/>
              <a:ext cx="3185304" cy="460767"/>
            </a:xfrm>
            <a:prstGeom prst="rect">
              <a:avLst/>
            </a:prstGeom>
            <a:grpFill/>
          </p:spPr>
          <p:txBody>
            <a:bodyPr wrap="square" rtlCol="0">
              <a:spAutoFit/>
            </a:bodyPr>
            <a:lstStyle/>
            <a:p>
              <a:pPr>
                <a:lnSpc>
                  <a:spcPct val="130000"/>
                </a:lnSpc>
              </a:pPr>
              <a:r>
                <a:rPr lang="zh-CN" altLang="en-US" sz="1999" dirty="0"/>
                <a:t>三个世界及其有关概念</a:t>
              </a:r>
            </a:p>
          </p:txBody>
        </p:sp>
        <p:cxnSp>
          <p:nvCxnSpPr>
            <p:cNvPr id="49" name="直接连接符 48">
              <a:extLst>
                <a:ext uri="{FF2B5EF4-FFF2-40B4-BE49-F238E27FC236}">
                  <a16:creationId xmlns:a16="http://schemas.microsoft.com/office/drawing/2014/main" id="{3D6347CA-2E10-045D-5A96-42F262ECBA3B}"/>
                </a:ext>
              </a:extLst>
            </p:cNvPr>
            <p:cNvCxnSpPr>
              <a:cxnSpLocks/>
            </p:cNvCxnSpPr>
            <p:nvPr/>
          </p:nvCxnSpPr>
          <p:spPr bwMode="auto">
            <a:xfrm>
              <a:off x="1374775" y="4267994"/>
              <a:ext cx="4777481" cy="0"/>
            </a:xfrm>
            <a:prstGeom prst="line">
              <a:avLst/>
            </a:prstGeom>
            <a:grpFill/>
            <a:ln w="28575" cap="flat" cmpd="sng" algn="ctr">
              <a:solidFill>
                <a:srgbClr val="00DBD6"/>
              </a:solidFill>
              <a:prstDash val="solid"/>
              <a:round/>
              <a:headEnd type="none" w="med" len="med"/>
              <a:tailEnd type="none" w="med" len="med"/>
            </a:ln>
            <a:effectLst/>
          </p:spPr>
        </p:cxnSp>
      </p:grpSp>
      <p:grpSp>
        <p:nvGrpSpPr>
          <p:cNvPr id="52" name="组合 51">
            <a:extLst>
              <a:ext uri="{FF2B5EF4-FFF2-40B4-BE49-F238E27FC236}">
                <a16:creationId xmlns:a16="http://schemas.microsoft.com/office/drawing/2014/main" id="{527455A1-BD39-580C-D066-05860EADFF43}"/>
              </a:ext>
            </a:extLst>
          </p:cNvPr>
          <p:cNvGrpSpPr/>
          <p:nvPr/>
        </p:nvGrpSpPr>
        <p:grpSpPr>
          <a:xfrm>
            <a:off x="6592666" y="3623733"/>
            <a:ext cx="4765275" cy="667683"/>
            <a:chOff x="1288061" y="4615657"/>
            <a:chExt cx="4864195" cy="668031"/>
          </a:xfrm>
          <a:solidFill>
            <a:schemeClr val="bg1">
              <a:lumMod val="85000"/>
            </a:schemeClr>
          </a:solidFill>
        </p:grpSpPr>
        <p:grpSp>
          <p:nvGrpSpPr>
            <p:cNvPr id="53" name="组合 52">
              <a:extLst>
                <a:ext uri="{FF2B5EF4-FFF2-40B4-BE49-F238E27FC236}">
                  <a16:creationId xmlns:a16="http://schemas.microsoft.com/office/drawing/2014/main" id="{E49EA304-67AD-B81E-0754-8098915E4CD6}"/>
                </a:ext>
              </a:extLst>
            </p:cNvPr>
            <p:cNvGrpSpPr/>
            <p:nvPr/>
          </p:nvGrpSpPr>
          <p:grpSpPr>
            <a:xfrm>
              <a:off x="1288061" y="4615657"/>
              <a:ext cx="4864195" cy="668031"/>
              <a:chOff x="1288061" y="4615657"/>
              <a:chExt cx="4864195" cy="668031"/>
            </a:xfrm>
            <a:grpFill/>
          </p:grpSpPr>
          <p:sp>
            <p:nvSpPr>
              <p:cNvPr id="55" name="矩形 54">
                <a:extLst>
                  <a:ext uri="{FF2B5EF4-FFF2-40B4-BE49-F238E27FC236}">
                    <a16:creationId xmlns:a16="http://schemas.microsoft.com/office/drawing/2014/main" id="{EF4A1B32-A40A-5557-0BF9-F356A719A883}"/>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56" name="组合 55">
                <a:extLst>
                  <a:ext uri="{FF2B5EF4-FFF2-40B4-BE49-F238E27FC236}">
                    <a16:creationId xmlns:a16="http://schemas.microsoft.com/office/drawing/2014/main" id="{9BD825D1-F17E-35A5-ED3B-DDFCA8C89E97}"/>
                  </a:ext>
                </a:extLst>
              </p:cNvPr>
              <p:cNvGrpSpPr/>
              <p:nvPr/>
            </p:nvGrpSpPr>
            <p:grpSpPr>
              <a:xfrm>
                <a:off x="1288061" y="4635789"/>
                <a:ext cx="590716" cy="620494"/>
                <a:chOff x="6242320" y="3640739"/>
                <a:chExt cx="590408" cy="620494"/>
              </a:xfrm>
              <a:grpFill/>
            </p:grpSpPr>
            <p:sp>
              <p:nvSpPr>
                <p:cNvPr id="58" name="TextBox 6">
                  <a:extLst>
                    <a:ext uri="{FF2B5EF4-FFF2-40B4-BE49-F238E27FC236}">
                      <a16:creationId xmlns:a16="http://schemas.microsoft.com/office/drawing/2014/main" id="{7B60DEEF-369C-B65F-FA3F-2ABABB4E0C94}"/>
                    </a:ext>
                  </a:extLst>
                </p:cNvPr>
                <p:cNvSpPr txBox="1"/>
                <p:nvPr/>
              </p:nvSpPr>
              <p:spPr>
                <a:xfrm>
                  <a:off x="6327224" y="3640739"/>
                  <a:ext cx="448425" cy="492443"/>
                </a:xfrm>
                <a:prstGeom prst="rect">
                  <a:avLst/>
                </a:prstGeom>
                <a:grpFill/>
              </p:spPr>
              <p:txBody>
                <a:bodyPr vert="horz" wrap="square" lIns="0" tIns="0" rIns="0" bIns="0" rtlCol="0" anchor="ctr">
                  <a:spAutoFit/>
                </a:bodyPr>
                <a:lstStyle/>
                <a:p>
                  <a:pPr algn="l"/>
                  <a:r>
                    <a:rPr lang="en-US" altLang="zh-CN" sz="3198" dirty="0">
                      <a:solidFill>
                        <a:srgbClr val="00B050"/>
                      </a:solidFill>
                      <a:latin typeface="Impact" panose="020B0806030902050204" pitchFamily="34" charset="0"/>
                      <a:ea typeface="微软雅黑" panose="020B0503020204020204" pitchFamily="34" charset="-122"/>
                    </a:rPr>
                    <a:t>07</a:t>
                  </a:r>
                  <a:endParaRPr lang="zh-CN" altLang="en-US" sz="3198" dirty="0">
                    <a:solidFill>
                      <a:srgbClr val="00B050"/>
                    </a:solidFill>
                    <a:latin typeface="微软雅黑" panose="020B0503020204020204" pitchFamily="34" charset="-122"/>
                    <a:ea typeface="微软雅黑" panose="020B0503020204020204" pitchFamily="34" charset="-122"/>
                  </a:endParaRPr>
                </a:p>
              </p:txBody>
            </p:sp>
            <p:sp>
              <p:nvSpPr>
                <p:cNvPr id="59" name="文本框 24">
                  <a:extLst>
                    <a:ext uri="{FF2B5EF4-FFF2-40B4-BE49-F238E27FC236}">
                      <a16:creationId xmlns:a16="http://schemas.microsoft.com/office/drawing/2014/main" id="{687414D9-6232-923F-95AD-65182CB2E207}"/>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57" name="直接连接符 56">
                <a:extLst>
                  <a:ext uri="{FF2B5EF4-FFF2-40B4-BE49-F238E27FC236}">
                    <a16:creationId xmlns:a16="http://schemas.microsoft.com/office/drawing/2014/main" id="{12006A83-06F4-1852-D807-24714B1EEAC9}"/>
                  </a:ext>
                </a:extLst>
              </p:cNvPr>
              <p:cNvCxnSpPr>
                <a:cxnSpLocks/>
              </p:cNvCxnSpPr>
              <p:nvPr/>
            </p:nvCxnSpPr>
            <p:spPr bwMode="auto">
              <a:xfrm>
                <a:off x="1374775" y="5283688"/>
                <a:ext cx="4777481" cy="0"/>
              </a:xfrm>
              <a:prstGeom prst="line">
                <a:avLst/>
              </a:prstGeom>
              <a:grpFill/>
              <a:ln w="28575" cap="flat" cmpd="sng" algn="ctr">
                <a:solidFill>
                  <a:srgbClr val="FF8181"/>
                </a:solidFill>
                <a:prstDash val="solid"/>
                <a:round/>
                <a:headEnd type="none" w="med" len="med"/>
                <a:tailEnd type="none" w="med" len="med"/>
              </a:ln>
              <a:effectLst/>
            </p:spPr>
          </p:cxnSp>
        </p:grpSp>
        <p:sp>
          <p:nvSpPr>
            <p:cNvPr id="54" name="TextBox 20">
              <a:extLst>
                <a:ext uri="{FF2B5EF4-FFF2-40B4-BE49-F238E27FC236}">
                  <a16:creationId xmlns:a16="http://schemas.microsoft.com/office/drawing/2014/main" id="{D18423D1-05B2-74F9-6A16-223FE90864ED}"/>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数据模型的分类</a:t>
              </a:r>
            </a:p>
          </p:txBody>
        </p:sp>
      </p:grpSp>
      <p:grpSp>
        <p:nvGrpSpPr>
          <p:cNvPr id="60" name="组合 59">
            <a:extLst>
              <a:ext uri="{FF2B5EF4-FFF2-40B4-BE49-F238E27FC236}">
                <a16:creationId xmlns:a16="http://schemas.microsoft.com/office/drawing/2014/main" id="{FAB23E9C-3482-7663-E191-CBCF89D9DBAF}"/>
              </a:ext>
            </a:extLst>
          </p:cNvPr>
          <p:cNvGrpSpPr/>
          <p:nvPr/>
        </p:nvGrpSpPr>
        <p:grpSpPr>
          <a:xfrm>
            <a:off x="6615088" y="4715326"/>
            <a:ext cx="4742853" cy="667683"/>
            <a:chOff x="1288061" y="4615657"/>
            <a:chExt cx="4841307" cy="668031"/>
          </a:xfrm>
          <a:solidFill>
            <a:schemeClr val="bg1">
              <a:lumMod val="85000"/>
            </a:schemeClr>
          </a:solidFill>
        </p:grpSpPr>
        <p:grpSp>
          <p:nvGrpSpPr>
            <p:cNvPr id="61" name="组合 60">
              <a:extLst>
                <a:ext uri="{FF2B5EF4-FFF2-40B4-BE49-F238E27FC236}">
                  <a16:creationId xmlns:a16="http://schemas.microsoft.com/office/drawing/2014/main" id="{A0BCB609-1155-B388-4F03-AA95492995A2}"/>
                </a:ext>
              </a:extLst>
            </p:cNvPr>
            <p:cNvGrpSpPr/>
            <p:nvPr/>
          </p:nvGrpSpPr>
          <p:grpSpPr>
            <a:xfrm>
              <a:off x="1288061" y="4615657"/>
              <a:ext cx="4841307" cy="668031"/>
              <a:chOff x="1288061" y="4615657"/>
              <a:chExt cx="4841307" cy="668031"/>
            </a:xfrm>
            <a:grpFill/>
          </p:grpSpPr>
          <p:sp>
            <p:nvSpPr>
              <p:cNvPr id="63" name="矩形 62">
                <a:extLst>
                  <a:ext uri="{FF2B5EF4-FFF2-40B4-BE49-F238E27FC236}">
                    <a16:creationId xmlns:a16="http://schemas.microsoft.com/office/drawing/2014/main" id="{5823681A-E560-4952-CCA1-ADA59778BEB4}"/>
                  </a:ext>
                </a:extLst>
              </p:cNvPr>
              <p:cNvSpPr/>
              <p:nvPr/>
            </p:nvSpPr>
            <p:spPr>
              <a:xfrm>
                <a:off x="2060574" y="4615657"/>
                <a:ext cx="3657601" cy="533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64" name="组合 63">
                <a:extLst>
                  <a:ext uri="{FF2B5EF4-FFF2-40B4-BE49-F238E27FC236}">
                    <a16:creationId xmlns:a16="http://schemas.microsoft.com/office/drawing/2014/main" id="{A0DCE983-CFF6-9B97-FC1A-80BB2D7D32ED}"/>
                  </a:ext>
                </a:extLst>
              </p:cNvPr>
              <p:cNvGrpSpPr/>
              <p:nvPr/>
            </p:nvGrpSpPr>
            <p:grpSpPr>
              <a:xfrm>
                <a:off x="1288061" y="4635789"/>
                <a:ext cx="590716" cy="620494"/>
                <a:chOff x="6242320" y="3640739"/>
                <a:chExt cx="590408" cy="620494"/>
              </a:xfrm>
              <a:grpFill/>
            </p:grpSpPr>
            <p:sp>
              <p:nvSpPr>
                <p:cNvPr id="66" name="TextBox 6">
                  <a:extLst>
                    <a:ext uri="{FF2B5EF4-FFF2-40B4-BE49-F238E27FC236}">
                      <a16:creationId xmlns:a16="http://schemas.microsoft.com/office/drawing/2014/main" id="{CCFFF344-B00E-FB79-A177-C03F1085A0EC}"/>
                    </a:ext>
                  </a:extLst>
                </p:cNvPr>
                <p:cNvSpPr txBox="1"/>
                <p:nvPr/>
              </p:nvSpPr>
              <p:spPr>
                <a:xfrm>
                  <a:off x="6327224" y="3640739"/>
                  <a:ext cx="448425" cy="492443"/>
                </a:xfrm>
                <a:prstGeom prst="rect">
                  <a:avLst/>
                </a:prstGeom>
                <a:grpFill/>
              </p:spPr>
              <p:txBody>
                <a:bodyPr vert="horz" wrap="square" lIns="0" tIns="0" rIns="0" bIns="0" rtlCol="0" anchor="ctr">
                  <a:spAutoFit/>
                </a:bodyPr>
                <a:lstStyle/>
                <a:p>
                  <a:pPr algn="l"/>
                  <a:r>
                    <a:rPr lang="en-US" altLang="zh-CN" sz="3198" dirty="0">
                      <a:solidFill>
                        <a:schemeClr val="accent5">
                          <a:lumMod val="60000"/>
                          <a:lumOff val="40000"/>
                        </a:schemeClr>
                      </a:solidFill>
                      <a:latin typeface="Impact" panose="020B0806030902050204" pitchFamily="34" charset="0"/>
                      <a:ea typeface="微软雅黑" panose="020B0503020204020204" pitchFamily="34" charset="-122"/>
                    </a:rPr>
                    <a:t>08</a:t>
                  </a:r>
                  <a:endParaRPr lang="zh-CN" altLang="en-US" sz="3198" dirty="0">
                    <a:solidFill>
                      <a:schemeClr val="accent5">
                        <a:lumMod val="60000"/>
                        <a:lumOff val="40000"/>
                      </a:schemeClr>
                    </a:solidFill>
                    <a:latin typeface="微软雅黑" panose="020B0503020204020204" pitchFamily="34" charset="-122"/>
                    <a:ea typeface="微软雅黑" panose="020B0503020204020204" pitchFamily="34" charset="-122"/>
                  </a:endParaRPr>
                </a:p>
              </p:txBody>
            </p:sp>
            <p:sp>
              <p:nvSpPr>
                <p:cNvPr id="67" name="文本框 24">
                  <a:extLst>
                    <a:ext uri="{FF2B5EF4-FFF2-40B4-BE49-F238E27FC236}">
                      <a16:creationId xmlns:a16="http://schemas.microsoft.com/office/drawing/2014/main" id="{B2FBCE87-9B7A-43FD-D81D-205CE9D6B68D}"/>
                    </a:ext>
                  </a:extLst>
                </p:cNvPr>
                <p:cNvSpPr txBox="1"/>
                <p:nvPr/>
              </p:nvSpPr>
              <p:spPr>
                <a:xfrm>
                  <a:off x="6242320" y="4045789"/>
                  <a:ext cx="590408" cy="215444"/>
                </a:xfrm>
                <a:prstGeom prst="rect">
                  <a:avLst/>
                </a:prstGeom>
                <a:grp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65" name="直接连接符 64">
                <a:extLst>
                  <a:ext uri="{FF2B5EF4-FFF2-40B4-BE49-F238E27FC236}">
                    <a16:creationId xmlns:a16="http://schemas.microsoft.com/office/drawing/2014/main" id="{16FDBA99-5829-7891-7061-9636796884EB}"/>
                  </a:ext>
                </a:extLst>
              </p:cNvPr>
              <p:cNvCxnSpPr>
                <a:cxnSpLocks/>
              </p:cNvCxnSpPr>
              <p:nvPr/>
            </p:nvCxnSpPr>
            <p:spPr bwMode="auto">
              <a:xfrm>
                <a:off x="1374775" y="5283688"/>
                <a:ext cx="4754593" cy="0"/>
              </a:xfrm>
              <a:prstGeom prst="line">
                <a:avLst/>
              </a:prstGeom>
              <a:grpFill/>
              <a:ln w="28575" cap="flat" cmpd="sng" algn="ctr">
                <a:solidFill>
                  <a:srgbClr val="7ABC32"/>
                </a:solidFill>
                <a:prstDash val="solid"/>
                <a:round/>
                <a:headEnd type="none" w="med" len="med"/>
                <a:tailEnd type="none" w="med" len="med"/>
              </a:ln>
              <a:effectLst/>
            </p:spPr>
          </p:cxnSp>
        </p:grpSp>
        <p:sp>
          <p:nvSpPr>
            <p:cNvPr id="62" name="TextBox 20">
              <a:extLst>
                <a:ext uri="{FF2B5EF4-FFF2-40B4-BE49-F238E27FC236}">
                  <a16:creationId xmlns:a16="http://schemas.microsoft.com/office/drawing/2014/main" id="{AA645590-C998-09CB-398C-EF7F1D39B479}"/>
                </a:ext>
              </a:extLst>
            </p:cNvPr>
            <p:cNvSpPr txBox="1"/>
            <p:nvPr/>
          </p:nvSpPr>
          <p:spPr>
            <a:xfrm>
              <a:off x="2151869" y="4696474"/>
              <a:ext cx="3566306" cy="460767"/>
            </a:xfrm>
            <a:prstGeom prst="rect">
              <a:avLst/>
            </a:prstGeom>
            <a:grpFill/>
          </p:spPr>
          <p:txBody>
            <a:bodyPr wrap="square" rtlCol="0">
              <a:spAutoFit/>
            </a:bodyPr>
            <a:lstStyle/>
            <a:p>
              <a:pPr>
                <a:lnSpc>
                  <a:spcPct val="130000"/>
                </a:lnSpc>
              </a:pPr>
              <a:r>
                <a:rPr lang="zh-CN" altLang="en-US" sz="1999" dirty="0"/>
                <a:t>数据库领域的新技术</a:t>
              </a:r>
            </a:p>
          </p:txBody>
        </p:sp>
      </p:grpSp>
    </p:spTree>
    <p:extLst>
      <p:ext uri="{BB962C8B-B14F-4D97-AF65-F5344CB8AC3E}">
        <p14:creationId xmlns:p14="http://schemas.microsoft.com/office/powerpoint/2010/main" val="11863754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782689" y="634375"/>
            <a:ext cx="4170905" cy="590033"/>
          </a:xfrm>
          <a:prstGeom prst="rect">
            <a:avLst/>
          </a:prstGeom>
          <a:noFill/>
        </p:spPr>
        <p:txBody>
          <a:bodyPr wrap="square" rtlCol="0">
            <a:spAutoFit/>
          </a:bodyPr>
          <a:lstStyle/>
          <a:p>
            <a:pPr algn="just">
              <a:lnSpc>
                <a:spcPct val="150000"/>
              </a:lnSpc>
            </a:pPr>
            <a:r>
              <a:rPr lang="en-US" altLang="zh-CN" sz="2400" b="1" dirty="0"/>
              <a:t>1.3.1  </a:t>
            </a:r>
            <a:r>
              <a:rPr lang="zh-CN" altLang="en-US" sz="2400" b="1" dirty="0"/>
              <a:t>数据库系统的组成</a:t>
            </a:r>
          </a:p>
        </p:txBody>
      </p:sp>
      <p:sp>
        <p:nvSpPr>
          <p:cNvPr id="7" name="文本框 6">
            <a:extLst>
              <a:ext uri="{FF2B5EF4-FFF2-40B4-BE49-F238E27FC236}">
                <a16:creationId xmlns:a16="http://schemas.microsoft.com/office/drawing/2014/main" id="{40CD126A-A0E6-862C-3BA9-FC5F59DF11C3}"/>
              </a:ext>
            </a:extLst>
          </p:cNvPr>
          <p:cNvSpPr txBox="1"/>
          <p:nvPr/>
        </p:nvSpPr>
        <p:spPr>
          <a:xfrm>
            <a:off x="782689" y="1270197"/>
            <a:ext cx="10416053" cy="960276"/>
          </a:xfrm>
          <a:prstGeom prst="rect">
            <a:avLst/>
          </a:prstGeom>
          <a:noFill/>
        </p:spPr>
        <p:txBody>
          <a:bodyPr wrap="square" rtlCol="0">
            <a:spAutoFit/>
          </a:bodyPr>
          <a:lstStyle/>
          <a:p>
            <a:pPr marL="342729" indent="-342729" algn="just">
              <a:lnSpc>
                <a:spcPct val="150000"/>
              </a:lnSpc>
              <a:buFont typeface="Wingdings" panose="05000000000000000000" pitchFamily="2" charset="2"/>
              <a:buChar char="ü"/>
            </a:pPr>
            <a:r>
              <a:rPr lang="zh-CN" altLang="en-US" sz="1999" dirty="0"/>
              <a:t>数据库系统（</a:t>
            </a:r>
            <a:r>
              <a:rPr lang="en-US" altLang="zh-CN" sz="1999" dirty="0" err="1"/>
              <a:t>DataBase</a:t>
            </a:r>
            <a:r>
              <a:rPr lang="en-US" altLang="zh-CN" sz="1999" dirty="0"/>
              <a:t> System</a:t>
            </a:r>
            <a:r>
              <a:rPr lang="zh-CN" altLang="en-US" sz="1999" dirty="0"/>
              <a:t>，简称</a:t>
            </a:r>
            <a:r>
              <a:rPr lang="en-US" altLang="zh-CN" sz="1999" dirty="0"/>
              <a:t>DBS</a:t>
            </a:r>
            <a:r>
              <a:rPr lang="zh-CN" altLang="en-US" sz="1999" dirty="0"/>
              <a:t>）由</a:t>
            </a:r>
            <a:r>
              <a:rPr lang="zh-CN" altLang="en-US" sz="1999" dirty="0">
                <a:solidFill>
                  <a:srgbClr val="0070C0"/>
                </a:solidFill>
              </a:rPr>
              <a:t>数据库、数据库用户、计算机硬件系统和计算机软件系统</a:t>
            </a:r>
            <a:r>
              <a:rPr lang="zh-CN" altLang="en-US" sz="1999" dirty="0"/>
              <a:t>组成，可用下图表示（图中省略了计算机硬件系统）。</a:t>
            </a:r>
          </a:p>
        </p:txBody>
      </p:sp>
      <p:sp>
        <p:nvSpPr>
          <p:cNvPr id="6" name="内容占位符 2">
            <a:extLst>
              <a:ext uri="{FF2B5EF4-FFF2-40B4-BE49-F238E27FC236}">
                <a16:creationId xmlns:a16="http://schemas.microsoft.com/office/drawing/2014/main" id="{36D283F2-30BB-4E2C-8FB7-450973D593C1}"/>
              </a:ext>
            </a:extLst>
          </p:cNvPr>
          <p:cNvSpPr>
            <a:spLocks noGrp="1"/>
          </p:cNvSpPr>
          <p:nvPr/>
        </p:nvSpPr>
        <p:spPr>
          <a:xfrm>
            <a:off x="1003283" y="2715027"/>
            <a:ext cx="7286475" cy="3079353"/>
          </a:xfrm>
          <a:prstGeom prst="rect">
            <a:avLst/>
          </a:prstGeom>
          <a:ln>
            <a:solidFill>
              <a:schemeClr val="accent3"/>
            </a:solidFill>
          </a:ln>
        </p:spPr>
        <p:txBody>
          <a:bodyPr vert="horz" lIns="86699" tIns="43349" rIns="86699" bIns="43349" rtlCol="0">
            <a:normAutofit/>
          </a:bodyPr>
          <a:lstStyle>
            <a:lvl1pPr marL="0" indent="0" algn="l" defTabSz="914400" rtl="0" eaLnBrk="1" latinLnBrk="0" hangingPunct="1">
              <a:lnSpc>
                <a:spcPct val="120000"/>
              </a:lnSpc>
              <a:spcBef>
                <a:spcPts val="1000"/>
              </a:spcBef>
              <a:spcAft>
                <a:spcPts val="600"/>
              </a:spcAft>
              <a:buFont typeface="Arial" panose="020B0604020202020204" pitchFamily="34" charset="0"/>
              <a:buNone/>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spcAft>
                <a:spcPts val="60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spcAft>
                <a:spcPts val="600"/>
              </a:spcAft>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spcAft>
                <a:spcPts val="600"/>
              </a:spcAft>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5103" indent="-325103">
              <a:lnSpc>
                <a:spcPct val="150000"/>
              </a:lnSpc>
              <a:buFont typeface="Wingdings" panose="05000000000000000000" pitchFamily="2" charset="2"/>
              <a:buChar char="Ø"/>
            </a:pPr>
            <a:r>
              <a:rPr lang="zh-CN" altLang="en-US" sz="1600" dirty="0">
                <a:latin typeface="Arial" panose="020B0604020202020204" pitchFamily="34" charset="0"/>
                <a:ea typeface="Microsoft YaHei" panose="020B0503020204020204" pitchFamily="34" charset="-122"/>
                <a:sym typeface="Arial" panose="020B0604020202020204" pitchFamily="34" charset="0"/>
              </a:rPr>
              <a:t>终端用户通过应用程序提供的可视化操作界面进行数据处理工作。</a:t>
            </a:r>
            <a:endParaRPr lang="en-US" altLang="zh-CN" sz="1600" dirty="0">
              <a:latin typeface="Arial" panose="020B0604020202020204" pitchFamily="34" charset="0"/>
              <a:ea typeface="Microsoft YaHei" panose="020B0503020204020204" pitchFamily="34" charset="-122"/>
              <a:sym typeface="Arial" panose="020B0604020202020204" pitchFamily="34" charset="0"/>
            </a:endParaRPr>
          </a:p>
          <a:p>
            <a:pPr marL="325103" indent="-325103">
              <a:lnSpc>
                <a:spcPct val="150000"/>
              </a:lnSpc>
              <a:buFont typeface="Wingdings" panose="05000000000000000000" pitchFamily="2" charset="2"/>
              <a:buChar char="Ø"/>
            </a:pPr>
            <a:r>
              <a:rPr lang="zh-CN" altLang="en-US" sz="1600" dirty="0">
                <a:latin typeface="Arial" panose="020B0604020202020204" pitchFamily="34" charset="0"/>
                <a:ea typeface="Microsoft YaHei" panose="020B0503020204020204" pitchFamily="34" charset="-122"/>
                <a:sym typeface="Arial" panose="020B0604020202020204" pitchFamily="34" charset="0"/>
              </a:rPr>
              <a:t>程序员使用程序开发工具开发应用程序。</a:t>
            </a:r>
            <a:endParaRPr lang="en-US" altLang="zh-CN" sz="1600" dirty="0">
              <a:latin typeface="Arial" panose="020B0604020202020204" pitchFamily="34" charset="0"/>
              <a:ea typeface="Microsoft YaHei" panose="020B0503020204020204" pitchFamily="34" charset="-122"/>
              <a:sym typeface="Arial" panose="020B0604020202020204" pitchFamily="34" charset="0"/>
            </a:endParaRPr>
          </a:p>
          <a:p>
            <a:pPr marL="325103" lvl="1" indent="-325103">
              <a:lnSpc>
                <a:spcPct val="150000"/>
              </a:lnSpc>
              <a:spcBef>
                <a:spcPts val="948"/>
              </a:spcBef>
              <a:buFont typeface="Wingdings" panose="05000000000000000000" pitchFamily="2" charset="2"/>
              <a:buChar char="Ø"/>
            </a:pPr>
            <a:r>
              <a:rPr lang="zh-CN" altLang="en-US" sz="1600" dirty="0">
                <a:latin typeface="Arial" panose="020B0604020202020204" pitchFamily="34" charset="0"/>
                <a:ea typeface="Microsoft YaHei" panose="020B0503020204020204" pitchFamily="34" charset="-122"/>
                <a:sym typeface="Arial" panose="020B0604020202020204" pitchFamily="34" charset="0"/>
              </a:rPr>
              <a:t>应用程序开发工具：</a:t>
            </a:r>
            <a:r>
              <a:rPr lang="en-US" altLang="zh-CN" sz="1600" dirty="0">
                <a:latin typeface="Arial" panose="020B0604020202020204" pitchFamily="34" charset="0"/>
                <a:ea typeface="Microsoft YaHei" panose="020B0503020204020204" pitchFamily="34" charset="-122"/>
                <a:sym typeface="Arial" panose="020B0604020202020204" pitchFamily="34" charset="0"/>
              </a:rPr>
              <a:t>Java</a:t>
            </a:r>
            <a:r>
              <a:rPr lang="zh-CN" altLang="en-US" sz="1600" dirty="0">
                <a:latin typeface="Arial" panose="020B0604020202020204" pitchFamily="34" charset="0"/>
                <a:ea typeface="Microsoft YaHei" panose="020B0503020204020204" pitchFamily="34" charset="-122"/>
                <a:sym typeface="Arial" panose="020B0604020202020204" pitchFamily="34" charset="0"/>
              </a:rPr>
              <a:t>、</a:t>
            </a:r>
            <a:r>
              <a:rPr lang="en-US" altLang="zh-CN" sz="1600" dirty="0">
                <a:latin typeface="Arial" panose="020B0604020202020204" pitchFamily="34" charset="0"/>
                <a:ea typeface="Microsoft YaHei" panose="020B0503020204020204" pitchFamily="34" charset="-122"/>
                <a:sym typeface="Arial" panose="020B0604020202020204" pitchFamily="34" charset="0"/>
              </a:rPr>
              <a:t>C#</a:t>
            </a:r>
            <a:r>
              <a:rPr lang="zh-CN" altLang="en-US" sz="1600" dirty="0">
                <a:latin typeface="Arial" panose="020B0604020202020204" pitchFamily="34" charset="0"/>
                <a:ea typeface="Microsoft YaHei" panose="020B0503020204020204" pitchFamily="34" charset="-122"/>
                <a:sym typeface="Arial" panose="020B0604020202020204" pitchFamily="34" charset="0"/>
              </a:rPr>
              <a:t>、</a:t>
            </a:r>
            <a:r>
              <a:rPr lang="en-US" altLang="zh-CN" sz="1600" dirty="0">
                <a:latin typeface="Arial" panose="020B0604020202020204" pitchFamily="34" charset="0"/>
                <a:ea typeface="Microsoft YaHei" panose="020B0503020204020204" pitchFamily="34" charset="-122"/>
                <a:sym typeface="Arial" panose="020B0604020202020204" pitchFamily="34" charset="0"/>
              </a:rPr>
              <a:t>Python</a:t>
            </a:r>
            <a:r>
              <a:rPr lang="zh-CN" altLang="en-US" sz="1600" dirty="0">
                <a:latin typeface="Arial" panose="020B0604020202020204" pitchFamily="34" charset="0"/>
                <a:ea typeface="Microsoft YaHei" panose="020B0503020204020204" pitchFamily="34" charset="-122"/>
                <a:sym typeface="Arial" panose="020B0604020202020204" pitchFamily="34" charset="0"/>
              </a:rPr>
              <a:t>、</a:t>
            </a:r>
            <a:r>
              <a:rPr lang="en-US" altLang="zh-CN" sz="1600" dirty="0">
                <a:latin typeface="Arial" panose="020B0604020202020204" pitchFamily="34" charset="0"/>
                <a:ea typeface="Microsoft YaHei" panose="020B0503020204020204" pitchFamily="34" charset="-122"/>
                <a:sym typeface="Arial" panose="020B0604020202020204" pitchFamily="34" charset="0"/>
              </a:rPr>
              <a:t>JSP</a:t>
            </a:r>
            <a:r>
              <a:rPr lang="zh-CN" altLang="en-US" sz="1600" dirty="0">
                <a:latin typeface="Arial" panose="020B0604020202020204" pitchFamily="34" charset="0"/>
                <a:ea typeface="Microsoft YaHei" panose="020B0503020204020204" pitchFamily="34" charset="-122"/>
                <a:sym typeface="Arial" panose="020B0604020202020204" pitchFamily="34" charset="0"/>
              </a:rPr>
              <a:t>、</a:t>
            </a:r>
            <a:r>
              <a:rPr lang="en-US" altLang="zh-CN" sz="1600" dirty="0">
                <a:latin typeface="Arial" panose="020B0604020202020204" pitchFamily="34" charset="0"/>
                <a:ea typeface="Microsoft YaHei" panose="020B0503020204020204" pitchFamily="34" charset="-122"/>
                <a:sym typeface="Arial" panose="020B0604020202020204" pitchFamily="34" charset="0"/>
              </a:rPr>
              <a:t>PHP…</a:t>
            </a:r>
          </a:p>
          <a:p>
            <a:pPr marL="325103" lvl="1" indent="-325103">
              <a:lnSpc>
                <a:spcPct val="150000"/>
              </a:lnSpc>
              <a:spcBef>
                <a:spcPts val="948"/>
              </a:spcBef>
              <a:buFont typeface="Wingdings" panose="05000000000000000000" pitchFamily="2" charset="2"/>
              <a:buChar char="Ø"/>
            </a:pPr>
            <a:r>
              <a:rPr lang="zh-CN" altLang="en-US" sz="1600" dirty="0">
                <a:latin typeface="Arial" panose="020B0604020202020204" pitchFamily="34" charset="0"/>
                <a:ea typeface="Microsoft YaHei" panose="020B0503020204020204" pitchFamily="34" charset="-122"/>
                <a:sym typeface="Arial" panose="020B0604020202020204" pitchFamily="34" charset="0"/>
              </a:rPr>
              <a:t>数据库管理系统：</a:t>
            </a:r>
            <a:r>
              <a:rPr lang="en-US" altLang="zh-CN" sz="1600" dirty="0">
                <a:latin typeface="Arial" panose="020B0604020202020204" pitchFamily="34" charset="0"/>
                <a:ea typeface="Microsoft YaHei" panose="020B0503020204020204" pitchFamily="34" charset="-122"/>
                <a:sym typeface="Arial" panose="020B0604020202020204" pitchFamily="34" charset="0"/>
              </a:rPr>
              <a:t>Oracle DB</a:t>
            </a:r>
            <a:r>
              <a:rPr lang="zh-CN" altLang="en-US" sz="1600" dirty="0">
                <a:latin typeface="Arial" panose="020B0604020202020204" pitchFamily="34" charset="0"/>
                <a:ea typeface="Microsoft YaHei" panose="020B0503020204020204" pitchFamily="34" charset="-122"/>
                <a:sym typeface="Arial" panose="020B0604020202020204" pitchFamily="34" charset="0"/>
              </a:rPr>
              <a:t>、</a:t>
            </a:r>
            <a:r>
              <a:rPr lang="en-US" altLang="zh-CN" sz="1600" dirty="0">
                <a:latin typeface="Arial" panose="020B0604020202020204" pitchFamily="34" charset="0"/>
                <a:ea typeface="Microsoft YaHei" panose="020B0503020204020204" pitchFamily="34" charset="-122"/>
                <a:sym typeface="Arial" panose="020B0604020202020204" pitchFamily="34" charset="0"/>
              </a:rPr>
              <a:t>DB2</a:t>
            </a:r>
            <a:r>
              <a:rPr lang="zh-CN" altLang="en-US" sz="1600" dirty="0">
                <a:latin typeface="Arial" panose="020B0604020202020204" pitchFamily="34" charset="0"/>
                <a:ea typeface="Microsoft YaHei" panose="020B0503020204020204" pitchFamily="34" charset="-122"/>
                <a:sym typeface="Arial" panose="020B0604020202020204" pitchFamily="34" charset="0"/>
              </a:rPr>
              <a:t>、</a:t>
            </a:r>
            <a:r>
              <a:rPr lang="en-US" altLang="zh-CN" sz="1600" dirty="0">
                <a:latin typeface="Arial" panose="020B0604020202020204" pitchFamily="34" charset="0"/>
                <a:ea typeface="Microsoft YaHei" panose="020B0503020204020204" pitchFamily="34" charset="-122"/>
                <a:sym typeface="Arial" panose="020B0604020202020204" pitchFamily="34" charset="0"/>
              </a:rPr>
              <a:t>MySQL…</a:t>
            </a:r>
          </a:p>
          <a:p>
            <a:pPr marL="325103" lvl="1" indent="-325103">
              <a:lnSpc>
                <a:spcPct val="150000"/>
              </a:lnSpc>
              <a:spcBef>
                <a:spcPts val="948"/>
              </a:spcBef>
              <a:buFont typeface="Wingdings" panose="05000000000000000000" pitchFamily="2" charset="2"/>
              <a:buChar char="Ø"/>
            </a:pPr>
            <a:r>
              <a:rPr lang="zh-CN" altLang="en-US" sz="1600" dirty="0">
                <a:latin typeface="Arial" panose="020B0604020202020204" pitchFamily="34" charset="0"/>
                <a:ea typeface="Microsoft YaHei" panose="020B0503020204020204" pitchFamily="34" charset="-122"/>
                <a:sym typeface="Arial" panose="020B0604020202020204" pitchFamily="34" charset="0"/>
              </a:rPr>
              <a:t>操作系统：</a:t>
            </a:r>
            <a:r>
              <a:rPr lang="en-US" altLang="zh-CN" sz="1600" dirty="0">
                <a:latin typeface="Arial" panose="020B0604020202020204" pitchFamily="34" charset="0"/>
                <a:ea typeface="Microsoft YaHei" panose="020B0503020204020204" pitchFamily="34" charset="-122"/>
                <a:sym typeface="Arial" panose="020B0604020202020204" pitchFamily="34" charset="0"/>
              </a:rPr>
              <a:t>Windows</a:t>
            </a:r>
            <a:r>
              <a:rPr lang="zh-CN" altLang="en-US" sz="1600" dirty="0">
                <a:latin typeface="Arial" panose="020B0604020202020204" pitchFamily="34" charset="0"/>
                <a:ea typeface="Microsoft YaHei" panose="020B0503020204020204" pitchFamily="34" charset="-122"/>
                <a:sym typeface="Arial" panose="020B0604020202020204" pitchFamily="34" charset="0"/>
              </a:rPr>
              <a:t>、</a:t>
            </a:r>
            <a:r>
              <a:rPr lang="en-US" altLang="zh-CN" sz="1600" dirty="0">
                <a:latin typeface="Arial" panose="020B0604020202020204" pitchFamily="34" charset="0"/>
                <a:ea typeface="Microsoft YaHei" panose="020B0503020204020204" pitchFamily="34" charset="-122"/>
                <a:sym typeface="Arial" panose="020B0604020202020204" pitchFamily="34" charset="0"/>
              </a:rPr>
              <a:t>UNIX</a:t>
            </a:r>
            <a:r>
              <a:rPr lang="zh-CN" altLang="en-US" sz="1600" dirty="0">
                <a:latin typeface="Arial" panose="020B0604020202020204" pitchFamily="34" charset="0"/>
                <a:ea typeface="Microsoft YaHei" panose="020B0503020204020204" pitchFamily="34" charset="-122"/>
                <a:sym typeface="Arial" panose="020B0604020202020204" pitchFamily="34" charset="0"/>
              </a:rPr>
              <a:t>、</a:t>
            </a:r>
            <a:r>
              <a:rPr lang="en-US" altLang="zh-CN" sz="1600" dirty="0">
                <a:latin typeface="Arial" panose="020B0604020202020204" pitchFamily="34" charset="0"/>
                <a:ea typeface="Microsoft YaHei" panose="020B0503020204020204" pitchFamily="34" charset="-122"/>
                <a:sym typeface="Arial" panose="020B0604020202020204" pitchFamily="34" charset="0"/>
              </a:rPr>
              <a:t>Linux…</a:t>
            </a:r>
            <a:endParaRPr lang="zh-CN" altLang="en-US" sz="1600" dirty="0">
              <a:latin typeface="Arial" panose="020B0604020202020204" pitchFamily="34" charset="0"/>
              <a:ea typeface="Microsoft YaHei" panose="020B0503020204020204" pitchFamily="34" charset="-122"/>
              <a:sym typeface="Arial" panose="020B0604020202020204" pitchFamily="34" charset="0"/>
            </a:endParaRPr>
          </a:p>
          <a:p>
            <a:pPr>
              <a:lnSpc>
                <a:spcPct val="150000"/>
              </a:lnSpc>
            </a:pPr>
            <a:endParaRPr lang="zh-CN" altLang="en-US" sz="1600" dirty="0">
              <a:latin typeface="Arial" panose="020B0604020202020204" pitchFamily="34" charset="0"/>
              <a:ea typeface="Microsoft YaHei" panose="020B0503020204020204" pitchFamily="34" charset="-122"/>
              <a:sym typeface="Arial" panose="020B0604020202020204" pitchFamily="34" charset="0"/>
            </a:endParaRPr>
          </a:p>
        </p:txBody>
      </p:sp>
      <p:grpSp>
        <p:nvGrpSpPr>
          <p:cNvPr id="8" name="组合 7">
            <a:extLst>
              <a:ext uri="{FF2B5EF4-FFF2-40B4-BE49-F238E27FC236}">
                <a16:creationId xmlns:a16="http://schemas.microsoft.com/office/drawing/2014/main" id="{C96C6521-59B0-488D-B66D-8C5C800C130B}"/>
              </a:ext>
            </a:extLst>
          </p:cNvPr>
          <p:cNvGrpSpPr/>
          <p:nvPr/>
        </p:nvGrpSpPr>
        <p:grpSpPr>
          <a:xfrm>
            <a:off x="7808602" y="2283471"/>
            <a:ext cx="3600708" cy="4494283"/>
            <a:chOff x="7206361" y="135162"/>
            <a:chExt cx="4205732" cy="6043885"/>
          </a:xfrm>
        </p:grpSpPr>
        <p:sp>
          <p:nvSpPr>
            <p:cNvPr id="9" name="AutoShape 2">
              <a:extLst>
                <a:ext uri="{FF2B5EF4-FFF2-40B4-BE49-F238E27FC236}">
                  <a16:creationId xmlns:a16="http://schemas.microsoft.com/office/drawing/2014/main" id="{16E60FA5-4CC6-4BCC-8081-63528F2D0E13}"/>
                </a:ext>
              </a:extLst>
            </p:cNvPr>
            <p:cNvSpPr>
              <a:spLocks noChangeArrowheads="1"/>
            </p:cNvSpPr>
            <p:nvPr/>
          </p:nvSpPr>
          <p:spPr bwMode="auto">
            <a:xfrm>
              <a:off x="7968361" y="1430562"/>
              <a:ext cx="1676400" cy="457200"/>
            </a:xfrm>
            <a:prstGeom prst="hexagon">
              <a:avLst>
                <a:gd name="adj" fmla="val 91667"/>
                <a:gd name="vf" fmla="val 115470"/>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应用程序</a:t>
              </a:r>
            </a:p>
          </p:txBody>
        </p:sp>
        <p:sp>
          <p:nvSpPr>
            <p:cNvPr id="10" name="AutoShape 3">
              <a:extLst>
                <a:ext uri="{FF2B5EF4-FFF2-40B4-BE49-F238E27FC236}">
                  <a16:creationId xmlns:a16="http://schemas.microsoft.com/office/drawing/2014/main" id="{8EE0251A-1718-482A-901C-DE8A9CDE6913}"/>
                </a:ext>
              </a:extLst>
            </p:cNvPr>
            <p:cNvSpPr>
              <a:spLocks noChangeArrowheads="1"/>
            </p:cNvSpPr>
            <p:nvPr/>
          </p:nvSpPr>
          <p:spPr bwMode="auto">
            <a:xfrm>
              <a:off x="8196961" y="4935763"/>
              <a:ext cx="1295400" cy="685800"/>
            </a:xfrm>
            <a:prstGeom prst="can">
              <a:avLst>
                <a:gd name="adj" fmla="val 25000"/>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DB</a:t>
              </a:r>
            </a:p>
          </p:txBody>
        </p:sp>
        <p:sp>
          <p:nvSpPr>
            <p:cNvPr id="11" name="Rectangle 4">
              <a:extLst>
                <a:ext uri="{FF2B5EF4-FFF2-40B4-BE49-F238E27FC236}">
                  <a16:creationId xmlns:a16="http://schemas.microsoft.com/office/drawing/2014/main" id="{BAD3B9B0-75C9-4D5F-97B4-C0C1433C1685}"/>
                </a:ext>
              </a:extLst>
            </p:cNvPr>
            <p:cNvSpPr>
              <a:spLocks noChangeArrowheads="1"/>
            </p:cNvSpPr>
            <p:nvPr/>
          </p:nvSpPr>
          <p:spPr bwMode="auto">
            <a:xfrm>
              <a:off x="7206361" y="135162"/>
              <a:ext cx="1066800" cy="457200"/>
            </a:xfrm>
            <a:prstGeom prst="rect">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用户</a:t>
              </a:r>
            </a:p>
          </p:txBody>
        </p:sp>
        <p:sp>
          <p:nvSpPr>
            <p:cNvPr id="12" name="AutoShape 6">
              <a:extLst>
                <a:ext uri="{FF2B5EF4-FFF2-40B4-BE49-F238E27FC236}">
                  <a16:creationId xmlns:a16="http://schemas.microsoft.com/office/drawing/2014/main" id="{59D5AC7E-03AB-4A46-A6E8-07E3E28335AA}"/>
                </a:ext>
              </a:extLst>
            </p:cNvPr>
            <p:cNvSpPr>
              <a:spLocks noChangeArrowheads="1"/>
            </p:cNvSpPr>
            <p:nvPr/>
          </p:nvSpPr>
          <p:spPr bwMode="auto">
            <a:xfrm>
              <a:off x="7739761" y="2344962"/>
              <a:ext cx="2209800" cy="457200"/>
            </a:xfrm>
            <a:prstGeom prst="hexagon">
              <a:avLst>
                <a:gd name="adj" fmla="val 120833"/>
                <a:gd name="vf" fmla="val 115470"/>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程序开发工具</a:t>
              </a:r>
            </a:p>
          </p:txBody>
        </p:sp>
        <p:sp>
          <p:nvSpPr>
            <p:cNvPr id="13" name="AutoShape 7">
              <a:extLst>
                <a:ext uri="{FF2B5EF4-FFF2-40B4-BE49-F238E27FC236}">
                  <a16:creationId xmlns:a16="http://schemas.microsoft.com/office/drawing/2014/main" id="{0A733346-8101-46E8-8666-5DCDC9D560D3}"/>
                </a:ext>
              </a:extLst>
            </p:cNvPr>
            <p:cNvSpPr>
              <a:spLocks noChangeArrowheads="1"/>
            </p:cNvSpPr>
            <p:nvPr/>
          </p:nvSpPr>
          <p:spPr bwMode="auto">
            <a:xfrm>
              <a:off x="7968361" y="3259363"/>
              <a:ext cx="1676400" cy="457200"/>
            </a:xfrm>
            <a:prstGeom prst="hexagon">
              <a:avLst>
                <a:gd name="adj" fmla="val 91667"/>
                <a:gd name="vf" fmla="val 115470"/>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DBMS</a:t>
              </a:r>
            </a:p>
          </p:txBody>
        </p:sp>
        <p:sp>
          <p:nvSpPr>
            <p:cNvPr id="14" name="AutoShape 8">
              <a:extLst>
                <a:ext uri="{FF2B5EF4-FFF2-40B4-BE49-F238E27FC236}">
                  <a16:creationId xmlns:a16="http://schemas.microsoft.com/office/drawing/2014/main" id="{5F9E67C5-B9AE-4074-AAE9-1FA849A6AF4C}"/>
                </a:ext>
              </a:extLst>
            </p:cNvPr>
            <p:cNvSpPr>
              <a:spLocks noChangeArrowheads="1"/>
            </p:cNvSpPr>
            <p:nvPr/>
          </p:nvSpPr>
          <p:spPr bwMode="auto">
            <a:xfrm>
              <a:off x="7968361" y="4021363"/>
              <a:ext cx="1676400" cy="457200"/>
            </a:xfrm>
            <a:prstGeom prst="hexagon">
              <a:avLst>
                <a:gd name="adj" fmla="val 91667"/>
                <a:gd name="vf" fmla="val 115470"/>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OS</a:t>
              </a:r>
            </a:p>
          </p:txBody>
        </p:sp>
        <p:sp>
          <p:nvSpPr>
            <p:cNvPr id="15" name="Rectangle 9">
              <a:extLst>
                <a:ext uri="{FF2B5EF4-FFF2-40B4-BE49-F238E27FC236}">
                  <a16:creationId xmlns:a16="http://schemas.microsoft.com/office/drawing/2014/main" id="{D3AA1838-14FE-45A9-84C7-160882A70213}"/>
                </a:ext>
              </a:extLst>
            </p:cNvPr>
            <p:cNvSpPr>
              <a:spLocks noChangeArrowheads="1"/>
            </p:cNvSpPr>
            <p:nvPr/>
          </p:nvSpPr>
          <p:spPr bwMode="auto">
            <a:xfrm>
              <a:off x="8501761" y="135162"/>
              <a:ext cx="914400" cy="457200"/>
            </a:xfrm>
            <a:prstGeom prst="rect">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896" b="1">
                  <a:solidFill>
                    <a:schemeClr val="bg1"/>
                  </a:solidFill>
                  <a:latin typeface="微软雅黑" panose="020B0503020204020204" pitchFamily="34" charset="-122"/>
                  <a:ea typeface="微软雅黑" panose="020B0503020204020204" pitchFamily="34" charset="-122"/>
                  <a:sym typeface="Arial" panose="020B0604020202020204" pitchFamily="34" charset="0"/>
                </a:rPr>
                <a:t>用户</a:t>
              </a:r>
            </a:p>
          </p:txBody>
        </p:sp>
        <p:sp>
          <p:nvSpPr>
            <p:cNvPr id="16" name="Rectangle 10">
              <a:extLst>
                <a:ext uri="{FF2B5EF4-FFF2-40B4-BE49-F238E27FC236}">
                  <a16:creationId xmlns:a16="http://schemas.microsoft.com/office/drawing/2014/main" id="{69534F94-DE0F-4BA4-8F7D-F59F098508EE}"/>
                </a:ext>
              </a:extLst>
            </p:cNvPr>
            <p:cNvSpPr>
              <a:spLocks noChangeArrowheads="1"/>
            </p:cNvSpPr>
            <p:nvPr/>
          </p:nvSpPr>
          <p:spPr bwMode="auto">
            <a:xfrm>
              <a:off x="9644761" y="135162"/>
              <a:ext cx="990600" cy="457200"/>
            </a:xfrm>
            <a:prstGeom prst="rect">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896" b="1">
                  <a:solidFill>
                    <a:schemeClr val="bg1"/>
                  </a:solidFill>
                  <a:latin typeface="微软雅黑" panose="020B0503020204020204" pitchFamily="34" charset="-122"/>
                  <a:ea typeface="微软雅黑" panose="020B0503020204020204" pitchFamily="34" charset="-122"/>
                  <a:sym typeface="Arial" panose="020B0604020202020204" pitchFamily="34" charset="0"/>
                </a:rPr>
                <a:t>用户</a:t>
              </a:r>
            </a:p>
          </p:txBody>
        </p:sp>
        <p:sp>
          <p:nvSpPr>
            <p:cNvPr id="17" name="Rectangle 11">
              <a:extLst>
                <a:ext uri="{FF2B5EF4-FFF2-40B4-BE49-F238E27FC236}">
                  <a16:creationId xmlns:a16="http://schemas.microsoft.com/office/drawing/2014/main" id="{119FA246-DD72-4CFB-B937-11F8F4FDCEF5}"/>
                </a:ext>
              </a:extLst>
            </p:cNvPr>
            <p:cNvSpPr>
              <a:spLocks noChangeArrowheads="1"/>
            </p:cNvSpPr>
            <p:nvPr/>
          </p:nvSpPr>
          <p:spPr bwMode="auto">
            <a:xfrm>
              <a:off x="10241661" y="4173763"/>
              <a:ext cx="1143000" cy="457200"/>
            </a:xfrm>
            <a:prstGeom prst="rect">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DBA</a:t>
              </a:r>
            </a:p>
          </p:txBody>
        </p:sp>
        <p:sp>
          <p:nvSpPr>
            <p:cNvPr id="18" name="Line 14">
              <a:extLst>
                <a:ext uri="{FF2B5EF4-FFF2-40B4-BE49-F238E27FC236}">
                  <a16:creationId xmlns:a16="http://schemas.microsoft.com/office/drawing/2014/main" id="{500B3CC0-C88D-433D-AEFE-3BEDE5E823D0}"/>
                </a:ext>
              </a:extLst>
            </p:cNvPr>
            <p:cNvSpPr>
              <a:spLocks noChangeShapeType="1"/>
            </p:cNvSpPr>
            <p:nvPr/>
          </p:nvSpPr>
          <p:spPr bwMode="auto">
            <a:xfrm>
              <a:off x="7739761" y="592362"/>
              <a:ext cx="609600" cy="838200"/>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Line 15">
              <a:extLst>
                <a:ext uri="{FF2B5EF4-FFF2-40B4-BE49-F238E27FC236}">
                  <a16:creationId xmlns:a16="http://schemas.microsoft.com/office/drawing/2014/main" id="{18EB5791-9408-4AC1-97F3-1215817B0DE1}"/>
                </a:ext>
              </a:extLst>
            </p:cNvPr>
            <p:cNvSpPr>
              <a:spLocks noChangeShapeType="1"/>
            </p:cNvSpPr>
            <p:nvPr/>
          </p:nvSpPr>
          <p:spPr bwMode="auto">
            <a:xfrm flipH="1">
              <a:off x="8806561" y="592362"/>
              <a:ext cx="0" cy="838200"/>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0" name="Line 16">
              <a:extLst>
                <a:ext uri="{FF2B5EF4-FFF2-40B4-BE49-F238E27FC236}">
                  <a16:creationId xmlns:a16="http://schemas.microsoft.com/office/drawing/2014/main" id="{791F6B9E-577B-4A0C-A21C-15B6613EBF6F}"/>
                </a:ext>
              </a:extLst>
            </p:cNvPr>
            <p:cNvSpPr>
              <a:spLocks noChangeShapeType="1"/>
            </p:cNvSpPr>
            <p:nvPr/>
          </p:nvSpPr>
          <p:spPr bwMode="auto">
            <a:xfrm flipH="1">
              <a:off x="9263761" y="592362"/>
              <a:ext cx="762000" cy="838200"/>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Line 17">
              <a:extLst>
                <a:ext uri="{FF2B5EF4-FFF2-40B4-BE49-F238E27FC236}">
                  <a16:creationId xmlns:a16="http://schemas.microsoft.com/office/drawing/2014/main" id="{02DCABFD-B67E-426A-8F97-993A14A651A7}"/>
                </a:ext>
              </a:extLst>
            </p:cNvPr>
            <p:cNvSpPr>
              <a:spLocks noChangeShapeType="1"/>
            </p:cNvSpPr>
            <p:nvPr/>
          </p:nvSpPr>
          <p:spPr bwMode="auto">
            <a:xfrm flipH="1">
              <a:off x="8806561" y="1887762"/>
              <a:ext cx="0" cy="457200"/>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Line 18">
              <a:extLst>
                <a:ext uri="{FF2B5EF4-FFF2-40B4-BE49-F238E27FC236}">
                  <a16:creationId xmlns:a16="http://schemas.microsoft.com/office/drawing/2014/main" id="{80477140-5E69-4F94-9BA3-7D2BE4A67A50}"/>
                </a:ext>
              </a:extLst>
            </p:cNvPr>
            <p:cNvSpPr>
              <a:spLocks noChangeShapeType="1"/>
            </p:cNvSpPr>
            <p:nvPr/>
          </p:nvSpPr>
          <p:spPr bwMode="auto">
            <a:xfrm flipH="1">
              <a:off x="8806561" y="2802162"/>
              <a:ext cx="0" cy="457200"/>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Line 19">
              <a:extLst>
                <a:ext uri="{FF2B5EF4-FFF2-40B4-BE49-F238E27FC236}">
                  <a16:creationId xmlns:a16="http://schemas.microsoft.com/office/drawing/2014/main" id="{9CCC9492-ADA6-42B7-9B88-CEF299C44460}"/>
                </a:ext>
              </a:extLst>
            </p:cNvPr>
            <p:cNvSpPr>
              <a:spLocks noChangeShapeType="1"/>
            </p:cNvSpPr>
            <p:nvPr/>
          </p:nvSpPr>
          <p:spPr bwMode="auto">
            <a:xfrm flipH="1">
              <a:off x="8806561" y="3716563"/>
              <a:ext cx="0" cy="304800"/>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4" name="Line 20">
              <a:extLst>
                <a:ext uri="{FF2B5EF4-FFF2-40B4-BE49-F238E27FC236}">
                  <a16:creationId xmlns:a16="http://schemas.microsoft.com/office/drawing/2014/main" id="{9B82C73D-D622-4E28-878B-CA447F210985}"/>
                </a:ext>
              </a:extLst>
            </p:cNvPr>
            <p:cNvSpPr>
              <a:spLocks noChangeShapeType="1"/>
            </p:cNvSpPr>
            <p:nvPr/>
          </p:nvSpPr>
          <p:spPr bwMode="auto">
            <a:xfrm flipH="1">
              <a:off x="8806561" y="4478563"/>
              <a:ext cx="0" cy="457200"/>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5" name="Line 21">
              <a:extLst>
                <a:ext uri="{FF2B5EF4-FFF2-40B4-BE49-F238E27FC236}">
                  <a16:creationId xmlns:a16="http://schemas.microsoft.com/office/drawing/2014/main" id="{3CF2FB03-D47B-4730-85F8-A6E3F73E5FC3}"/>
                </a:ext>
              </a:extLst>
            </p:cNvPr>
            <p:cNvSpPr>
              <a:spLocks noChangeShapeType="1"/>
            </p:cNvSpPr>
            <p:nvPr/>
          </p:nvSpPr>
          <p:spPr bwMode="auto">
            <a:xfrm flipH="1" flipV="1">
              <a:off x="9644761" y="3487963"/>
              <a:ext cx="596900" cy="684213"/>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 name="Line 23">
              <a:extLst>
                <a:ext uri="{FF2B5EF4-FFF2-40B4-BE49-F238E27FC236}">
                  <a16:creationId xmlns:a16="http://schemas.microsoft.com/office/drawing/2014/main" id="{849CCDB8-2DCD-4E16-B1B9-55FB4E84F7B0}"/>
                </a:ext>
              </a:extLst>
            </p:cNvPr>
            <p:cNvSpPr>
              <a:spLocks noChangeShapeType="1"/>
            </p:cNvSpPr>
            <p:nvPr/>
          </p:nvSpPr>
          <p:spPr bwMode="auto">
            <a:xfrm flipH="1">
              <a:off x="9492361" y="4630963"/>
              <a:ext cx="749300" cy="684213"/>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Text Box 25">
              <a:extLst>
                <a:ext uri="{FF2B5EF4-FFF2-40B4-BE49-F238E27FC236}">
                  <a16:creationId xmlns:a16="http://schemas.microsoft.com/office/drawing/2014/main" id="{27535C04-CA96-4217-A761-41B587B97B50}"/>
                </a:ext>
              </a:extLst>
            </p:cNvPr>
            <p:cNvSpPr txBox="1">
              <a:spLocks noChangeArrowheads="1"/>
            </p:cNvSpPr>
            <p:nvPr/>
          </p:nvSpPr>
          <p:spPr bwMode="auto">
            <a:xfrm>
              <a:off x="7511161" y="5773963"/>
              <a:ext cx="3200400" cy="405084"/>
            </a:xfrm>
            <a:prstGeom prst="rect">
              <a:avLst/>
            </a:prstGeom>
            <a:solidFill>
              <a:srgbClr val="00B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zh-CN" altLang="en-US"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图</a:t>
              </a:r>
              <a:r>
                <a:rPr lang="en-US" altLang="zh-CN"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数据库系统工作架构</a:t>
              </a:r>
              <a:endParaRPr lang="en-US" altLang="zh-CN"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8" name="Rectangle 11">
              <a:extLst>
                <a:ext uri="{FF2B5EF4-FFF2-40B4-BE49-F238E27FC236}">
                  <a16:creationId xmlns:a16="http://schemas.microsoft.com/office/drawing/2014/main" id="{72FB0B85-BC6C-474D-9D38-AF350359B86B}"/>
                </a:ext>
              </a:extLst>
            </p:cNvPr>
            <p:cNvSpPr>
              <a:spLocks noChangeArrowheads="1"/>
            </p:cNvSpPr>
            <p:nvPr/>
          </p:nvSpPr>
          <p:spPr bwMode="auto">
            <a:xfrm>
              <a:off x="10269093" y="1735362"/>
              <a:ext cx="1143000" cy="457200"/>
            </a:xfrm>
            <a:prstGeom prst="rect">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程序员</a:t>
              </a:r>
              <a:endParaRPr lang="en-US" altLang="zh-CN" sz="1896"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Line 21">
              <a:extLst>
                <a:ext uri="{FF2B5EF4-FFF2-40B4-BE49-F238E27FC236}">
                  <a16:creationId xmlns:a16="http://schemas.microsoft.com/office/drawing/2014/main" id="{C02A660E-7A5E-467A-BF9D-02383F6E0AE6}"/>
                </a:ext>
              </a:extLst>
            </p:cNvPr>
            <p:cNvSpPr>
              <a:spLocks noChangeShapeType="1"/>
            </p:cNvSpPr>
            <p:nvPr/>
          </p:nvSpPr>
          <p:spPr bwMode="auto">
            <a:xfrm flipH="1" flipV="1">
              <a:off x="9682861" y="1659161"/>
              <a:ext cx="586232" cy="227013"/>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0" name="Line 23">
              <a:extLst>
                <a:ext uri="{FF2B5EF4-FFF2-40B4-BE49-F238E27FC236}">
                  <a16:creationId xmlns:a16="http://schemas.microsoft.com/office/drawing/2014/main" id="{81B9BA3F-6C24-4818-9C69-DB3C7E6EDAFA}"/>
                </a:ext>
              </a:extLst>
            </p:cNvPr>
            <p:cNvSpPr>
              <a:spLocks noChangeShapeType="1"/>
            </p:cNvSpPr>
            <p:nvPr/>
          </p:nvSpPr>
          <p:spPr bwMode="auto">
            <a:xfrm flipH="1">
              <a:off x="9949561" y="2192562"/>
              <a:ext cx="586232" cy="379262"/>
            </a:xfrm>
            <a:prstGeom prst="line">
              <a:avLst/>
            </a:prstGeom>
            <a:solidFill>
              <a:srgbClr val="00B0F0"/>
            </a:solidFill>
            <a:ln w="381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896">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42457943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782690" y="915709"/>
            <a:ext cx="4170905" cy="580113"/>
          </a:xfrm>
          <a:prstGeom prst="rect">
            <a:avLst/>
          </a:prstGeom>
          <a:noFill/>
        </p:spPr>
        <p:txBody>
          <a:bodyPr wrap="square" rtlCol="0">
            <a:spAutoFit/>
          </a:bodyPr>
          <a:lstStyle/>
          <a:p>
            <a:pPr algn="just" defTabSz="1219225">
              <a:lnSpc>
                <a:spcPct val="150000"/>
              </a:lnSpc>
              <a:defRPr/>
            </a:pPr>
            <a:r>
              <a:rPr lang="en-US" altLang="zh-CN" sz="2399" dirty="0">
                <a:solidFill>
                  <a:prstClr val="black"/>
                </a:solidFill>
                <a:latin typeface="Arial"/>
                <a:ea typeface="微软雅黑"/>
              </a:rPr>
              <a:t>1.3.1  </a:t>
            </a:r>
            <a:r>
              <a:rPr lang="zh-CN" altLang="en-US" sz="2399" dirty="0">
                <a:solidFill>
                  <a:prstClr val="black"/>
                </a:solidFill>
                <a:latin typeface="Arial"/>
                <a:ea typeface="微软雅黑"/>
              </a:rPr>
              <a:t>数据库系统的组成</a:t>
            </a:r>
          </a:p>
        </p:txBody>
      </p:sp>
      <p:sp>
        <p:nvSpPr>
          <p:cNvPr id="7" name="文本框 6">
            <a:extLst>
              <a:ext uri="{FF2B5EF4-FFF2-40B4-BE49-F238E27FC236}">
                <a16:creationId xmlns:a16="http://schemas.microsoft.com/office/drawing/2014/main" id="{40CD126A-A0E6-862C-3BA9-FC5F59DF11C3}"/>
              </a:ext>
            </a:extLst>
          </p:cNvPr>
          <p:cNvSpPr txBox="1"/>
          <p:nvPr/>
        </p:nvSpPr>
        <p:spPr>
          <a:xfrm>
            <a:off x="782689" y="1474505"/>
            <a:ext cx="10339893" cy="2571993"/>
          </a:xfrm>
          <a:prstGeom prst="rect">
            <a:avLst/>
          </a:prstGeom>
          <a:noFill/>
        </p:spPr>
        <p:txBody>
          <a:bodyPr wrap="square" rtlCol="0">
            <a:spAutoFit/>
          </a:bodyPr>
          <a:lstStyle/>
          <a:p>
            <a:pPr marL="456971" indent="-456971" algn="just" defTabSz="1219225">
              <a:lnSpc>
                <a:spcPct val="150000"/>
              </a:lnSpc>
              <a:buAutoNum type="arabicPeriod"/>
              <a:defRPr/>
            </a:pPr>
            <a:r>
              <a:rPr lang="zh-CN" altLang="en-US" sz="1799" dirty="0">
                <a:solidFill>
                  <a:prstClr val="black"/>
                </a:solidFill>
                <a:latin typeface="Arial"/>
                <a:ea typeface="微软雅黑"/>
              </a:rPr>
              <a:t>数据库</a:t>
            </a:r>
            <a:endParaRPr lang="en-US" altLang="zh-CN" sz="1799" dirty="0">
              <a:solidFill>
                <a:prstClr val="black"/>
              </a:solidFill>
              <a:latin typeface="Arial"/>
              <a:ea typeface="微软雅黑"/>
            </a:endParaRPr>
          </a:p>
          <a:p>
            <a:pPr algn="just" defTabSz="1219225">
              <a:lnSpc>
                <a:spcPct val="150000"/>
              </a:lnSpc>
              <a:defRPr/>
            </a:pPr>
            <a:endParaRPr lang="en-US" altLang="zh-CN" sz="1799" dirty="0">
              <a:solidFill>
                <a:prstClr val="black"/>
              </a:solidFill>
              <a:latin typeface="Arial"/>
              <a:ea typeface="微软雅黑"/>
            </a:endParaRPr>
          </a:p>
          <a:p>
            <a:pPr marL="342729" indent="-342729" algn="just" defTabSz="1219225">
              <a:lnSpc>
                <a:spcPct val="150000"/>
              </a:lnSpc>
              <a:buFont typeface="Wingdings" panose="05000000000000000000" pitchFamily="2" charset="2"/>
              <a:buChar char="ü"/>
              <a:defRPr/>
            </a:pPr>
            <a:r>
              <a:rPr lang="zh-CN" altLang="en-US" sz="1799" dirty="0">
                <a:solidFill>
                  <a:prstClr val="black"/>
                </a:solidFill>
                <a:latin typeface="Arial"/>
                <a:ea typeface="微软雅黑"/>
              </a:rPr>
              <a:t>数据库是存储在计算机内、有组织的、可共享的数据和数据对象（如表、视图、存储过程和触发器等）的集合，这种集合按一定的数据模型（或结构）组织、描述并长期存储，同时能以安全和可靠的方法进行数据的检索和存储。</a:t>
            </a:r>
            <a:endParaRPr lang="en-US" altLang="zh-CN" sz="1799" dirty="0">
              <a:solidFill>
                <a:prstClr val="black"/>
              </a:solidFill>
              <a:latin typeface="Arial"/>
              <a:ea typeface="微软雅黑"/>
            </a:endParaRPr>
          </a:p>
          <a:p>
            <a:pPr algn="just">
              <a:lnSpc>
                <a:spcPct val="150000"/>
              </a:lnSpc>
            </a:pPr>
            <a:endParaRPr lang="zh-CN" altLang="en-US" sz="1999" dirty="0">
              <a:solidFill>
                <a:prstClr val="black"/>
              </a:solidFill>
              <a:latin typeface="Arial"/>
              <a:ea typeface="微软雅黑"/>
            </a:endParaRPr>
          </a:p>
        </p:txBody>
      </p:sp>
      <p:sp>
        <p:nvSpPr>
          <p:cNvPr id="6" name="AutoShape 4">
            <a:extLst>
              <a:ext uri="{FF2B5EF4-FFF2-40B4-BE49-F238E27FC236}">
                <a16:creationId xmlns:a16="http://schemas.microsoft.com/office/drawing/2014/main" id="{AF33A649-0D04-6F17-4BEB-12A470D9E225}"/>
              </a:ext>
            </a:extLst>
          </p:cNvPr>
          <p:cNvSpPr>
            <a:spLocks noChangeArrowheads="1"/>
          </p:cNvSpPr>
          <p:nvPr/>
        </p:nvSpPr>
        <p:spPr bwMode="auto">
          <a:xfrm>
            <a:off x="3095307" y="1495822"/>
            <a:ext cx="5064662" cy="783621"/>
          </a:xfrm>
          <a:prstGeom prst="wedgeRoundRectCallout">
            <a:avLst>
              <a:gd name="adj1" fmla="val -61264"/>
              <a:gd name="adj2" fmla="val -21718"/>
              <a:gd name="adj3" fmla="val 16667"/>
            </a:avLst>
          </a:prstGeom>
          <a:solidFill>
            <a:srgbClr val="FFFF99">
              <a:alpha val="89803"/>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dirty="0">
                <a:solidFill>
                  <a:prstClr val="black"/>
                </a:solidFill>
                <a:latin typeface="Arial"/>
                <a:ea typeface="微软雅黑"/>
              </a:rPr>
              <a:t>数据库的特点：集成性 ，共享性 </a:t>
            </a:r>
          </a:p>
        </p:txBody>
      </p:sp>
    </p:spTree>
    <p:extLst>
      <p:ext uri="{BB962C8B-B14F-4D97-AF65-F5344CB8AC3E}">
        <p14:creationId xmlns:p14="http://schemas.microsoft.com/office/powerpoint/2010/main" val="22417251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782690" y="915709"/>
            <a:ext cx="4170905" cy="580113"/>
          </a:xfrm>
          <a:prstGeom prst="rect">
            <a:avLst/>
          </a:prstGeom>
          <a:noFill/>
        </p:spPr>
        <p:txBody>
          <a:bodyPr wrap="square" rtlCol="0">
            <a:spAutoFit/>
          </a:bodyPr>
          <a:lstStyle/>
          <a:p>
            <a:pPr algn="just" defTabSz="1219225">
              <a:lnSpc>
                <a:spcPct val="150000"/>
              </a:lnSpc>
              <a:defRPr/>
            </a:pPr>
            <a:r>
              <a:rPr lang="en-US" altLang="zh-CN" sz="2399" dirty="0">
                <a:solidFill>
                  <a:prstClr val="black"/>
                </a:solidFill>
                <a:latin typeface="Arial"/>
                <a:ea typeface="微软雅黑"/>
              </a:rPr>
              <a:t>1.3.1  </a:t>
            </a:r>
            <a:r>
              <a:rPr lang="zh-CN" altLang="en-US" sz="2399" dirty="0">
                <a:solidFill>
                  <a:prstClr val="black"/>
                </a:solidFill>
                <a:latin typeface="Arial"/>
                <a:ea typeface="微软雅黑"/>
              </a:rPr>
              <a:t>数据库系统的组成</a:t>
            </a:r>
          </a:p>
        </p:txBody>
      </p:sp>
      <p:sp>
        <p:nvSpPr>
          <p:cNvPr id="7" name="文本框 6">
            <a:extLst>
              <a:ext uri="{FF2B5EF4-FFF2-40B4-BE49-F238E27FC236}">
                <a16:creationId xmlns:a16="http://schemas.microsoft.com/office/drawing/2014/main" id="{40CD126A-A0E6-862C-3BA9-FC5F59DF11C3}"/>
              </a:ext>
            </a:extLst>
          </p:cNvPr>
          <p:cNvSpPr txBox="1"/>
          <p:nvPr/>
        </p:nvSpPr>
        <p:spPr>
          <a:xfrm>
            <a:off x="782689" y="1474505"/>
            <a:ext cx="4399387" cy="458092"/>
          </a:xfrm>
          <a:prstGeom prst="rect">
            <a:avLst/>
          </a:prstGeom>
          <a:noFill/>
        </p:spPr>
        <p:txBody>
          <a:bodyPr wrap="square" rtlCol="0">
            <a:spAutoFit/>
          </a:bodyPr>
          <a:lstStyle/>
          <a:p>
            <a:pPr algn="just" defTabSz="1219225">
              <a:lnSpc>
                <a:spcPct val="150000"/>
              </a:lnSpc>
              <a:defRPr/>
            </a:pPr>
            <a:r>
              <a:rPr lang="en-US" altLang="zh-CN" sz="1799" dirty="0">
                <a:solidFill>
                  <a:prstClr val="black"/>
                </a:solidFill>
                <a:latin typeface="Arial"/>
                <a:ea typeface="微软雅黑"/>
              </a:rPr>
              <a:t>2. </a:t>
            </a:r>
            <a:r>
              <a:rPr lang="zh-CN" altLang="en-US" sz="1799" dirty="0">
                <a:solidFill>
                  <a:prstClr val="black"/>
                </a:solidFill>
                <a:latin typeface="Arial"/>
                <a:ea typeface="微软雅黑"/>
              </a:rPr>
              <a:t>数据库用户</a:t>
            </a:r>
            <a:endParaRPr lang="en-US" altLang="zh-CN" sz="1799" dirty="0">
              <a:solidFill>
                <a:prstClr val="black"/>
              </a:solidFill>
              <a:latin typeface="Arial"/>
              <a:ea typeface="微软雅黑"/>
            </a:endParaRPr>
          </a:p>
        </p:txBody>
      </p:sp>
      <p:sp>
        <p:nvSpPr>
          <p:cNvPr id="8" name="AutoShape 5">
            <a:extLst>
              <a:ext uri="{FF2B5EF4-FFF2-40B4-BE49-F238E27FC236}">
                <a16:creationId xmlns:a16="http://schemas.microsoft.com/office/drawing/2014/main" id="{C69DF8E5-F145-C15D-A38D-E844EFC03966}"/>
              </a:ext>
            </a:extLst>
          </p:cNvPr>
          <p:cNvSpPr>
            <a:spLocks noChangeArrowheads="1"/>
          </p:cNvSpPr>
          <p:nvPr/>
        </p:nvSpPr>
        <p:spPr bwMode="auto">
          <a:xfrm>
            <a:off x="2586280" y="2830185"/>
            <a:ext cx="1942088" cy="1007538"/>
          </a:xfrm>
          <a:prstGeom prst="flowChartPunchedTape">
            <a:avLst/>
          </a:prstGeom>
          <a:solidFill>
            <a:srgbClr val="FFFF99"/>
          </a:solidFill>
          <a:ln w="19050" algn="ctr">
            <a:solidFill>
              <a:schemeClr val="bg1">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b="1" dirty="0">
                <a:solidFill>
                  <a:srgbClr val="000066"/>
                </a:solidFill>
                <a:latin typeface="微软雅黑" panose="020B0503020204020204" pitchFamily="34" charset="-122"/>
                <a:ea typeface="微软雅黑" panose="020B0503020204020204" pitchFamily="34" charset="-122"/>
              </a:rPr>
              <a:t>最终用户 </a:t>
            </a:r>
          </a:p>
        </p:txBody>
      </p:sp>
      <p:sp>
        <p:nvSpPr>
          <p:cNvPr id="9" name="AutoShape 6">
            <a:extLst>
              <a:ext uri="{FF2B5EF4-FFF2-40B4-BE49-F238E27FC236}">
                <a16:creationId xmlns:a16="http://schemas.microsoft.com/office/drawing/2014/main" id="{4C3D5A51-2375-D822-2849-FA59E35CD701}"/>
              </a:ext>
            </a:extLst>
          </p:cNvPr>
          <p:cNvSpPr>
            <a:spLocks noChangeArrowheads="1"/>
          </p:cNvSpPr>
          <p:nvPr/>
        </p:nvSpPr>
        <p:spPr bwMode="auto">
          <a:xfrm>
            <a:off x="2586280" y="3598116"/>
            <a:ext cx="1942088" cy="1009124"/>
          </a:xfrm>
          <a:prstGeom prst="flowChartPunchedTape">
            <a:avLst/>
          </a:prstGeom>
          <a:solidFill>
            <a:srgbClr val="FFFF99"/>
          </a:solidFill>
          <a:ln w="19050" algn="ctr">
            <a:solidFill>
              <a:schemeClr val="bg1">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b="1" dirty="0">
                <a:solidFill>
                  <a:srgbClr val="000066"/>
                </a:solidFill>
                <a:latin typeface="微软雅黑" panose="020B0503020204020204" pitchFamily="34" charset="-122"/>
                <a:ea typeface="微软雅黑" panose="020B0503020204020204" pitchFamily="34" charset="-122"/>
              </a:rPr>
              <a:t>应用程序员 </a:t>
            </a:r>
          </a:p>
        </p:txBody>
      </p:sp>
      <p:sp>
        <p:nvSpPr>
          <p:cNvPr id="10" name="AutoShape 7">
            <a:extLst>
              <a:ext uri="{FF2B5EF4-FFF2-40B4-BE49-F238E27FC236}">
                <a16:creationId xmlns:a16="http://schemas.microsoft.com/office/drawing/2014/main" id="{7C465713-0754-C921-6F3D-AAC242A7C461}"/>
              </a:ext>
            </a:extLst>
          </p:cNvPr>
          <p:cNvSpPr>
            <a:spLocks noChangeArrowheads="1"/>
          </p:cNvSpPr>
          <p:nvPr/>
        </p:nvSpPr>
        <p:spPr bwMode="auto">
          <a:xfrm>
            <a:off x="2586280" y="4413685"/>
            <a:ext cx="1942088" cy="1007538"/>
          </a:xfrm>
          <a:prstGeom prst="flowChartPunchedTape">
            <a:avLst/>
          </a:prstGeom>
          <a:solidFill>
            <a:srgbClr val="FFFF99"/>
          </a:solidFill>
          <a:ln w="19050" algn="ctr">
            <a:solidFill>
              <a:schemeClr val="bg1">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b="1" dirty="0">
                <a:solidFill>
                  <a:srgbClr val="000066"/>
                </a:solidFill>
                <a:latin typeface="微软雅黑" panose="020B0503020204020204" pitchFamily="34" charset="-122"/>
                <a:ea typeface="微软雅黑" panose="020B0503020204020204" pitchFamily="34" charset="-122"/>
              </a:rPr>
              <a:t>数据库管理员 </a:t>
            </a:r>
          </a:p>
        </p:txBody>
      </p:sp>
      <p:sp>
        <p:nvSpPr>
          <p:cNvPr id="11" name="AutoShape 8">
            <a:extLst>
              <a:ext uri="{FF2B5EF4-FFF2-40B4-BE49-F238E27FC236}">
                <a16:creationId xmlns:a16="http://schemas.microsoft.com/office/drawing/2014/main" id="{6C9DB771-6A51-9EA5-C91A-C41DB51EB3B8}"/>
              </a:ext>
            </a:extLst>
          </p:cNvPr>
          <p:cNvSpPr>
            <a:spLocks noChangeArrowheads="1"/>
          </p:cNvSpPr>
          <p:nvPr/>
        </p:nvSpPr>
        <p:spPr bwMode="auto">
          <a:xfrm>
            <a:off x="2893426" y="1640209"/>
            <a:ext cx="5686638" cy="431575"/>
          </a:xfrm>
          <a:prstGeom prst="leftArrowCallout">
            <a:avLst>
              <a:gd name="adj1" fmla="val 32269"/>
              <a:gd name="adj2" fmla="val 25000"/>
              <a:gd name="adj3" fmla="val 51486"/>
              <a:gd name="adj4" fmla="val 90125"/>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b="1" dirty="0">
                <a:latin typeface="微软雅黑" panose="020B0503020204020204" pitchFamily="34" charset="-122"/>
                <a:ea typeface="微软雅黑" panose="020B0503020204020204" pitchFamily="34" charset="-122"/>
              </a:rPr>
              <a:t>对数据库进行存储、维护和检索等操作 </a:t>
            </a:r>
          </a:p>
        </p:txBody>
      </p:sp>
      <p:sp>
        <p:nvSpPr>
          <p:cNvPr id="12" name="AutoShape 11">
            <a:extLst>
              <a:ext uri="{FF2B5EF4-FFF2-40B4-BE49-F238E27FC236}">
                <a16:creationId xmlns:a16="http://schemas.microsoft.com/office/drawing/2014/main" id="{4BE880E6-C617-1E5F-32B2-E34DDC9CAFBE}"/>
              </a:ext>
            </a:extLst>
          </p:cNvPr>
          <p:cNvSpPr>
            <a:spLocks noChangeArrowheads="1"/>
          </p:cNvSpPr>
          <p:nvPr/>
        </p:nvSpPr>
        <p:spPr bwMode="auto">
          <a:xfrm>
            <a:off x="5481959" y="2849512"/>
            <a:ext cx="3958751" cy="698813"/>
          </a:xfrm>
          <a:prstGeom prst="flowChartAlternateProcess">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b="1" dirty="0">
                <a:latin typeface="微软雅黑" panose="020B0503020204020204" pitchFamily="34" charset="-122"/>
                <a:ea typeface="微软雅黑" panose="020B0503020204020204" pitchFamily="34" charset="-122"/>
              </a:rPr>
              <a:t>非计算机专业人员</a:t>
            </a:r>
          </a:p>
          <a:p>
            <a:pPr algn="ctr" eaLnBrk="1" hangingPunct="1">
              <a:spcBef>
                <a:spcPct val="0"/>
              </a:spcBef>
              <a:buSzTx/>
              <a:buFontTx/>
              <a:buNone/>
            </a:pPr>
            <a:r>
              <a:rPr lang="zh-CN" altLang="en-US" sz="1999" b="1" dirty="0">
                <a:latin typeface="微软雅黑" panose="020B0503020204020204" pitchFamily="34" charset="-122"/>
                <a:ea typeface="微软雅黑" panose="020B0503020204020204" pitchFamily="34" charset="-122"/>
              </a:rPr>
              <a:t>使用数据库</a:t>
            </a:r>
          </a:p>
        </p:txBody>
      </p:sp>
      <p:sp>
        <p:nvSpPr>
          <p:cNvPr id="13" name="AutoShape 12">
            <a:extLst>
              <a:ext uri="{FF2B5EF4-FFF2-40B4-BE49-F238E27FC236}">
                <a16:creationId xmlns:a16="http://schemas.microsoft.com/office/drawing/2014/main" id="{92457C79-5BDD-1F24-7ADF-DA34A00E27D4}"/>
              </a:ext>
            </a:extLst>
          </p:cNvPr>
          <p:cNvSpPr>
            <a:spLocks noChangeArrowheads="1"/>
          </p:cNvSpPr>
          <p:nvPr/>
        </p:nvSpPr>
        <p:spPr bwMode="auto">
          <a:xfrm>
            <a:off x="5516073" y="3612567"/>
            <a:ext cx="3958751" cy="801117"/>
          </a:xfrm>
          <a:prstGeom prst="flowChartAlternateProcess">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b="1" dirty="0">
                <a:latin typeface="微软雅黑" panose="020B0503020204020204" pitchFamily="34" charset="-122"/>
                <a:ea typeface="微软雅黑" panose="020B0503020204020204" pitchFamily="34" charset="-122"/>
              </a:rPr>
              <a:t>设计和编制应用程序</a:t>
            </a:r>
            <a:endParaRPr lang="en-US" altLang="zh-CN" sz="1999" b="1" dirty="0">
              <a:latin typeface="微软雅黑" panose="020B0503020204020204" pitchFamily="34" charset="-122"/>
              <a:ea typeface="微软雅黑" panose="020B0503020204020204" pitchFamily="34" charset="-122"/>
            </a:endParaRPr>
          </a:p>
          <a:p>
            <a:pPr algn="ctr" eaLnBrk="1" hangingPunct="1">
              <a:spcBef>
                <a:spcPct val="0"/>
              </a:spcBef>
              <a:buSzTx/>
              <a:buFontTx/>
              <a:buNone/>
            </a:pPr>
            <a:r>
              <a:rPr lang="zh-CN" altLang="en-US" sz="1999" b="1" dirty="0">
                <a:latin typeface="微软雅黑" panose="020B0503020204020204" pitchFamily="34" charset="-122"/>
                <a:ea typeface="微软雅黑" panose="020B0503020204020204" pitchFamily="34" charset="-122"/>
              </a:rPr>
              <a:t>并进行调试和安装</a:t>
            </a:r>
          </a:p>
        </p:txBody>
      </p:sp>
      <p:sp>
        <p:nvSpPr>
          <p:cNvPr id="14" name="AutoShape 13">
            <a:extLst>
              <a:ext uri="{FF2B5EF4-FFF2-40B4-BE49-F238E27FC236}">
                <a16:creationId xmlns:a16="http://schemas.microsoft.com/office/drawing/2014/main" id="{2740E813-FE16-3490-7E7A-102D3F9526C3}"/>
              </a:ext>
            </a:extLst>
          </p:cNvPr>
          <p:cNvSpPr>
            <a:spLocks noChangeArrowheads="1"/>
          </p:cNvSpPr>
          <p:nvPr/>
        </p:nvSpPr>
        <p:spPr bwMode="auto">
          <a:xfrm>
            <a:off x="4672756" y="3118959"/>
            <a:ext cx="575962" cy="360175"/>
          </a:xfrm>
          <a:prstGeom prst="rightArrow">
            <a:avLst>
              <a:gd name="adj1" fmla="val 50000"/>
              <a:gd name="adj2" fmla="val 39978"/>
            </a:avLst>
          </a:prstGeom>
          <a:solidFill>
            <a:srgbClr val="F8D2E9"/>
          </a:solidFill>
          <a:ln w="19050" algn="ctr">
            <a:noFill/>
            <a:miter lim="800000"/>
            <a:headEnd/>
            <a:tailEnd type="none" w="lg" len="lg"/>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b="1">
              <a:solidFill>
                <a:srgbClr val="000066"/>
              </a:solidFill>
              <a:latin typeface="微软雅黑" panose="020B0503020204020204" pitchFamily="34" charset="-122"/>
              <a:ea typeface="微软雅黑" panose="020B0503020204020204" pitchFamily="34" charset="-122"/>
            </a:endParaRPr>
          </a:p>
        </p:txBody>
      </p:sp>
      <p:sp>
        <p:nvSpPr>
          <p:cNvPr id="15" name="AutoShape 14">
            <a:extLst>
              <a:ext uri="{FF2B5EF4-FFF2-40B4-BE49-F238E27FC236}">
                <a16:creationId xmlns:a16="http://schemas.microsoft.com/office/drawing/2014/main" id="{168E7A8E-00C4-B498-54C9-082A03E7305F}"/>
              </a:ext>
            </a:extLst>
          </p:cNvPr>
          <p:cNvSpPr>
            <a:spLocks noChangeArrowheads="1"/>
          </p:cNvSpPr>
          <p:nvPr/>
        </p:nvSpPr>
        <p:spPr bwMode="auto">
          <a:xfrm>
            <a:off x="4672756" y="3841049"/>
            <a:ext cx="575962" cy="431575"/>
          </a:xfrm>
          <a:prstGeom prst="rightArrow">
            <a:avLst>
              <a:gd name="adj1" fmla="val 50000"/>
              <a:gd name="adj2" fmla="val 33364"/>
            </a:avLst>
          </a:prstGeom>
          <a:solidFill>
            <a:srgbClr val="F8D2E9"/>
          </a:solidFill>
          <a:ln w="19050" algn="ctr">
            <a:noFill/>
            <a:miter lim="800000"/>
            <a:headEnd/>
            <a:tailEnd type="none" w="lg" len="lg"/>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b="1">
              <a:solidFill>
                <a:srgbClr val="000066"/>
              </a:solidFill>
              <a:latin typeface="微软雅黑" panose="020B0503020204020204" pitchFamily="34" charset="-122"/>
              <a:ea typeface="微软雅黑" panose="020B0503020204020204" pitchFamily="34" charset="-122"/>
            </a:endParaRPr>
          </a:p>
        </p:txBody>
      </p:sp>
      <p:sp>
        <p:nvSpPr>
          <p:cNvPr id="16" name="AutoShape 16">
            <a:extLst>
              <a:ext uri="{FF2B5EF4-FFF2-40B4-BE49-F238E27FC236}">
                <a16:creationId xmlns:a16="http://schemas.microsoft.com/office/drawing/2014/main" id="{88F502F2-61ED-4D08-9CB7-132ACB9D794A}"/>
              </a:ext>
            </a:extLst>
          </p:cNvPr>
          <p:cNvSpPr>
            <a:spLocks noChangeArrowheads="1"/>
          </p:cNvSpPr>
          <p:nvPr/>
        </p:nvSpPr>
        <p:spPr bwMode="auto">
          <a:xfrm>
            <a:off x="4672756" y="4773860"/>
            <a:ext cx="575962" cy="431575"/>
          </a:xfrm>
          <a:prstGeom prst="rightArrow">
            <a:avLst>
              <a:gd name="adj1" fmla="val 50000"/>
              <a:gd name="adj2" fmla="val 33364"/>
            </a:avLst>
          </a:prstGeom>
          <a:solidFill>
            <a:srgbClr val="F8D2E9"/>
          </a:solidFill>
          <a:ln w="19050" algn="ctr">
            <a:noFill/>
            <a:miter lim="800000"/>
            <a:headEnd/>
            <a:tailEnd type="none" w="lg" len="lg"/>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b="1">
              <a:solidFill>
                <a:srgbClr val="000066"/>
              </a:solidFill>
              <a:latin typeface="微软雅黑" panose="020B0503020204020204" pitchFamily="34" charset="-122"/>
              <a:ea typeface="微软雅黑" panose="020B0503020204020204" pitchFamily="34" charset="-122"/>
            </a:endParaRPr>
          </a:p>
        </p:txBody>
      </p:sp>
      <p:sp>
        <p:nvSpPr>
          <p:cNvPr id="17" name="AutoShape 15">
            <a:extLst>
              <a:ext uri="{FF2B5EF4-FFF2-40B4-BE49-F238E27FC236}">
                <a16:creationId xmlns:a16="http://schemas.microsoft.com/office/drawing/2014/main" id="{67EC84D9-8E8A-1F40-4562-514B61DBF979}"/>
              </a:ext>
            </a:extLst>
          </p:cNvPr>
          <p:cNvSpPr>
            <a:spLocks noChangeArrowheads="1"/>
          </p:cNvSpPr>
          <p:nvPr/>
        </p:nvSpPr>
        <p:spPr bwMode="auto">
          <a:xfrm>
            <a:off x="5493064" y="4482551"/>
            <a:ext cx="4030151" cy="1078938"/>
          </a:xfrm>
          <a:prstGeom prst="flowChartAlternateProcess">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b="1" dirty="0">
                <a:latin typeface="微软雅黑" panose="020B0503020204020204" pitchFamily="34" charset="-122"/>
                <a:ea typeface="微软雅黑" panose="020B0503020204020204" pitchFamily="34" charset="-122"/>
              </a:rPr>
              <a:t>负责设计、建立、管理和维护数据</a:t>
            </a:r>
          </a:p>
          <a:p>
            <a:pPr algn="ctr" eaLnBrk="1" hangingPunct="1">
              <a:spcBef>
                <a:spcPct val="0"/>
              </a:spcBef>
              <a:buSzTx/>
              <a:buFontTx/>
              <a:buNone/>
            </a:pPr>
            <a:r>
              <a:rPr lang="zh-CN" altLang="en-US" sz="1999" b="1" dirty="0">
                <a:latin typeface="微软雅黑" panose="020B0503020204020204" pitchFamily="34" charset="-122"/>
                <a:ea typeface="微软雅黑" panose="020B0503020204020204" pitchFamily="34" charset="-122"/>
              </a:rPr>
              <a:t>库以及协调用户对数据库要求的</a:t>
            </a:r>
          </a:p>
          <a:p>
            <a:pPr algn="ctr" eaLnBrk="1" hangingPunct="1">
              <a:spcBef>
                <a:spcPct val="0"/>
              </a:spcBef>
              <a:buSzTx/>
              <a:buFontTx/>
              <a:buNone/>
            </a:pPr>
            <a:r>
              <a:rPr lang="zh-CN" altLang="en-US" sz="1999" b="1" dirty="0">
                <a:latin typeface="微软雅黑" panose="020B0503020204020204" pitchFamily="34" charset="-122"/>
                <a:ea typeface="微软雅黑" panose="020B0503020204020204" pitchFamily="34" charset="-122"/>
              </a:rPr>
              <a:t>个人或工作团队 </a:t>
            </a:r>
          </a:p>
        </p:txBody>
      </p:sp>
    </p:spTree>
    <p:extLst>
      <p:ext uri="{BB962C8B-B14F-4D97-AF65-F5344CB8AC3E}">
        <p14:creationId xmlns:p14="http://schemas.microsoft.com/office/powerpoint/2010/main" val="23625905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500"/>
                                        <p:tgtEl>
                                          <p:spTgt spid="8"/>
                                        </p:tgtEl>
                                      </p:cBhvr>
                                    </p:animEffec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4" presetClass="entr" presetSubtype="16"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ox(in)">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checkerboard(across)">
                                      <p:cBhvr>
                                        <p:cTn id="26" dur="500"/>
                                        <p:tgtEl>
                                          <p:spTgt spid="9"/>
                                        </p:tgtEl>
                                      </p:cBhvr>
                                    </p:animEffect>
                                  </p:childTnLst>
                                </p:cTn>
                              </p:par>
                            </p:childTnLst>
                          </p:cTn>
                        </p:par>
                        <p:par>
                          <p:cTn id="27" fill="hold">
                            <p:stCondLst>
                              <p:cond delay="500"/>
                            </p:stCondLst>
                            <p:childTnLst>
                              <p:par>
                                <p:cTn id="28" presetID="2" presetClass="entr" presetSubtype="4" fill="hold" grpId="0" nodeType="after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childTnLst>
                          </p:cTn>
                        </p:par>
                        <p:par>
                          <p:cTn id="32" fill="hold">
                            <p:stCondLst>
                              <p:cond delay="1000"/>
                            </p:stCondLst>
                            <p:childTnLst>
                              <p:par>
                                <p:cTn id="33" presetID="4" presetClass="entr" presetSubtype="16"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box(in)">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checkerboard(across)">
                                      <p:cBhvr>
                                        <p:cTn id="40" dur="500"/>
                                        <p:tgtEl>
                                          <p:spTgt spid="10"/>
                                        </p:tgtEl>
                                      </p:cBhvr>
                                    </p:animEffect>
                                  </p:childTnLst>
                                </p:cTn>
                              </p:par>
                            </p:childTnLst>
                          </p:cTn>
                        </p:par>
                        <p:par>
                          <p:cTn id="41" fill="hold">
                            <p:stCondLst>
                              <p:cond delay="500"/>
                            </p:stCondLst>
                            <p:childTnLst>
                              <p:par>
                                <p:cTn id="42" presetID="2" presetClass="entr" presetSubtype="4" fill="hold" grpId="0" nodeType="after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ppt_x"/>
                                          </p:val>
                                        </p:tav>
                                        <p:tav tm="100000">
                                          <p:val>
                                            <p:strVal val="#ppt_x"/>
                                          </p:val>
                                        </p:tav>
                                      </p:tavLst>
                                    </p:anim>
                                    <p:anim calcmode="lin" valueType="num">
                                      <p:cBhvr additive="base">
                                        <p:cTn id="45" dur="500" fill="hold"/>
                                        <p:tgtEl>
                                          <p:spTgt spid="16"/>
                                        </p:tgtEl>
                                        <p:attrNameLst>
                                          <p:attrName>ppt_y</p:attrName>
                                        </p:attrNameLst>
                                      </p:cBhvr>
                                      <p:tavLst>
                                        <p:tav tm="0">
                                          <p:val>
                                            <p:strVal val="1+#ppt_h/2"/>
                                          </p:val>
                                        </p:tav>
                                        <p:tav tm="100000">
                                          <p:val>
                                            <p:strVal val="#ppt_y"/>
                                          </p:val>
                                        </p:tav>
                                      </p:tavLst>
                                    </p:anim>
                                  </p:childTnLst>
                                </p:cTn>
                              </p:par>
                            </p:childTnLst>
                          </p:cTn>
                        </p:par>
                        <p:par>
                          <p:cTn id="46" fill="hold">
                            <p:stCondLst>
                              <p:cond delay="1000"/>
                            </p:stCondLst>
                            <p:childTnLst>
                              <p:par>
                                <p:cTn id="47" presetID="4" presetClass="entr" presetSubtype="16"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box(in)">
                                      <p:cBhvr>
                                        <p:cTn id="4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782690" y="915709"/>
            <a:ext cx="4170905" cy="580113"/>
          </a:xfrm>
          <a:prstGeom prst="rect">
            <a:avLst/>
          </a:prstGeom>
          <a:noFill/>
        </p:spPr>
        <p:txBody>
          <a:bodyPr wrap="square" rtlCol="0">
            <a:spAutoFit/>
          </a:bodyPr>
          <a:lstStyle/>
          <a:p>
            <a:pPr algn="just" defTabSz="1219225">
              <a:lnSpc>
                <a:spcPct val="150000"/>
              </a:lnSpc>
              <a:defRPr/>
            </a:pPr>
            <a:r>
              <a:rPr lang="en-US" altLang="zh-CN" sz="2399" dirty="0">
                <a:solidFill>
                  <a:prstClr val="black"/>
                </a:solidFill>
                <a:latin typeface="Arial"/>
                <a:ea typeface="微软雅黑"/>
              </a:rPr>
              <a:t>1.3.1  </a:t>
            </a:r>
            <a:r>
              <a:rPr lang="zh-CN" altLang="en-US" sz="2399" dirty="0">
                <a:solidFill>
                  <a:prstClr val="black"/>
                </a:solidFill>
                <a:latin typeface="Arial"/>
                <a:ea typeface="微软雅黑"/>
              </a:rPr>
              <a:t>数据库系统的组成</a:t>
            </a:r>
          </a:p>
        </p:txBody>
      </p:sp>
      <p:sp>
        <p:nvSpPr>
          <p:cNvPr id="18" name="文本框 17">
            <a:extLst>
              <a:ext uri="{FF2B5EF4-FFF2-40B4-BE49-F238E27FC236}">
                <a16:creationId xmlns:a16="http://schemas.microsoft.com/office/drawing/2014/main" id="{062B8DE3-5BAF-E987-8FD7-0F5EF13CD277}"/>
              </a:ext>
            </a:extLst>
          </p:cNvPr>
          <p:cNvSpPr txBox="1"/>
          <p:nvPr/>
        </p:nvSpPr>
        <p:spPr>
          <a:xfrm>
            <a:off x="793233" y="1495822"/>
            <a:ext cx="10616078" cy="2948631"/>
          </a:xfrm>
          <a:prstGeom prst="rect">
            <a:avLst/>
          </a:prstGeom>
          <a:noFill/>
        </p:spPr>
        <p:txBody>
          <a:bodyPr wrap="square" rtlCol="0">
            <a:spAutoFit/>
          </a:bodyPr>
          <a:lstStyle/>
          <a:p>
            <a:pPr algn="just">
              <a:lnSpc>
                <a:spcPct val="150000"/>
              </a:lnSpc>
            </a:pPr>
            <a:r>
              <a:rPr lang="en-US" altLang="zh-CN" sz="1799" dirty="0">
                <a:solidFill>
                  <a:prstClr val="black"/>
                </a:solidFill>
                <a:latin typeface="Arial"/>
                <a:ea typeface="微软雅黑"/>
              </a:rPr>
              <a:t>3. </a:t>
            </a:r>
            <a:r>
              <a:rPr lang="zh-CN" altLang="en-US" sz="1799" dirty="0">
                <a:solidFill>
                  <a:prstClr val="black"/>
                </a:solidFill>
                <a:latin typeface="Arial"/>
                <a:ea typeface="微软雅黑"/>
              </a:rPr>
              <a:t>软件系统</a:t>
            </a:r>
            <a:endParaRPr lang="en-US" altLang="zh-CN" sz="1799" dirty="0">
              <a:solidFill>
                <a:prstClr val="black"/>
              </a:solidFill>
              <a:latin typeface="Arial"/>
              <a:ea typeface="微软雅黑"/>
            </a:endParaRPr>
          </a:p>
          <a:p>
            <a:pPr marL="342729" indent="-342729" algn="just" defTabSz="1219225">
              <a:lnSpc>
                <a:spcPct val="150000"/>
              </a:lnSpc>
              <a:buFont typeface="Wingdings" panose="05000000000000000000" pitchFamily="2" charset="2"/>
              <a:buChar char="ü"/>
              <a:defRPr/>
            </a:pPr>
            <a:r>
              <a:rPr lang="zh-CN" altLang="en-US" sz="1799" dirty="0">
                <a:solidFill>
                  <a:prstClr val="black"/>
                </a:solidFill>
                <a:latin typeface="Arial"/>
                <a:ea typeface="微软雅黑"/>
              </a:rPr>
              <a:t>软件（</a:t>
            </a:r>
            <a:r>
              <a:rPr lang="en-US" altLang="zh-CN" sz="1799" dirty="0">
                <a:solidFill>
                  <a:prstClr val="black"/>
                </a:solidFill>
                <a:latin typeface="Arial"/>
                <a:ea typeface="微软雅黑"/>
              </a:rPr>
              <a:t>Software</a:t>
            </a:r>
            <a:r>
              <a:rPr lang="zh-CN" altLang="en-US" sz="1799" dirty="0">
                <a:solidFill>
                  <a:prstClr val="black"/>
                </a:solidFill>
                <a:latin typeface="Arial"/>
                <a:ea typeface="微软雅黑"/>
              </a:rPr>
              <a:t>）系统主要包括操作系统（</a:t>
            </a:r>
            <a:r>
              <a:rPr lang="en-US" altLang="zh-CN" sz="1799" dirty="0">
                <a:solidFill>
                  <a:prstClr val="black"/>
                </a:solidFill>
                <a:latin typeface="Arial"/>
                <a:ea typeface="微软雅黑"/>
              </a:rPr>
              <a:t>Operating System</a:t>
            </a:r>
            <a:r>
              <a:rPr lang="zh-CN" altLang="en-US" sz="1799" dirty="0">
                <a:solidFill>
                  <a:prstClr val="black"/>
                </a:solidFill>
                <a:latin typeface="Arial"/>
                <a:ea typeface="微软雅黑"/>
              </a:rPr>
              <a:t>，</a:t>
            </a:r>
            <a:r>
              <a:rPr lang="en-US" altLang="zh-CN" sz="1799" dirty="0">
                <a:solidFill>
                  <a:prstClr val="black"/>
                </a:solidFill>
                <a:latin typeface="Arial"/>
                <a:ea typeface="微软雅黑"/>
              </a:rPr>
              <a:t>OS</a:t>
            </a:r>
            <a:r>
              <a:rPr lang="zh-CN" altLang="en-US" sz="1799" dirty="0">
                <a:solidFill>
                  <a:prstClr val="black"/>
                </a:solidFill>
                <a:latin typeface="Arial"/>
                <a:ea typeface="微软雅黑"/>
              </a:rPr>
              <a:t>）、数据库管理系统（</a:t>
            </a:r>
            <a:r>
              <a:rPr lang="en-US" altLang="zh-CN" sz="1799" dirty="0">
                <a:solidFill>
                  <a:prstClr val="black"/>
                </a:solidFill>
                <a:latin typeface="Arial"/>
                <a:ea typeface="微软雅黑"/>
              </a:rPr>
              <a:t>DBMS</a:t>
            </a:r>
            <a:r>
              <a:rPr lang="zh-CN" altLang="en-US" sz="1799" dirty="0">
                <a:solidFill>
                  <a:prstClr val="black"/>
                </a:solidFill>
                <a:latin typeface="Arial"/>
                <a:ea typeface="微软雅黑"/>
              </a:rPr>
              <a:t>）、应用开发工具和应用系统等。</a:t>
            </a:r>
            <a:endParaRPr lang="en-US" altLang="zh-CN" sz="1799" dirty="0">
              <a:solidFill>
                <a:prstClr val="black"/>
              </a:solidFill>
              <a:latin typeface="Arial"/>
              <a:ea typeface="微软雅黑"/>
            </a:endParaRPr>
          </a:p>
          <a:p>
            <a:pPr marL="342729" indent="-342729" algn="just" defTabSz="1219225">
              <a:lnSpc>
                <a:spcPct val="150000"/>
              </a:lnSpc>
              <a:buFont typeface="Wingdings" panose="05000000000000000000" pitchFamily="2" charset="2"/>
              <a:buChar char="ü"/>
              <a:defRPr/>
            </a:pPr>
            <a:r>
              <a:rPr lang="zh-CN" altLang="en-US" sz="1799" dirty="0">
                <a:solidFill>
                  <a:prstClr val="black"/>
                </a:solidFill>
                <a:latin typeface="Arial"/>
                <a:ea typeface="微软雅黑"/>
              </a:rPr>
              <a:t>在计算机硬件层之上，操作系统统一管理计算机资源。</a:t>
            </a:r>
            <a:endParaRPr lang="en-US" altLang="zh-CN" sz="1799" dirty="0">
              <a:solidFill>
                <a:prstClr val="black"/>
              </a:solidFill>
              <a:latin typeface="Arial"/>
              <a:ea typeface="微软雅黑"/>
            </a:endParaRPr>
          </a:p>
          <a:p>
            <a:pPr marL="342729" indent="-342729" algn="just" defTabSz="1219225">
              <a:lnSpc>
                <a:spcPct val="150000"/>
              </a:lnSpc>
              <a:buFont typeface="Wingdings" panose="05000000000000000000" pitchFamily="2" charset="2"/>
              <a:buChar char="ü"/>
              <a:defRPr/>
            </a:pPr>
            <a:r>
              <a:rPr lang="en-US" altLang="zh-CN" sz="1799" dirty="0">
                <a:solidFill>
                  <a:prstClr val="black"/>
                </a:solidFill>
                <a:latin typeface="Arial"/>
                <a:ea typeface="微软雅黑"/>
              </a:rPr>
              <a:t>DBMS</a:t>
            </a:r>
            <a:r>
              <a:rPr lang="zh-CN" altLang="en-US" sz="1799" dirty="0">
                <a:solidFill>
                  <a:prstClr val="black"/>
                </a:solidFill>
                <a:latin typeface="Arial"/>
                <a:ea typeface="微软雅黑"/>
              </a:rPr>
              <a:t>可借助操作系统完成对硬件的访问，并能对数据库的数据进行存取、维护和管理。</a:t>
            </a:r>
            <a:endParaRPr lang="en-US" altLang="zh-CN" sz="1799" dirty="0">
              <a:solidFill>
                <a:prstClr val="black"/>
              </a:solidFill>
              <a:latin typeface="Arial"/>
              <a:ea typeface="微软雅黑"/>
            </a:endParaRPr>
          </a:p>
          <a:p>
            <a:pPr marL="342729" indent="-342729" algn="just" defTabSz="1219225">
              <a:lnSpc>
                <a:spcPct val="150000"/>
              </a:lnSpc>
              <a:buFont typeface="Wingdings" panose="05000000000000000000" pitchFamily="2" charset="2"/>
              <a:buChar char="ü"/>
              <a:defRPr/>
            </a:pPr>
            <a:r>
              <a:rPr lang="zh-CN" altLang="en-US" sz="1799" dirty="0">
                <a:solidFill>
                  <a:prstClr val="black"/>
                </a:solidFill>
                <a:latin typeface="Arial"/>
                <a:ea typeface="微软雅黑"/>
              </a:rPr>
              <a:t>数据库系统的各类人员、应用程序等对数据库的各种操作请求，都必须通过</a:t>
            </a:r>
            <a:r>
              <a:rPr lang="en-US" altLang="zh-CN" sz="1799" dirty="0">
                <a:solidFill>
                  <a:prstClr val="black"/>
                </a:solidFill>
                <a:latin typeface="Arial"/>
                <a:ea typeface="微软雅黑"/>
              </a:rPr>
              <a:t>DBMS</a:t>
            </a:r>
            <a:r>
              <a:rPr lang="zh-CN" altLang="en-US" sz="1799" dirty="0">
                <a:solidFill>
                  <a:prstClr val="black"/>
                </a:solidFill>
                <a:latin typeface="Arial"/>
                <a:ea typeface="微软雅黑"/>
              </a:rPr>
              <a:t>完成。</a:t>
            </a:r>
            <a:endParaRPr lang="en-US" altLang="zh-CN" sz="1799" dirty="0">
              <a:solidFill>
                <a:prstClr val="black"/>
              </a:solidFill>
              <a:latin typeface="Arial"/>
              <a:ea typeface="微软雅黑"/>
            </a:endParaRPr>
          </a:p>
          <a:p>
            <a:pPr marL="342729" indent="-342729" algn="just" defTabSz="1219225">
              <a:lnSpc>
                <a:spcPct val="150000"/>
              </a:lnSpc>
              <a:buFont typeface="Wingdings" panose="05000000000000000000" pitchFamily="2" charset="2"/>
              <a:buChar char="ü"/>
              <a:defRPr/>
            </a:pPr>
            <a:r>
              <a:rPr lang="en-US" altLang="zh-CN" sz="1799" dirty="0">
                <a:solidFill>
                  <a:srgbClr val="0070C0"/>
                </a:solidFill>
                <a:latin typeface="Arial"/>
                <a:ea typeface="微软雅黑"/>
              </a:rPr>
              <a:t>DBMS</a:t>
            </a:r>
            <a:r>
              <a:rPr lang="zh-CN" altLang="en-US" sz="1799" dirty="0">
                <a:solidFill>
                  <a:srgbClr val="0070C0"/>
                </a:solidFill>
                <a:latin typeface="Arial"/>
                <a:ea typeface="微软雅黑"/>
              </a:rPr>
              <a:t>是数据库系统的核心软件。</a:t>
            </a:r>
            <a:endParaRPr lang="zh-CN" altLang="en-US" sz="1999" dirty="0">
              <a:solidFill>
                <a:srgbClr val="0070C0"/>
              </a:solidFill>
              <a:latin typeface="Arial"/>
              <a:ea typeface="微软雅黑"/>
            </a:endParaRPr>
          </a:p>
        </p:txBody>
      </p:sp>
    </p:spTree>
    <p:extLst>
      <p:ext uri="{BB962C8B-B14F-4D97-AF65-F5344CB8AC3E}">
        <p14:creationId xmlns:p14="http://schemas.microsoft.com/office/powerpoint/2010/main" val="9871373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7F33E1B4-156F-469B-BD3B-94B494AC0974}"/>
              </a:ext>
            </a:extLst>
          </p:cNvPr>
          <p:cNvSpPr/>
          <p:nvPr/>
        </p:nvSpPr>
        <p:spPr>
          <a:xfrm>
            <a:off x="1081333" y="1085756"/>
            <a:ext cx="4831482" cy="53753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07">
              <a:latin typeface="Arial" panose="020B0604020202020204" pitchFamily="34" charset="0"/>
              <a:ea typeface="Microsoft YaHei" panose="020B0503020204020204" pitchFamily="34" charset="-122"/>
              <a:sym typeface="Arial" panose="020B0604020202020204" pitchFamily="34" charset="0"/>
            </a:endParaRPr>
          </a:p>
        </p:txBody>
      </p:sp>
      <p:sp>
        <p:nvSpPr>
          <p:cNvPr id="8" name="矩形 7">
            <a:extLst>
              <a:ext uri="{FF2B5EF4-FFF2-40B4-BE49-F238E27FC236}">
                <a16:creationId xmlns:a16="http://schemas.microsoft.com/office/drawing/2014/main" id="{94FABB1D-B157-46FE-A6E0-81B6A3BF614B}"/>
              </a:ext>
            </a:extLst>
          </p:cNvPr>
          <p:cNvSpPr/>
          <p:nvPr/>
        </p:nvSpPr>
        <p:spPr>
          <a:xfrm>
            <a:off x="1126662" y="1135660"/>
            <a:ext cx="3669594" cy="442429"/>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甲骨文公司的</a:t>
            </a:r>
            <a:r>
              <a:rPr lang="en-US" altLang="zh-CN"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Oracle</a:t>
            </a:r>
            <a:r>
              <a:rPr lang="zh-CN" altLang="en-US"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数据库</a:t>
            </a:r>
          </a:p>
        </p:txBody>
      </p:sp>
      <p:pic>
        <p:nvPicPr>
          <p:cNvPr id="9" name="图片 8">
            <a:extLst>
              <a:ext uri="{FF2B5EF4-FFF2-40B4-BE49-F238E27FC236}">
                <a16:creationId xmlns:a16="http://schemas.microsoft.com/office/drawing/2014/main" id="{0576AECF-C31C-47BA-A8D7-FD88F2DE9C82}"/>
              </a:ext>
            </a:extLst>
          </p:cNvPr>
          <p:cNvPicPr>
            <a:picLocks noChangeAspect="1"/>
          </p:cNvPicPr>
          <p:nvPr/>
        </p:nvPicPr>
        <p:blipFill>
          <a:blip r:embed="rId3"/>
          <a:stretch>
            <a:fillRect/>
          </a:stretch>
        </p:blipFill>
        <p:spPr>
          <a:xfrm>
            <a:off x="8734633" y="2509966"/>
            <a:ext cx="2406552" cy="1115942"/>
          </a:xfrm>
          <a:prstGeom prst="rect">
            <a:avLst/>
          </a:prstGeom>
        </p:spPr>
      </p:pic>
      <p:pic>
        <p:nvPicPr>
          <p:cNvPr id="10" name="图片 9">
            <a:extLst>
              <a:ext uri="{FF2B5EF4-FFF2-40B4-BE49-F238E27FC236}">
                <a16:creationId xmlns:a16="http://schemas.microsoft.com/office/drawing/2014/main" id="{F3F32E11-8B04-4417-8157-675B90132F0C}"/>
              </a:ext>
            </a:extLst>
          </p:cNvPr>
          <p:cNvPicPr>
            <a:picLocks noChangeAspect="1"/>
          </p:cNvPicPr>
          <p:nvPr/>
        </p:nvPicPr>
        <p:blipFill>
          <a:blip r:embed="rId4"/>
          <a:stretch>
            <a:fillRect/>
          </a:stretch>
        </p:blipFill>
        <p:spPr>
          <a:xfrm>
            <a:off x="6858817" y="916436"/>
            <a:ext cx="4014656" cy="1168758"/>
          </a:xfrm>
          <a:prstGeom prst="rect">
            <a:avLst/>
          </a:prstGeom>
        </p:spPr>
      </p:pic>
      <p:sp>
        <p:nvSpPr>
          <p:cNvPr id="11" name="内容占位符 1">
            <a:extLst>
              <a:ext uri="{FF2B5EF4-FFF2-40B4-BE49-F238E27FC236}">
                <a16:creationId xmlns:a16="http://schemas.microsoft.com/office/drawing/2014/main" id="{44662916-7B68-40D7-B34B-9CF8359FF4C5}"/>
              </a:ext>
            </a:extLst>
          </p:cNvPr>
          <p:cNvSpPr>
            <a:spLocks noGrp="1"/>
          </p:cNvSpPr>
          <p:nvPr/>
        </p:nvSpPr>
        <p:spPr>
          <a:xfrm>
            <a:off x="814820" y="2365449"/>
            <a:ext cx="9641214" cy="3465630"/>
          </a:xfrm>
          <a:prstGeom prst="rect">
            <a:avLst/>
          </a:prstGeom>
        </p:spPr>
        <p:txBody>
          <a:bodyPr vert="horz" lIns="86699" tIns="43349" rIns="86699" bIns="43349" rtlCol="0">
            <a:normAutofit/>
          </a:bodyPr>
          <a:lstStyle>
            <a:lvl1pPr marL="0" indent="0" algn="l" defTabSz="914400" rtl="0" eaLnBrk="1" latinLnBrk="0" hangingPunct="1">
              <a:lnSpc>
                <a:spcPct val="120000"/>
              </a:lnSpc>
              <a:spcBef>
                <a:spcPts val="1000"/>
              </a:spcBef>
              <a:spcAft>
                <a:spcPts val="600"/>
              </a:spcAft>
              <a:buFont typeface="Arial" panose="020B0604020202020204" pitchFamily="34" charset="0"/>
              <a:buNone/>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spcAft>
                <a:spcPts val="60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spcAft>
                <a:spcPts val="600"/>
              </a:spcAft>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spcAft>
                <a:spcPts val="600"/>
              </a:spcAft>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3471" lvl="1" indent="0">
              <a:buNone/>
            </a:pPr>
            <a:r>
              <a:rPr lang="en-US" altLang="zh-CN" sz="2275" b="1" dirty="0">
                <a:solidFill>
                  <a:srgbClr val="1C8CCA"/>
                </a:solidFill>
              </a:rPr>
              <a:t>Oracle</a:t>
            </a:r>
            <a:r>
              <a:rPr lang="zh-CN" altLang="en-US" sz="2275" b="1" dirty="0">
                <a:solidFill>
                  <a:srgbClr val="1C8CCA"/>
                </a:solidFill>
              </a:rPr>
              <a:t>数据库的特点：</a:t>
            </a:r>
            <a:endParaRPr lang="en-US" altLang="zh-CN" sz="2275" b="1" dirty="0">
              <a:solidFill>
                <a:srgbClr val="1C8CCA"/>
              </a:solidFill>
            </a:endParaRPr>
          </a:p>
          <a:p>
            <a:pPr marL="433471" lvl="1" indent="0">
              <a:buNone/>
            </a:pPr>
            <a:r>
              <a:rPr lang="en-US" altLang="zh-CN" sz="2275" dirty="0"/>
              <a:t>1</a:t>
            </a:r>
            <a:r>
              <a:rPr lang="zh-CN" altLang="en-US" sz="2275" dirty="0"/>
              <a:t>、</a:t>
            </a:r>
            <a:r>
              <a:rPr lang="en-US" altLang="zh-CN" sz="2275" dirty="0"/>
              <a:t>Oracle</a:t>
            </a:r>
            <a:r>
              <a:rPr lang="zh-CN" altLang="en-US" sz="2275" dirty="0"/>
              <a:t>数据库可运行于大部分硬件平台与操作系统上。</a:t>
            </a:r>
          </a:p>
          <a:p>
            <a:pPr marL="433471" lvl="1" indent="0">
              <a:buNone/>
            </a:pPr>
            <a:r>
              <a:rPr lang="en-US" altLang="zh-CN" sz="2275" dirty="0"/>
              <a:t>2</a:t>
            </a:r>
            <a:r>
              <a:rPr lang="zh-CN" altLang="en-US" sz="2275" dirty="0"/>
              <a:t>、</a:t>
            </a:r>
            <a:r>
              <a:rPr lang="en-US" altLang="zh-CN" sz="2275" dirty="0"/>
              <a:t>Oracle</a:t>
            </a:r>
            <a:r>
              <a:rPr lang="zh-CN" altLang="en-US" sz="2275" dirty="0"/>
              <a:t>能与多种通讯网络相连，支持多种网络协议。</a:t>
            </a:r>
          </a:p>
          <a:p>
            <a:pPr marL="433471" lvl="1" indent="0">
              <a:buNone/>
            </a:pPr>
            <a:r>
              <a:rPr lang="en-US" altLang="zh-CN" sz="2275" dirty="0"/>
              <a:t>3</a:t>
            </a:r>
            <a:r>
              <a:rPr lang="zh-CN" altLang="en-US" sz="2275" dirty="0"/>
              <a:t>、</a:t>
            </a:r>
            <a:r>
              <a:rPr lang="en-US" altLang="zh-CN" sz="2275" dirty="0"/>
              <a:t>Oracle</a:t>
            </a:r>
            <a:r>
              <a:rPr lang="zh-CN" altLang="en-US" sz="2275" dirty="0"/>
              <a:t>的操作较为复杂，对数据库管理人员要求较高。</a:t>
            </a:r>
          </a:p>
          <a:p>
            <a:pPr marL="433471" lvl="1" indent="0">
              <a:buNone/>
            </a:pPr>
            <a:r>
              <a:rPr lang="en-US" altLang="zh-CN" sz="2275" dirty="0"/>
              <a:t>4</a:t>
            </a:r>
            <a:r>
              <a:rPr lang="zh-CN" altLang="en-US" sz="2275" dirty="0"/>
              <a:t>、</a:t>
            </a:r>
            <a:r>
              <a:rPr lang="en-US" altLang="zh-CN" sz="2275" dirty="0"/>
              <a:t>Oracle</a:t>
            </a:r>
            <a:r>
              <a:rPr lang="zh-CN" altLang="en-US" sz="2275" dirty="0"/>
              <a:t>具有良好的兼容性、可移植性、可连接性和高生产率。</a:t>
            </a:r>
          </a:p>
          <a:p>
            <a:pPr marL="433471" lvl="1" indent="0">
              <a:buNone/>
            </a:pPr>
            <a:r>
              <a:rPr lang="en-US" altLang="zh-CN" sz="2275" dirty="0"/>
              <a:t>5</a:t>
            </a:r>
            <a:r>
              <a:rPr lang="zh-CN" altLang="en-US" sz="2275" dirty="0"/>
              <a:t>、</a:t>
            </a:r>
            <a:r>
              <a:rPr lang="en-US" altLang="zh-CN" sz="2275" dirty="0"/>
              <a:t>Oracle</a:t>
            </a:r>
            <a:r>
              <a:rPr lang="zh-CN" altLang="en-US" sz="2275" dirty="0"/>
              <a:t>的安全性非常高，安全可靠。</a:t>
            </a:r>
          </a:p>
          <a:p>
            <a:endParaRPr lang="zh-CN" altLang="en-US" sz="2275" dirty="0"/>
          </a:p>
        </p:txBody>
      </p:sp>
    </p:spTree>
    <p:extLst>
      <p:ext uri="{BB962C8B-B14F-4D97-AF65-F5344CB8AC3E}">
        <p14:creationId xmlns:p14="http://schemas.microsoft.com/office/powerpoint/2010/main" val="1106723170"/>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7F33E1B4-156F-469B-BD3B-94B494AC0974}"/>
              </a:ext>
            </a:extLst>
          </p:cNvPr>
          <p:cNvSpPr/>
          <p:nvPr/>
        </p:nvSpPr>
        <p:spPr>
          <a:xfrm>
            <a:off x="1314133" y="1068028"/>
            <a:ext cx="4831482" cy="53753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07">
              <a:latin typeface="Arial" panose="020B0604020202020204" pitchFamily="34" charset="0"/>
              <a:ea typeface="Microsoft YaHei" panose="020B0503020204020204" pitchFamily="34" charset="-122"/>
              <a:sym typeface="Arial" panose="020B0604020202020204" pitchFamily="34" charset="0"/>
            </a:endParaRPr>
          </a:p>
        </p:txBody>
      </p:sp>
      <p:sp>
        <p:nvSpPr>
          <p:cNvPr id="8" name="矩形 7">
            <a:extLst>
              <a:ext uri="{FF2B5EF4-FFF2-40B4-BE49-F238E27FC236}">
                <a16:creationId xmlns:a16="http://schemas.microsoft.com/office/drawing/2014/main" id="{94FABB1D-B157-46FE-A6E0-81B6A3BF614B}"/>
              </a:ext>
            </a:extLst>
          </p:cNvPr>
          <p:cNvSpPr/>
          <p:nvPr/>
        </p:nvSpPr>
        <p:spPr>
          <a:xfrm>
            <a:off x="1359463" y="1117932"/>
            <a:ext cx="3020379" cy="442429"/>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IBM</a:t>
            </a:r>
            <a:r>
              <a:rPr lang="zh-CN" altLang="en-US"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公司的</a:t>
            </a:r>
            <a:r>
              <a:rPr lang="en-US" altLang="zh-CN"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DB2</a:t>
            </a:r>
            <a:r>
              <a:rPr lang="zh-CN" altLang="en-US"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数据库</a:t>
            </a:r>
          </a:p>
        </p:txBody>
      </p:sp>
      <p:sp>
        <p:nvSpPr>
          <p:cNvPr id="9" name="内容占位符 1">
            <a:extLst>
              <a:ext uri="{FF2B5EF4-FFF2-40B4-BE49-F238E27FC236}">
                <a16:creationId xmlns:a16="http://schemas.microsoft.com/office/drawing/2014/main" id="{FEDAB52E-649E-4EC8-9636-E8A0C66BB258}"/>
              </a:ext>
            </a:extLst>
          </p:cNvPr>
          <p:cNvSpPr>
            <a:spLocks noGrp="1"/>
          </p:cNvSpPr>
          <p:nvPr/>
        </p:nvSpPr>
        <p:spPr>
          <a:xfrm>
            <a:off x="1047620" y="2064086"/>
            <a:ext cx="10593657" cy="3748684"/>
          </a:xfrm>
          <a:prstGeom prst="rect">
            <a:avLst/>
          </a:prstGeom>
        </p:spPr>
        <p:txBody>
          <a:bodyPr vert="horz" lIns="86699" tIns="43349" rIns="86699" bIns="43349" rtlCol="0">
            <a:noAutofit/>
          </a:bodyPr>
          <a:lstStyle>
            <a:lvl1pPr marL="0" indent="0" algn="l" defTabSz="914400" rtl="0" eaLnBrk="1" latinLnBrk="0" hangingPunct="1">
              <a:lnSpc>
                <a:spcPct val="120000"/>
              </a:lnSpc>
              <a:spcBef>
                <a:spcPts val="1000"/>
              </a:spcBef>
              <a:spcAft>
                <a:spcPts val="600"/>
              </a:spcAft>
              <a:buFont typeface="Arial" panose="020B0604020202020204" pitchFamily="34" charset="0"/>
              <a:buNone/>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spcAft>
                <a:spcPts val="60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spcAft>
                <a:spcPts val="600"/>
              </a:spcAft>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spcAft>
                <a:spcPts val="600"/>
              </a:spcAft>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3471" lvl="1" indent="0">
              <a:buNone/>
            </a:pPr>
            <a:r>
              <a:rPr lang="en-US" altLang="zh-CN" sz="2275" b="1" dirty="0">
                <a:solidFill>
                  <a:srgbClr val="1C8CCA"/>
                </a:solidFill>
              </a:rPr>
              <a:t>DB2</a:t>
            </a:r>
            <a:r>
              <a:rPr lang="zh-CN" altLang="en-US" sz="2275" b="1" dirty="0">
                <a:solidFill>
                  <a:srgbClr val="1C8CCA"/>
                </a:solidFill>
              </a:rPr>
              <a:t>数据库的特点：</a:t>
            </a:r>
            <a:endParaRPr lang="en-US" altLang="zh-CN" sz="2275" b="1" dirty="0">
              <a:solidFill>
                <a:srgbClr val="1C8CCA"/>
              </a:solidFill>
            </a:endParaRPr>
          </a:p>
          <a:p>
            <a:pPr marL="433471" lvl="1" indent="0">
              <a:buNone/>
            </a:pPr>
            <a:r>
              <a:rPr lang="en-US" altLang="zh-CN" sz="2275" dirty="0"/>
              <a:t>1</a:t>
            </a:r>
            <a:r>
              <a:rPr lang="zh-CN" altLang="en-US" sz="2275" dirty="0"/>
              <a:t>、</a:t>
            </a:r>
            <a:r>
              <a:rPr lang="en-US" altLang="zh-CN" sz="2275" dirty="0"/>
              <a:t>DB2</a:t>
            </a:r>
            <a:r>
              <a:rPr lang="zh-CN" altLang="en-US" sz="2275" dirty="0"/>
              <a:t>应用于所有常见的服务器操作系统平台下。</a:t>
            </a:r>
            <a:endParaRPr lang="en-US" altLang="zh-CN" sz="2275" dirty="0"/>
          </a:p>
          <a:p>
            <a:pPr marL="433471" lvl="1" indent="0">
              <a:buNone/>
            </a:pPr>
            <a:r>
              <a:rPr lang="en-US" altLang="zh-CN" sz="2275" dirty="0"/>
              <a:t>2</a:t>
            </a:r>
            <a:r>
              <a:rPr lang="zh-CN" altLang="en-US" sz="2275" dirty="0"/>
              <a:t>、</a:t>
            </a:r>
            <a:r>
              <a:rPr lang="en-US" altLang="zh-CN" sz="2275" dirty="0"/>
              <a:t>DB2</a:t>
            </a:r>
            <a:r>
              <a:rPr lang="zh-CN" altLang="en-US" sz="2275" dirty="0"/>
              <a:t>广泛应用于大型软件系统，向下兼容性较好。</a:t>
            </a:r>
            <a:endParaRPr lang="en-US" altLang="zh-CN" sz="2275" dirty="0"/>
          </a:p>
          <a:p>
            <a:pPr marL="433471" lvl="1" indent="0">
              <a:buNone/>
            </a:pPr>
            <a:r>
              <a:rPr lang="en-US" altLang="zh-CN" sz="2275" dirty="0"/>
              <a:t>3</a:t>
            </a:r>
            <a:r>
              <a:rPr lang="zh-CN" altLang="en-US" sz="2275" dirty="0"/>
              <a:t>、</a:t>
            </a:r>
            <a:r>
              <a:rPr lang="en-US" altLang="zh-CN" sz="2275" dirty="0"/>
              <a:t>DB2</a:t>
            </a:r>
            <a:r>
              <a:rPr lang="zh-CN" altLang="en-US" sz="2275" dirty="0"/>
              <a:t>适用于数据仓库和在线事务处理，性能高。</a:t>
            </a:r>
            <a:endParaRPr lang="en-US" altLang="zh-CN" sz="2275" dirty="0"/>
          </a:p>
          <a:p>
            <a:pPr marL="433471" lvl="1" indent="0">
              <a:buNone/>
            </a:pPr>
            <a:r>
              <a:rPr lang="en-US" altLang="zh-CN" sz="2275" dirty="0"/>
              <a:t>4</a:t>
            </a:r>
            <a:r>
              <a:rPr lang="zh-CN" altLang="en-US" sz="2275" dirty="0"/>
              <a:t>、</a:t>
            </a:r>
            <a:r>
              <a:rPr lang="en-US" altLang="zh-CN" sz="2275" dirty="0"/>
              <a:t>DB2</a:t>
            </a:r>
            <a:r>
              <a:rPr lang="zh-CN" altLang="en-US" sz="2275" dirty="0"/>
              <a:t>采用了数据分级技术，使数据库本地化及远程连接透明化。</a:t>
            </a:r>
            <a:endParaRPr lang="en-US" altLang="zh-CN" sz="2275" dirty="0"/>
          </a:p>
          <a:p>
            <a:pPr marL="433471" lvl="1" indent="0">
              <a:buNone/>
            </a:pPr>
            <a:r>
              <a:rPr lang="en-US" altLang="zh-CN" sz="2275" dirty="0"/>
              <a:t>5</a:t>
            </a:r>
            <a:r>
              <a:rPr lang="zh-CN" altLang="en-US" sz="2275" dirty="0"/>
              <a:t>、</a:t>
            </a:r>
            <a:r>
              <a:rPr lang="en-US" altLang="zh-CN" sz="2275" dirty="0"/>
              <a:t>DB2</a:t>
            </a:r>
            <a:r>
              <a:rPr lang="zh-CN" altLang="en-US" sz="2275" dirty="0"/>
              <a:t>具有很好的网络支持能力，可同时激活上千个活动线程。</a:t>
            </a:r>
          </a:p>
        </p:txBody>
      </p:sp>
      <p:pic>
        <p:nvPicPr>
          <p:cNvPr id="10" name="图片 9">
            <a:extLst>
              <a:ext uri="{FF2B5EF4-FFF2-40B4-BE49-F238E27FC236}">
                <a16:creationId xmlns:a16="http://schemas.microsoft.com/office/drawing/2014/main" id="{608C6650-52E5-4A24-85DB-2B6B47DCC603}"/>
              </a:ext>
            </a:extLst>
          </p:cNvPr>
          <p:cNvPicPr>
            <a:picLocks noChangeAspect="1"/>
          </p:cNvPicPr>
          <p:nvPr/>
        </p:nvPicPr>
        <p:blipFill>
          <a:blip r:embed="rId3"/>
          <a:stretch>
            <a:fillRect/>
          </a:stretch>
        </p:blipFill>
        <p:spPr>
          <a:xfrm>
            <a:off x="8378839" y="858952"/>
            <a:ext cx="1481178" cy="1493221"/>
          </a:xfrm>
          <a:prstGeom prst="rect">
            <a:avLst/>
          </a:prstGeom>
        </p:spPr>
      </p:pic>
    </p:spTree>
    <p:extLst>
      <p:ext uri="{BB962C8B-B14F-4D97-AF65-F5344CB8AC3E}">
        <p14:creationId xmlns:p14="http://schemas.microsoft.com/office/powerpoint/2010/main" val="3878840489"/>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7F33E1B4-156F-469B-BD3B-94B494AC0974}"/>
              </a:ext>
            </a:extLst>
          </p:cNvPr>
          <p:cNvSpPr/>
          <p:nvPr/>
        </p:nvSpPr>
        <p:spPr>
          <a:xfrm>
            <a:off x="1303009" y="982397"/>
            <a:ext cx="4831482" cy="53753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07">
              <a:latin typeface="Arial" panose="020B0604020202020204" pitchFamily="34" charset="0"/>
              <a:ea typeface="Microsoft YaHei" panose="020B0503020204020204" pitchFamily="34" charset="-122"/>
              <a:sym typeface="Arial" panose="020B0604020202020204" pitchFamily="34" charset="0"/>
            </a:endParaRPr>
          </a:p>
        </p:txBody>
      </p:sp>
      <p:sp>
        <p:nvSpPr>
          <p:cNvPr id="8" name="矩形 7">
            <a:extLst>
              <a:ext uri="{FF2B5EF4-FFF2-40B4-BE49-F238E27FC236}">
                <a16:creationId xmlns:a16="http://schemas.microsoft.com/office/drawing/2014/main" id="{94FABB1D-B157-46FE-A6E0-81B6A3BF614B}"/>
              </a:ext>
            </a:extLst>
          </p:cNvPr>
          <p:cNvSpPr/>
          <p:nvPr/>
        </p:nvSpPr>
        <p:spPr>
          <a:xfrm>
            <a:off x="1348338" y="1032300"/>
            <a:ext cx="3783408" cy="442429"/>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甲骨文公司的</a:t>
            </a:r>
            <a:r>
              <a:rPr lang="en-US" altLang="zh-CN"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MySQL</a:t>
            </a:r>
            <a:r>
              <a:rPr lang="zh-CN" altLang="en-US"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数据库</a:t>
            </a:r>
          </a:p>
        </p:txBody>
      </p:sp>
      <p:sp>
        <p:nvSpPr>
          <p:cNvPr id="9" name="内容占位符 1">
            <a:extLst>
              <a:ext uri="{FF2B5EF4-FFF2-40B4-BE49-F238E27FC236}">
                <a16:creationId xmlns:a16="http://schemas.microsoft.com/office/drawing/2014/main" id="{CE2FDA27-7AAA-4512-ABCA-A8A687B6A20D}"/>
              </a:ext>
            </a:extLst>
          </p:cNvPr>
          <p:cNvSpPr>
            <a:spLocks noGrp="1"/>
          </p:cNvSpPr>
          <p:nvPr/>
        </p:nvSpPr>
        <p:spPr>
          <a:xfrm>
            <a:off x="1036496" y="2262089"/>
            <a:ext cx="9641214" cy="3465630"/>
          </a:xfrm>
          <a:prstGeom prst="rect">
            <a:avLst/>
          </a:prstGeom>
        </p:spPr>
        <p:txBody>
          <a:bodyPr vert="horz" lIns="86699" tIns="43349" rIns="86699" bIns="43349" rtlCol="0">
            <a:normAutofit/>
          </a:bodyPr>
          <a:lstStyle>
            <a:lvl1pPr marL="0" indent="0" algn="l" defTabSz="914400" rtl="0" eaLnBrk="1" latinLnBrk="0" hangingPunct="1">
              <a:lnSpc>
                <a:spcPct val="120000"/>
              </a:lnSpc>
              <a:spcBef>
                <a:spcPts val="1000"/>
              </a:spcBef>
              <a:spcAft>
                <a:spcPts val="600"/>
              </a:spcAft>
              <a:buFont typeface="Arial" panose="020B0604020202020204" pitchFamily="34" charset="0"/>
              <a:buNone/>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spcAft>
                <a:spcPts val="60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spcAft>
                <a:spcPts val="600"/>
              </a:spcAft>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spcAft>
                <a:spcPts val="600"/>
              </a:spcAft>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3471" lvl="1" indent="0">
              <a:buNone/>
            </a:pPr>
            <a:r>
              <a:rPr lang="en-US" altLang="zh-CN" sz="2275" b="1" dirty="0">
                <a:solidFill>
                  <a:srgbClr val="1C8CCA"/>
                </a:solidFill>
              </a:rPr>
              <a:t>MySQL</a:t>
            </a:r>
            <a:r>
              <a:rPr lang="zh-CN" altLang="en-US" sz="2275" b="1" dirty="0">
                <a:solidFill>
                  <a:srgbClr val="1C8CCA"/>
                </a:solidFill>
              </a:rPr>
              <a:t>数据库的特点：</a:t>
            </a:r>
            <a:endParaRPr lang="en-US" altLang="zh-CN" sz="2275" b="1" dirty="0">
              <a:solidFill>
                <a:srgbClr val="1C8CCA"/>
              </a:solidFill>
            </a:endParaRPr>
          </a:p>
          <a:p>
            <a:pPr marL="433471" lvl="1" indent="0">
              <a:buNone/>
            </a:pPr>
            <a:r>
              <a:rPr lang="en-US" altLang="zh-CN" sz="2275" dirty="0"/>
              <a:t>1</a:t>
            </a:r>
            <a:r>
              <a:rPr lang="zh-CN" altLang="en-US" sz="2275" dirty="0"/>
              <a:t>、</a:t>
            </a:r>
            <a:r>
              <a:rPr lang="en-US" altLang="zh-CN" sz="2275" dirty="0"/>
              <a:t>MySQL</a:t>
            </a:r>
            <a:r>
              <a:rPr lang="zh-CN" altLang="en-US" sz="2275" dirty="0"/>
              <a:t>是开源的，可供用户免费使用。</a:t>
            </a:r>
          </a:p>
          <a:p>
            <a:pPr marL="433471" lvl="1" indent="0">
              <a:buNone/>
            </a:pPr>
            <a:r>
              <a:rPr lang="en-US" altLang="zh-CN" sz="2275" dirty="0"/>
              <a:t>2</a:t>
            </a:r>
            <a:r>
              <a:rPr lang="zh-CN" altLang="en-US" sz="2275" dirty="0"/>
              <a:t>、</a:t>
            </a:r>
            <a:r>
              <a:rPr lang="en-US" altLang="zh-CN" sz="2275" dirty="0"/>
              <a:t>MySQL</a:t>
            </a:r>
            <a:r>
              <a:rPr lang="zh-CN" altLang="en-US" sz="2275" dirty="0"/>
              <a:t>支持多线程，充分利用</a:t>
            </a:r>
            <a:r>
              <a:rPr lang="en-US" altLang="zh-CN" sz="2275" dirty="0"/>
              <a:t>CPU</a:t>
            </a:r>
            <a:r>
              <a:rPr lang="zh-CN" altLang="en-US" sz="2275" dirty="0"/>
              <a:t>资源，对服务器配置要求低。</a:t>
            </a:r>
          </a:p>
          <a:p>
            <a:pPr marL="433471" lvl="1" indent="0">
              <a:buNone/>
            </a:pPr>
            <a:r>
              <a:rPr lang="en-US" altLang="zh-CN" sz="2275" dirty="0"/>
              <a:t>3</a:t>
            </a:r>
            <a:r>
              <a:rPr lang="zh-CN" altLang="en-US" sz="2275" dirty="0"/>
              <a:t>、</a:t>
            </a:r>
            <a:r>
              <a:rPr lang="en-US" altLang="zh-CN" sz="2275" dirty="0"/>
              <a:t>MySQL</a:t>
            </a:r>
            <a:r>
              <a:rPr lang="zh-CN" altLang="en-US" sz="2275" dirty="0"/>
              <a:t>对 </a:t>
            </a:r>
            <a:r>
              <a:rPr lang="en-US" altLang="zh-CN" sz="2275" dirty="0"/>
              <a:t>PHP</a:t>
            </a:r>
            <a:r>
              <a:rPr lang="zh-CN" altLang="en-US" sz="2275" dirty="0"/>
              <a:t>有很好的支持，</a:t>
            </a:r>
            <a:r>
              <a:rPr lang="en-US" altLang="zh-CN" sz="2275" dirty="0"/>
              <a:t>PHP</a:t>
            </a:r>
            <a:r>
              <a:rPr lang="zh-CN" altLang="en-US" sz="2275" dirty="0"/>
              <a:t>是</a:t>
            </a:r>
            <a:r>
              <a:rPr lang="en-US" altLang="zh-CN" sz="2275" dirty="0"/>
              <a:t>Web </a:t>
            </a:r>
            <a:r>
              <a:rPr lang="zh-CN" altLang="en-US" sz="2275" dirty="0"/>
              <a:t>开发语言，搭配 </a:t>
            </a:r>
            <a:r>
              <a:rPr lang="en-US" altLang="zh-CN" sz="2275" dirty="0"/>
              <a:t>PHP </a:t>
            </a:r>
            <a:r>
              <a:rPr lang="zh-CN" altLang="en-US" sz="2275" dirty="0"/>
              <a:t>和 </a:t>
            </a:r>
            <a:r>
              <a:rPr lang="en-US" altLang="zh-CN" sz="2275" dirty="0"/>
              <a:t>Apache </a:t>
            </a:r>
            <a:r>
              <a:rPr lang="zh-CN" altLang="en-US" sz="2275" dirty="0"/>
              <a:t>可组成良好的</a:t>
            </a:r>
            <a:r>
              <a:rPr lang="en-US" altLang="zh-CN" sz="2275" dirty="0"/>
              <a:t>Web</a:t>
            </a:r>
            <a:r>
              <a:rPr lang="zh-CN" altLang="en-US" sz="2275" dirty="0"/>
              <a:t>开发环境。</a:t>
            </a:r>
          </a:p>
          <a:p>
            <a:pPr marL="433471" lvl="1" indent="0">
              <a:buNone/>
            </a:pPr>
            <a:r>
              <a:rPr lang="en-US" altLang="zh-CN" sz="2275" dirty="0"/>
              <a:t>4</a:t>
            </a:r>
            <a:r>
              <a:rPr lang="zh-CN" altLang="en-US" sz="2275" dirty="0"/>
              <a:t>、</a:t>
            </a:r>
            <a:r>
              <a:rPr lang="en-US" altLang="zh-CN" sz="2275" dirty="0"/>
              <a:t>MySQL</a:t>
            </a:r>
            <a:r>
              <a:rPr lang="zh-CN" altLang="en-US" sz="2275" dirty="0"/>
              <a:t>提供</a:t>
            </a:r>
            <a:r>
              <a:rPr lang="en-US" altLang="zh-CN" sz="2275" dirty="0"/>
              <a:t>TCP/IP</a:t>
            </a:r>
            <a:r>
              <a:rPr lang="zh-CN" altLang="en-US" sz="2275" dirty="0"/>
              <a:t>、</a:t>
            </a:r>
            <a:r>
              <a:rPr lang="en-US" altLang="zh-CN" sz="2275" dirty="0"/>
              <a:t>ODBC</a:t>
            </a:r>
            <a:r>
              <a:rPr lang="zh-CN" altLang="en-US" sz="2275" dirty="0"/>
              <a:t>和</a:t>
            </a:r>
            <a:r>
              <a:rPr lang="en-US" altLang="zh-CN" sz="2275" dirty="0"/>
              <a:t>JDBC</a:t>
            </a:r>
            <a:r>
              <a:rPr lang="zh-CN" altLang="en-US" sz="2275" dirty="0"/>
              <a:t>等多种数据库连接途径。</a:t>
            </a:r>
          </a:p>
        </p:txBody>
      </p:sp>
      <p:pic>
        <p:nvPicPr>
          <p:cNvPr id="10" name="图片 9">
            <a:extLst>
              <a:ext uri="{FF2B5EF4-FFF2-40B4-BE49-F238E27FC236}">
                <a16:creationId xmlns:a16="http://schemas.microsoft.com/office/drawing/2014/main" id="{61F3B4C4-C207-489C-9766-149A564E5D30}"/>
              </a:ext>
            </a:extLst>
          </p:cNvPr>
          <p:cNvPicPr>
            <a:picLocks noChangeAspect="1"/>
          </p:cNvPicPr>
          <p:nvPr/>
        </p:nvPicPr>
        <p:blipFill>
          <a:blip r:embed="rId3"/>
          <a:stretch>
            <a:fillRect/>
          </a:stretch>
        </p:blipFill>
        <p:spPr>
          <a:xfrm>
            <a:off x="9254912" y="817462"/>
            <a:ext cx="1804340" cy="1317876"/>
          </a:xfrm>
          <a:prstGeom prst="rect">
            <a:avLst/>
          </a:prstGeom>
        </p:spPr>
      </p:pic>
    </p:spTree>
    <p:extLst>
      <p:ext uri="{BB962C8B-B14F-4D97-AF65-F5344CB8AC3E}">
        <p14:creationId xmlns:p14="http://schemas.microsoft.com/office/powerpoint/2010/main" val="2807806768"/>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7F33E1B4-156F-469B-BD3B-94B494AC0974}"/>
              </a:ext>
            </a:extLst>
          </p:cNvPr>
          <p:cNvSpPr/>
          <p:nvPr/>
        </p:nvSpPr>
        <p:spPr>
          <a:xfrm>
            <a:off x="1318335" y="1156385"/>
            <a:ext cx="4831482" cy="53753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07">
              <a:latin typeface="Arial" panose="020B0604020202020204" pitchFamily="34" charset="0"/>
              <a:ea typeface="Microsoft YaHei" panose="020B0503020204020204" pitchFamily="34" charset="-122"/>
              <a:sym typeface="Arial" panose="020B0604020202020204" pitchFamily="34" charset="0"/>
            </a:endParaRPr>
          </a:p>
        </p:txBody>
      </p:sp>
      <p:sp>
        <p:nvSpPr>
          <p:cNvPr id="15" name="矩形 14">
            <a:extLst>
              <a:ext uri="{FF2B5EF4-FFF2-40B4-BE49-F238E27FC236}">
                <a16:creationId xmlns:a16="http://schemas.microsoft.com/office/drawing/2014/main" id="{94FABB1D-B157-46FE-A6E0-81B6A3BF614B}"/>
              </a:ext>
            </a:extLst>
          </p:cNvPr>
          <p:cNvSpPr/>
          <p:nvPr/>
        </p:nvSpPr>
        <p:spPr>
          <a:xfrm>
            <a:off x="1363664" y="1206289"/>
            <a:ext cx="4032258" cy="442429"/>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微软公司的</a:t>
            </a:r>
            <a:r>
              <a:rPr lang="en-US" altLang="zh-CN"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SQL Server</a:t>
            </a:r>
            <a:r>
              <a:rPr lang="zh-CN" altLang="en-US"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数据库</a:t>
            </a:r>
          </a:p>
        </p:txBody>
      </p:sp>
      <p:sp>
        <p:nvSpPr>
          <p:cNvPr id="16" name="内容占位符 1">
            <a:extLst>
              <a:ext uri="{FF2B5EF4-FFF2-40B4-BE49-F238E27FC236}">
                <a16:creationId xmlns:a16="http://schemas.microsoft.com/office/drawing/2014/main" id="{AEA3C098-3FB5-4898-93A1-2E3EE9D7FC70}"/>
              </a:ext>
            </a:extLst>
          </p:cNvPr>
          <p:cNvSpPr>
            <a:spLocks noGrp="1"/>
          </p:cNvSpPr>
          <p:nvPr/>
        </p:nvSpPr>
        <p:spPr>
          <a:xfrm>
            <a:off x="1051822" y="1923623"/>
            <a:ext cx="9641214" cy="3978085"/>
          </a:xfrm>
          <a:prstGeom prst="rect">
            <a:avLst/>
          </a:prstGeom>
        </p:spPr>
        <p:txBody>
          <a:bodyPr vert="horz" lIns="86699" tIns="43349" rIns="86699" bIns="43349" rtlCol="0">
            <a:noAutofit/>
          </a:bodyPr>
          <a:lstStyle>
            <a:lvl1pPr marL="0" indent="0" algn="l" defTabSz="914400" rtl="0" eaLnBrk="1" latinLnBrk="0" hangingPunct="1">
              <a:lnSpc>
                <a:spcPct val="120000"/>
              </a:lnSpc>
              <a:spcBef>
                <a:spcPts val="1000"/>
              </a:spcBef>
              <a:spcAft>
                <a:spcPts val="600"/>
              </a:spcAft>
              <a:buFont typeface="Arial" panose="020B0604020202020204" pitchFamily="34" charset="0"/>
              <a:buNone/>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spcAft>
                <a:spcPts val="60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spcAft>
                <a:spcPts val="600"/>
              </a:spcAft>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spcAft>
                <a:spcPts val="600"/>
              </a:spcAft>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3471" lvl="1" indent="0">
              <a:buNone/>
            </a:pPr>
            <a:r>
              <a:rPr lang="en-US" altLang="zh-CN" sz="2275" b="1" dirty="0">
                <a:solidFill>
                  <a:srgbClr val="1C8CCA"/>
                </a:solidFill>
              </a:rPr>
              <a:t>SQL Server</a:t>
            </a:r>
            <a:r>
              <a:rPr lang="zh-CN" altLang="en-US" sz="2275" b="1" dirty="0">
                <a:solidFill>
                  <a:srgbClr val="1C8CCA"/>
                </a:solidFill>
              </a:rPr>
              <a:t>数据库的特点：</a:t>
            </a:r>
            <a:endParaRPr lang="en-US" altLang="zh-CN" sz="2275" b="1" dirty="0">
              <a:solidFill>
                <a:srgbClr val="1C8CCA"/>
              </a:solidFill>
            </a:endParaRPr>
          </a:p>
          <a:p>
            <a:pPr marL="433471" lvl="1" indent="0">
              <a:buNone/>
            </a:pPr>
            <a:r>
              <a:rPr lang="en-US" altLang="zh-CN" sz="2275" dirty="0"/>
              <a:t>1</a:t>
            </a:r>
            <a:r>
              <a:rPr lang="zh-CN" altLang="en-US" sz="2275" dirty="0"/>
              <a:t>、</a:t>
            </a:r>
            <a:r>
              <a:rPr lang="en-US" altLang="zh-CN" sz="2275" dirty="0"/>
              <a:t>SQL Server</a:t>
            </a:r>
            <a:r>
              <a:rPr lang="zh-CN" altLang="en-US" sz="2275" dirty="0"/>
              <a:t>采用图形界面，操作简单，管理方便。</a:t>
            </a:r>
          </a:p>
          <a:p>
            <a:pPr marL="433471" lvl="1" indent="0">
              <a:buNone/>
            </a:pPr>
            <a:r>
              <a:rPr lang="en-US" altLang="zh-CN" sz="2275" dirty="0"/>
              <a:t>2</a:t>
            </a:r>
            <a:r>
              <a:rPr lang="zh-CN" altLang="en-US" sz="2275" dirty="0"/>
              <a:t>、</a:t>
            </a:r>
            <a:r>
              <a:rPr lang="en-US" altLang="zh-CN" sz="2275" dirty="0"/>
              <a:t>SQL Server</a:t>
            </a:r>
            <a:r>
              <a:rPr lang="zh-CN" altLang="en-US" sz="2275" dirty="0"/>
              <a:t>与微软的开发工具（</a:t>
            </a:r>
            <a:r>
              <a:rPr lang="en-US" altLang="zh-CN" sz="2275" dirty="0"/>
              <a:t>C#</a:t>
            </a:r>
            <a:r>
              <a:rPr lang="zh-CN" altLang="en-US" sz="2275" dirty="0"/>
              <a:t>、</a:t>
            </a:r>
            <a:r>
              <a:rPr lang="en-US" altLang="zh-CN" sz="2275" dirty="0"/>
              <a:t>ASP.NET)</a:t>
            </a:r>
            <a:r>
              <a:rPr lang="zh-CN" altLang="en-US" sz="2275" dirty="0"/>
              <a:t>相互配合，开发便捷。</a:t>
            </a:r>
          </a:p>
          <a:p>
            <a:pPr marL="433471" lvl="1" indent="0">
              <a:buNone/>
            </a:pPr>
            <a:r>
              <a:rPr lang="en-US" altLang="zh-CN" sz="2275" dirty="0"/>
              <a:t>3</a:t>
            </a:r>
            <a:r>
              <a:rPr lang="zh-CN" altLang="en-US" sz="2275" dirty="0"/>
              <a:t>、</a:t>
            </a:r>
            <a:r>
              <a:rPr lang="en-US" altLang="zh-CN" sz="2275" dirty="0"/>
              <a:t>SQL Server</a:t>
            </a:r>
            <a:r>
              <a:rPr lang="zh-CN" altLang="en-US" sz="2275" dirty="0"/>
              <a:t>可以支持</a:t>
            </a:r>
            <a:r>
              <a:rPr lang="en-US" altLang="zh-CN" sz="2275" dirty="0"/>
              <a:t>ADO,DAO,OLEDB,ODBC</a:t>
            </a:r>
            <a:r>
              <a:rPr lang="zh-CN" altLang="en-US" sz="2275" dirty="0"/>
              <a:t>多种连接方式。</a:t>
            </a:r>
          </a:p>
          <a:p>
            <a:pPr marL="433471" lvl="1" indent="0">
              <a:buNone/>
            </a:pPr>
            <a:r>
              <a:rPr lang="en-US" altLang="zh-CN" sz="2275" dirty="0"/>
              <a:t>4</a:t>
            </a:r>
            <a:r>
              <a:rPr lang="zh-CN" altLang="en-US" sz="2275" dirty="0"/>
              <a:t>、</a:t>
            </a:r>
            <a:r>
              <a:rPr lang="en-US" altLang="zh-CN" sz="2275" dirty="0"/>
              <a:t>SQL Server</a:t>
            </a:r>
            <a:r>
              <a:rPr lang="zh-CN" altLang="en-US" sz="2275" dirty="0"/>
              <a:t>价格便宜，维护费用也较低。</a:t>
            </a:r>
          </a:p>
          <a:p>
            <a:pPr marL="433471" lvl="1" indent="0">
              <a:buNone/>
            </a:pPr>
            <a:r>
              <a:rPr lang="en-US" altLang="zh-CN" sz="2275" dirty="0"/>
              <a:t>5</a:t>
            </a:r>
            <a:r>
              <a:rPr lang="zh-CN" altLang="en-US" sz="2275" dirty="0"/>
              <a:t>、</a:t>
            </a:r>
            <a:r>
              <a:rPr lang="en-US" altLang="zh-CN" sz="2275" dirty="0"/>
              <a:t>SQL Server</a:t>
            </a:r>
            <a:r>
              <a:rPr lang="zh-CN" altLang="en-US" sz="2275" dirty="0"/>
              <a:t>开放性不足，只能在</a:t>
            </a:r>
            <a:r>
              <a:rPr lang="en-US" altLang="zh-CN" sz="2275" dirty="0"/>
              <a:t>Windows</a:t>
            </a:r>
            <a:r>
              <a:rPr lang="zh-CN" altLang="en-US" sz="2275" dirty="0"/>
              <a:t>平台上运行。</a:t>
            </a:r>
          </a:p>
        </p:txBody>
      </p:sp>
      <p:pic>
        <p:nvPicPr>
          <p:cNvPr id="17" name="图片 16">
            <a:extLst>
              <a:ext uri="{FF2B5EF4-FFF2-40B4-BE49-F238E27FC236}">
                <a16:creationId xmlns:a16="http://schemas.microsoft.com/office/drawing/2014/main" id="{FDCF9164-B451-41EB-8404-C1FE218DC4B6}"/>
              </a:ext>
            </a:extLst>
          </p:cNvPr>
          <p:cNvPicPr>
            <a:picLocks noChangeAspect="1"/>
          </p:cNvPicPr>
          <p:nvPr/>
        </p:nvPicPr>
        <p:blipFill>
          <a:blip r:embed="rId3"/>
          <a:stretch>
            <a:fillRect/>
          </a:stretch>
        </p:blipFill>
        <p:spPr>
          <a:xfrm>
            <a:off x="8582829" y="776984"/>
            <a:ext cx="2155536" cy="1734062"/>
          </a:xfrm>
          <a:prstGeom prst="rect">
            <a:avLst/>
          </a:prstGeom>
        </p:spPr>
      </p:pic>
    </p:spTree>
    <p:extLst>
      <p:ext uri="{BB962C8B-B14F-4D97-AF65-F5344CB8AC3E}">
        <p14:creationId xmlns:p14="http://schemas.microsoft.com/office/powerpoint/2010/main" val="943710117"/>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7F33E1B4-156F-469B-BD3B-94B494AC0974}"/>
              </a:ext>
            </a:extLst>
          </p:cNvPr>
          <p:cNvSpPr/>
          <p:nvPr/>
        </p:nvSpPr>
        <p:spPr>
          <a:xfrm>
            <a:off x="1326451" y="1086742"/>
            <a:ext cx="4831482" cy="53753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07">
              <a:latin typeface="Arial" panose="020B0604020202020204" pitchFamily="34" charset="0"/>
              <a:ea typeface="Microsoft YaHei" panose="020B0503020204020204" pitchFamily="34" charset="-122"/>
              <a:sym typeface="Arial" panose="020B0604020202020204" pitchFamily="34" charset="0"/>
            </a:endParaRPr>
          </a:p>
        </p:txBody>
      </p:sp>
      <p:sp>
        <p:nvSpPr>
          <p:cNvPr id="9" name="矩形 8">
            <a:extLst>
              <a:ext uri="{FF2B5EF4-FFF2-40B4-BE49-F238E27FC236}">
                <a16:creationId xmlns:a16="http://schemas.microsoft.com/office/drawing/2014/main" id="{94FABB1D-B157-46FE-A6E0-81B6A3BF614B}"/>
              </a:ext>
            </a:extLst>
          </p:cNvPr>
          <p:cNvSpPr/>
          <p:nvPr/>
        </p:nvSpPr>
        <p:spPr>
          <a:xfrm>
            <a:off x="1371780" y="1136646"/>
            <a:ext cx="2518638" cy="442429"/>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75" dirty="0">
                <a:solidFill>
                  <a:schemeClr val="bg1"/>
                </a:solidFill>
                <a:latin typeface="Arial" panose="020B0604020202020204" pitchFamily="34" charset="0"/>
                <a:ea typeface="Microsoft YaHei" panose="020B0503020204020204" pitchFamily="34" charset="-122"/>
                <a:sym typeface="Arial" panose="020B0604020202020204" pitchFamily="34" charset="0"/>
              </a:rPr>
              <a:t>其它新兴的数据库</a:t>
            </a:r>
          </a:p>
        </p:txBody>
      </p:sp>
      <p:sp>
        <p:nvSpPr>
          <p:cNvPr id="10" name="内容占位符 1">
            <a:extLst>
              <a:ext uri="{FF2B5EF4-FFF2-40B4-BE49-F238E27FC236}">
                <a16:creationId xmlns:a16="http://schemas.microsoft.com/office/drawing/2014/main" id="{796FDB91-D6CE-415F-9D77-DD31490E330D}"/>
              </a:ext>
            </a:extLst>
          </p:cNvPr>
          <p:cNvSpPr>
            <a:spLocks noGrp="1"/>
          </p:cNvSpPr>
          <p:nvPr/>
        </p:nvSpPr>
        <p:spPr>
          <a:xfrm>
            <a:off x="1059938" y="1771786"/>
            <a:ext cx="9641214" cy="4060279"/>
          </a:xfrm>
          <a:prstGeom prst="rect">
            <a:avLst/>
          </a:prstGeom>
        </p:spPr>
        <p:txBody>
          <a:bodyPr vert="horz" lIns="86699" tIns="43349" rIns="86699" bIns="43349" rtlCol="0">
            <a:noAutofit/>
          </a:bodyPr>
          <a:lstStyle>
            <a:lvl1pPr marL="0" indent="0" algn="l" defTabSz="914400" rtl="0" eaLnBrk="1" latinLnBrk="0" hangingPunct="1">
              <a:lnSpc>
                <a:spcPct val="120000"/>
              </a:lnSpc>
              <a:spcBef>
                <a:spcPts val="1000"/>
              </a:spcBef>
              <a:spcAft>
                <a:spcPts val="600"/>
              </a:spcAft>
              <a:buFont typeface="Arial" panose="020B0604020202020204" pitchFamily="34" charset="0"/>
              <a:buNone/>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spcAft>
                <a:spcPts val="60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spcAft>
                <a:spcPts val="600"/>
              </a:spcAft>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spcAft>
                <a:spcPts val="600"/>
              </a:spcAft>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3471" lvl="1" indent="0">
              <a:buNone/>
            </a:pPr>
            <a:r>
              <a:rPr lang="en-US" altLang="zh-CN" sz="2275" b="1" dirty="0">
                <a:solidFill>
                  <a:srgbClr val="1C8CCA"/>
                </a:solidFill>
              </a:rPr>
              <a:t>PostgreSQL</a:t>
            </a:r>
            <a:r>
              <a:rPr lang="zh-CN" altLang="en-US" sz="2275" b="1" dirty="0">
                <a:solidFill>
                  <a:srgbClr val="1C8CCA"/>
                </a:solidFill>
              </a:rPr>
              <a:t>：</a:t>
            </a:r>
            <a:endParaRPr lang="en-US" altLang="zh-CN" sz="2275" b="1" dirty="0">
              <a:solidFill>
                <a:srgbClr val="1C8CCA"/>
              </a:solidFill>
            </a:endParaRPr>
          </a:p>
          <a:p>
            <a:pPr marL="433471" lvl="1" indent="0">
              <a:buNone/>
            </a:pPr>
            <a:r>
              <a:rPr lang="zh-CN" altLang="en-US" sz="2275" dirty="0"/>
              <a:t>由加州大学伯克利分校计算机系开发的一款开源的对象关系型数据库管理系统，提供丰富的数据类型的支持，用户免费使用、修改和分发，不管是私用、商用、还是学术研究使用。</a:t>
            </a:r>
            <a:endParaRPr lang="en-US" altLang="zh-CN" sz="2275" dirty="0"/>
          </a:p>
          <a:p>
            <a:pPr marL="433471" lvl="1" indent="0">
              <a:buNone/>
            </a:pPr>
            <a:r>
              <a:rPr lang="en-US" altLang="zh-CN" sz="2275" b="1" dirty="0">
                <a:solidFill>
                  <a:srgbClr val="1C8CCA"/>
                </a:solidFill>
              </a:rPr>
              <a:t>MongoDB</a:t>
            </a:r>
            <a:r>
              <a:rPr lang="zh-CN" altLang="en-US" sz="2275" b="1" dirty="0">
                <a:solidFill>
                  <a:srgbClr val="1C8CCA"/>
                </a:solidFill>
              </a:rPr>
              <a:t>：</a:t>
            </a:r>
            <a:endParaRPr lang="en-US" altLang="zh-CN" sz="2275" b="1" dirty="0">
              <a:solidFill>
                <a:srgbClr val="1C8CCA"/>
              </a:solidFill>
            </a:endParaRPr>
          </a:p>
          <a:p>
            <a:pPr marL="433471" lvl="1" indent="0">
              <a:buNone/>
            </a:pPr>
            <a:r>
              <a:rPr lang="zh-CN" altLang="en-US" sz="2275" dirty="0"/>
              <a:t>是一个基于分布式文件存储的</a:t>
            </a:r>
            <a:r>
              <a:rPr lang="en-US" altLang="zh-CN" sz="2275" dirty="0" err="1"/>
              <a:t>Nosql</a:t>
            </a:r>
            <a:r>
              <a:rPr lang="zh-CN" altLang="en-US" sz="2275" dirty="0"/>
              <a:t>数据库</a:t>
            </a:r>
            <a:r>
              <a:rPr lang="en-US" altLang="zh-CN" sz="2275" dirty="0"/>
              <a:t>,</a:t>
            </a:r>
            <a:r>
              <a:rPr lang="zh-CN" altLang="en-US" sz="2275" dirty="0"/>
              <a:t> 面向集合存储，将数据存储为一个文档，数据结构由键值</a:t>
            </a:r>
            <a:r>
              <a:rPr lang="en-US" altLang="zh-CN" sz="2275" dirty="0"/>
              <a:t>(key=&gt;value)</a:t>
            </a:r>
            <a:r>
              <a:rPr lang="zh-CN" altLang="en-US" sz="2275" dirty="0"/>
              <a:t>对组成，前端代码可以直接访问数据，适用于</a:t>
            </a:r>
            <a:r>
              <a:rPr lang="en-US" altLang="zh-CN" sz="2275" dirty="0"/>
              <a:t>Web</a:t>
            </a:r>
            <a:r>
              <a:rPr lang="zh-CN" altLang="en-US" sz="2275" dirty="0"/>
              <a:t>应用的敏捷开发。</a:t>
            </a:r>
          </a:p>
        </p:txBody>
      </p:sp>
      <p:pic>
        <p:nvPicPr>
          <p:cNvPr id="11" name="图片 10">
            <a:extLst>
              <a:ext uri="{FF2B5EF4-FFF2-40B4-BE49-F238E27FC236}">
                <a16:creationId xmlns:a16="http://schemas.microsoft.com/office/drawing/2014/main" id="{7B9B7301-2EE4-40A1-AC37-1A98625E9043}"/>
              </a:ext>
            </a:extLst>
          </p:cNvPr>
          <p:cNvPicPr>
            <a:picLocks noChangeAspect="1"/>
          </p:cNvPicPr>
          <p:nvPr/>
        </p:nvPicPr>
        <p:blipFill>
          <a:blip r:embed="rId3"/>
          <a:stretch>
            <a:fillRect/>
          </a:stretch>
        </p:blipFill>
        <p:spPr>
          <a:xfrm>
            <a:off x="8291371" y="3230524"/>
            <a:ext cx="2090157" cy="938291"/>
          </a:xfrm>
          <a:prstGeom prst="rect">
            <a:avLst/>
          </a:prstGeom>
        </p:spPr>
      </p:pic>
      <p:pic>
        <p:nvPicPr>
          <p:cNvPr id="12" name="图片 11">
            <a:extLst>
              <a:ext uri="{FF2B5EF4-FFF2-40B4-BE49-F238E27FC236}">
                <a16:creationId xmlns:a16="http://schemas.microsoft.com/office/drawing/2014/main" id="{5AD49814-D9B6-4FF2-97A9-34184A20E18B}"/>
              </a:ext>
            </a:extLst>
          </p:cNvPr>
          <p:cNvPicPr>
            <a:picLocks noChangeAspect="1"/>
          </p:cNvPicPr>
          <p:nvPr/>
        </p:nvPicPr>
        <p:blipFill>
          <a:blip r:embed="rId4"/>
          <a:stretch>
            <a:fillRect/>
          </a:stretch>
        </p:blipFill>
        <p:spPr>
          <a:xfrm>
            <a:off x="8828606" y="506579"/>
            <a:ext cx="1872546" cy="1878568"/>
          </a:xfrm>
          <a:prstGeom prst="rect">
            <a:avLst/>
          </a:prstGeom>
        </p:spPr>
      </p:pic>
    </p:spTree>
    <p:extLst>
      <p:ext uri="{BB962C8B-B14F-4D97-AF65-F5344CB8AC3E}">
        <p14:creationId xmlns:p14="http://schemas.microsoft.com/office/powerpoint/2010/main" val="1041010484"/>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782690" y="915709"/>
            <a:ext cx="4170905" cy="580113"/>
          </a:xfrm>
          <a:prstGeom prst="rect">
            <a:avLst/>
          </a:prstGeom>
          <a:noFill/>
        </p:spPr>
        <p:txBody>
          <a:bodyPr wrap="square" rtlCol="0">
            <a:spAutoFit/>
          </a:bodyPr>
          <a:lstStyle/>
          <a:p>
            <a:pPr algn="just" defTabSz="1219225">
              <a:lnSpc>
                <a:spcPct val="150000"/>
              </a:lnSpc>
              <a:defRPr/>
            </a:pPr>
            <a:r>
              <a:rPr lang="en-US" altLang="zh-CN" sz="2399" dirty="0">
                <a:solidFill>
                  <a:prstClr val="black"/>
                </a:solidFill>
                <a:latin typeface="Arial"/>
                <a:ea typeface="微软雅黑"/>
              </a:rPr>
              <a:t>1.3.1  </a:t>
            </a:r>
            <a:r>
              <a:rPr lang="zh-CN" altLang="en-US" sz="2399" dirty="0">
                <a:solidFill>
                  <a:prstClr val="black"/>
                </a:solidFill>
                <a:latin typeface="Arial"/>
                <a:ea typeface="微软雅黑"/>
              </a:rPr>
              <a:t>数据库系统的组成</a:t>
            </a:r>
          </a:p>
        </p:txBody>
      </p:sp>
      <p:sp>
        <p:nvSpPr>
          <p:cNvPr id="18" name="文本框 17">
            <a:extLst>
              <a:ext uri="{FF2B5EF4-FFF2-40B4-BE49-F238E27FC236}">
                <a16:creationId xmlns:a16="http://schemas.microsoft.com/office/drawing/2014/main" id="{062B8DE3-5BAF-E987-8FD7-0F5EF13CD277}"/>
              </a:ext>
            </a:extLst>
          </p:cNvPr>
          <p:cNvSpPr txBox="1"/>
          <p:nvPr/>
        </p:nvSpPr>
        <p:spPr>
          <a:xfrm>
            <a:off x="793233" y="1468778"/>
            <a:ext cx="10616078" cy="1288272"/>
          </a:xfrm>
          <a:prstGeom prst="rect">
            <a:avLst/>
          </a:prstGeom>
          <a:noFill/>
        </p:spPr>
        <p:txBody>
          <a:bodyPr wrap="square" rtlCol="0">
            <a:spAutoFit/>
          </a:bodyPr>
          <a:lstStyle/>
          <a:p>
            <a:pPr algn="just">
              <a:lnSpc>
                <a:spcPct val="150000"/>
              </a:lnSpc>
            </a:pPr>
            <a:r>
              <a:rPr lang="en-US" altLang="zh-CN" sz="1799" dirty="0">
                <a:solidFill>
                  <a:prstClr val="black"/>
                </a:solidFill>
                <a:latin typeface="Arial"/>
                <a:ea typeface="微软雅黑"/>
              </a:rPr>
              <a:t>4. </a:t>
            </a:r>
            <a:r>
              <a:rPr lang="zh-CN" altLang="en-US" sz="1799" dirty="0">
                <a:solidFill>
                  <a:prstClr val="black"/>
                </a:solidFill>
                <a:latin typeface="Arial"/>
                <a:ea typeface="微软雅黑"/>
              </a:rPr>
              <a:t>硬件系统</a:t>
            </a:r>
            <a:endParaRPr lang="en-US" altLang="zh-CN" sz="1799" dirty="0">
              <a:solidFill>
                <a:prstClr val="black"/>
              </a:solidFill>
              <a:latin typeface="Arial"/>
              <a:ea typeface="微软雅黑"/>
            </a:endParaRPr>
          </a:p>
          <a:p>
            <a:pPr marL="342729" indent="-342729" algn="just" defTabSz="1219225">
              <a:lnSpc>
                <a:spcPct val="150000"/>
              </a:lnSpc>
              <a:buFont typeface="Wingdings" panose="05000000000000000000" pitchFamily="2" charset="2"/>
              <a:buChar char="ü"/>
              <a:defRPr/>
            </a:pPr>
            <a:r>
              <a:rPr lang="zh-CN" altLang="en-US" sz="1799" dirty="0">
                <a:solidFill>
                  <a:prstClr val="black"/>
                </a:solidFill>
                <a:latin typeface="Arial"/>
                <a:ea typeface="微软雅黑"/>
              </a:rPr>
              <a:t>硬件（</a:t>
            </a:r>
            <a:r>
              <a:rPr lang="en-US" altLang="zh-CN" sz="1799" dirty="0">
                <a:solidFill>
                  <a:prstClr val="black"/>
                </a:solidFill>
                <a:latin typeface="Arial"/>
                <a:ea typeface="微软雅黑"/>
              </a:rPr>
              <a:t>Hardware</a:t>
            </a:r>
            <a:r>
              <a:rPr lang="zh-CN" altLang="en-US" sz="1799" dirty="0">
                <a:solidFill>
                  <a:prstClr val="black"/>
                </a:solidFill>
                <a:latin typeface="Arial"/>
                <a:ea typeface="微软雅黑"/>
              </a:rPr>
              <a:t>）系统指存储和运行数据库系统的硬件设备，包括</a:t>
            </a:r>
            <a:r>
              <a:rPr lang="en-US" altLang="zh-CN" sz="1799" dirty="0">
                <a:solidFill>
                  <a:prstClr val="black"/>
                </a:solidFill>
                <a:latin typeface="Arial"/>
                <a:ea typeface="微软雅黑"/>
              </a:rPr>
              <a:t>CPU</a:t>
            </a:r>
            <a:r>
              <a:rPr lang="zh-CN" altLang="en-US" sz="1799" dirty="0">
                <a:solidFill>
                  <a:prstClr val="black"/>
                </a:solidFill>
                <a:latin typeface="Arial"/>
                <a:ea typeface="微软雅黑"/>
              </a:rPr>
              <a:t>、内存、大容量的存储设备、输入</a:t>
            </a:r>
            <a:r>
              <a:rPr lang="en-US" altLang="zh-CN" sz="1799" dirty="0">
                <a:solidFill>
                  <a:prstClr val="black"/>
                </a:solidFill>
                <a:latin typeface="Arial"/>
                <a:ea typeface="微软雅黑"/>
              </a:rPr>
              <a:t>/</a:t>
            </a:r>
            <a:r>
              <a:rPr lang="zh-CN" altLang="en-US" sz="1799" dirty="0">
                <a:solidFill>
                  <a:prstClr val="black"/>
                </a:solidFill>
                <a:latin typeface="Arial"/>
                <a:ea typeface="微软雅黑"/>
              </a:rPr>
              <a:t>输出设备和外部设备等。</a:t>
            </a:r>
            <a:endParaRPr lang="zh-CN" altLang="en-US" sz="1999" dirty="0">
              <a:solidFill>
                <a:srgbClr val="0070C0"/>
              </a:solidFill>
              <a:latin typeface="Arial"/>
              <a:ea typeface="微软雅黑"/>
            </a:endParaRPr>
          </a:p>
        </p:txBody>
      </p:sp>
      <p:grpSp>
        <p:nvGrpSpPr>
          <p:cNvPr id="6" name="Group 10">
            <a:extLst>
              <a:ext uri="{FF2B5EF4-FFF2-40B4-BE49-F238E27FC236}">
                <a16:creationId xmlns:a16="http://schemas.microsoft.com/office/drawing/2014/main" id="{475B8FE2-7B4E-344D-5909-CB4952CA308B}"/>
              </a:ext>
            </a:extLst>
          </p:cNvPr>
          <p:cNvGrpSpPr>
            <a:grpSpLocks/>
          </p:cNvGrpSpPr>
          <p:nvPr/>
        </p:nvGrpSpPr>
        <p:grpSpPr bwMode="auto">
          <a:xfrm>
            <a:off x="8076169" y="2972038"/>
            <a:ext cx="3536696" cy="3519767"/>
            <a:chOff x="3420" y="6628"/>
            <a:chExt cx="5190" cy="4304"/>
          </a:xfrm>
        </p:grpSpPr>
        <p:sp>
          <p:nvSpPr>
            <p:cNvPr id="7" name="Oval 11">
              <a:extLst>
                <a:ext uri="{FF2B5EF4-FFF2-40B4-BE49-F238E27FC236}">
                  <a16:creationId xmlns:a16="http://schemas.microsoft.com/office/drawing/2014/main" id="{44B1DC13-3CCD-3CE6-FA54-A217AB4F75DA}"/>
                </a:ext>
              </a:extLst>
            </p:cNvPr>
            <p:cNvSpPr>
              <a:spLocks noChangeArrowheads="1"/>
            </p:cNvSpPr>
            <p:nvPr/>
          </p:nvSpPr>
          <p:spPr bwMode="auto">
            <a:xfrm>
              <a:off x="5685" y="8188"/>
              <a:ext cx="754" cy="760"/>
            </a:xfrm>
            <a:prstGeom prst="ellipse">
              <a:avLst/>
            </a:prstGeom>
            <a:solidFill>
              <a:srgbClr val="F3FEFF"/>
            </a:solidFill>
            <a:ln w="9525">
              <a:solidFill>
                <a:srgbClr val="000000"/>
              </a:solidFill>
              <a:round/>
              <a:headEnd/>
              <a:tailEnd/>
            </a:ln>
          </p:spPr>
          <p:txBody>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ea typeface="宋体" panose="02010600030101010101" pitchFamily="2" charset="-122"/>
              </a:endParaRPr>
            </a:p>
          </p:txBody>
        </p:sp>
        <p:sp>
          <p:nvSpPr>
            <p:cNvPr id="8" name="Oval 12">
              <a:extLst>
                <a:ext uri="{FF2B5EF4-FFF2-40B4-BE49-F238E27FC236}">
                  <a16:creationId xmlns:a16="http://schemas.microsoft.com/office/drawing/2014/main" id="{A15DD132-ADE9-95DB-77B0-6DAA9A9C27D7}"/>
                </a:ext>
              </a:extLst>
            </p:cNvPr>
            <p:cNvSpPr>
              <a:spLocks noChangeArrowheads="1"/>
            </p:cNvSpPr>
            <p:nvPr/>
          </p:nvSpPr>
          <p:spPr bwMode="auto">
            <a:xfrm>
              <a:off x="5220" y="7720"/>
              <a:ext cx="1620" cy="162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ea typeface="宋体" panose="02010600030101010101" pitchFamily="2" charset="-122"/>
              </a:endParaRPr>
            </a:p>
          </p:txBody>
        </p:sp>
        <p:sp>
          <p:nvSpPr>
            <p:cNvPr id="9" name="Oval 13">
              <a:extLst>
                <a:ext uri="{FF2B5EF4-FFF2-40B4-BE49-F238E27FC236}">
                  <a16:creationId xmlns:a16="http://schemas.microsoft.com/office/drawing/2014/main" id="{13FA5729-35D0-7710-4590-FCD47722761D}"/>
                </a:ext>
              </a:extLst>
            </p:cNvPr>
            <p:cNvSpPr>
              <a:spLocks noChangeArrowheads="1"/>
            </p:cNvSpPr>
            <p:nvPr/>
          </p:nvSpPr>
          <p:spPr bwMode="auto">
            <a:xfrm>
              <a:off x="4680" y="7408"/>
              <a:ext cx="2715" cy="2433"/>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ea typeface="宋体" panose="02010600030101010101" pitchFamily="2" charset="-122"/>
              </a:endParaRPr>
            </a:p>
          </p:txBody>
        </p:sp>
        <p:sp>
          <p:nvSpPr>
            <p:cNvPr id="10" name="Oval 14">
              <a:extLst>
                <a:ext uri="{FF2B5EF4-FFF2-40B4-BE49-F238E27FC236}">
                  <a16:creationId xmlns:a16="http://schemas.microsoft.com/office/drawing/2014/main" id="{3FC9DFF2-C306-2CB5-7346-E50A5C1C0A40}"/>
                </a:ext>
              </a:extLst>
            </p:cNvPr>
            <p:cNvSpPr>
              <a:spLocks noChangeArrowheads="1"/>
            </p:cNvSpPr>
            <p:nvPr/>
          </p:nvSpPr>
          <p:spPr bwMode="auto">
            <a:xfrm>
              <a:off x="4012" y="7080"/>
              <a:ext cx="4005" cy="3277"/>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ea typeface="宋体" panose="02010600030101010101" pitchFamily="2" charset="-122"/>
              </a:endParaRPr>
            </a:p>
          </p:txBody>
        </p:sp>
        <p:sp>
          <p:nvSpPr>
            <p:cNvPr id="11" name="Oval 15">
              <a:extLst>
                <a:ext uri="{FF2B5EF4-FFF2-40B4-BE49-F238E27FC236}">
                  <a16:creationId xmlns:a16="http://schemas.microsoft.com/office/drawing/2014/main" id="{6837EBD8-5C93-5CF1-39C5-C5C503435BF0}"/>
                </a:ext>
              </a:extLst>
            </p:cNvPr>
            <p:cNvSpPr>
              <a:spLocks noChangeArrowheads="1"/>
            </p:cNvSpPr>
            <p:nvPr/>
          </p:nvSpPr>
          <p:spPr bwMode="auto">
            <a:xfrm>
              <a:off x="3420" y="6628"/>
              <a:ext cx="5190" cy="4304"/>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dirty="0">
                <a:solidFill>
                  <a:srgbClr val="000066"/>
                </a:solidFill>
                <a:ea typeface="宋体" panose="02010600030101010101" pitchFamily="2" charset="-122"/>
              </a:endParaRPr>
            </a:p>
          </p:txBody>
        </p:sp>
        <p:sp>
          <p:nvSpPr>
            <p:cNvPr id="13" name="WordArt 17">
              <a:extLst>
                <a:ext uri="{FF2B5EF4-FFF2-40B4-BE49-F238E27FC236}">
                  <a16:creationId xmlns:a16="http://schemas.microsoft.com/office/drawing/2014/main" id="{BB05305F-03DF-62BF-69F5-9C322CAEA190}"/>
                </a:ext>
              </a:extLst>
            </p:cNvPr>
            <p:cNvSpPr>
              <a:spLocks noChangeArrowheads="1" noChangeShapeType="1" noTextEdit="1"/>
            </p:cNvSpPr>
            <p:nvPr/>
          </p:nvSpPr>
          <p:spPr bwMode="auto">
            <a:xfrm>
              <a:off x="5760" y="7876"/>
              <a:ext cx="480" cy="315"/>
            </a:xfrm>
            <a:prstGeom prst="rect">
              <a:avLst/>
            </a:prstGeom>
          </p:spPr>
          <p:txBody>
            <a:bodyPr wrap="none" fromWordArt="1">
              <a:prstTxWarp prst="textPlain">
                <a:avLst>
                  <a:gd name="adj" fmla="val 50000"/>
                </a:avLst>
              </a:prstTxWarp>
            </a:bodyPr>
            <a:lstStyle/>
            <a:p>
              <a:pPr algn="ctr"/>
              <a:r>
                <a:rPr lang="en-US" altLang="zh-CN" sz="2399" kern="10" dirty="0">
                  <a:ln w="9525">
                    <a:solidFill>
                      <a:srgbClr val="000000"/>
                    </a:solidFill>
                    <a:round/>
                    <a:headEnd/>
                    <a:tailEnd/>
                  </a:ln>
                  <a:solidFill>
                    <a:schemeClr val="tx1">
                      <a:lumMod val="75000"/>
                      <a:lumOff val="25000"/>
                    </a:schemeClr>
                  </a:solidFill>
                  <a:latin typeface="宋体" panose="02010600030101010101" pitchFamily="2" charset="-122"/>
                </a:rPr>
                <a:t>OS</a:t>
              </a:r>
              <a:endParaRPr lang="zh-CN" altLang="en-US" sz="2399" kern="10" dirty="0">
                <a:ln w="9525">
                  <a:solidFill>
                    <a:srgbClr val="000000"/>
                  </a:solidFill>
                  <a:round/>
                  <a:headEnd/>
                  <a:tailEnd/>
                </a:ln>
                <a:solidFill>
                  <a:schemeClr val="tx1">
                    <a:lumMod val="75000"/>
                    <a:lumOff val="25000"/>
                  </a:schemeClr>
                </a:solidFill>
                <a:latin typeface="宋体" panose="02010600030101010101" pitchFamily="2" charset="-122"/>
              </a:endParaRPr>
            </a:p>
          </p:txBody>
        </p:sp>
        <p:sp>
          <p:nvSpPr>
            <p:cNvPr id="14" name="WordArt 18">
              <a:extLst>
                <a:ext uri="{FF2B5EF4-FFF2-40B4-BE49-F238E27FC236}">
                  <a16:creationId xmlns:a16="http://schemas.microsoft.com/office/drawing/2014/main" id="{A5168E0E-E312-458E-0BE7-574738B1E59F}"/>
                </a:ext>
              </a:extLst>
            </p:cNvPr>
            <p:cNvSpPr>
              <a:spLocks noChangeArrowheads="1" noChangeShapeType="1" noTextEdit="1"/>
            </p:cNvSpPr>
            <p:nvPr/>
          </p:nvSpPr>
          <p:spPr bwMode="auto">
            <a:xfrm>
              <a:off x="5810" y="8412"/>
              <a:ext cx="540" cy="312"/>
            </a:xfrm>
            <a:prstGeom prst="rect">
              <a:avLst/>
            </a:prstGeom>
          </p:spPr>
          <p:txBody>
            <a:bodyPr wrap="none" fromWordArt="1">
              <a:prstTxWarp prst="textPlain">
                <a:avLst>
                  <a:gd name="adj" fmla="val 50000"/>
                </a:avLst>
              </a:prstTxWarp>
            </a:bodyPr>
            <a:lstStyle/>
            <a:p>
              <a:pPr algn="ctr"/>
              <a:r>
                <a:rPr lang="zh-CN" altLang="en-US" sz="1799" kern="10" dirty="0">
                  <a:ln w="9525">
                    <a:solidFill>
                      <a:srgbClr val="000000"/>
                    </a:solidFill>
                    <a:round/>
                    <a:headEnd/>
                    <a:tailEnd/>
                  </a:ln>
                  <a:solidFill>
                    <a:schemeClr val="tx1">
                      <a:lumMod val="75000"/>
                      <a:lumOff val="25000"/>
                    </a:schemeClr>
                  </a:solidFill>
                  <a:latin typeface="黑体" panose="02010609060101010101" pitchFamily="49" charset="-122"/>
                  <a:ea typeface="黑体" panose="02010609060101010101" pitchFamily="49" charset="-122"/>
                </a:rPr>
                <a:t>硬件</a:t>
              </a:r>
            </a:p>
          </p:txBody>
        </p:sp>
        <p:sp>
          <p:nvSpPr>
            <p:cNvPr id="15" name="WordArt 19">
              <a:extLst>
                <a:ext uri="{FF2B5EF4-FFF2-40B4-BE49-F238E27FC236}">
                  <a16:creationId xmlns:a16="http://schemas.microsoft.com/office/drawing/2014/main" id="{A9C2A326-3B80-542C-1350-208E061F3879}"/>
                </a:ext>
              </a:extLst>
            </p:cNvPr>
            <p:cNvSpPr>
              <a:spLocks noChangeArrowheads="1" noChangeShapeType="1" noTextEdit="1"/>
            </p:cNvSpPr>
            <p:nvPr/>
          </p:nvSpPr>
          <p:spPr bwMode="auto">
            <a:xfrm>
              <a:off x="5220" y="6940"/>
              <a:ext cx="1620" cy="249"/>
            </a:xfrm>
            <a:prstGeom prst="rect">
              <a:avLst/>
            </a:prstGeom>
          </p:spPr>
          <p:txBody>
            <a:bodyPr spcFirstLastPara="1" wrap="none" fromWordArt="1">
              <a:prstTxWarp prst="textArchUp">
                <a:avLst>
                  <a:gd name="adj" fmla="val 10800000"/>
                </a:avLst>
              </a:prstTxWarp>
            </a:bodyPr>
            <a:lstStyle/>
            <a:p>
              <a:pPr algn="ctr"/>
              <a:r>
                <a:rPr lang="zh-CN" altLang="en-US" sz="1799" kern="10" dirty="0">
                  <a:ln w="9525">
                    <a:solidFill>
                      <a:srgbClr val="000000"/>
                    </a:solidFill>
                    <a:round/>
                    <a:headEnd/>
                    <a:tailEnd/>
                  </a:ln>
                  <a:solidFill>
                    <a:schemeClr val="tx1">
                      <a:lumMod val="75000"/>
                      <a:lumOff val="25000"/>
                    </a:schemeClr>
                  </a:solidFill>
                  <a:latin typeface="宋体" panose="02010600030101010101" pitchFamily="2" charset="-122"/>
                </a:rPr>
                <a:t>应用系统</a:t>
              </a:r>
            </a:p>
          </p:txBody>
        </p:sp>
        <p:sp>
          <p:nvSpPr>
            <p:cNvPr id="16" name="WordArt 20">
              <a:extLst>
                <a:ext uri="{FF2B5EF4-FFF2-40B4-BE49-F238E27FC236}">
                  <a16:creationId xmlns:a16="http://schemas.microsoft.com/office/drawing/2014/main" id="{816283BC-EF4B-5A25-BBE2-2AC6FB2B644E}"/>
                </a:ext>
              </a:extLst>
            </p:cNvPr>
            <p:cNvSpPr>
              <a:spLocks noChangeArrowheads="1" noChangeShapeType="1" noTextEdit="1"/>
            </p:cNvSpPr>
            <p:nvPr/>
          </p:nvSpPr>
          <p:spPr bwMode="auto">
            <a:xfrm rot="82650">
              <a:off x="5399" y="7315"/>
              <a:ext cx="1443" cy="312"/>
            </a:xfrm>
            <a:prstGeom prst="rect">
              <a:avLst/>
            </a:prstGeom>
          </p:spPr>
          <p:txBody>
            <a:bodyPr spcFirstLastPara="1" wrap="none" fromWordArt="1">
              <a:prstTxWarp prst="textArchUp">
                <a:avLst>
                  <a:gd name="adj" fmla="val 10444121"/>
                </a:avLst>
              </a:prstTxWarp>
            </a:bodyPr>
            <a:lstStyle/>
            <a:p>
              <a:pPr algn="ctr"/>
              <a:r>
                <a:rPr lang="zh-CN" altLang="en-US" sz="1799" kern="10" dirty="0">
                  <a:ln w="9525">
                    <a:solidFill>
                      <a:srgbClr val="000000"/>
                    </a:solidFill>
                    <a:round/>
                    <a:headEnd/>
                    <a:tailEnd/>
                  </a:ln>
                  <a:solidFill>
                    <a:schemeClr val="tx1">
                      <a:lumMod val="75000"/>
                      <a:lumOff val="25000"/>
                    </a:schemeClr>
                  </a:solidFill>
                  <a:latin typeface="宋体" panose="02010600030101010101" pitchFamily="2" charset="-122"/>
                </a:rPr>
                <a:t>应用开发工具</a:t>
              </a:r>
            </a:p>
          </p:txBody>
        </p:sp>
        <p:sp>
          <p:nvSpPr>
            <p:cNvPr id="17" name="WordArt 21">
              <a:extLst>
                <a:ext uri="{FF2B5EF4-FFF2-40B4-BE49-F238E27FC236}">
                  <a16:creationId xmlns:a16="http://schemas.microsoft.com/office/drawing/2014/main" id="{73EB30C8-DE53-A513-4194-A4C948732F3B}"/>
                </a:ext>
              </a:extLst>
            </p:cNvPr>
            <p:cNvSpPr>
              <a:spLocks noChangeArrowheads="1" noChangeShapeType="1" noTextEdit="1"/>
            </p:cNvSpPr>
            <p:nvPr/>
          </p:nvSpPr>
          <p:spPr bwMode="auto">
            <a:xfrm>
              <a:off x="5760" y="7632"/>
              <a:ext cx="540" cy="156"/>
            </a:xfrm>
            <a:prstGeom prst="rect">
              <a:avLst/>
            </a:prstGeom>
          </p:spPr>
          <p:txBody>
            <a:bodyPr spcFirstLastPara="1" wrap="none" fromWordArt="1">
              <a:prstTxWarp prst="textArchUp">
                <a:avLst>
                  <a:gd name="adj" fmla="val 10800000"/>
                </a:avLst>
              </a:prstTxWarp>
            </a:bodyPr>
            <a:lstStyle/>
            <a:p>
              <a:pPr algn="ctr"/>
              <a:r>
                <a:rPr lang="en-US" altLang="zh-CN" sz="1799" kern="10" dirty="0">
                  <a:ln w="9525">
                    <a:solidFill>
                      <a:srgbClr val="000000"/>
                    </a:solidFill>
                    <a:round/>
                    <a:headEnd/>
                    <a:tailEnd/>
                  </a:ln>
                  <a:solidFill>
                    <a:schemeClr val="tx1">
                      <a:lumMod val="75000"/>
                      <a:lumOff val="25000"/>
                    </a:schemeClr>
                  </a:solidFill>
                  <a:latin typeface="宋体" panose="02010600030101010101" pitchFamily="2" charset="-122"/>
                </a:rPr>
                <a:t>DBMS</a:t>
              </a:r>
              <a:endParaRPr lang="zh-CN" altLang="en-US" sz="1799" kern="10" dirty="0">
                <a:ln w="9525">
                  <a:solidFill>
                    <a:srgbClr val="000000"/>
                  </a:solidFill>
                  <a:round/>
                  <a:headEnd/>
                  <a:tailEnd/>
                </a:ln>
                <a:solidFill>
                  <a:schemeClr val="tx1">
                    <a:lumMod val="75000"/>
                    <a:lumOff val="25000"/>
                  </a:schemeClr>
                </a:solidFill>
                <a:latin typeface="宋体" panose="02010600030101010101" pitchFamily="2" charset="-122"/>
              </a:endParaRPr>
            </a:p>
          </p:txBody>
        </p:sp>
      </p:grpSp>
    </p:spTree>
    <p:extLst>
      <p:ext uri="{BB962C8B-B14F-4D97-AF65-F5344CB8AC3E}">
        <p14:creationId xmlns:p14="http://schemas.microsoft.com/office/powerpoint/2010/main" val="39981627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782689" y="915709"/>
            <a:ext cx="4950422" cy="580113"/>
          </a:xfrm>
          <a:prstGeom prst="rect">
            <a:avLst/>
          </a:prstGeom>
          <a:noFill/>
        </p:spPr>
        <p:txBody>
          <a:bodyPr wrap="square" rtlCol="0">
            <a:spAutoFit/>
          </a:bodyPr>
          <a:lstStyle/>
          <a:p>
            <a:pPr algn="just" defTabSz="1219225">
              <a:lnSpc>
                <a:spcPct val="150000"/>
              </a:lnSpc>
              <a:defRPr/>
            </a:pPr>
            <a:r>
              <a:rPr lang="en-US" altLang="zh-CN" sz="2399" dirty="0">
                <a:solidFill>
                  <a:prstClr val="black"/>
                </a:solidFill>
                <a:latin typeface="Arial"/>
                <a:ea typeface="微软雅黑"/>
              </a:rPr>
              <a:t>1.3.2  </a:t>
            </a:r>
            <a:r>
              <a:rPr lang="zh-CN" altLang="en-US" sz="1799" dirty="0">
                <a:solidFill>
                  <a:prstClr val="black"/>
                </a:solidFill>
                <a:latin typeface="Arial"/>
                <a:ea typeface="微软雅黑"/>
              </a:rPr>
              <a:t>数据库管理系统（</a:t>
            </a:r>
            <a:r>
              <a:rPr lang="en-US" altLang="zh-CN" sz="1799" dirty="0">
                <a:solidFill>
                  <a:prstClr val="black"/>
                </a:solidFill>
                <a:latin typeface="Arial"/>
                <a:ea typeface="微软雅黑"/>
              </a:rPr>
              <a:t>DBMS</a:t>
            </a:r>
            <a:r>
              <a:rPr lang="zh-CN" altLang="en-US" sz="1799" dirty="0">
                <a:solidFill>
                  <a:prstClr val="black"/>
                </a:solidFill>
                <a:latin typeface="Arial"/>
                <a:ea typeface="微软雅黑"/>
              </a:rPr>
              <a:t>）</a:t>
            </a:r>
            <a:endParaRPr lang="zh-CN" altLang="en-US" sz="2399" dirty="0">
              <a:solidFill>
                <a:prstClr val="black"/>
              </a:solidFill>
              <a:latin typeface="Arial"/>
              <a:ea typeface="微软雅黑"/>
            </a:endParaRPr>
          </a:p>
        </p:txBody>
      </p:sp>
      <p:sp>
        <p:nvSpPr>
          <p:cNvPr id="19" name="AutoShape 5">
            <a:extLst>
              <a:ext uri="{FF2B5EF4-FFF2-40B4-BE49-F238E27FC236}">
                <a16:creationId xmlns:a16="http://schemas.microsoft.com/office/drawing/2014/main" id="{5B76041A-44FD-10FE-26F7-88E54B6A799F}"/>
              </a:ext>
            </a:extLst>
          </p:cNvPr>
          <p:cNvSpPr>
            <a:spLocks noChangeArrowheads="1"/>
          </p:cNvSpPr>
          <p:nvPr/>
        </p:nvSpPr>
        <p:spPr bwMode="auto">
          <a:xfrm>
            <a:off x="2168983" y="2484941"/>
            <a:ext cx="2879812" cy="1583500"/>
          </a:xfrm>
          <a:prstGeom prst="flowChartAlternateProcess">
            <a:avLst/>
          </a:prstGeom>
          <a:solidFill>
            <a:srgbClr val="99CCFF">
              <a:alpha val="56078"/>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en-US" altLang="zh-CN" sz="2399">
                <a:solidFill>
                  <a:srgbClr val="000066"/>
                </a:solidFill>
                <a:latin typeface="微软雅黑" panose="020B0503020204020204" pitchFamily="34" charset="-122"/>
                <a:ea typeface="微软雅黑" panose="020B0503020204020204" pitchFamily="34" charset="-122"/>
              </a:rPr>
              <a:t>DBS</a:t>
            </a:r>
          </a:p>
          <a:p>
            <a:pPr algn="ctr" eaLnBrk="1" hangingPunct="1">
              <a:spcBef>
                <a:spcPct val="0"/>
              </a:spcBef>
              <a:buSzTx/>
              <a:buFontTx/>
              <a:buNone/>
            </a:pPr>
            <a:endParaRPr lang="en-US" altLang="zh-CN" sz="2399">
              <a:solidFill>
                <a:srgbClr val="000066"/>
              </a:solidFill>
              <a:latin typeface="微软雅黑" panose="020B0503020204020204" pitchFamily="34" charset="-122"/>
              <a:ea typeface="微软雅黑" panose="020B0503020204020204" pitchFamily="34" charset="-122"/>
            </a:endParaRPr>
          </a:p>
          <a:p>
            <a:pPr algn="ctr" eaLnBrk="1" hangingPunct="1">
              <a:spcBef>
                <a:spcPct val="0"/>
              </a:spcBef>
              <a:buSzTx/>
              <a:buFontTx/>
              <a:buNone/>
            </a:pPr>
            <a:endParaRPr lang="en-US" altLang="zh-CN" sz="2399">
              <a:solidFill>
                <a:srgbClr val="000066"/>
              </a:solidFill>
              <a:latin typeface="微软雅黑" panose="020B0503020204020204" pitchFamily="34" charset="-122"/>
              <a:ea typeface="微软雅黑" panose="020B0503020204020204" pitchFamily="34" charset="-122"/>
            </a:endParaRPr>
          </a:p>
          <a:p>
            <a:pPr algn="ctr" eaLnBrk="1" hangingPunct="1">
              <a:spcBef>
                <a:spcPct val="0"/>
              </a:spcBef>
              <a:buSzTx/>
              <a:buFontTx/>
              <a:buNone/>
            </a:pPr>
            <a:endParaRPr lang="en-US" altLang="zh-CN" sz="2399">
              <a:solidFill>
                <a:srgbClr val="000066"/>
              </a:solidFill>
              <a:latin typeface="微软雅黑" panose="020B0503020204020204" pitchFamily="34" charset="-122"/>
              <a:ea typeface="微软雅黑" panose="020B0503020204020204" pitchFamily="34" charset="-122"/>
            </a:endParaRPr>
          </a:p>
        </p:txBody>
      </p:sp>
      <p:sp>
        <p:nvSpPr>
          <p:cNvPr id="20" name="AutoShape 4">
            <a:extLst>
              <a:ext uri="{FF2B5EF4-FFF2-40B4-BE49-F238E27FC236}">
                <a16:creationId xmlns:a16="http://schemas.microsoft.com/office/drawing/2014/main" id="{B347CBD0-7D6C-CE10-84A6-01180E95B01D}"/>
              </a:ext>
            </a:extLst>
          </p:cNvPr>
          <p:cNvSpPr>
            <a:spLocks noChangeArrowheads="1"/>
          </p:cNvSpPr>
          <p:nvPr/>
        </p:nvSpPr>
        <p:spPr bwMode="auto">
          <a:xfrm>
            <a:off x="2456171" y="3059316"/>
            <a:ext cx="2303850" cy="793337"/>
          </a:xfrm>
          <a:prstGeom prst="flowChartAlternateProcess">
            <a:avLst/>
          </a:prstGeom>
          <a:solidFill>
            <a:srgbClr val="FFFF99"/>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en-US" altLang="zh-CN" sz="2399">
                <a:solidFill>
                  <a:srgbClr val="000066"/>
                </a:solidFill>
                <a:latin typeface="微软雅黑" panose="020B0503020204020204" pitchFamily="34" charset="-122"/>
                <a:ea typeface="微软雅黑" panose="020B0503020204020204" pitchFamily="34" charset="-122"/>
              </a:rPr>
              <a:t>DBMS</a:t>
            </a:r>
          </a:p>
        </p:txBody>
      </p:sp>
      <p:sp>
        <p:nvSpPr>
          <p:cNvPr id="21" name="AutoShape 6">
            <a:extLst>
              <a:ext uri="{FF2B5EF4-FFF2-40B4-BE49-F238E27FC236}">
                <a16:creationId xmlns:a16="http://schemas.microsoft.com/office/drawing/2014/main" id="{6032B0BB-D6C2-3E69-8CD5-4E53AFE33E22}"/>
              </a:ext>
            </a:extLst>
          </p:cNvPr>
          <p:cNvSpPr>
            <a:spLocks noChangeArrowheads="1"/>
          </p:cNvSpPr>
          <p:nvPr/>
        </p:nvSpPr>
        <p:spPr bwMode="auto">
          <a:xfrm>
            <a:off x="5193183" y="2458080"/>
            <a:ext cx="1726301" cy="502975"/>
          </a:xfrm>
          <a:prstGeom prst="cloudCallout">
            <a:avLst>
              <a:gd name="adj1" fmla="val -66454"/>
              <a:gd name="adj2" fmla="val 109935"/>
            </a:avLst>
          </a:prstGeom>
          <a:solidFill>
            <a:srgbClr val="CC99FF">
              <a:alpha val="34901"/>
            </a:srgbClr>
          </a:solidFill>
          <a:ln w="19050">
            <a:no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tx1">
                    <a:lumMod val="75000"/>
                    <a:lumOff val="25000"/>
                  </a:schemeClr>
                </a:solidFill>
                <a:latin typeface="微软雅黑" panose="020B0503020204020204" pitchFamily="34" charset="-122"/>
                <a:ea typeface="微软雅黑" panose="020B0503020204020204" pitchFamily="34" charset="-122"/>
              </a:rPr>
              <a:t>核心</a:t>
            </a:r>
          </a:p>
        </p:txBody>
      </p:sp>
      <p:sp>
        <p:nvSpPr>
          <p:cNvPr id="22" name="AutoShape 7">
            <a:extLst>
              <a:ext uri="{FF2B5EF4-FFF2-40B4-BE49-F238E27FC236}">
                <a16:creationId xmlns:a16="http://schemas.microsoft.com/office/drawing/2014/main" id="{49FCF899-7056-B47F-677B-159FE0F45AA3}"/>
              </a:ext>
            </a:extLst>
          </p:cNvPr>
          <p:cNvSpPr>
            <a:spLocks noChangeArrowheads="1"/>
          </p:cNvSpPr>
          <p:nvPr/>
        </p:nvSpPr>
        <p:spPr bwMode="auto">
          <a:xfrm>
            <a:off x="5120197" y="3419491"/>
            <a:ext cx="1799288" cy="287188"/>
          </a:xfrm>
          <a:custGeom>
            <a:avLst/>
            <a:gdLst>
              <a:gd name="T0" fmla="*/ 2147483646 w 21600"/>
              <a:gd name="T1" fmla="*/ 0 h 21600"/>
              <a:gd name="T2" fmla="*/ 0 w 21600"/>
              <a:gd name="T3" fmla="*/ 338205686 h 21600"/>
              <a:gd name="T4" fmla="*/ 2147483646 w 21600"/>
              <a:gd name="T5" fmla="*/ 676411544 h 21600"/>
              <a:gd name="T6" fmla="*/ 2147483646 w 21600"/>
              <a:gd name="T7" fmla="*/ 33820568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2">
              <a:lumMod val="40000"/>
              <a:lumOff val="60000"/>
              <a:alpha val="47842"/>
            </a:schemeClr>
          </a:solidFill>
          <a:ln w="19050" algn="ctr">
            <a:noFill/>
            <a:miter lim="800000"/>
            <a:headEnd/>
            <a:tailEnd type="none" w="lg" len="lg"/>
          </a:ln>
          <a:effectLst/>
        </p:spPr>
        <p:txBody>
          <a:bodyPr wrap="none" lIns="89953" tIns="46776" rIns="89953" bIns="46776" anchor="ctr"/>
          <a:lstStyle/>
          <a:p>
            <a:endParaRPr lang="zh-CN" altLang="en-US" sz="1799">
              <a:latin typeface="微软雅黑" panose="020B0503020204020204" pitchFamily="34" charset="-122"/>
              <a:ea typeface="微软雅黑" panose="020B0503020204020204" pitchFamily="34" charset="-122"/>
            </a:endParaRPr>
          </a:p>
        </p:txBody>
      </p:sp>
      <p:sp>
        <p:nvSpPr>
          <p:cNvPr id="23" name="AutoShape 9">
            <a:extLst>
              <a:ext uri="{FF2B5EF4-FFF2-40B4-BE49-F238E27FC236}">
                <a16:creationId xmlns:a16="http://schemas.microsoft.com/office/drawing/2014/main" id="{0C6051BA-6DFA-EEED-8DD0-6D6DE275F288}"/>
              </a:ext>
            </a:extLst>
          </p:cNvPr>
          <p:cNvSpPr>
            <a:spLocks noChangeArrowheads="1"/>
          </p:cNvSpPr>
          <p:nvPr/>
        </p:nvSpPr>
        <p:spPr bwMode="auto">
          <a:xfrm>
            <a:off x="7255064" y="2429375"/>
            <a:ext cx="2115830" cy="2142030"/>
          </a:xfrm>
          <a:prstGeom prst="verticalScroll">
            <a:avLst>
              <a:gd name="adj" fmla="val 12500"/>
            </a:avLst>
          </a:prstGeom>
          <a:solidFill>
            <a:srgbClr val="FFFF99"/>
          </a:solidFill>
          <a:ln w="19050">
            <a:solidFill>
              <a:schemeClr val="bg1">
                <a:lumMod val="85000"/>
              </a:schemeClr>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rgbClr val="000066"/>
                </a:solidFill>
                <a:latin typeface="微软雅黑" panose="020B0503020204020204" pitchFamily="34" charset="-122"/>
                <a:ea typeface="微软雅黑" panose="020B0503020204020204" pitchFamily="34" charset="-122"/>
              </a:rPr>
              <a:t>数据定义</a:t>
            </a:r>
          </a:p>
          <a:p>
            <a:pPr algn="ctr" eaLnBrk="1" hangingPunct="1">
              <a:spcBef>
                <a:spcPct val="0"/>
              </a:spcBef>
              <a:buSzTx/>
              <a:buFontTx/>
              <a:buNone/>
            </a:pPr>
            <a:r>
              <a:rPr lang="zh-CN" altLang="en-US" sz="2399" dirty="0">
                <a:solidFill>
                  <a:srgbClr val="000066"/>
                </a:solidFill>
                <a:latin typeface="微软雅黑" panose="020B0503020204020204" pitchFamily="34" charset="-122"/>
                <a:ea typeface="微软雅黑" panose="020B0503020204020204" pitchFamily="34" charset="-122"/>
              </a:rPr>
              <a:t>查询</a:t>
            </a:r>
            <a:endParaRPr lang="en-US" altLang="zh-CN" sz="2399" dirty="0">
              <a:solidFill>
                <a:srgbClr val="000066"/>
              </a:solidFill>
              <a:latin typeface="微软雅黑" panose="020B0503020204020204" pitchFamily="34" charset="-122"/>
              <a:ea typeface="微软雅黑" panose="020B0503020204020204" pitchFamily="34" charset="-122"/>
            </a:endParaRPr>
          </a:p>
          <a:p>
            <a:pPr algn="ctr" eaLnBrk="1" hangingPunct="1">
              <a:spcBef>
                <a:spcPct val="0"/>
              </a:spcBef>
              <a:buSzTx/>
              <a:buFontTx/>
              <a:buNone/>
            </a:pPr>
            <a:r>
              <a:rPr lang="zh-CN" altLang="en-US" sz="2399" dirty="0">
                <a:solidFill>
                  <a:srgbClr val="000066"/>
                </a:solidFill>
                <a:latin typeface="微软雅黑" panose="020B0503020204020204" pitchFamily="34" charset="-122"/>
                <a:ea typeface="微软雅黑" panose="020B0503020204020204" pitchFamily="34" charset="-122"/>
              </a:rPr>
              <a:t>更新</a:t>
            </a:r>
            <a:endParaRPr lang="en-US" altLang="zh-CN" sz="2399" dirty="0">
              <a:solidFill>
                <a:srgbClr val="000066"/>
              </a:solidFill>
              <a:latin typeface="微软雅黑" panose="020B0503020204020204" pitchFamily="34" charset="-122"/>
              <a:ea typeface="微软雅黑" panose="020B0503020204020204" pitchFamily="34" charset="-122"/>
            </a:endParaRPr>
          </a:p>
          <a:p>
            <a:pPr algn="ctr" eaLnBrk="1" hangingPunct="1">
              <a:spcBef>
                <a:spcPct val="0"/>
              </a:spcBef>
              <a:buSzTx/>
              <a:buFontTx/>
              <a:buNone/>
            </a:pPr>
            <a:r>
              <a:rPr lang="zh-CN" altLang="en-US" sz="2399" dirty="0">
                <a:solidFill>
                  <a:srgbClr val="000066"/>
                </a:solidFill>
                <a:latin typeface="微软雅黑" panose="020B0503020204020204" pitchFamily="34" charset="-122"/>
                <a:ea typeface="微软雅黑" panose="020B0503020204020204" pitchFamily="34" charset="-122"/>
              </a:rPr>
              <a:t>各种控制 </a:t>
            </a:r>
          </a:p>
        </p:txBody>
      </p:sp>
    </p:spTree>
    <p:extLst>
      <p:ext uri="{BB962C8B-B14F-4D97-AF65-F5344CB8AC3E}">
        <p14:creationId xmlns:p14="http://schemas.microsoft.com/office/powerpoint/2010/main" val="37409512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heckerboard(across)">
                                      <p:cBhvr>
                                        <p:cTn id="7" dur="500"/>
                                        <p:tgtEl>
                                          <p:spTgt spid="1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checkerboard(across)">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diamond(in)">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blinds(horizontal)">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box(in)">
                                      <p:cBhvr>
                                        <p:cTn id="2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782690" y="915709"/>
            <a:ext cx="4170905" cy="580113"/>
          </a:xfrm>
          <a:prstGeom prst="rect">
            <a:avLst/>
          </a:prstGeom>
          <a:noFill/>
        </p:spPr>
        <p:txBody>
          <a:bodyPr wrap="square" rtlCol="0">
            <a:spAutoFit/>
          </a:bodyPr>
          <a:lstStyle/>
          <a:p>
            <a:pPr algn="just" defTabSz="1219225">
              <a:lnSpc>
                <a:spcPct val="150000"/>
              </a:lnSpc>
              <a:defRPr/>
            </a:pPr>
            <a:r>
              <a:rPr lang="en-US" altLang="zh-CN" sz="2399" dirty="0">
                <a:solidFill>
                  <a:prstClr val="black"/>
                </a:solidFill>
                <a:latin typeface="Arial"/>
                <a:ea typeface="微软雅黑"/>
              </a:rPr>
              <a:t>1.3.2  </a:t>
            </a:r>
            <a:r>
              <a:rPr lang="zh-CN" altLang="en-US" sz="1799" dirty="0">
                <a:solidFill>
                  <a:prstClr val="black"/>
                </a:solidFill>
                <a:latin typeface="Arial"/>
                <a:ea typeface="微软雅黑"/>
              </a:rPr>
              <a:t>数据库管理系统</a:t>
            </a:r>
            <a:endParaRPr lang="zh-CN" altLang="en-US" sz="2399" dirty="0">
              <a:solidFill>
                <a:prstClr val="black"/>
              </a:solidFill>
              <a:latin typeface="Arial"/>
              <a:ea typeface="微软雅黑"/>
            </a:endParaRPr>
          </a:p>
        </p:txBody>
      </p:sp>
      <p:sp>
        <p:nvSpPr>
          <p:cNvPr id="18" name="文本框 17">
            <a:extLst>
              <a:ext uri="{FF2B5EF4-FFF2-40B4-BE49-F238E27FC236}">
                <a16:creationId xmlns:a16="http://schemas.microsoft.com/office/drawing/2014/main" id="{062B8DE3-5BAF-E987-8FD7-0F5EF13CD277}"/>
              </a:ext>
            </a:extLst>
          </p:cNvPr>
          <p:cNvSpPr txBox="1"/>
          <p:nvPr/>
        </p:nvSpPr>
        <p:spPr>
          <a:xfrm>
            <a:off x="793233" y="1468779"/>
            <a:ext cx="5988210" cy="458092"/>
          </a:xfrm>
          <a:prstGeom prst="rect">
            <a:avLst/>
          </a:prstGeom>
          <a:noFill/>
        </p:spPr>
        <p:txBody>
          <a:bodyPr wrap="square" rtlCol="0">
            <a:spAutoFit/>
          </a:bodyPr>
          <a:lstStyle/>
          <a:p>
            <a:pPr algn="just">
              <a:lnSpc>
                <a:spcPct val="150000"/>
              </a:lnSpc>
            </a:pPr>
            <a:r>
              <a:rPr lang="en-US" altLang="zh-CN" sz="1799" dirty="0">
                <a:solidFill>
                  <a:prstClr val="black"/>
                </a:solidFill>
                <a:latin typeface="Arial"/>
                <a:ea typeface="微软雅黑"/>
              </a:rPr>
              <a:t>1. DBMS</a:t>
            </a:r>
            <a:r>
              <a:rPr lang="zh-CN" altLang="en-US" sz="1799" dirty="0">
                <a:solidFill>
                  <a:prstClr val="black"/>
                </a:solidFill>
                <a:latin typeface="Arial"/>
                <a:ea typeface="微软雅黑"/>
              </a:rPr>
              <a:t>的功能</a:t>
            </a:r>
            <a:endParaRPr lang="en-US" altLang="zh-CN" sz="1799" dirty="0">
              <a:solidFill>
                <a:prstClr val="black"/>
              </a:solidFill>
              <a:latin typeface="Arial"/>
              <a:ea typeface="微软雅黑"/>
            </a:endParaRPr>
          </a:p>
        </p:txBody>
      </p:sp>
      <p:pic>
        <p:nvPicPr>
          <p:cNvPr id="1026" name="Picture 2">
            <a:extLst>
              <a:ext uri="{FF2B5EF4-FFF2-40B4-BE49-F238E27FC236}">
                <a16:creationId xmlns:a16="http://schemas.microsoft.com/office/drawing/2014/main" id="{207B6A31-29F6-7B3D-DF99-0F179B24B4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9986" y="2601960"/>
            <a:ext cx="10872028" cy="2578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0307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782690" y="915709"/>
            <a:ext cx="4170905" cy="580113"/>
          </a:xfrm>
          <a:prstGeom prst="rect">
            <a:avLst/>
          </a:prstGeom>
          <a:noFill/>
        </p:spPr>
        <p:txBody>
          <a:bodyPr wrap="square" rtlCol="0">
            <a:spAutoFit/>
          </a:bodyPr>
          <a:lstStyle/>
          <a:p>
            <a:pPr algn="just" defTabSz="1219225">
              <a:lnSpc>
                <a:spcPct val="150000"/>
              </a:lnSpc>
              <a:defRPr/>
            </a:pPr>
            <a:r>
              <a:rPr lang="en-US" altLang="zh-CN" sz="2399" dirty="0">
                <a:solidFill>
                  <a:prstClr val="black"/>
                </a:solidFill>
                <a:latin typeface="Arial"/>
                <a:ea typeface="微软雅黑"/>
              </a:rPr>
              <a:t>1.3.2  </a:t>
            </a:r>
            <a:r>
              <a:rPr lang="zh-CN" altLang="en-US" sz="1799" dirty="0">
                <a:solidFill>
                  <a:prstClr val="black"/>
                </a:solidFill>
                <a:latin typeface="Arial"/>
                <a:ea typeface="微软雅黑"/>
              </a:rPr>
              <a:t>数据库管理系统</a:t>
            </a:r>
            <a:endParaRPr lang="zh-CN" altLang="en-US" sz="2399" dirty="0">
              <a:solidFill>
                <a:prstClr val="black"/>
              </a:solidFill>
              <a:latin typeface="Arial"/>
              <a:ea typeface="微软雅黑"/>
            </a:endParaRPr>
          </a:p>
        </p:txBody>
      </p:sp>
      <p:sp>
        <p:nvSpPr>
          <p:cNvPr id="18" name="文本框 17">
            <a:extLst>
              <a:ext uri="{FF2B5EF4-FFF2-40B4-BE49-F238E27FC236}">
                <a16:creationId xmlns:a16="http://schemas.microsoft.com/office/drawing/2014/main" id="{062B8DE3-5BAF-E987-8FD7-0F5EF13CD277}"/>
              </a:ext>
            </a:extLst>
          </p:cNvPr>
          <p:cNvSpPr txBox="1"/>
          <p:nvPr/>
        </p:nvSpPr>
        <p:spPr>
          <a:xfrm>
            <a:off x="793233" y="1468779"/>
            <a:ext cx="10616078" cy="458092"/>
          </a:xfrm>
          <a:prstGeom prst="rect">
            <a:avLst/>
          </a:prstGeom>
          <a:noFill/>
        </p:spPr>
        <p:txBody>
          <a:bodyPr wrap="square" rtlCol="0">
            <a:spAutoFit/>
          </a:bodyPr>
          <a:lstStyle/>
          <a:p>
            <a:pPr algn="just">
              <a:lnSpc>
                <a:spcPct val="150000"/>
              </a:lnSpc>
            </a:pPr>
            <a:r>
              <a:rPr lang="en-US" altLang="zh-CN" sz="1799" dirty="0">
                <a:solidFill>
                  <a:prstClr val="black"/>
                </a:solidFill>
                <a:latin typeface="Arial"/>
                <a:ea typeface="微软雅黑"/>
              </a:rPr>
              <a:t>2. DBMS</a:t>
            </a:r>
            <a:r>
              <a:rPr lang="zh-CN" altLang="en-US" sz="1799" dirty="0">
                <a:solidFill>
                  <a:prstClr val="black"/>
                </a:solidFill>
                <a:latin typeface="Arial"/>
                <a:ea typeface="微软雅黑"/>
              </a:rPr>
              <a:t>的组成</a:t>
            </a:r>
            <a:endParaRPr lang="en-US" altLang="zh-CN" sz="1799" dirty="0">
              <a:solidFill>
                <a:prstClr val="black"/>
              </a:solidFill>
              <a:latin typeface="Arial"/>
              <a:ea typeface="微软雅黑"/>
            </a:endParaRPr>
          </a:p>
        </p:txBody>
      </p:sp>
      <p:sp>
        <p:nvSpPr>
          <p:cNvPr id="6" name="AutoShape 4">
            <a:extLst>
              <a:ext uri="{FF2B5EF4-FFF2-40B4-BE49-F238E27FC236}">
                <a16:creationId xmlns:a16="http://schemas.microsoft.com/office/drawing/2014/main" id="{26DF0815-02BC-D6B6-29C1-9F1B89268DC8}"/>
              </a:ext>
            </a:extLst>
          </p:cNvPr>
          <p:cNvSpPr>
            <a:spLocks noChangeArrowheads="1"/>
          </p:cNvSpPr>
          <p:nvPr/>
        </p:nvSpPr>
        <p:spPr bwMode="auto">
          <a:xfrm>
            <a:off x="1374060" y="2467854"/>
            <a:ext cx="2829040" cy="504562"/>
          </a:xfrm>
          <a:prstGeom prst="flowChartAlternateProcess">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dirty="0">
                <a:solidFill>
                  <a:srgbClr val="000066"/>
                </a:solidFill>
                <a:latin typeface="+mn-ea"/>
                <a:ea typeface="+mn-ea"/>
              </a:rPr>
              <a:t>语言编译处理程序 </a:t>
            </a:r>
          </a:p>
        </p:txBody>
      </p:sp>
      <p:sp>
        <p:nvSpPr>
          <p:cNvPr id="7" name="AutoShape 5">
            <a:extLst>
              <a:ext uri="{FF2B5EF4-FFF2-40B4-BE49-F238E27FC236}">
                <a16:creationId xmlns:a16="http://schemas.microsoft.com/office/drawing/2014/main" id="{836518A8-3303-BD79-51B6-F1D922859243}"/>
              </a:ext>
            </a:extLst>
          </p:cNvPr>
          <p:cNvSpPr>
            <a:spLocks noChangeArrowheads="1"/>
          </p:cNvSpPr>
          <p:nvPr/>
        </p:nvSpPr>
        <p:spPr bwMode="auto">
          <a:xfrm>
            <a:off x="1374060" y="3441456"/>
            <a:ext cx="2827452" cy="504562"/>
          </a:xfrm>
          <a:prstGeom prst="flowChartAlternateProcess">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dirty="0">
                <a:solidFill>
                  <a:srgbClr val="000066"/>
                </a:solidFill>
                <a:latin typeface="+mn-ea"/>
                <a:ea typeface="+mn-ea"/>
              </a:rPr>
              <a:t>系统运行控制程序 </a:t>
            </a:r>
          </a:p>
        </p:txBody>
      </p:sp>
      <p:sp>
        <p:nvSpPr>
          <p:cNvPr id="8" name="AutoShape 6">
            <a:extLst>
              <a:ext uri="{FF2B5EF4-FFF2-40B4-BE49-F238E27FC236}">
                <a16:creationId xmlns:a16="http://schemas.microsoft.com/office/drawing/2014/main" id="{7BD01D33-8147-EAA3-6662-28433441ABF9}"/>
              </a:ext>
            </a:extLst>
          </p:cNvPr>
          <p:cNvSpPr>
            <a:spLocks noChangeArrowheads="1"/>
          </p:cNvSpPr>
          <p:nvPr/>
        </p:nvSpPr>
        <p:spPr bwMode="auto">
          <a:xfrm>
            <a:off x="1374060" y="4431540"/>
            <a:ext cx="2827452" cy="504562"/>
          </a:xfrm>
          <a:prstGeom prst="flowChartAlternateProcess">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dirty="0">
                <a:solidFill>
                  <a:srgbClr val="000066"/>
                </a:solidFill>
                <a:latin typeface="+mn-ea"/>
                <a:ea typeface="+mn-ea"/>
              </a:rPr>
              <a:t>系统建立、维护程序 </a:t>
            </a:r>
          </a:p>
        </p:txBody>
      </p:sp>
      <p:sp>
        <p:nvSpPr>
          <p:cNvPr id="9" name="AutoShape 7">
            <a:extLst>
              <a:ext uri="{FF2B5EF4-FFF2-40B4-BE49-F238E27FC236}">
                <a16:creationId xmlns:a16="http://schemas.microsoft.com/office/drawing/2014/main" id="{F2E623D6-96AE-8688-AA1A-1CE7E764D180}"/>
              </a:ext>
            </a:extLst>
          </p:cNvPr>
          <p:cNvSpPr>
            <a:spLocks noChangeArrowheads="1"/>
          </p:cNvSpPr>
          <p:nvPr/>
        </p:nvSpPr>
        <p:spPr bwMode="auto">
          <a:xfrm>
            <a:off x="1374060" y="5647145"/>
            <a:ext cx="2827452" cy="504562"/>
          </a:xfrm>
          <a:prstGeom prst="flowChartAlternateProcess">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dirty="0">
                <a:solidFill>
                  <a:srgbClr val="000066"/>
                </a:solidFill>
                <a:latin typeface="+mn-ea"/>
                <a:ea typeface="+mn-ea"/>
              </a:rPr>
              <a:t>数据字典 </a:t>
            </a:r>
          </a:p>
        </p:txBody>
      </p:sp>
      <p:sp>
        <p:nvSpPr>
          <p:cNvPr id="10" name="Line 9">
            <a:extLst>
              <a:ext uri="{FF2B5EF4-FFF2-40B4-BE49-F238E27FC236}">
                <a16:creationId xmlns:a16="http://schemas.microsoft.com/office/drawing/2014/main" id="{F0AA7355-CA6A-A70F-4FCE-E7E280247A10}"/>
              </a:ext>
            </a:extLst>
          </p:cNvPr>
          <p:cNvSpPr>
            <a:spLocks noChangeShapeType="1"/>
          </p:cNvSpPr>
          <p:nvPr/>
        </p:nvSpPr>
        <p:spPr bwMode="auto">
          <a:xfrm flipV="1">
            <a:off x="4351867" y="2338781"/>
            <a:ext cx="1439112" cy="360175"/>
          </a:xfrm>
          <a:prstGeom prst="line">
            <a:avLst/>
          </a:prstGeom>
          <a:noFill/>
          <a:ln w="19050">
            <a:solidFill>
              <a:schemeClr val="accent4">
                <a:lumMod val="75000"/>
              </a:schemeClr>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p>
            <a:endParaRPr lang="zh-CN" altLang="en-US" sz="1999">
              <a:latin typeface="+mn-ea"/>
            </a:endParaRPr>
          </a:p>
        </p:txBody>
      </p:sp>
      <p:sp>
        <p:nvSpPr>
          <p:cNvPr id="11" name="Line 10">
            <a:extLst>
              <a:ext uri="{FF2B5EF4-FFF2-40B4-BE49-F238E27FC236}">
                <a16:creationId xmlns:a16="http://schemas.microsoft.com/office/drawing/2014/main" id="{361ABD35-985A-9AC7-12FA-AA480A39898C}"/>
              </a:ext>
            </a:extLst>
          </p:cNvPr>
          <p:cNvSpPr>
            <a:spLocks noChangeShapeType="1"/>
          </p:cNvSpPr>
          <p:nvPr/>
        </p:nvSpPr>
        <p:spPr bwMode="auto">
          <a:xfrm>
            <a:off x="4351867" y="2706695"/>
            <a:ext cx="1439112" cy="144387"/>
          </a:xfrm>
          <a:prstGeom prst="line">
            <a:avLst/>
          </a:prstGeom>
          <a:noFill/>
          <a:ln w="19050">
            <a:solidFill>
              <a:schemeClr val="accent4">
                <a:lumMod val="75000"/>
              </a:schemeClr>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p>
            <a:endParaRPr lang="zh-CN" altLang="en-US" sz="1999">
              <a:latin typeface="+mn-ea"/>
            </a:endParaRPr>
          </a:p>
        </p:txBody>
      </p:sp>
      <p:sp>
        <p:nvSpPr>
          <p:cNvPr id="12" name="AutoShape 11">
            <a:extLst>
              <a:ext uri="{FF2B5EF4-FFF2-40B4-BE49-F238E27FC236}">
                <a16:creationId xmlns:a16="http://schemas.microsoft.com/office/drawing/2014/main" id="{7E10545E-84CC-6F0E-864C-EF80FD64FC47}"/>
              </a:ext>
            </a:extLst>
          </p:cNvPr>
          <p:cNvSpPr>
            <a:spLocks noChangeArrowheads="1"/>
          </p:cNvSpPr>
          <p:nvPr/>
        </p:nvSpPr>
        <p:spPr bwMode="auto">
          <a:xfrm>
            <a:off x="5939748" y="1941411"/>
            <a:ext cx="3808775" cy="575962"/>
          </a:xfrm>
          <a:prstGeom prst="flowChartPunchedTape">
            <a:avLst/>
          </a:prstGeom>
          <a:solidFill>
            <a:srgbClr val="FFFF99">
              <a:alpha val="79999"/>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dirty="0">
                <a:solidFill>
                  <a:srgbClr val="000066"/>
                </a:solidFill>
                <a:latin typeface="+mn-ea"/>
                <a:ea typeface="+mn-ea"/>
              </a:rPr>
              <a:t>数据定义语言</a:t>
            </a:r>
            <a:r>
              <a:rPr lang="en-US" altLang="zh-CN" sz="1999" dirty="0">
                <a:solidFill>
                  <a:srgbClr val="000066"/>
                </a:solidFill>
                <a:latin typeface="+mn-ea"/>
                <a:ea typeface="+mn-ea"/>
              </a:rPr>
              <a:t>DDL</a:t>
            </a:r>
            <a:r>
              <a:rPr lang="zh-CN" altLang="en-US" sz="1999" dirty="0">
                <a:solidFill>
                  <a:srgbClr val="000066"/>
                </a:solidFill>
                <a:latin typeface="+mn-ea"/>
                <a:ea typeface="+mn-ea"/>
              </a:rPr>
              <a:t>编译程序 </a:t>
            </a:r>
          </a:p>
        </p:txBody>
      </p:sp>
      <p:sp>
        <p:nvSpPr>
          <p:cNvPr id="13" name="AutoShape 12">
            <a:extLst>
              <a:ext uri="{FF2B5EF4-FFF2-40B4-BE49-F238E27FC236}">
                <a16:creationId xmlns:a16="http://schemas.microsoft.com/office/drawing/2014/main" id="{D0F8E436-9502-C1FD-4371-C80B637814AC}"/>
              </a:ext>
            </a:extLst>
          </p:cNvPr>
          <p:cNvSpPr>
            <a:spLocks noChangeArrowheads="1"/>
          </p:cNvSpPr>
          <p:nvPr/>
        </p:nvSpPr>
        <p:spPr bwMode="auto">
          <a:xfrm>
            <a:off x="5939748" y="2517373"/>
            <a:ext cx="3808775" cy="575963"/>
          </a:xfrm>
          <a:prstGeom prst="flowChartPunchedTape">
            <a:avLst/>
          </a:prstGeom>
          <a:solidFill>
            <a:srgbClr val="FFFF99">
              <a:alpha val="79999"/>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dirty="0">
                <a:solidFill>
                  <a:srgbClr val="000066"/>
                </a:solidFill>
                <a:latin typeface="+mn-ea"/>
                <a:ea typeface="+mn-ea"/>
              </a:rPr>
              <a:t>数据操纵语言</a:t>
            </a:r>
            <a:r>
              <a:rPr lang="en-US" altLang="zh-CN" sz="1999" dirty="0">
                <a:solidFill>
                  <a:srgbClr val="000066"/>
                </a:solidFill>
                <a:latin typeface="+mn-ea"/>
                <a:ea typeface="+mn-ea"/>
              </a:rPr>
              <a:t>DML</a:t>
            </a:r>
            <a:r>
              <a:rPr lang="zh-CN" altLang="en-US" sz="1999" dirty="0">
                <a:solidFill>
                  <a:srgbClr val="000066"/>
                </a:solidFill>
                <a:latin typeface="+mn-ea"/>
                <a:ea typeface="+mn-ea"/>
              </a:rPr>
              <a:t>编译程序 </a:t>
            </a:r>
          </a:p>
        </p:txBody>
      </p:sp>
      <p:sp>
        <p:nvSpPr>
          <p:cNvPr id="14" name="AutoShape 13">
            <a:extLst>
              <a:ext uri="{FF2B5EF4-FFF2-40B4-BE49-F238E27FC236}">
                <a16:creationId xmlns:a16="http://schemas.microsoft.com/office/drawing/2014/main" id="{4772C57F-5205-C1C2-2ABC-D5E639848636}"/>
              </a:ext>
            </a:extLst>
          </p:cNvPr>
          <p:cNvSpPr>
            <a:spLocks noChangeArrowheads="1"/>
          </p:cNvSpPr>
          <p:nvPr/>
        </p:nvSpPr>
        <p:spPr bwMode="auto">
          <a:xfrm>
            <a:off x="4344788" y="3491519"/>
            <a:ext cx="2878226" cy="431575"/>
          </a:xfrm>
          <a:prstGeom prst="rightArrow">
            <a:avLst>
              <a:gd name="adj1" fmla="val 30389"/>
              <a:gd name="adj2" fmla="val 183401"/>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sp>
        <p:nvSpPr>
          <p:cNvPr id="15" name="AutoShape 14">
            <a:extLst>
              <a:ext uri="{FF2B5EF4-FFF2-40B4-BE49-F238E27FC236}">
                <a16:creationId xmlns:a16="http://schemas.microsoft.com/office/drawing/2014/main" id="{F87A6C33-336C-2188-1C23-86DC79E3BB45}"/>
              </a:ext>
            </a:extLst>
          </p:cNvPr>
          <p:cNvSpPr>
            <a:spLocks noChangeArrowheads="1"/>
          </p:cNvSpPr>
          <p:nvPr/>
        </p:nvSpPr>
        <p:spPr bwMode="auto">
          <a:xfrm>
            <a:off x="7923848" y="3179573"/>
            <a:ext cx="3122574" cy="2230863"/>
          </a:xfrm>
          <a:prstGeom prst="flowChartProcess">
            <a:avLst/>
          </a:prstGeom>
          <a:solidFill>
            <a:schemeClr val="tx2">
              <a:lumMod val="20000"/>
              <a:lumOff val="80000"/>
              <a:alpha val="47842"/>
            </a:schemeClr>
          </a:solidFill>
          <a:ln w="19050" algn="ctr">
            <a:noFill/>
            <a:miter lim="800000"/>
            <a:headEnd/>
            <a:tailEnd type="none" w="lg" len="lg"/>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nSpc>
                <a:spcPts val="2799"/>
              </a:lnSpc>
              <a:spcBef>
                <a:spcPct val="0"/>
              </a:spcBef>
              <a:buSzTx/>
              <a:buFontTx/>
              <a:buChar char="•"/>
            </a:pPr>
            <a:r>
              <a:rPr lang="zh-CN" altLang="en-US" sz="1999" dirty="0">
                <a:solidFill>
                  <a:srgbClr val="000066"/>
                </a:solidFill>
                <a:latin typeface="+mn-ea"/>
                <a:ea typeface="+mn-ea"/>
              </a:rPr>
              <a:t> 系统总控程序 </a:t>
            </a:r>
          </a:p>
          <a:p>
            <a:pPr>
              <a:lnSpc>
                <a:spcPts val="2799"/>
              </a:lnSpc>
              <a:spcBef>
                <a:spcPct val="0"/>
              </a:spcBef>
              <a:buSzTx/>
              <a:buFontTx/>
              <a:buChar char="•"/>
            </a:pPr>
            <a:r>
              <a:rPr lang="zh-CN" altLang="en-US" sz="1999" dirty="0">
                <a:solidFill>
                  <a:srgbClr val="000066"/>
                </a:solidFill>
                <a:latin typeface="+mn-ea"/>
                <a:ea typeface="+mn-ea"/>
              </a:rPr>
              <a:t> 安全性控制程序 </a:t>
            </a:r>
          </a:p>
          <a:p>
            <a:pPr>
              <a:lnSpc>
                <a:spcPts val="2799"/>
              </a:lnSpc>
              <a:spcBef>
                <a:spcPct val="0"/>
              </a:spcBef>
              <a:buSzTx/>
              <a:buFontTx/>
              <a:buChar char="•"/>
            </a:pPr>
            <a:r>
              <a:rPr lang="zh-CN" altLang="en-US" sz="1999" dirty="0">
                <a:solidFill>
                  <a:srgbClr val="000066"/>
                </a:solidFill>
                <a:latin typeface="+mn-ea"/>
                <a:ea typeface="+mn-ea"/>
              </a:rPr>
              <a:t> 完整性控制程序 </a:t>
            </a:r>
          </a:p>
          <a:p>
            <a:pPr>
              <a:lnSpc>
                <a:spcPts val="2799"/>
              </a:lnSpc>
              <a:spcBef>
                <a:spcPct val="0"/>
              </a:spcBef>
              <a:buSzTx/>
              <a:buFontTx/>
              <a:buChar char="•"/>
            </a:pPr>
            <a:r>
              <a:rPr lang="zh-CN" altLang="en-US" sz="1999" dirty="0">
                <a:solidFill>
                  <a:srgbClr val="000066"/>
                </a:solidFill>
                <a:latin typeface="+mn-ea"/>
                <a:ea typeface="+mn-ea"/>
              </a:rPr>
              <a:t> 并发控制程序 </a:t>
            </a:r>
          </a:p>
          <a:p>
            <a:pPr>
              <a:lnSpc>
                <a:spcPts val="2799"/>
              </a:lnSpc>
              <a:spcBef>
                <a:spcPct val="0"/>
              </a:spcBef>
              <a:buSzTx/>
              <a:buFontTx/>
              <a:buChar char="•"/>
            </a:pPr>
            <a:r>
              <a:rPr lang="zh-CN" altLang="en-US" sz="1999" dirty="0">
                <a:solidFill>
                  <a:srgbClr val="000066"/>
                </a:solidFill>
                <a:latin typeface="+mn-ea"/>
                <a:ea typeface="+mn-ea"/>
              </a:rPr>
              <a:t> 数据存取和更新程序 </a:t>
            </a:r>
          </a:p>
          <a:p>
            <a:pPr>
              <a:lnSpc>
                <a:spcPts val="2799"/>
              </a:lnSpc>
              <a:spcBef>
                <a:spcPct val="0"/>
              </a:spcBef>
              <a:buSzTx/>
              <a:buFontTx/>
              <a:buChar char="•"/>
            </a:pPr>
            <a:r>
              <a:rPr lang="zh-CN" altLang="en-US" sz="1999" dirty="0">
                <a:solidFill>
                  <a:srgbClr val="000066"/>
                </a:solidFill>
                <a:latin typeface="+mn-ea"/>
                <a:ea typeface="+mn-ea"/>
              </a:rPr>
              <a:t> 通信控制程序 </a:t>
            </a:r>
          </a:p>
        </p:txBody>
      </p:sp>
      <p:sp>
        <p:nvSpPr>
          <p:cNvPr id="16" name="AutoShape 16">
            <a:extLst>
              <a:ext uri="{FF2B5EF4-FFF2-40B4-BE49-F238E27FC236}">
                <a16:creationId xmlns:a16="http://schemas.microsoft.com/office/drawing/2014/main" id="{3C09C601-E156-3775-E815-E8A648B8F1D2}"/>
              </a:ext>
            </a:extLst>
          </p:cNvPr>
          <p:cNvSpPr>
            <a:spLocks noChangeArrowheads="1"/>
          </p:cNvSpPr>
          <p:nvPr/>
        </p:nvSpPr>
        <p:spPr bwMode="auto">
          <a:xfrm>
            <a:off x="5312182" y="4053912"/>
            <a:ext cx="2327380" cy="1367713"/>
          </a:xfrm>
          <a:prstGeom prst="flowChartProcess">
            <a:avLst/>
          </a:prstGeom>
          <a:solidFill>
            <a:schemeClr val="accent1">
              <a:alpha val="47842"/>
            </a:scheme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nSpc>
                <a:spcPts val="2699"/>
              </a:lnSpc>
              <a:spcBef>
                <a:spcPct val="0"/>
              </a:spcBef>
              <a:buSzTx/>
              <a:buFont typeface="Wingdings" panose="05000000000000000000" pitchFamily="2" charset="2"/>
              <a:buChar char="u"/>
            </a:pPr>
            <a:r>
              <a:rPr lang="zh-CN" altLang="en-US" sz="1999" dirty="0">
                <a:solidFill>
                  <a:srgbClr val="000066"/>
                </a:solidFill>
                <a:latin typeface="+mn-ea"/>
                <a:ea typeface="+mn-ea"/>
              </a:rPr>
              <a:t>装配程序 </a:t>
            </a:r>
          </a:p>
          <a:p>
            <a:pPr>
              <a:lnSpc>
                <a:spcPts val="2699"/>
              </a:lnSpc>
              <a:spcBef>
                <a:spcPct val="0"/>
              </a:spcBef>
              <a:buSzTx/>
              <a:buFont typeface="Wingdings" panose="05000000000000000000" pitchFamily="2" charset="2"/>
              <a:buChar char="u"/>
            </a:pPr>
            <a:r>
              <a:rPr lang="zh-CN" altLang="en-US" sz="1999" dirty="0">
                <a:solidFill>
                  <a:srgbClr val="000066"/>
                </a:solidFill>
                <a:latin typeface="+mn-ea"/>
                <a:ea typeface="+mn-ea"/>
              </a:rPr>
              <a:t>重组程序 </a:t>
            </a:r>
          </a:p>
          <a:p>
            <a:pPr>
              <a:lnSpc>
                <a:spcPts val="2699"/>
              </a:lnSpc>
              <a:spcBef>
                <a:spcPct val="0"/>
              </a:spcBef>
              <a:buSzTx/>
              <a:buFont typeface="Wingdings" panose="05000000000000000000" pitchFamily="2" charset="2"/>
              <a:buChar char="u"/>
            </a:pPr>
            <a:r>
              <a:rPr lang="zh-CN" altLang="en-US" sz="1999" dirty="0">
                <a:solidFill>
                  <a:srgbClr val="000066"/>
                </a:solidFill>
                <a:latin typeface="+mn-ea"/>
                <a:ea typeface="+mn-ea"/>
              </a:rPr>
              <a:t>系统恢复程序 </a:t>
            </a:r>
          </a:p>
        </p:txBody>
      </p:sp>
      <p:sp>
        <p:nvSpPr>
          <p:cNvPr id="17" name="AutoShape 17">
            <a:extLst>
              <a:ext uri="{FF2B5EF4-FFF2-40B4-BE49-F238E27FC236}">
                <a16:creationId xmlns:a16="http://schemas.microsoft.com/office/drawing/2014/main" id="{993C8A62-CC8E-A46D-60CA-5B6AF0F477DE}"/>
              </a:ext>
            </a:extLst>
          </p:cNvPr>
          <p:cNvSpPr>
            <a:spLocks noChangeArrowheads="1"/>
          </p:cNvSpPr>
          <p:nvPr/>
        </p:nvSpPr>
        <p:spPr bwMode="auto">
          <a:xfrm flipV="1">
            <a:off x="4345899" y="4431540"/>
            <a:ext cx="720350" cy="431575"/>
          </a:xfrm>
          <a:prstGeom prst="rightArrow">
            <a:avLst>
              <a:gd name="adj1" fmla="val 30389"/>
              <a:gd name="adj2" fmla="val 45901"/>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sp>
        <p:nvSpPr>
          <p:cNvPr id="19" name="AutoShape 18">
            <a:extLst>
              <a:ext uri="{FF2B5EF4-FFF2-40B4-BE49-F238E27FC236}">
                <a16:creationId xmlns:a16="http://schemas.microsoft.com/office/drawing/2014/main" id="{93015BF6-F9B4-8096-D1AC-43523CD32F4C}"/>
              </a:ext>
            </a:extLst>
          </p:cNvPr>
          <p:cNvSpPr>
            <a:spLocks noChangeArrowheads="1"/>
          </p:cNvSpPr>
          <p:nvPr/>
        </p:nvSpPr>
        <p:spPr bwMode="auto">
          <a:xfrm>
            <a:off x="4670420" y="5602743"/>
            <a:ext cx="5538238" cy="720350"/>
          </a:xfrm>
          <a:prstGeom prst="leftArrowCallout">
            <a:avLst>
              <a:gd name="adj1" fmla="val 27546"/>
              <a:gd name="adj2" fmla="val 25000"/>
              <a:gd name="adj3" fmla="val 81497"/>
              <a:gd name="adj4" fmla="val 85977"/>
            </a:avLst>
          </a:prstGeom>
          <a:solidFill>
            <a:srgbClr val="FFFF99"/>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1999" dirty="0">
                <a:solidFill>
                  <a:srgbClr val="000066"/>
                </a:solidFill>
                <a:latin typeface="+mn-ea"/>
                <a:ea typeface="+mn-ea"/>
              </a:rPr>
              <a:t>描述数据库中有关信息的数据目录 </a:t>
            </a:r>
          </a:p>
        </p:txBody>
      </p:sp>
    </p:spTree>
    <p:extLst>
      <p:ext uri="{BB962C8B-B14F-4D97-AF65-F5344CB8AC3E}">
        <p14:creationId xmlns:p14="http://schemas.microsoft.com/office/powerpoint/2010/main" val="21400531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ox(in)">
                                      <p:cBhvr>
                                        <p:cTn id="21" dur="500"/>
                                        <p:tgtEl>
                                          <p:spTgt spid="10"/>
                                        </p:tgtEl>
                                      </p:cBhvr>
                                    </p:animEffect>
                                  </p:childTnLst>
                                </p:cTn>
                              </p:par>
                              <p:par>
                                <p:cTn id="22" presetID="4" presetClass="entr" presetSubtype="16"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ox(in)">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checkerboard(across)">
                                      <p:cBhvr>
                                        <p:cTn id="29" dur="500"/>
                                        <p:tgtEl>
                                          <p:spTgt spid="12"/>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checkerboard(across)">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ox(in)">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linds(horizontal)">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checkerboard(across)">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8" presetClass="entr" presetSubtype="16"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diamond(in)">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animBg="1"/>
      <p:bldP spid="13" grpId="0" animBg="1"/>
      <p:bldP spid="14" grpId="0" animBg="1"/>
      <p:bldP spid="15" grpId="0" animBg="1"/>
      <p:bldP spid="16" grpId="0" animBg="1"/>
      <p:bldP spid="17" grpId="0" animBg="1"/>
      <p:bldP spid="1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216448-0A0F-2B33-9620-5D7E25E3E718}"/>
              </a:ext>
            </a:extLst>
          </p:cNvPr>
          <p:cNvSpPr txBox="1"/>
          <p:nvPr/>
        </p:nvSpPr>
        <p:spPr>
          <a:xfrm>
            <a:off x="782690" y="915709"/>
            <a:ext cx="4170905" cy="580113"/>
          </a:xfrm>
          <a:prstGeom prst="rect">
            <a:avLst/>
          </a:prstGeom>
          <a:noFill/>
        </p:spPr>
        <p:txBody>
          <a:bodyPr wrap="square" rtlCol="0">
            <a:spAutoFit/>
          </a:bodyPr>
          <a:lstStyle/>
          <a:p>
            <a:pPr algn="just" defTabSz="1219225">
              <a:lnSpc>
                <a:spcPct val="150000"/>
              </a:lnSpc>
              <a:defRPr/>
            </a:pPr>
            <a:r>
              <a:rPr lang="en-US" altLang="zh-CN" sz="2399" dirty="0">
                <a:solidFill>
                  <a:prstClr val="black"/>
                </a:solidFill>
                <a:latin typeface="Arial"/>
                <a:ea typeface="微软雅黑"/>
              </a:rPr>
              <a:t>1.3.2  </a:t>
            </a:r>
            <a:r>
              <a:rPr lang="zh-CN" altLang="en-US" sz="1799" dirty="0">
                <a:solidFill>
                  <a:prstClr val="black"/>
                </a:solidFill>
                <a:latin typeface="Arial"/>
                <a:ea typeface="微软雅黑"/>
              </a:rPr>
              <a:t>数据库管理系统</a:t>
            </a:r>
            <a:endParaRPr lang="zh-CN" altLang="en-US" sz="2399" dirty="0">
              <a:solidFill>
                <a:prstClr val="black"/>
              </a:solidFill>
              <a:latin typeface="Arial"/>
              <a:ea typeface="微软雅黑"/>
            </a:endParaRPr>
          </a:p>
        </p:txBody>
      </p:sp>
      <p:sp>
        <p:nvSpPr>
          <p:cNvPr id="18" name="文本框 17">
            <a:extLst>
              <a:ext uri="{FF2B5EF4-FFF2-40B4-BE49-F238E27FC236}">
                <a16:creationId xmlns:a16="http://schemas.microsoft.com/office/drawing/2014/main" id="{062B8DE3-5BAF-E987-8FD7-0F5EF13CD277}"/>
              </a:ext>
            </a:extLst>
          </p:cNvPr>
          <p:cNvSpPr txBox="1"/>
          <p:nvPr/>
        </p:nvSpPr>
        <p:spPr>
          <a:xfrm>
            <a:off x="793233" y="1468778"/>
            <a:ext cx="10616078" cy="4099822"/>
          </a:xfrm>
          <a:prstGeom prst="rect">
            <a:avLst/>
          </a:prstGeom>
          <a:noFill/>
        </p:spPr>
        <p:txBody>
          <a:bodyPr wrap="square" rtlCol="0">
            <a:spAutoFit/>
          </a:bodyPr>
          <a:lstStyle/>
          <a:p>
            <a:pPr algn="just">
              <a:lnSpc>
                <a:spcPct val="150000"/>
              </a:lnSpc>
            </a:pPr>
            <a:r>
              <a:rPr lang="en-US" altLang="zh-CN" sz="1799" dirty="0">
                <a:solidFill>
                  <a:prstClr val="black"/>
                </a:solidFill>
                <a:latin typeface="Arial"/>
                <a:ea typeface="微软雅黑"/>
              </a:rPr>
              <a:t>3. DBMS</a:t>
            </a:r>
            <a:r>
              <a:rPr lang="zh-CN" altLang="en-US" sz="1799" dirty="0">
                <a:solidFill>
                  <a:prstClr val="black"/>
                </a:solidFill>
                <a:latin typeface="Arial"/>
                <a:ea typeface="微软雅黑"/>
              </a:rPr>
              <a:t>的数据存取的过程</a:t>
            </a:r>
          </a:p>
          <a:p>
            <a:pPr algn="just" defTabSz="1219225">
              <a:lnSpc>
                <a:spcPct val="150000"/>
              </a:lnSpc>
              <a:defRPr/>
            </a:pPr>
            <a:r>
              <a:rPr lang="zh-CN" altLang="en-US" sz="1999" dirty="0">
                <a:latin typeface="Arial"/>
                <a:ea typeface="微软雅黑"/>
              </a:rPr>
              <a:t>（</a:t>
            </a:r>
            <a:r>
              <a:rPr lang="en-US" altLang="zh-CN" sz="1999" dirty="0">
                <a:latin typeface="Arial"/>
                <a:ea typeface="微软雅黑"/>
              </a:rPr>
              <a:t>1</a:t>
            </a:r>
            <a:r>
              <a:rPr lang="zh-CN" altLang="en-US" sz="1999" dirty="0">
                <a:latin typeface="Arial"/>
                <a:ea typeface="微软雅黑"/>
              </a:rPr>
              <a:t>）用户使用某种特定的数据操作语言向</a:t>
            </a:r>
            <a:r>
              <a:rPr lang="en-US" altLang="zh-CN" sz="1999" dirty="0">
                <a:latin typeface="Arial"/>
                <a:ea typeface="微软雅黑"/>
              </a:rPr>
              <a:t>DBMS</a:t>
            </a:r>
            <a:r>
              <a:rPr lang="zh-CN" altLang="en-US" sz="1999" dirty="0">
                <a:latin typeface="Arial"/>
                <a:ea typeface="微软雅黑"/>
              </a:rPr>
              <a:t>发出存取请求。</a:t>
            </a:r>
          </a:p>
          <a:p>
            <a:pPr algn="just" defTabSz="1219225">
              <a:lnSpc>
                <a:spcPct val="150000"/>
              </a:lnSpc>
              <a:defRPr/>
            </a:pPr>
            <a:r>
              <a:rPr lang="zh-CN" altLang="en-US" sz="1999" dirty="0">
                <a:latin typeface="Arial"/>
                <a:ea typeface="微软雅黑"/>
              </a:rPr>
              <a:t>（</a:t>
            </a:r>
            <a:r>
              <a:rPr lang="en-US" altLang="zh-CN" sz="1999" dirty="0">
                <a:latin typeface="Arial"/>
                <a:ea typeface="微软雅黑"/>
              </a:rPr>
              <a:t>2</a:t>
            </a:r>
            <a:r>
              <a:rPr lang="zh-CN" altLang="en-US" sz="1999" dirty="0">
                <a:latin typeface="Arial"/>
                <a:ea typeface="微软雅黑"/>
              </a:rPr>
              <a:t>）</a:t>
            </a:r>
            <a:r>
              <a:rPr lang="en-US" altLang="zh-CN" sz="1999" dirty="0">
                <a:latin typeface="Arial"/>
                <a:ea typeface="微软雅黑"/>
              </a:rPr>
              <a:t>DBMS</a:t>
            </a:r>
            <a:r>
              <a:rPr lang="zh-CN" altLang="en-US" sz="1999" dirty="0">
                <a:latin typeface="Arial"/>
                <a:ea typeface="微软雅黑"/>
              </a:rPr>
              <a:t>接受请求并将该请求解释转换成机器代码指令。</a:t>
            </a:r>
          </a:p>
          <a:p>
            <a:pPr algn="just" defTabSz="1219225">
              <a:lnSpc>
                <a:spcPct val="150000"/>
              </a:lnSpc>
              <a:defRPr/>
            </a:pPr>
            <a:r>
              <a:rPr lang="zh-CN" altLang="en-US" sz="1999" dirty="0">
                <a:latin typeface="Arial"/>
                <a:ea typeface="微软雅黑"/>
              </a:rPr>
              <a:t>（</a:t>
            </a:r>
            <a:r>
              <a:rPr lang="en-US" altLang="zh-CN" sz="1999" dirty="0">
                <a:latin typeface="Arial"/>
                <a:ea typeface="微软雅黑"/>
              </a:rPr>
              <a:t>3</a:t>
            </a:r>
            <a:r>
              <a:rPr lang="zh-CN" altLang="en-US" sz="1999" dirty="0">
                <a:latin typeface="Arial"/>
                <a:ea typeface="微软雅黑"/>
              </a:rPr>
              <a:t>）</a:t>
            </a:r>
            <a:r>
              <a:rPr lang="en-US" altLang="zh-CN" sz="1999" dirty="0">
                <a:latin typeface="Arial"/>
                <a:ea typeface="微软雅黑"/>
              </a:rPr>
              <a:t>DBMS</a:t>
            </a:r>
            <a:r>
              <a:rPr lang="zh-CN" altLang="en-US" sz="1999" dirty="0">
                <a:latin typeface="Arial"/>
                <a:ea typeface="微软雅黑"/>
              </a:rPr>
              <a:t>依次检查外模式、外模式</a:t>
            </a:r>
            <a:r>
              <a:rPr lang="en-US" altLang="zh-CN" sz="1999" dirty="0">
                <a:latin typeface="Arial"/>
                <a:ea typeface="微软雅黑"/>
              </a:rPr>
              <a:t>/</a:t>
            </a:r>
            <a:r>
              <a:rPr lang="zh-CN" altLang="en-US" sz="1999" dirty="0">
                <a:latin typeface="Arial"/>
                <a:ea typeface="微软雅黑"/>
              </a:rPr>
              <a:t>模式映像、模式、模式</a:t>
            </a:r>
            <a:r>
              <a:rPr lang="en-US" altLang="zh-CN" sz="1999" dirty="0">
                <a:latin typeface="Arial"/>
                <a:ea typeface="微软雅黑"/>
              </a:rPr>
              <a:t>/</a:t>
            </a:r>
            <a:r>
              <a:rPr lang="zh-CN" altLang="en-US" sz="1999" dirty="0">
                <a:latin typeface="Arial"/>
                <a:ea typeface="微软雅黑"/>
              </a:rPr>
              <a:t>内模式映像及存储结构定义。</a:t>
            </a:r>
          </a:p>
          <a:p>
            <a:pPr algn="just" defTabSz="1219225">
              <a:lnSpc>
                <a:spcPct val="150000"/>
              </a:lnSpc>
              <a:defRPr/>
            </a:pPr>
            <a:r>
              <a:rPr lang="zh-CN" altLang="en-US" sz="1999" dirty="0">
                <a:latin typeface="Arial"/>
                <a:ea typeface="微软雅黑"/>
              </a:rPr>
              <a:t>（</a:t>
            </a:r>
            <a:r>
              <a:rPr lang="en-US" altLang="zh-CN" sz="1999" dirty="0">
                <a:latin typeface="Arial"/>
                <a:ea typeface="微软雅黑"/>
              </a:rPr>
              <a:t>4</a:t>
            </a:r>
            <a:r>
              <a:rPr lang="zh-CN" altLang="en-US" sz="1999" dirty="0">
                <a:latin typeface="Arial"/>
                <a:ea typeface="微软雅黑"/>
              </a:rPr>
              <a:t>）</a:t>
            </a:r>
            <a:r>
              <a:rPr lang="en-US" altLang="zh-CN" sz="1999" dirty="0">
                <a:latin typeface="Arial"/>
                <a:ea typeface="微软雅黑"/>
              </a:rPr>
              <a:t>DBMS</a:t>
            </a:r>
            <a:r>
              <a:rPr lang="zh-CN" altLang="en-US" sz="1999" dirty="0">
                <a:latin typeface="Arial"/>
                <a:ea typeface="微软雅黑"/>
              </a:rPr>
              <a:t>对存储数据库执行必要的存取操作。</a:t>
            </a:r>
          </a:p>
          <a:p>
            <a:pPr algn="just" defTabSz="1219225">
              <a:lnSpc>
                <a:spcPct val="150000"/>
              </a:lnSpc>
              <a:defRPr/>
            </a:pPr>
            <a:r>
              <a:rPr lang="zh-CN" altLang="en-US" sz="1999" dirty="0">
                <a:latin typeface="Arial"/>
                <a:ea typeface="微软雅黑"/>
              </a:rPr>
              <a:t>（</a:t>
            </a:r>
            <a:r>
              <a:rPr lang="en-US" altLang="zh-CN" sz="1999" dirty="0">
                <a:latin typeface="Arial"/>
                <a:ea typeface="微软雅黑"/>
              </a:rPr>
              <a:t>5</a:t>
            </a:r>
            <a:r>
              <a:rPr lang="zh-CN" altLang="en-US" sz="1999" dirty="0">
                <a:latin typeface="Arial"/>
                <a:ea typeface="微软雅黑"/>
              </a:rPr>
              <a:t>）从对数据库的存取操作中接受结果。</a:t>
            </a:r>
          </a:p>
          <a:p>
            <a:pPr algn="just" defTabSz="1219225">
              <a:lnSpc>
                <a:spcPct val="150000"/>
              </a:lnSpc>
              <a:defRPr/>
            </a:pPr>
            <a:r>
              <a:rPr lang="zh-CN" altLang="en-US" sz="1999" dirty="0">
                <a:latin typeface="Arial"/>
                <a:ea typeface="微软雅黑"/>
              </a:rPr>
              <a:t>（</a:t>
            </a:r>
            <a:r>
              <a:rPr lang="en-US" altLang="zh-CN" sz="1999" dirty="0">
                <a:latin typeface="Arial"/>
                <a:ea typeface="微软雅黑"/>
              </a:rPr>
              <a:t>6</a:t>
            </a:r>
            <a:r>
              <a:rPr lang="zh-CN" altLang="en-US" sz="1999" dirty="0">
                <a:latin typeface="Arial"/>
                <a:ea typeface="微软雅黑"/>
              </a:rPr>
              <a:t>）对得到的结果进行必要的处理，如格式转换等。</a:t>
            </a:r>
          </a:p>
          <a:p>
            <a:pPr algn="just" defTabSz="1219225">
              <a:lnSpc>
                <a:spcPct val="150000"/>
              </a:lnSpc>
              <a:defRPr/>
            </a:pPr>
            <a:r>
              <a:rPr lang="zh-CN" altLang="en-US" sz="1999" dirty="0">
                <a:latin typeface="Arial"/>
                <a:ea typeface="微软雅黑"/>
              </a:rPr>
              <a:t>（</a:t>
            </a:r>
            <a:r>
              <a:rPr lang="en-US" altLang="zh-CN" sz="1999" dirty="0">
                <a:latin typeface="Arial"/>
                <a:ea typeface="微软雅黑"/>
              </a:rPr>
              <a:t>7</a:t>
            </a:r>
            <a:r>
              <a:rPr lang="zh-CN" altLang="en-US" sz="1999" dirty="0">
                <a:latin typeface="Arial"/>
                <a:ea typeface="微软雅黑"/>
              </a:rPr>
              <a:t>）将处理的结果返回给用户。</a:t>
            </a:r>
          </a:p>
          <a:p>
            <a:pPr marL="342729" indent="-342729" algn="just" defTabSz="1219225">
              <a:lnSpc>
                <a:spcPct val="150000"/>
              </a:lnSpc>
              <a:buFont typeface="Wingdings" panose="05000000000000000000" pitchFamily="2" charset="2"/>
              <a:buChar char="ü"/>
              <a:defRPr/>
            </a:pPr>
            <a:endParaRPr lang="en-US" altLang="zh-CN" sz="1799" dirty="0">
              <a:solidFill>
                <a:srgbClr val="0070C0"/>
              </a:solidFill>
              <a:latin typeface="Arial"/>
              <a:ea typeface="微软雅黑"/>
            </a:endParaRPr>
          </a:p>
        </p:txBody>
      </p:sp>
    </p:spTree>
    <p:extLst>
      <p:ext uri="{BB962C8B-B14F-4D97-AF65-F5344CB8AC3E}">
        <p14:creationId xmlns:p14="http://schemas.microsoft.com/office/powerpoint/2010/main" val="33195102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576959"/>
            <a:ext cx="10698480" cy="538609"/>
          </a:xfrm>
          <a:prstGeom prst="rect">
            <a:avLst/>
          </a:prstGeom>
          <a:noFill/>
        </p:spPr>
        <p:txBody>
          <a:bodyPr wrap="square">
            <a:spAutoFit/>
          </a:bodyPr>
          <a:lstStyle/>
          <a:p>
            <a:r>
              <a:rPr lang="zh-CN" altLang="en-US" sz="2900" b="1" dirty="0">
                <a:solidFill>
                  <a:srgbClr val="C00000"/>
                </a:solidFill>
                <a:latin typeface="微软雅黑"/>
                <a:ea typeface="微软雅黑"/>
                <a:cs typeface="微软雅黑"/>
              </a:rPr>
              <a:t>练一练</a:t>
            </a:r>
            <a:endParaRPr sz="2900" b="1" dirty="0">
              <a:solidFill>
                <a:srgbClr val="C00000"/>
              </a:solidFill>
              <a:latin typeface="微软雅黑"/>
              <a:ea typeface="微软雅黑"/>
              <a:cs typeface="微软雅黑"/>
            </a:endParaRPr>
          </a:p>
        </p:txBody>
      </p:sp>
      <p:sp>
        <p:nvSpPr>
          <p:cNvPr id="3" name="Rectangle 2"/>
          <p:cNvSpPr/>
          <p:nvPr/>
        </p:nvSpPr>
        <p:spPr>
          <a:xfrm>
            <a:off x="822960" y="1115568"/>
            <a:ext cx="10561320" cy="3175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60733" y="1266797"/>
            <a:ext cx="10469880" cy="4882683"/>
          </a:xfrm>
          <a:prstGeom prst="rect">
            <a:avLst/>
          </a:prstGeom>
          <a:noFill/>
        </p:spPr>
        <p:txBody>
          <a:bodyPr wrap="square">
            <a:spAutoFit/>
          </a:bodyPr>
          <a:lstStyle/>
          <a:p>
            <a:pPr>
              <a:lnSpc>
                <a:spcPct val="150000"/>
              </a:lnSpc>
            </a:pPr>
            <a:r>
              <a:rPr sz="2100" b="1" dirty="0">
                <a:solidFill>
                  <a:srgbClr val="C00000"/>
                </a:solidFill>
                <a:latin typeface="微软雅黑"/>
                <a:ea typeface="微软雅黑"/>
                <a:cs typeface="微软雅黑"/>
              </a:rPr>
              <a:t>【</a:t>
            </a:r>
            <a:r>
              <a:rPr lang="zh-CN" altLang="en-US" sz="2100" b="1" dirty="0">
                <a:solidFill>
                  <a:srgbClr val="C00000"/>
                </a:solidFill>
                <a:latin typeface="微软雅黑"/>
                <a:ea typeface="微软雅黑"/>
                <a:cs typeface="微软雅黑"/>
              </a:rPr>
              <a:t>问题一</a:t>
            </a:r>
            <a:r>
              <a:rPr sz="2100" b="1" dirty="0">
                <a:solidFill>
                  <a:srgbClr val="C00000"/>
                </a:solidFill>
                <a:latin typeface="微软雅黑"/>
                <a:ea typeface="微软雅黑"/>
                <a:cs typeface="微软雅黑"/>
              </a:rPr>
              <a:t>】</a:t>
            </a:r>
            <a:r>
              <a:rPr lang="en-US" altLang="zh-CN" sz="2100" dirty="0">
                <a:solidFill>
                  <a:srgbClr val="262626"/>
                </a:solidFill>
                <a:latin typeface="微软雅黑"/>
                <a:ea typeface="微软雅黑"/>
                <a:cs typeface="微软雅黑"/>
              </a:rPr>
              <a:t>DB</a:t>
            </a:r>
            <a:r>
              <a:rPr lang="zh-CN" altLang="en-US" sz="2100" dirty="0">
                <a:solidFill>
                  <a:srgbClr val="262626"/>
                </a:solidFill>
                <a:latin typeface="微软雅黑"/>
                <a:ea typeface="微软雅黑"/>
                <a:cs typeface="微软雅黑"/>
              </a:rPr>
              <a:t>、</a:t>
            </a:r>
            <a:r>
              <a:rPr lang="en-US" altLang="zh-CN" sz="2100" dirty="0">
                <a:solidFill>
                  <a:srgbClr val="262626"/>
                </a:solidFill>
                <a:latin typeface="微软雅黑"/>
                <a:ea typeface="微软雅黑"/>
                <a:cs typeface="微软雅黑"/>
              </a:rPr>
              <a:t>DBMS</a:t>
            </a:r>
            <a:r>
              <a:rPr lang="zh-CN" altLang="en-US" sz="2100" dirty="0">
                <a:solidFill>
                  <a:srgbClr val="262626"/>
                </a:solidFill>
                <a:latin typeface="微软雅黑"/>
                <a:ea typeface="微软雅黑"/>
                <a:cs typeface="微软雅黑"/>
              </a:rPr>
              <a:t>、</a:t>
            </a:r>
            <a:r>
              <a:rPr lang="en-US" altLang="zh-CN" sz="2100" dirty="0">
                <a:solidFill>
                  <a:srgbClr val="262626"/>
                </a:solidFill>
                <a:latin typeface="微软雅黑"/>
                <a:ea typeface="微软雅黑"/>
                <a:cs typeface="微软雅黑"/>
              </a:rPr>
              <a:t>DBS </a:t>
            </a:r>
            <a:r>
              <a:rPr lang="zh-CN" altLang="en-US" sz="2100" dirty="0">
                <a:solidFill>
                  <a:srgbClr val="262626"/>
                </a:solidFill>
                <a:latin typeface="微软雅黑"/>
                <a:ea typeface="微软雅黑"/>
                <a:cs typeface="微软雅黑"/>
              </a:rPr>
              <a:t>三者之间的关系？（    ）</a:t>
            </a:r>
          </a:p>
          <a:p>
            <a:pPr>
              <a:lnSpc>
                <a:spcPct val="150000"/>
              </a:lnSpc>
            </a:pPr>
            <a:r>
              <a:rPr lang="en-US" altLang="zh-CN" sz="2100" b="1" dirty="0">
                <a:solidFill>
                  <a:srgbClr val="262626"/>
                </a:solidFill>
                <a:latin typeface="微软雅黑"/>
                <a:ea typeface="微软雅黑"/>
                <a:cs typeface="微软雅黑"/>
              </a:rPr>
              <a:t>             A  DB </a:t>
            </a:r>
            <a:r>
              <a:rPr lang="zh-CN" altLang="en-US" sz="2100" b="1" dirty="0">
                <a:solidFill>
                  <a:srgbClr val="262626"/>
                </a:solidFill>
                <a:latin typeface="微软雅黑"/>
                <a:ea typeface="微软雅黑"/>
                <a:cs typeface="微软雅黑"/>
              </a:rPr>
              <a:t>包含 </a:t>
            </a:r>
            <a:r>
              <a:rPr lang="en-US" altLang="zh-CN" sz="2100" b="1" dirty="0">
                <a:solidFill>
                  <a:srgbClr val="262626"/>
                </a:solidFill>
                <a:latin typeface="微软雅黑"/>
                <a:ea typeface="微软雅黑"/>
                <a:cs typeface="微软雅黑"/>
              </a:rPr>
              <a:t>DBS </a:t>
            </a:r>
            <a:r>
              <a:rPr lang="zh-CN" altLang="en-US" sz="2100" b="1" dirty="0">
                <a:solidFill>
                  <a:srgbClr val="262626"/>
                </a:solidFill>
                <a:latin typeface="微软雅黑"/>
                <a:ea typeface="微软雅黑"/>
                <a:cs typeface="微软雅黑"/>
              </a:rPr>
              <a:t>和 </a:t>
            </a:r>
            <a:r>
              <a:rPr lang="en-US" altLang="zh-CN" sz="2100" b="1" dirty="0">
                <a:solidFill>
                  <a:srgbClr val="262626"/>
                </a:solidFill>
                <a:latin typeface="微软雅黑"/>
                <a:ea typeface="微软雅黑"/>
                <a:cs typeface="微软雅黑"/>
              </a:rPr>
              <a:t>DBMS</a:t>
            </a:r>
            <a:r>
              <a:rPr lang="zh-CN" altLang="en-US" sz="2100" b="1" dirty="0">
                <a:solidFill>
                  <a:srgbClr val="262626"/>
                </a:solidFill>
                <a:latin typeface="微软雅黑"/>
                <a:ea typeface="微软雅黑"/>
                <a:cs typeface="微软雅黑"/>
              </a:rPr>
              <a:t>；</a:t>
            </a:r>
          </a:p>
          <a:p>
            <a:pPr>
              <a:lnSpc>
                <a:spcPct val="150000"/>
              </a:lnSpc>
            </a:pPr>
            <a:r>
              <a:rPr lang="en-US" altLang="zh-CN" sz="2100" b="1" dirty="0">
                <a:solidFill>
                  <a:srgbClr val="262626"/>
                </a:solidFill>
                <a:latin typeface="微软雅黑"/>
                <a:ea typeface="微软雅黑"/>
                <a:cs typeface="微软雅黑"/>
              </a:rPr>
              <a:t>             B  DBMS </a:t>
            </a:r>
            <a:r>
              <a:rPr lang="zh-CN" altLang="en-US" sz="2100" b="1" dirty="0">
                <a:solidFill>
                  <a:srgbClr val="262626"/>
                </a:solidFill>
                <a:latin typeface="微软雅黑"/>
                <a:ea typeface="微软雅黑"/>
                <a:cs typeface="微软雅黑"/>
              </a:rPr>
              <a:t>包含 </a:t>
            </a:r>
            <a:r>
              <a:rPr lang="en-US" altLang="zh-CN" sz="2100" b="1" dirty="0">
                <a:solidFill>
                  <a:srgbClr val="262626"/>
                </a:solidFill>
                <a:latin typeface="微软雅黑"/>
                <a:ea typeface="微软雅黑"/>
                <a:cs typeface="微软雅黑"/>
              </a:rPr>
              <a:t>DB </a:t>
            </a:r>
            <a:r>
              <a:rPr lang="zh-CN" altLang="en-US" sz="2100" b="1" dirty="0">
                <a:solidFill>
                  <a:srgbClr val="262626"/>
                </a:solidFill>
                <a:latin typeface="微软雅黑"/>
                <a:ea typeface="微软雅黑"/>
                <a:cs typeface="微软雅黑"/>
              </a:rPr>
              <a:t>和 </a:t>
            </a:r>
            <a:r>
              <a:rPr lang="en-US" altLang="zh-CN" sz="2100" b="1" dirty="0">
                <a:solidFill>
                  <a:srgbClr val="262626"/>
                </a:solidFill>
                <a:latin typeface="微软雅黑"/>
                <a:ea typeface="微软雅黑"/>
                <a:cs typeface="微软雅黑"/>
              </a:rPr>
              <a:t>DBS</a:t>
            </a:r>
            <a:r>
              <a:rPr lang="zh-CN" altLang="en-US" sz="2100" b="1" dirty="0">
                <a:solidFill>
                  <a:srgbClr val="262626"/>
                </a:solidFill>
                <a:latin typeface="微软雅黑"/>
                <a:ea typeface="微软雅黑"/>
                <a:cs typeface="微软雅黑"/>
              </a:rPr>
              <a:t>；       </a:t>
            </a:r>
          </a:p>
          <a:p>
            <a:pPr>
              <a:lnSpc>
                <a:spcPct val="150000"/>
              </a:lnSpc>
            </a:pPr>
            <a:r>
              <a:rPr lang="en-US" altLang="zh-CN" sz="2100" b="1" dirty="0">
                <a:solidFill>
                  <a:srgbClr val="262626"/>
                </a:solidFill>
                <a:latin typeface="微软雅黑"/>
                <a:ea typeface="微软雅黑"/>
                <a:cs typeface="微软雅黑"/>
              </a:rPr>
              <a:t>             C  DBS </a:t>
            </a:r>
            <a:r>
              <a:rPr lang="zh-CN" altLang="en-US" sz="2100" b="1" dirty="0">
                <a:solidFill>
                  <a:srgbClr val="262626"/>
                </a:solidFill>
                <a:latin typeface="微软雅黑"/>
                <a:ea typeface="微软雅黑"/>
                <a:cs typeface="微软雅黑"/>
              </a:rPr>
              <a:t>包含 </a:t>
            </a:r>
            <a:r>
              <a:rPr lang="en-US" altLang="zh-CN" sz="2100" b="1" dirty="0">
                <a:solidFill>
                  <a:srgbClr val="262626"/>
                </a:solidFill>
                <a:latin typeface="微软雅黑"/>
                <a:ea typeface="微软雅黑"/>
                <a:cs typeface="微软雅黑"/>
              </a:rPr>
              <a:t>DB</a:t>
            </a:r>
            <a:r>
              <a:rPr lang="zh-CN" altLang="en-US" sz="2100" b="1" dirty="0">
                <a:solidFill>
                  <a:srgbClr val="262626"/>
                </a:solidFill>
                <a:latin typeface="微软雅黑"/>
                <a:ea typeface="微软雅黑"/>
                <a:cs typeface="微软雅黑"/>
              </a:rPr>
              <a:t>、</a:t>
            </a:r>
            <a:r>
              <a:rPr lang="en-US" altLang="zh-CN" sz="2100" b="1" dirty="0">
                <a:solidFill>
                  <a:srgbClr val="262626"/>
                </a:solidFill>
                <a:latin typeface="微软雅黑"/>
                <a:ea typeface="微软雅黑"/>
                <a:cs typeface="微软雅黑"/>
              </a:rPr>
              <a:t>DBMS</a:t>
            </a:r>
            <a:r>
              <a:rPr lang="zh-CN" altLang="en-US" sz="2100" b="1" dirty="0">
                <a:solidFill>
                  <a:srgbClr val="262626"/>
                </a:solidFill>
                <a:latin typeface="微软雅黑"/>
                <a:ea typeface="微软雅黑"/>
                <a:cs typeface="微软雅黑"/>
              </a:rPr>
              <a:t>；</a:t>
            </a:r>
          </a:p>
          <a:p>
            <a:pPr>
              <a:lnSpc>
                <a:spcPct val="150000"/>
              </a:lnSpc>
            </a:pPr>
            <a:r>
              <a:rPr lang="en-US" altLang="zh-CN" sz="2100" b="1" dirty="0">
                <a:solidFill>
                  <a:srgbClr val="262626"/>
                </a:solidFill>
                <a:latin typeface="微软雅黑"/>
                <a:ea typeface="微软雅黑"/>
                <a:cs typeface="微软雅黑"/>
              </a:rPr>
              <a:t>             D  </a:t>
            </a:r>
            <a:r>
              <a:rPr lang="zh-CN" altLang="en-US" sz="2100" b="1" dirty="0">
                <a:solidFill>
                  <a:srgbClr val="262626"/>
                </a:solidFill>
                <a:latin typeface="微软雅黑"/>
                <a:ea typeface="微软雅黑"/>
                <a:cs typeface="微软雅黑"/>
              </a:rPr>
              <a:t>互不包含。</a:t>
            </a:r>
          </a:p>
          <a:p>
            <a:pPr>
              <a:lnSpc>
                <a:spcPct val="150000"/>
              </a:lnSpc>
            </a:pPr>
            <a:r>
              <a:rPr lang="en-US" altLang="zh-CN" sz="2100" b="1" dirty="0">
                <a:solidFill>
                  <a:srgbClr val="C00000"/>
                </a:solidFill>
                <a:latin typeface="微软雅黑"/>
                <a:ea typeface="微软雅黑"/>
                <a:cs typeface="微软雅黑"/>
              </a:rPr>
              <a:t>【</a:t>
            </a:r>
            <a:r>
              <a:rPr lang="zh-CN" altLang="en-US" sz="2100" b="1" dirty="0">
                <a:solidFill>
                  <a:srgbClr val="C00000"/>
                </a:solidFill>
                <a:latin typeface="微软雅黑"/>
                <a:ea typeface="微软雅黑"/>
                <a:cs typeface="微软雅黑"/>
              </a:rPr>
              <a:t>问题二</a:t>
            </a:r>
            <a:r>
              <a:rPr lang="en-US" altLang="zh-CN" sz="2100" b="1" dirty="0">
                <a:solidFill>
                  <a:srgbClr val="C00000"/>
                </a:solidFill>
                <a:latin typeface="微软雅黑"/>
                <a:ea typeface="微软雅黑"/>
                <a:cs typeface="微软雅黑"/>
              </a:rPr>
              <a:t>】 </a:t>
            </a:r>
            <a:r>
              <a:rPr lang="en-US" altLang="zh-CN" sz="2100" b="0" dirty="0">
                <a:solidFill>
                  <a:srgbClr val="262626"/>
                </a:solidFill>
                <a:latin typeface="微软雅黑"/>
                <a:ea typeface="微软雅黑"/>
                <a:cs typeface="微软雅黑"/>
              </a:rPr>
              <a:t>DBMS</a:t>
            </a:r>
            <a:r>
              <a:rPr lang="zh-CN" altLang="en-US" sz="2100" b="0" dirty="0">
                <a:solidFill>
                  <a:srgbClr val="262626"/>
                </a:solidFill>
                <a:latin typeface="微软雅黑"/>
                <a:ea typeface="微软雅黑"/>
                <a:cs typeface="微软雅黑"/>
              </a:rPr>
              <a:t>是一个（      ）。</a:t>
            </a:r>
          </a:p>
          <a:p>
            <a:pPr>
              <a:lnSpc>
                <a:spcPct val="150000"/>
              </a:lnSpc>
            </a:pPr>
            <a:r>
              <a:rPr lang="en-US" altLang="zh-CN" sz="2100" b="1" dirty="0">
                <a:solidFill>
                  <a:srgbClr val="262626"/>
                </a:solidFill>
                <a:latin typeface="微软雅黑"/>
                <a:ea typeface="微软雅黑"/>
                <a:cs typeface="微软雅黑"/>
              </a:rPr>
              <a:t>          A.</a:t>
            </a:r>
            <a:r>
              <a:rPr lang="zh-CN" altLang="en-US" sz="2100" b="1" dirty="0">
                <a:solidFill>
                  <a:srgbClr val="262626"/>
                </a:solidFill>
                <a:latin typeface="微软雅黑"/>
                <a:ea typeface="微软雅黑"/>
                <a:cs typeface="微软雅黑"/>
              </a:rPr>
              <a:t>软件               </a:t>
            </a:r>
            <a:r>
              <a:rPr lang="en-US" altLang="zh-CN" sz="2100" b="1" dirty="0">
                <a:solidFill>
                  <a:srgbClr val="262626"/>
                </a:solidFill>
                <a:latin typeface="微软雅黑"/>
                <a:ea typeface="微软雅黑"/>
                <a:cs typeface="微软雅黑"/>
              </a:rPr>
              <a:t>B.</a:t>
            </a:r>
            <a:r>
              <a:rPr lang="zh-CN" altLang="en-US" sz="2100" b="1" dirty="0">
                <a:solidFill>
                  <a:srgbClr val="262626"/>
                </a:solidFill>
                <a:latin typeface="微软雅黑"/>
                <a:ea typeface="微软雅黑"/>
                <a:cs typeface="微软雅黑"/>
              </a:rPr>
              <a:t>硬件</a:t>
            </a:r>
          </a:p>
          <a:p>
            <a:pPr>
              <a:lnSpc>
                <a:spcPct val="150000"/>
              </a:lnSpc>
            </a:pPr>
            <a:r>
              <a:rPr lang="en-US" altLang="zh-CN" sz="2100" b="1" dirty="0">
                <a:solidFill>
                  <a:srgbClr val="262626"/>
                </a:solidFill>
                <a:latin typeface="微软雅黑"/>
                <a:ea typeface="微软雅黑"/>
                <a:cs typeface="微软雅黑"/>
              </a:rPr>
              <a:t>          C.</a:t>
            </a:r>
            <a:r>
              <a:rPr lang="zh-CN" altLang="en-US" sz="2100" b="1" dirty="0">
                <a:solidFill>
                  <a:srgbClr val="262626"/>
                </a:solidFill>
                <a:latin typeface="微软雅黑"/>
                <a:ea typeface="微软雅黑"/>
                <a:cs typeface="微软雅黑"/>
              </a:rPr>
              <a:t>机构               </a:t>
            </a:r>
            <a:r>
              <a:rPr lang="en-US" altLang="zh-CN" sz="2100" b="1" dirty="0">
                <a:solidFill>
                  <a:srgbClr val="262626"/>
                </a:solidFill>
                <a:latin typeface="微软雅黑"/>
                <a:ea typeface="微软雅黑"/>
                <a:cs typeface="微软雅黑"/>
              </a:rPr>
              <a:t>D.</a:t>
            </a:r>
            <a:r>
              <a:rPr lang="zh-CN" altLang="en-US" sz="2100" b="1" dirty="0">
                <a:solidFill>
                  <a:srgbClr val="262626"/>
                </a:solidFill>
                <a:latin typeface="微软雅黑"/>
                <a:ea typeface="微软雅黑"/>
                <a:cs typeface="微软雅黑"/>
              </a:rPr>
              <a:t>数据库的集合</a:t>
            </a:r>
          </a:p>
          <a:p>
            <a:pPr>
              <a:lnSpc>
                <a:spcPct val="150000"/>
              </a:lnSpc>
            </a:pPr>
            <a:r>
              <a:rPr lang="en-US" altLang="zh-CN" sz="2100" b="1" dirty="0">
                <a:solidFill>
                  <a:srgbClr val="C00000"/>
                </a:solidFill>
                <a:latin typeface="微软雅黑"/>
                <a:ea typeface="微软雅黑"/>
                <a:cs typeface="微软雅黑"/>
              </a:rPr>
              <a:t>【</a:t>
            </a:r>
            <a:r>
              <a:rPr lang="zh-CN" altLang="en-US" sz="2100" b="1" dirty="0">
                <a:solidFill>
                  <a:srgbClr val="C00000"/>
                </a:solidFill>
                <a:latin typeface="微软雅黑"/>
                <a:ea typeface="微软雅黑"/>
                <a:cs typeface="微软雅黑"/>
              </a:rPr>
              <a:t>问题三</a:t>
            </a:r>
            <a:r>
              <a:rPr lang="en-US" altLang="zh-CN" sz="2100" b="1" dirty="0">
                <a:solidFill>
                  <a:srgbClr val="C00000"/>
                </a:solidFill>
                <a:latin typeface="微软雅黑"/>
                <a:ea typeface="微软雅黑"/>
                <a:cs typeface="微软雅黑"/>
              </a:rPr>
              <a:t>】</a:t>
            </a:r>
            <a:r>
              <a:rPr lang="zh-CN" altLang="en-US" sz="2100" b="0" dirty="0">
                <a:solidFill>
                  <a:srgbClr val="262626"/>
                </a:solidFill>
                <a:latin typeface="微软雅黑"/>
                <a:ea typeface="微软雅黑"/>
                <a:cs typeface="微软雅黑"/>
              </a:rPr>
              <a:t>简述数据、数据库、数据库管理系统、数据库系统之间的关系</a:t>
            </a:r>
            <a:r>
              <a:rPr lang="en-US" altLang="zh-CN" sz="2100" b="0" dirty="0">
                <a:solidFill>
                  <a:srgbClr val="262626"/>
                </a:solidFill>
                <a:latin typeface="微软雅黑"/>
                <a:ea typeface="微软雅黑"/>
                <a:cs typeface="微软雅黑"/>
              </a:rPr>
              <a:t>?</a:t>
            </a:r>
          </a:p>
          <a:p>
            <a:pPr>
              <a:lnSpc>
                <a:spcPct val="150000"/>
              </a:lnSpc>
            </a:pPr>
            <a:r>
              <a:rPr lang="en-US" altLang="zh-CN" sz="2100" b="1" dirty="0">
                <a:solidFill>
                  <a:srgbClr val="C00000"/>
                </a:solidFill>
                <a:latin typeface="微软雅黑"/>
                <a:ea typeface="微软雅黑"/>
                <a:cs typeface="微软雅黑"/>
              </a:rPr>
              <a:t>【</a:t>
            </a:r>
            <a:r>
              <a:rPr lang="zh-CN" altLang="en-US" sz="2100" b="1" dirty="0">
                <a:solidFill>
                  <a:srgbClr val="C00000"/>
                </a:solidFill>
                <a:latin typeface="微软雅黑"/>
                <a:ea typeface="微软雅黑"/>
                <a:cs typeface="微软雅黑"/>
              </a:rPr>
              <a:t>问题四</a:t>
            </a:r>
            <a:r>
              <a:rPr lang="en-US" altLang="zh-CN" sz="2100" b="1" dirty="0">
                <a:solidFill>
                  <a:srgbClr val="C00000"/>
                </a:solidFill>
                <a:latin typeface="微软雅黑"/>
                <a:ea typeface="微软雅黑"/>
                <a:cs typeface="微软雅黑"/>
              </a:rPr>
              <a:t>】</a:t>
            </a:r>
            <a:r>
              <a:rPr lang="zh-CN" altLang="en-US" sz="2100" b="0" dirty="0">
                <a:solidFill>
                  <a:srgbClr val="262626"/>
                </a:solidFill>
                <a:latin typeface="微软雅黑"/>
                <a:ea typeface="微软雅黑"/>
                <a:cs typeface="微软雅黑"/>
              </a:rPr>
              <a:t>数据库系统有哪几部分组成？</a:t>
            </a:r>
            <a:endParaRPr sz="2100" b="0" dirty="0">
              <a:solidFill>
                <a:srgbClr val="262626"/>
              </a:solidFill>
              <a:latin typeface="微软雅黑"/>
              <a:ea typeface="微软雅黑"/>
              <a:cs typeface="微软雅黑"/>
            </a:endParaRPr>
          </a:p>
        </p:txBody>
      </p:sp>
    </p:spTree>
    <p:extLst>
      <p:ext uri="{BB962C8B-B14F-4D97-AF65-F5344CB8AC3E}">
        <p14:creationId xmlns:p14="http://schemas.microsoft.com/office/powerpoint/2010/main" val="2704223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DD19AE7-0E7D-4AD4-B73C-3FA425A95230}"/>
              </a:ext>
            </a:extLst>
          </p:cNvPr>
          <p:cNvSpPr txBox="1"/>
          <p:nvPr/>
        </p:nvSpPr>
        <p:spPr>
          <a:xfrm>
            <a:off x="4331366" y="2502568"/>
            <a:ext cx="4836695" cy="1323439"/>
          </a:xfrm>
          <a:prstGeom prst="rect">
            <a:avLst/>
          </a:prstGeom>
          <a:noFill/>
        </p:spPr>
        <p:txBody>
          <a:bodyPr wrap="square" rtlCol="0">
            <a:spAutoFit/>
          </a:bodyPr>
          <a:lstStyle/>
          <a:p>
            <a:r>
              <a:rPr lang="en-US" altLang="zh-CN" sz="8000" b="1" u="sng" dirty="0">
                <a:solidFill>
                  <a:srgbClr val="0070C0">
                    <a:alpha val="52000"/>
                  </a:srgbClr>
                </a:solidFill>
                <a:latin typeface="Segoe Script" panose="030B0504020000000003" pitchFamily="66" charset="0"/>
                <a:ea typeface="微软雅黑" panose="020B0503020204020204" pitchFamily="34" charset="-122"/>
              </a:rPr>
              <a:t>Thanks</a:t>
            </a:r>
            <a:endParaRPr lang="zh-CN" altLang="en-US" sz="8000" b="1" u="sng" dirty="0">
              <a:solidFill>
                <a:srgbClr val="0070C0">
                  <a:alpha val="52000"/>
                </a:srgbClr>
              </a:solidFill>
              <a:latin typeface="Segoe Script" panose="030B0504020000000003" pitchFamily="66" charset="0"/>
              <a:ea typeface="微软雅黑" panose="020B0503020204020204" pitchFamily="34" charset="-122"/>
            </a:endParaRPr>
          </a:p>
        </p:txBody>
      </p:sp>
    </p:spTree>
    <p:extLst>
      <p:ext uri="{BB962C8B-B14F-4D97-AF65-F5344CB8AC3E}">
        <p14:creationId xmlns:p14="http://schemas.microsoft.com/office/powerpoint/2010/main" val="3919804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3663</Words>
  <Application>Microsoft Office PowerPoint</Application>
  <PresentationFormat>宽屏</PresentationFormat>
  <Paragraphs>362</Paragraphs>
  <Slides>33</Slides>
  <Notes>26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33</vt:i4>
      </vt:variant>
    </vt:vector>
  </HeadingPairs>
  <TitlesOfParts>
    <vt:vector size="47" baseType="lpstr">
      <vt:lpstr>等线</vt:lpstr>
      <vt:lpstr>等线 Light</vt:lpstr>
      <vt:lpstr>仿宋</vt:lpstr>
      <vt:lpstr>黑体</vt:lpstr>
      <vt:lpstr>宋体</vt:lpstr>
      <vt:lpstr>微软雅黑</vt:lpstr>
      <vt:lpstr>Arial</vt:lpstr>
      <vt:lpstr>Calibri</vt:lpstr>
      <vt:lpstr>Impact</vt:lpstr>
      <vt:lpstr>Leelawadee</vt:lpstr>
      <vt:lpstr>Segoe Script</vt:lpstr>
      <vt:lpstr>Times New Roman</vt:lpstr>
      <vt:lpstr>Wingdings</vt:lpstr>
      <vt:lpstr>Office 主题​​</vt:lpstr>
      <vt:lpstr>PowerPoint 演示文稿</vt:lpstr>
      <vt:lpstr>本章目录</vt:lpstr>
      <vt:lpstr>PowerPoint 演示文稿</vt:lpstr>
      <vt:lpstr>PowerPoint 演示文稿</vt:lpstr>
      <vt:lpstr>PowerPoint 演示文稿</vt:lpstr>
      <vt:lpstr>PowerPoint 演示文稿</vt:lpstr>
      <vt:lpstr>PowerPoint 演示文稿</vt:lpstr>
      <vt:lpstr>PowerPoint 演示文稿</vt:lpstr>
      <vt:lpstr>本章目录</vt:lpstr>
      <vt:lpstr>1.2 数据库技术的产生、发展</vt:lpstr>
      <vt:lpstr>PowerPoint 演示文稿</vt:lpstr>
      <vt:lpstr>PowerPoint 演示文稿</vt:lpstr>
      <vt:lpstr>PowerPoint 演示文稿</vt:lpstr>
      <vt:lpstr>PowerPoint 演示文稿</vt:lpstr>
      <vt:lpstr>PowerPoint 演示文稿</vt:lpstr>
      <vt:lpstr>PowerPoint 演示文稿</vt:lpstr>
      <vt:lpstr>本章目录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2019-05-03T07:56:18Z</dcterms:created>
  <dcterms:modified xsi:type="dcterms:W3CDTF">2026-09-07T02:59:31Z</dcterms:modified>
</cp:coreProperties>
</file>
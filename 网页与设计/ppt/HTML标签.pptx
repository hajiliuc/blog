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47.jpg" ContentType="image/jpg"/>
  <Override PartName="/ppt/media/image48.jpg" ContentType="image/jpg"/>
  <Override PartName="/ppt/notesSlides/notesSlide14.xml" ContentType="application/vnd.openxmlformats-officedocument.presentationml.notesSlide+xml"/>
  <Override PartName="/ppt/media/image53.jpg" ContentType="image/jpg"/>
  <Override PartName="/ppt/notesSlides/notesSlide15.xml" ContentType="application/vnd.openxmlformats-officedocument.presentationml.notesSlide+xml"/>
  <Override PartName="/ppt/media/image56.jpg" ContentType="image/jpg"/>
  <Override PartName="/ppt/notesSlides/notesSlide16.xml" ContentType="application/vnd.openxmlformats-officedocument.presentationml.notesSlide+xml"/>
  <Override PartName="/ppt/media/image57.jpg" ContentType="image/jpg"/>
  <Override PartName="/ppt/media/image60.jpg" ContentType="image/jpg"/>
  <Override PartName="/ppt/media/image62.jpg" ContentType="image/jpg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sldIdLst>
    <p:sldId id="306" r:id="rId2"/>
    <p:sldId id="475" r:id="rId3"/>
    <p:sldId id="290" r:id="rId4"/>
    <p:sldId id="262" r:id="rId5"/>
    <p:sldId id="285" r:id="rId6"/>
    <p:sldId id="476" r:id="rId7"/>
    <p:sldId id="289" r:id="rId8"/>
    <p:sldId id="294" r:id="rId9"/>
    <p:sldId id="296" r:id="rId10"/>
    <p:sldId id="477" r:id="rId11"/>
    <p:sldId id="299" r:id="rId12"/>
    <p:sldId id="344" r:id="rId13"/>
    <p:sldId id="345" r:id="rId14"/>
    <p:sldId id="295" r:id="rId15"/>
    <p:sldId id="348" r:id="rId16"/>
    <p:sldId id="349" r:id="rId17"/>
    <p:sldId id="350" r:id="rId18"/>
    <p:sldId id="352" r:id="rId19"/>
    <p:sldId id="3166" r:id="rId20"/>
    <p:sldId id="351" r:id="rId21"/>
    <p:sldId id="426" r:id="rId22"/>
    <p:sldId id="3165" r:id="rId23"/>
    <p:sldId id="353" r:id="rId24"/>
    <p:sldId id="354" r:id="rId25"/>
    <p:sldId id="427" r:id="rId26"/>
    <p:sldId id="428" r:id="rId27"/>
    <p:sldId id="429" r:id="rId28"/>
    <p:sldId id="356" r:id="rId29"/>
    <p:sldId id="357" r:id="rId30"/>
    <p:sldId id="358" r:id="rId31"/>
    <p:sldId id="430" r:id="rId32"/>
    <p:sldId id="3167" r:id="rId33"/>
    <p:sldId id="415" r:id="rId34"/>
    <p:sldId id="412" r:id="rId35"/>
    <p:sldId id="431" r:id="rId36"/>
    <p:sldId id="355" r:id="rId37"/>
    <p:sldId id="319" r:id="rId38"/>
    <p:sldId id="327" r:id="rId39"/>
    <p:sldId id="323" r:id="rId40"/>
    <p:sldId id="322" r:id="rId41"/>
    <p:sldId id="326" r:id="rId42"/>
    <p:sldId id="3170" r:id="rId43"/>
    <p:sldId id="375" r:id="rId44"/>
    <p:sldId id="3168" r:id="rId45"/>
    <p:sldId id="3169" r:id="rId46"/>
    <p:sldId id="423" r:id="rId47"/>
    <p:sldId id="515" r:id="rId48"/>
    <p:sldId id="305" r:id="rId49"/>
    <p:sldId id="332" r:id="rId50"/>
    <p:sldId id="330" r:id="rId51"/>
    <p:sldId id="307" r:id="rId52"/>
    <p:sldId id="333" r:id="rId53"/>
    <p:sldId id="331" r:id="rId54"/>
    <p:sldId id="309" r:id="rId55"/>
    <p:sldId id="310" r:id="rId56"/>
    <p:sldId id="334" r:id="rId57"/>
    <p:sldId id="311" r:id="rId58"/>
    <p:sldId id="512" r:id="rId59"/>
    <p:sldId id="313" r:id="rId60"/>
    <p:sldId id="314" r:id="rId61"/>
    <p:sldId id="335" r:id="rId62"/>
    <p:sldId id="316" r:id="rId63"/>
    <p:sldId id="336" r:id="rId64"/>
    <p:sldId id="337" r:id="rId65"/>
    <p:sldId id="315" r:id="rId66"/>
    <p:sldId id="318" r:id="rId67"/>
    <p:sldId id="320" r:id="rId68"/>
    <p:sldId id="321" r:id="rId69"/>
    <p:sldId id="456" r:id="rId70"/>
    <p:sldId id="421" r:id="rId71"/>
    <p:sldId id="422" r:id="rId72"/>
    <p:sldId id="365" r:id="rId73"/>
    <p:sldId id="410" r:id="rId74"/>
    <p:sldId id="364" r:id="rId75"/>
    <p:sldId id="413" r:id="rId76"/>
    <p:sldId id="473" r:id="rId77"/>
    <p:sldId id="414" r:id="rId78"/>
    <p:sldId id="474" r:id="rId79"/>
    <p:sldId id="276" r:id="rId80"/>
  </p:sldIdLst>
  <p:sldSz cx="12599988" cy="6858000"/>
  <p:notesSz cx="6858000" cy="9144000"/>
  <p:custDataLst>
    <p:tags r:id="rId8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A43085B-828C-491A-90D1-E853DDBDF8E4}">
          <p14:sldIdLst>
            <p14:sldId id="306"/>
            <p14:sldId id="475"/>
            <p14:sldId id="290"/>
            <p14:sldId id="262"/>
            <p14:sldId id="285"/>
            <p14:sldId id="476"/>
            <p14:sldId id="289"/>
            <p14:sldId id="294"/>
            <p14:sldId id="296"/>
          </p14:sldIdLst>
        </p14:section>
        <p14:section name="HTML标签" id="{131356EA-3EB1-44CB-B0CB-412472A071D5}">
          <p14:sldIdLst>
            <p14:sldId id="477"/>
            <p14:sldId id="299"/>
            <p14:sldId id="344"/>
            <p14:sldId id="345"/>
            <p14:sldId id="295"/>
            <p14:sldId id="348"/>
            <p14:sldId id="349"/>
            <p14:sldId id="350"/>
            <p14:sldId id="352"/>
            <p14:sldId id="3166"/>
            <p14:sldId id="351"/>
            <p14:sldId id="426"/>
            <p14:sldId id="3165"/>
          </p14:sldIdLst>
        </p14:section>
        <p14:section name="文本格式化标签" id="{0C48E439-1819-4471-AF3F-3780EBCD395E}">
          <p14:sldIdLst>
            <p14:sldId id="353"/>
            <p14:sldId id="354"/>
            <p14:sldId id="427"/>
            <p14:sldId id="428"/>
            <p14:sldId id="429"/>
          </p14:sldIdLst>
        </p14:section>
        <p14:section name="图像标签" id="{86D0CDE9-1582-4F71-896B-6AEE4464157F}">
          <p14:sldIdLst>
            <p14:sldId id="356"/>
            <p14:sldId id="357"/>
            <p14:sldId id="358"/>
            <p14:sldId id="430"/>
            <p14:sldId id="3167"/>
            <p14:sldId id="415"/>
            <p14:sldId id="412"/>
            <p14:sldId id="431"/>
          </p14:sldIdLst>
        </p14:section>
        <p14:section name="div\span标签" id="{4A17961D-1417-46C9-B04B-D2371D71DF25}">
          <p14:sldIdLst>
            <p14:sldId id="355"/>
          </p14:sldIdLst>
        </p14:section>
        <p14:section name="CSS引入方式" id="{E92DEA93-603F-4350-B36A-31528D1D17AD}">
          <p14:sldIdLst>
            <p14:sldId id="319"/>
            <p14:sldId id="327"/>
            <p14:sldId id="323"/>
            <p14:sldId id="322"/>
            <p14:sldId id="326"/>
            <p14:sldId id="3170"/>
          </p14:sldIdLst>
        </p14:section>
        <p14:section name="CSS语法规范" id="{A269920B-3322-494D-93E2-87DB54211FE7}">
          <p14:sldIdLst>
            <p14:sldId id="375"/>
            <p14:sldId id="3168"/>
            <p14:sldId id="3169"/>
            <p14:sldId id="423"/>
          </p14:sldIdLst>
        </p14:section>
        <p14:section name="CSS字体属性" id="{7CF22E41-A520-41D9-9FFC-B6E172353F16}">
          <p14:sldIdLst>
            <p14:sldId id="515"/>
            <p14:sldId id="305"/>
            <p14:sldId id="332"/>
            <p14:sldId id="330"/>
            <p14:sldId id="307"/>
            <p14:sldId id="333"/>
            <p14:sldId id="331"/>
            <p14:sldId id="309"/>
            <p14:sldId id="310"/>
            <p14:sldId id="334"/>
            <p14:sldId id="311"/>
          </p14:sldIdLst>
        </p14:section>
        <p14:section name="CSS文本属性" id="{64466F8D-53A2-4638-AF2C-97BC8D86176A}">
          <p14:sldIdLst>
            <p14:sldId id="512"/>
            <p14:sldId id="313"/>
            <p14:sldId id="314"/>
            <p14:sldId id="335"/>
            <p14:sldId id="316"/>
            <p14:sldId id="336"/>
            <p14:sldId id="337"/>
            <p14:sldId id="315"/>
            <p14:sldId id="318"/>
            <p14:sldId id="320"/>
            <p14:sldId id="321"/>
            <p14:sldId id="456"/>
          </p14:sldIdLst>
        </p14:section>
        <p14:section name="超链接" id="{B7629FAB-E2E8-4F35-A303-CD8D86E59D51}">
          <p14:sldIdLst>
            <p14:sldId id="421"/>
            <p14:sldId id="422"/>
            <p14:sldId id="365"/>
            <p14:sldId id="410"/>
            <p14:sldId id="364"/>
            <p14:sldId id="413"/>
            <p14:sldId id="473"/>
            <p14:sldId id="414"/>
            <p14:sldId id="474"/>
            <p14:sldId id="276"/>
          </p14:sldIdLst>
        </p14:section>
        <p14:section name="多媒体元素标签" id="{0DE3BFE9-C7C6-4671-A3DA-94BA5D03295A}">
          <p14:sldIdLst/>
        </p14:section>
        <p14:section name="style属性" id="{19464DD1-C900-4DE9-AB9A-3DAB638A8FF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AA6"/>
    <a:srgbClr val="00D661"/>
    <a:srgbClr val="257342"/>
    <a:srgbClr val="70AD47"/>
    <a:srgbClr val="61D56C"/>
    <a:srgbClr val="9BE9C6"/>
    <a:srgbClr val="FFC000"/>
    <a:srgbClr val="7AE2B3"/>
    <a:srgbClr val="2EE686"/>
    <a:srgbClr val="97FF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833" autoAdjust="0"/>
    <p:restoredTop sz="84993" autoAdjust="0"/>
  </p:normalViewPr>
  <p:slideViewPr>
    <p:cSldViewPr snapToGrid="0">
      <p:cViewPr varScale="1">
        <p:scale>
          <a:sx n="74" d="100"/>
          <a:sy n="74" d="100"/>
        </p:scale>
        <p:origin x="101" y="52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gs" Target="tags/tag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5CA07-0DB0-401C-9898-EBEBAF77A136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95313" y="1143000"/>
            <a:ext cx="5667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6723D-3604-49EF-8BBA-CED6225785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79400" y="685800"/>
            <a:ext cx="62992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/>
              <a:t>1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991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79400" y="685800"/>
            <a:ext cx="62992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/>
              <a:t>2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9944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79400" y="685800"/>
            <a:ext cx="62992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/>
              <a:t>3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5051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78CA-DEE5-E0AB-44E7-B8EEE542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B102A202-4D00-0BA0-4674-618755F406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79400" y="685800"/>
            <a:ext cx="62992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BBBCA62C-D3DC-AC2B-B293-7A2E6143BB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3FB2D924-003C-2534-4777-F10DA5714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/>
              <a:t>6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0558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F6540-6897-5355-EE97-9938DE11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CFCF9611-A5DC-5B3E-71F9-B0E8113CDB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79400" y="685800"/>
            <a:ext cx="62992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64AF8E60-4CA1-C013-96CA-97D553F3C2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4EB07D06-5A86-0A0B-07B4-D93BA7CBD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/>
              <a:t>10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925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Align</a:t>
            </a:r>
            <a:r>
              <a:rPr lang="zh-CN" altLang="en-US" dirty="0"/>
              <a:t>标红不是报错，是因为不推荐这种写法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默认情况下它们起的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strong</a:t>
            </a:r>
            <a:r>
              <a:rPr lang="zh-CN" altLang="en-US" dirty="0"/>
              <a:t>是加粗字体，</a:t>
            </a:r>
            <a:r>
              <a:rPr lang="en-US" altLang="zh-CN" dirty="0" err="1"/>
              <a:t>em</a:t>
            </a:r>
            <a:r>
              <a:rPr lang="zh-CN" altLang="en-US" dirty="0"/>
              <a:t>与</a:t>
            </a:r>
            <a:r>
              <a:rPr lang="en-US" altLang="zh-CN" dirty="0" err="1"/>
              <a:t>i</a:t>
            </a:r>
            <a:r>
              <a:rPr lang="zh-CN" altLang="en-US" dirty="0"/>
              <a:t>是使字体变斜体的的作用，它们所不同的是，</a:t>
            </a:r>
            <a:r>
              <a:rPr lang="en-US" altLang="zh-CN" dirty="0"/>
              <a:t>&lt;b&gt;</a:t>
            </a:r>
            <a:r>
              <a:rPr lang="zh-CN" altLang="en-US" dirty="0"/>
              <a:t>与</a:t>
            </a:r>
            <a:r>
              <a:rPr lang="en-US" altLang="zh-CN" dirty="0"/>
              <a:t>&lt;</a:t>
            </a:r>
            <a:r>
              <a:rPr lang="en-US" altLang="zh-CN" dirty="0" err="1"/>
              <a:t>i</a:t>
            </a:r>
            <a:r>
              <a:rPr lang="en-US" altLang="zh-CN" dirty="0"/>
              <a:t>&gt;</a:t>
            </a:r>
            <a:r>
              <a:rPr lang="zh-CN" altLang="en-US" dirty="0"/>
              <a:t>标签是一个实体标签，它所包围的字符将被设为</a:t>
            </a:r>
            <a:r>
              <a:rPr lang="en-US" altLang="zh-CN" dirty="0"/>
              <a:t>bold</a:t>
            </a:r>
            <a:r>
              <a:rPr lang="zh-CN" altLang="en-US" dirty="0"/>
              <a:t>（粗体）和</a:t>
            </a:r>
            <a:r>
              <a:rPr lang="en-US" altLang="zh-CN" dirty="0"/>
              <a:t>Italic(</a:t>
            </a:r>
            <a:r>
              <a:rPr lang="zh-CN" altLang="en-US" dirty="0"/>
              <a:t>斜体</a:t>
            </a:r>
            <a:r>
              <a:rPr lang="en-US" altLang="zh-CN" dirty="0"/>
              <a:t>)</a:t>
            </a:r>
            <a:r>
              <a:rPr lang="zh-CN" altLang="en-US" dirty="0"/>
              <a:t>，告诉游览器这只是个物理标签。而</a:t>
            </a:r>
            <a:r>
              <a:rPr lang="en-US" altLang="zh-CN" dirty="0"/>
              <a:t>&lt;strong&gt;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dirty="0" err="1"/>
              <a:t>em</a:t>
            </a:r>
            <a:r>
              <a:rPr lang="en-US" altLang="zh-CN" dirty="0"/>
              <a:t>&gt;</a:t>
            </a:r>
            <a:r>
              <a:rPr lang="zh-CN" altLang="en-US" dirty="0"/>
              <a:t>标签是一个逻辑标签，它们的作用都有加强字符的语气，有强调的意思，告诉游览器这些文字有怎么样的重要性。所以</a:t>
            </a:r>
            <a:r>
              <a:rPr lang="en-US" altLang="zh-CN" dirty="0"/>
              <a:t>&lt;strong&gt;</a:t>
            </a:r>
            <a:r>
              <a:rPr lang="zh-CN" altLang="en-US" dirty="0"/>
              <a:t>加强字符的语气就会通过将字符变为</a:t>
            </a:r>
            <a:r>
              <a:rPr lang="en-US" altLang="zh-CN" dirty="0"/>
              <a:t>bold</a:t>
            </a:r>
            <a:r>
              <a:rPr lang="zh-CN" altLang="en-US" dirty="0"/>
              <a:t>（粗体），</a:t>
            </a:r>
            <a:r>
              <a:rPr lang="en-US" altLang="zh-CN" dirty="0"/>
              <a:t>&lt;</a:t>
            </a:r>
            <a:r>
              <a:rPr lang="en-US" altLang="zh-CN" dirty="0" err="1"/>
              <a:t>em</a:t>
            </a:r>
            <a:r>
              <a:rPr lang="en-US" altLang="zh-CN" dirty="0"/>
              <a:t>&gt; </a:t>
            </a:r>
            <a:r>
              <a:rPr lang="zh-CN" altLang="en-US" dirty="0"/>
              <a:t>标签则会告诉浏览器其中的文本表示为强调的内容。对于所有浏览器来说，要把这段文字用斜体来显示。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默认情况下它们起的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strong</a:t>
            </a:r>
            <a:r>
              <a:rPr lang="zh-CN" altLang="en-US" dirty="0"/>
              <a:t>是加粗字体，</a:t>
            </a:r>
            <a:r>
              <a:rPr lang="en-US" altLang="zh-CN" dirty="0" err="1"/>
              <a:t>em</a:t>
            </a:r>
            <a:r>
              <a:rPr lang="zh-CN" altLang="en-US" dirty="0"/>
              <a:t>与</a:t>
            </a:r>
            <a:r>
              <a:rPr lang="en-US" altLang="zh-CN" dirty="0" err="1"/>
              <a:t>i</a:t>
            </a:r>
            <a:r>
              <a:rPr lang="zh-CN" altLang="en-US" dirty="0"/>
              <a:t>是使字体变斜体的的作用，它们所不同的是，</a:t>
            </a:r>
            <a:r>
              <a:rPr lang="en-US" altLang="zh-CN" dirty="0"/>
              <a:t>&lt;b&gt;</a:t>
            </a:r>
            <a:r>
              <a:rPr lang="zh-CN" altLang="en-US" dirty="0"/>
              <a:t>与</a:t>
            </a:r>
            <a:r>
              <a:rPr lang="en-US" altLang="zh-CN" dirty="0"/>
              <a:t>&lt;</a:t>
            </a:r>
            <a:r>
              <a:rPr lang="en-US" altLang="zh-CN" dirty="0" err="1"/>
              <a:t>i</a:t>
            </a:r>
            <a:r>
              <a:rPr lang="en-US" altLang="zh-CN" dirty="0"/>
              <a:t>&gt;</a:t>
            </a:r>
            <a:r>
              <a:rPr lang="zh-CN" altLang="en-US" dirty="0"/>
              <a:t>标签是一个实体标签，它所包围的字符将被设为</a:t>
            </a:r>
            <a:r>
              <a:rPr lang="en-US" altLang="zh-CN" dirty="0"/>
              <a:t>bold</a:t>
            </a:r>
            <a:r>
              <a:rPr lang="zh-CN" altLang="en-US" dirty="0"/>
              <a:t>（粗体）和</a:t>
            </a:r>
            <a:r>
              <a:rPr lang="en-US" altLang="zh-CN" dirty="0"/>
              <a:t>Italic(</a:t>
            </a:r>
            <a:r>
              <a:rPr lang="zh-CN" altLang="en-US" dirty="0"/>
              <a:t>斜体</a:t>
            </a:r>
            <a:r>
              <a:rPr lang="en-US" altLang="zh-CN" dirty="0"/>
              <a:t>)</a:t>
            </a:r>
            <a:r>
              <a:rPr lang="zh-CN" altLang="en-US" dirty="0"/>
              <a:t>，告诉游览器这只是个物理标签。而</a:t>
            </a:r>
            <a:r>
              <a:rPr lang="en-US" altLang="zh-CN" dirty="0"/>
              <a:t>&lt;strong&gt;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dirty="0" err="1"/>
              <a:t>em</a:t>
            </a:r>
            <a:r>
              <a:rPr lang="en-US" altLang="zh-CN" dirty="0"/>
              <a:t>&gt;</a:t>
            </a:r>
            <a:r>
              <a:rPr lang="zh-CN" altLang="en-US" dirty="0"/>
              <a:t>标签是一个逻辑标签，它们的作用都有加强字符的语气，有强调的意思，告诉游览器这些文字有怎么样的重要性。所以</a:t>
            </a:r>
            <a:r>
              <a:rPr lang="en-US" altLang="zh-CN" dirty="0"/>
              <a:t>&lt;strong&gt;</a:t>
            </a:r>
            <a:r>
              <a:rPr lang="zh-CN" altLang="en-US" dirty="0"/>
              <a:t>加强字符的语气就会通过将字符变为</a:t>
            </a:r>
            <a:r>
              <a:rPr lang="en-US" altLang="zh-CN" dirty="0"/>
              <a:t>bold</a:t>
            </a:r>
            <a:r>
              <a:rPr lang="zh-CN" altLang="en-US" dirty="0"/>
              <a:t>（粗体），</a:t>
            </a:r>
            <a:r>
              <a:rPr lang="en-US" altLang="zh-CN" dirty="0"/>
              <a:t>&lt;</a:t>
            </a:r>
            <a:r>
              <a:rPr lang="en-US" altLang="zh-CN" dirty="0" err="1"/>
              <a:t>em</a:t>
            </a:r>
            <a:r>
              <a:rPr lang="en-US" altLang="zh-CN" dirty="0"/>
              <a:t>&gt; </a:t>
            </a:r>
            <a:r>
              <a:rPr lang="zh-CN" altLang="en-US" dirty="0"/>
              <a:t>标签则会告诉浏览器其中的文本表示为强调的内容。对于所有浏览器来说，要把这段文字用斜体来显示。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默认情况下它们起的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strong</a:t>
            </a:r>
            <a:r>
              <a:rPr lang="zh-CN" altLang="en-US" dirty="0"/>
              <a:t>是加粗字体，</a:t>
            </a:r>
            <a:r>
              <a:rPr lang="en-US" altLang="zh-CN" dirty="0" err="1"/>
              <a:t>em</a:t>
            </a:r>
            <a:r>
              <a:rPr lang="zh-CN" altLang="en-US" dirty="0"/>
              <a:t>与</a:t>
            </a:r>
            <a:r>
              <a:rPr lang="en-US" altLang="zh-CN" dirty="0" err="1"/>
              <a:t>i</a:t>
            </a:r>
            <a:r>
              <a:rPr lang="zh-CN" altLang="en-US" dirty="0"/>
              <a:t>是使字体变斜体的的作用，它们所不同的是，</a:t>
            </a:r>
            <a:r>
              <a:rPr lang="en-US" altLang="zh-CN" dirty="0"/>
              <a:t>&lt;b&gt;</a:t>
            </a:r>
            <a:r>
              <a:rPr lang="zh-CN" altLang="en-US" dirty="0"/>
              <a:t>与</a:t>
            </a:r>
            <a:r>
              <a:rPr lang="en-US" altLang="zh-CN" dirty="0"/>
              <a:t>&lt;</a:t>
            </a:r>
            <a:r>
              <a:rPr lang="en-US" altLang="zh-CN" dirty="0" err="1"/>
              <a:t>i</a:t>
            </a:r>
            <a:r>
              <a:rPr lang="en-US" altLang="zh-CN" dirty="0"/>
              <a:t>&gt;</a:t>
            </a:r>
            <a:r>
              <a:rPr lang="zh-CN" altLang="en-US" dirty="0"/>
              <a:t>标签是一个实体标签，它所包围的字符将被设为</a:t>
            </a:r>
            <a:r>
              <a:rPr lang="en-US" altLang="zh-CN" dirty="0"/>
              <a:t>bold</a:t>
            </a:r>
            <a:r>
              <a:rPr lang="zh-CN" altLang="en-US" dirty="0"/>
              <a:t>（粗体）和</a:t>
            </a:r>
            <a:r>
              <a:rPr lang="en-US" altLang="zh-CN" dirty="0"/>
              <a:t>Italic(</a:t>
            </a:r>
            <a:r>
              <a:rPr lang="zh-CN" altLang="en-US" dirty="0"/>
              <a:t>斜体</a:t>
            </a:r>
            <a:r>
              <a:rPr lang="en-US" altLang="zh-CN" dirty="0"/>
              <a:t>)</a:t>
            </a:r>
            <a:r>
              <a:rPr lang="zh-CN" altLang="en-US" dirty="0"/>
              <a:t>，告诉游览器这只是个物理标签。而</a:t>
            </a:r>
            <a:r>
              <a:rPr lang="en-US" altLang="zh-CN" dirty="0"/>
              <a:t>&lt;strong&gt;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dirty="0" err="1"/>
              <a:t>em</a:t>
            </a:r>
            <a:r>
              <a:rPr lang="en-US" altLang="zh-CN" dirty="0"/>
              <a:t>&gt;</a:t>
            </a:r>
            <a:r>
              <a:rPr lang="zh-CN" altLang="en-US" dirty="0"/>
              <a:t>标签是一个逻辑标签，它们的作用都有加强字符的语气，有强调的意思，告诉游览器这些文字有怎么样的重要性。所以</a:t>
            </a:r>
            <a:r>
              <a:rPr lang="en-US" altLang="zh-CN" dirty="0"/>
              <a:t>&lt;strong&gt;</a:t>
            </a:r>
            <a:r>
              <a:rPr lang="zh-CN" altLang="en-US" dirty="0"/>
              <a:t>加强字符的语气就会通过将字符变为</a:t>
            </a:r>
            <a:r>
              <a:rPr lang="en-US" altLang="zh-CN" dirty="0"/>
              <a:t>bold</a:t>
            </a:r>
            <a:r>
              <a:rPr lang="zh-CN" altLang="en-US" dirty="0"/>
              <a:t>（粗体），</a:t>
            </a:r>
            <a:r>
              <a:rPr lang="en-US" altLang="zh-CN" dirty="0"/>
              <a:t>&lt;</a:t>
            </a:r>
            <a:r>
              <a:rPr lang="en-US" altLang="zh-CN" dirty="0" err="1"/>
              <a:t>em</a:t>
            </a:r>
            <a:r>
              <a:rPr lang="en-US" altLang="zh-CN" dirty="0"/>
              <a:t>&gt; </a:t>
            </a:r>
            <a:r>
              <a:rPr lang="zh-CN" altLang="en-US" dirty="0"/>
              <a:t>标签则会告诉浏览器其中的文本表示为强调的内容。对于所有浏览器来说，要把这段文字用斜体来显示。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默认情况下它们起的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strong</a:t>
            </a:r>
            <a:r>
              <a:rPr lang="zh-CN" altLang="en-US" dirty="0"/>
              <a:t>是加粗字体，</a:t>
            </a:r>
            <a:r>
              <a:rPr lang="en-US" altLang="zh-CN" dirty="0" err="1"/>
              <a:t>em</a:t>
            </a:r>
            <a:r>
              <a:rPr lang="zh-CN" altLang="en-US" dirty="0"/>
              <a:t>与</a:t>
            </a:r>
            <a:r>
              <a:rPr lang="en-US" altLang="zh-CN" dirty="0" err="1"/>
              <a:t>i</a:t>
            </a:r>
            <a:r>
              <a:rPr lang="zh-CN" altLang="en-US" dirty="0"/>
              <a:t>是使字体变斜体的的作用，它们所不同的是，</a:t>
            </a:r>
            <a:r>
              <a:rPr lang="en-US" altLang="zh-CN" dirty="0"/>
              <a:t>&lt;b&gt;</a:t>
            </a:r>
            <a:r>
              <a:rPr lang="zh-CN" altLang="en-US" dirty="0"/>
              <a:t>与</a:t>
            </a:r>
            <a:r>
              <a:rPr lang="en-US" altLang="zh-CN" dirty="0"/>
              <a:t>&lt;</a:t>
            </a:r>
            <a:r>
              <a:rPr lang="en-US" altLang="zh-CN" dirty="0" err="1"/>
              <a:t>i</a:t>
            </a:r>
            <a:r>
              <a:rPr lang="en-US" altLang="zh-CN" dirty="0"/>
              <a:t>&gt;</a:t>
            </a:r>
            <a:r>
              <a:rPr lang="zh-CN" altLang="en-US" dirty="0"/>
              <a:t>标签是一个实体标签，它所包围的字符将被设为</a:t>
            </a:r>
            <a:r>
              <a:rPr lang="en-US" altLang="zh-CN" dirty="0"/>
              <a:t>bold</a:t>
            </a:r>
            <a:r>
              <a:rPr lang="zh-CN" altLang="en-US" dirty="0"/>
              <a:t>（粗体）和</a:t>
            </a:r>
            <a:r>
              <a:rPr lang="en-US" altLang="zh-CN" dirty="0"/>
              <a:t>Italic(</a:t>
            </a:r>
            <a:r>
              <a:rPr lang="zh-CN" altLang="en-US" dirty="0"/>
              <a:t>斜体</a:t>
            </a:r>
            <a:r>
              <a:rPr lang="en-US" altLang="zh-CN" dirty="0"/>
              <a:t>)</a:t>
            </a:r>
            <a:r>
              <a:rPr lang="zh-CN" altLang="en-US" dirty="0"/>
              <a:t>，告诉游览器这只是个物理标签。而</a:t>
            </a:r>
            <a:r>
              <a:rPr lang="en-US" altLang="zh-CN" dirty="0"/>
              <a:t>&lt;strong&gt;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dirty="0" err="1"/>
              <a:t>em</a:t>
            </a:r>
            <a:r>
              <a:rPr lang="en-US" altLang="zh-CN" dirty="0"/>
              <a:t>&gt;</a:t>
            </a:r>
            <a:r>
              <a:rPr lang="zh-CN" altLang="en-US" dirty="0"/>
              <a:t>标签是一个逻辑标签，它们的作用都有加强字符的语气，有强调的意思，告诉游览器这些文字有怎么样的重要性。所以</a:t>
            </a:r>
            <a:r>
              <a:rPr lang="en-US" altLang="zh-CN" dirty="0"/>
              <a:t>&lt;strong&gt;</a:t>
            </a:r>
            <a:r>
              <a:rPr lang="zh-CN" altLang="en-US" dirty="0"/>
              <a:t>加强字符的语气就会通过将字符变为</a:t>
            </a:r>
            <a:r>
              <a:rPr lang="en-US" altLang="zh-CN" dirty="0"/>
              <a:t>bold</a:t>
            </a:r>
            <a:r>
              <a:rPr lang="zh-CN" altLang="en-US" dirty="0"/>
              <a:t>（粗体），</a:t>
            </a:r>
            <a:r>
              <a:rPr lang="en-US" altLang="zh-CN" dirty="0"/>
              <a:t>&lt;</a:t>
            </a:r>
            <a:r>
              <a:rPr lang="en-US" altLang="zh-CN" dirty="0" err="1"/>
              <a:t>em</a:t>
            </a:r>
            <a:r>
              <a:rPr lang="en-US" altLang="zh-CN" dirty="0"/>
              <a:t>&gt; </a:t>
            </a:r>
            <a:r>
              <a:rPr lang="zh-CN" altLang="en-US" dirty="0"/>
              <a:t>标签则会告诉浏览器其中的文本表示为强调的内容。对于所有浏览器来说，要把这段文字用斜体来显示。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B679-8ADB-D786-560E-909753CF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3121DA7F-5F4C-4B7A-C89C-E20D94DD5C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79400" y="685800"/>
            <a:ext cx="62992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EC432AAC-EB7F-698C-9156-B5D48BE0A8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74171E96-0401-02BC-DA96-1C1D2C80B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/>
              <a:t>47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950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0604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02C5-23F2-9463-E2FC-D511CE346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F1AEF819-759E-EFF3-B75B-11A90A00A9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79400" y="685800"/>
            <a:ext cx="62992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97A4C1A6-9EF2-4656-F50C-C2138B83F9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4A51AD9A-C501-B588-7429-468469A2C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  <a:pPr/>
              <a:t>58</a:t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4818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在谷歌浏览器中 </a:t>
            </a:r>
            <a:r>
              <a:rPr lang="en-US" altLang="zh-CN" dirty="0"/>
              <a:t>video</a:t>
            </a:r>
            <a:r>
              <a:rPr lang="zh-CN" altLang="en-US" dirty="0"/>
              <a:t>标签 设置的 </a:t>
            </a:r>
            <a:r>
              <a:rPr lang="en-US" altLang="zh-CN" dirty="0" err="1"/>
              <a:t>autopaly</a:t>
            </a:r>
            <a:r>
              <a:rPr lang="en-US" altLang="zh-CN" dirty="0"/>
              <a:t> </a:t>
            </a:r>
            <a:r>
              <a:rPr lang="zh-CN" altLang="en-US" dirty="0"/>
              <a:t>属性不会自动播放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在火狐和 </a:t>
            </a:r>
            <a:r>
              <a:rPr lang="en-US" altLang="zh-CN" dirty="0"/>
              <a:t>IE8 </a:t>
            </a:r>
            <a:r>
              <a:rPr lang="zh-CN" altLang="en-US" dirty="0"/>
              <a:t>下都可以实现自动播放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006666"/>
                </a:solidFill>
                <a:effectLst/>
                <a:latin typeface="Source Code Pro" panose="020F0502020204030204" pitchFamily="49" charset="0"/>
              </a:rPr>
              <a:t>&lt;</a:t>
            </a:r>
            <a:r>
              <a:rPr lang="en-US" altLang="zh-CN" b="0" i="0" dirty="0">
                <a:solidFill>
                  <a:srgbClr val="4F4F4F"/>
                </a:solidFill>
                <a:effectLst/>
                <a:latin typeface="Source Code Pro" panose="020F0502020204030204" pitchFamily="49" charset="0"/>
              </a:rPr>
              <a:t>video</a:t>
            </a:r>
            <a:r>
              <a:rPr lang="en-US" altLang="zh-CN" b="0" i="0" dirty="0">
                <a:solidFill>
                  <a:srgbClr val="006666"/>
                </a:solidFill>
                <a:effectLst/>
                <a:latin typeface="Source Code Pro" panose="020F0502020204030204" pitchFamily="49" charset="0"/>
              </a:rPr>
              <a:t> </a:t>
            </a:r>
            <a:r>
              <a:rPr lang="en-US" altLang="zh-CN" b="0" i="0" dirty="0" err="1">
                <a:solidFill>
                  <a:srgbClr val="4F4F4F"/>
                </a:solidFill>
                <a:effectLst/>
                <a:latin typeface="Source Code Pro" panose="020F0502020204030204" pitchFamily="49" charset="0"/>
              </a:rPr>
              <a:t>src</a:t>
            </a:r>
            <a:r>
              <a:rPr lang="en-US" altLang="zh-CN" b="0" i="0" dirty="0">
                <a:solidFill>
                  <a:srgbClr val="006666"/>
                </a:solidFill>
                <a:effectLst/>
                <a:latin typeface="Source Code Pro" panose="020F0502020204030204" pitchFamily="49" charset="0"/>
              </a:rPr>
              <a:t>=</a:t>
            </a:r>
            <a:r>
              <a:rPr lang="en-US" altLang="zh-CN" b="0" i="0" dirty="0">
                <a:solidFill>
                  <a:srgbClr val="009900"/>
                </a:solidFill>
                <a:effectLst/>
                <a:latin typeface="Source Code Pro" panose="020F0502020204030204" pitchFamily="49" charset="0"/>
              </a:rPr>
              <a:t>"app.mp4"</a:t>
            </a:r>
            <a:r>
              <a:rPr lang="en-US" altLang="zh-CN" b="0" i="0" dirty="0">
                <a:solidFill>
                  <a:srgbClr val="006666"/>
                </a:solidFill>
                <a:effectLst/>
                <a:latin typeface="Source Code Pro" panose="020F0502020204030204" pitchFamily="49" charset="0"/>
              </a:rPr>
              <a:t> </a:t>
            </a:r>
            <a:r>
              <a:rPr lang="en-US" altLang="zh-CN" b="0" i="0" dirty="0">
                <a:solidFill>
                  <a:srgbClr val="4F4F4F"/>
                </a:solidFill>
                <a:effectLst/>
                <a:latin typeface="Source Code Pro" panose="020F0502020204030204" pitchFamily="49" charset="0"/>
              </a:rPr>
              <a:t>autoplay</a:t>
            </a:r>
            <a:r>
              <a:rPr lang="en-US" altLang="zh-CN" b="0" i="0" dirty="0">
                <a:solidFill>
                  <a:srgbClr val="006666"/>
                </a:solidFill>
                <a:effectLst/>
                <a:latin typeface="Source Code Pro" panose="020F0502020204030204" pitchFamily="49" charset="0"/>
              </a:rPr>
              <a:t> </a:t>
            </a:r>
            <a:r>
              <a:rPr lang="en-US" altLang="zh-CN" b="0" i="0" dirty="0">
                <a:solidFill>
                  <a:srgbClr val="4F4F4F"/>
                </a:solidFill>
                <a:effectLst/>
                <a:latin typeface="Source Code Pro" panose="020F0502020204030204" pitchFamily="49" charset="0"/>
              </a:rPr>
              <a:t>controls</a:t>
            </a:r>
            <a:r>
              <a:rPr lang="en-US" altLang="zh-CN" b="0" i="0" dirty="0">
                <a:solidFill>
                  <a:srgbClr val="006666"/>
                </a:solidFill>
                <a:effectLst/>
                <a:latin typeface="Source Code Pro" panose="020F0502020204030204" pitchFamily="49" charset="0"/>
              </a:rPr>
              <a:t> </a:t>
            </a:r>
            <a:r>
              <a:rPr lang="en-US" altLang="zh-CN" b="0" i="0" dirty="0">
                <a:solidFill>
                  <a:srgbClr val="4F4F4F"/>
                </a:solidFill>
                <a:effectLst/>
                <a:latin typeface="Source Code Pro" panose="020F0502020204030204" pitchFamily="49" charset="0"/>
              </a:rPr>
              <a:t>muted</a:t>
            </a:r>
            <a:r>
              <a:rPr lang="en-US" altLang="zh-CN" b="0" i="0" dirty="0">
                <a:solidFill>
                  <a:srgbClr val="006666"/>
                </a:solidFill>
                <a:effectLst/>
                <a:latin typeface="Source Code Pro" panose="020F0502020204030204" pitchFamily="49" charset="0"/>
              </a:rPr>
              <a:t> &gt;&lt;/</a:t>
            </a:r>
            <a:r>
              <a:rPr lang="en-US" altLang="zh-CN" b="0" i="0" dirty="0">
                <a:solidFill>
                  <a:srgbClr val="4F4F4F"/>
                </a:solidFill>
                <a:effectLst/>
                <a:latin typeface="Source Code Pro" panose="020F0502020204030204" pitchFamily="49" charset="0"/>
              </a:rPr>
              <a:t>video</a:t>
            </a:r>
            <a:r>
              <a:rPr lang="en-US" altLang="zh-CN" b="0" i="0" dirty="0">
                <a:solidFill>
                  <a:srgbClr val="006666"/>
                </a:solidFill>
                <a:effectLst/>
                <a:latin typeface="Source Code Pro" panose="020F0502020204030204" pitchFamily="49" charset="0"/>
              </a:rPr>
              <a:t>&gt;</a:t>
            </a:r>
          </a:p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只需 设置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muted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属性</a:t>
            </a:r>
          </a:p>
          <a:p>
            <a:r>
              <a:rPr lang="zh-CN" altLang="en-US" dirty="0"/>
              <a:t>浏览器自动播放策略：现代浏览器阻止有声音的视频自动播放，以改善用户体验和减少数据使用</a:t>
            </a:r>
            <a:endParaRPr lang="en-US" altLang="zh-CN" dirty="0"/>
          </a:p>
          <a:p>
            <a:r>
              <a:rPr lang="en-US" altLang="zh-CN" dirty="0"/>
              <a:t>muted</a:t>
            </a:r>
            <a:r>
              <a:rPr lang="zh-CN" altLang="en-US" dirty="0"/>
              <a:t>属性的作用：静音视频被认为对用户体验干扰较小，因此浏览器允许其自动播放</a:t>
            </a:r>
            <a:endParaRPr lang="en-US" altLang="zh-CN" dirty="0"/>
          </a:p>
          <a:p>
            <a:r>
              <a:rPr lang="zh-CN" altLang="en-US" dirty="0"/>
              <a:t>解决方案：</a:t>
            </a:r>
            <a:endParaRPr lang="en-US" altLang="zh-CN" dirty="0"/>
          </a:p>
          <a:p>
            <a:r>
              <a:rPr lang="zh-CN" altLang="en-US" dirty="0"/>
              <a:t>添加</a:t>
            </a:r>
            <a:r>
              <a:rPr lang="en-US" altLang="zh-CN" dirty="0"/>
              <a:t>muted</a:t>
            </a:r>
            <a:r>
              <a:rPr lang="zh-CN" altLang="en-US" dirty="0"/>
              <a:t>属性使视频静音</a:t>
            </a:r>
            <a:endParaRPr lang="en-US" altLang="zh-CN" dirty="0"/>
          </a:p>
          <a:p>
            <a:r>
              <a:rPr lang="zh-CN" altLang="en-US" dirty="0"/>
              <a:t>通过用户交互触发视频播放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play()</a:t>
            </a:r>
            <a:r>
              <a:rPr lang="zh-CN" altLang="en-US" dirty="0"/>
              <a:t>方法并处理可能的异常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6723D-3604-49EF-8BBA-CED622578588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FEC3-3996-4575-814F-B0B9FA905357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C4E-DD2F-4CBF-9455-E81E92B4D4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0" y="0"/>
            <a:ext cx="12599988" cy="6858000"/>
            <a:chOff x="0" y="0"/>
            <a:chExt cx="9144000" cy="5143500"/>
          </a:xfrm>
        </p:grpSpPr>
        <p:pic>
          <p:nvPicPr>
            <p:cNvPr id="12" name="Picture 2"/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stelsSmooth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5" b="2174"/>
            <a:stretch/>
          </p:blipFill>
          <p:spPr bwMode="auto">
            <a:xfrm>
              <a:off x="0" y="0"/>
              <a:ext cx="9144000" cy="5143500"/>
            </a:xfrm>
            <a:prstGeom prst="rect">
              <a:avLst/>
            </a:prstGeom>
            <a:noFill/>
          </p:spPr>
        </p:pic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910496"/>
              <a:ext cx="4965700" cy="2233004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16522" y="318559"/>
            <a:ext cx="11339989" cy="466064"/>
          </a:xfrm>
        </p:spPr>
        <p:txBody>
          <a:bodyPr>
            <a:noAutofit/>
          </a:bodyPr>
          <a:lstStyle>
            <a:lvl1pPr algn="l">
              <a:defRPr sz="2667" b="0" i="0">
                <a:solidFill>
                  <a:schemeClr val="tx1">
                    <a:lumMod val="85000"/>
                    <a:lumOff val="15000"/>
                  </a:schemeClr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</a:defRPr>
            </a:lvl1pPr>
          </a:lstStyle>
          <a:p>
            <a:r>
              <a:rPr lang="zh-CN" altLang="en-US" dirty="0"/>
              <a:t>点击此处输入您的标题</a:t>
            </a:r>
          </a:p>
        </p:txBody>
      </p:sp>
      <p:sp>
        <p:nvSpPr>
          <p:cNvPr id="21" name="矩形 20"/>
          <p:cNvSpPr/>
          <p:nvPr userDrawn="1"/>
        </p:nvSpPr>
        <p:spPr>
          <a:xfrm>
            <a:off x="0" y="784623"/>
            <a:ext cx="12599988" cy="5870177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171712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941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4240ED0-7BE0-49E3-A153-BE8D1180E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860" y="-127142"/>
            <a:ext cx="417867" cy="4630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04E37A-FA21-4D1A-98C9-DE37ABE2E9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788"/>
          <a:stretch/>
        </p:blipFill>
        <p:spPr>
          <a:xfrm>
            <a:off x="7857782" y="173836"/>
            <a:ext cx="417867" cy="4630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B1A1F0E-B380-4C95-8264-63EA9D49F6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52536" y="173837"/>
            <a:ext cx="417867" cy="46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B1D24D-3F34-44E0-A49A-6C53684037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1700000">
            <a:off x="12031459" y="5362975"/>
            <a:ext cx="417867" cy="4630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F066A8-11FA-4580-8679-10260E6E3E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55"/>
          <a:stretch/>
        </p:blipFill>
        <p:spPr>
          <a:xfrm>
            <a:off x="6873609" y="5630779"/>
            <a:ext cx="7087493" cy="337034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4D987F4-6D0D-444F-8AE1-710C6EFA9622}"/>
              </a:ext>
            </a:extLst>
          </p:cNvPr>
          <p:cNvSpPr/>
          <p:nvPr userDrawn="1"/>
        </p:nvSpPr>
        <p:spPr>
          <a:xfrm>
            <a:off x="459398" y="409074"/>
            <a:ext cx="11681192" cy="61250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7096112-1209-443B-B19A-0D9DD3B14AB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95784">
            <a:off x="-113729" y="4720903"/>
            <a:ext cx="2390317" cy="232788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00B009C-EA5A-4082-BFB6-D4788DDCE4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65"/>
          <a:stretch/>
        </p:blipFill>
        <p:spPr>
          <a:xfrm rot="478330">
            <a:off x="-1229019" y="5840790"/>
            <a:ext cx="7228338" cy="35905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6609F93-407D-4062-BF59-D3B07CCCF0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1077" t="52715"/>
          <a:stretch/>
        </p:blipFill>
        <p:spPr>
          <a:xfrm>
            <a:off x="0" y="5875263"/>
            <a:ext cx="12599988" cy="11811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B72CBFB-A28A-47ED-897F-3C2A3AEB9CB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42953">
            <a:off x="-1170904" y="-522016"/>
            <a:ext cx="2126248" cy="20574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1EEA55C-9B2D-49ED-884B-62743B81D9F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208" y="734092"/>
            <a:ext cx="2170243" cy="209997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5A304EC-E88B-4E12-9730-6FEDB5C3A96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791" y="-410425"/>
            <a:ext cx="3009076" cy="291164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627EF09-A3C2-4BB1-A463-A51090F4DB7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94969">
            <a:off x="-152301" y="5630393"/>
            <a:ext cx="2177307" cy="210680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F98C993-71AC-421D-BCFA-697F7B8F6D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76"/>
          <a:stretch/>
        </p:blipFill>
        <p:spPr>
          <a:xfrm>
            <a:off x="10562934" y="5100393"/>
            <a:ext cx="1870813" cy="210680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32B7B05-201F-476A-BBA1-DA2EADFD2F7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808" y="5911670"/>
            <a:ext cx="2105670" cy="203748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27132A0-C21C-48E9-BA76-C35F463130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71" y="6365847"/>
            <a:ext cx="2287893" cy="221381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F63EF8C-CE29-444B-B6A7-8742FC8744E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4754" y="2192979"/>
            <a:ext cx="1996862" cy="193220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92D2615-5F7D-4CA1-9C30-3B61BCDE79AA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0811" y="2009118"/>
            <a:ext cx="1792995" cy="173493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C1798D6-229F-4AA9-9F05-A266B33EF16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47629">
            <a:off x="-467603" y="2720585"/>
            <a:ext cx="1370954" cy="141683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4213BAF1-A4A4-45F8-AC2E-FF0F504860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81083" y="-30630"/>
            <a:ext cx="417867" cy="46305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CFD1BB8-19C4-4654-89B0-6555818D5EC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797" y="5791399"/>
            <a:ext cx="2096409" cy="202852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4155797-C75E-494F-884A-0656AA35F8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788"/>
          <a:stretch/>
        </p:blipFill>
        <p:spPr>
          <a:xfrm>
            <a:off x="459399" y="6009690"/>
            <a:ext cx="264791" cy="29342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9F9BA5EA-51F0-4193-9ED2-AECAA5674B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788"/>
          <a:stretch/>
        </p:blipFill>
        <p:spPr>
          <a:xfrm>
            <a:off x="3117164" y="6737254"/>
            <a:ext cx="264791" cy="293427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3DFB32AB-66A6-4FFC-B32D-988386F5ED48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45307">
            <a:off x="3443324" y="6339707"/>
            <a:ext cx="1227221" cy="126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58" y="136524"/>
            <a:ext cx="8613041" cy="74016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6FEC3-3996-4575-814F-B0B9FA905357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DC4E-DD2F-4CBF-9455-E81E92B4D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79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5B8CB">
                <a:shade val="30000"/>
                <a:satMod val="115000"/>
              </a:srgbClr>
            </a:gs>
            <a:gs pos="100000">
              <a:srgbClr val="06BCD2"/>
            </a:gs>
            <a:gs pos="42000">
              <a:srgbClr val="15B8CB">
                <a:shade val="67500"/>
                <a:satMod val="115000"/>
              </a:srgb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193800"/>
            <a:ext cx="1086749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6FEC3-3996-4575-814F-B0B9FA905357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6356351"/>
            <a:ext cx="4252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6356351"/>
            <a:ext cx="2834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7DC4E-DD2F-4CBF-9455-E81E92B4D47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597" y="73665"/>
            <a:ext cx="8613041" cy="819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13" name="直接箭头连接符 11"/>
          <p:cNvCxnSpPr/>
          <p:nvPr/>
        </p:nvCxnSpPr>
        <p:spPr>
          <a:xfrm>
            <a:off x="549494" y="885599"/>
            <a:ext cx="7709240" cy="0"/>
          </a:xfrm>
          <a:prstGeom prst="straightConnector1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55806" y="81912"/>
            <a:ext cx="104775" cy="76041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endParaRPr lang="zh-CN" altLang="en-US" noProof="1">
              <a:solidFill>
                <a:srgbClr val="FFFFFF"/>
              </a:solidFill>
            </a:endParaRPr>
          </a:p>
        </p:txBody>
      </p:sp>
      <p:sp>
        <p:nvSpPr>
          <p:cNvPr id="15" name="等腰三角形 18"/>
          <p:cNvSpPr/>
          <p:nvPr/>
        </p:nvSpPr>
        <p:spPr>
          <a:xfrm rot="5400000">
            <a:off x="8911197" y="256538"/>
            <a:ext cx="196850" cy="257175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endParaRPr lang="zh-CN" altLang="en-US" noProof="1">
              <a:solidFill>
                <a:srgbClr val="FFFFFF"/>
              </a:solidFill>
            </a:endParaRPr>
          </a:p>
        </p:txBody>
      </p:sp>
      <p:sp>
        <p:nvSpPr>
          <p:cNvPr id="16" name="等腰三角形 22"/>
          <p:cNvSpPr/>
          <p:nvPr/>
        </p:nvSpPr>
        <p:spPr>
          <a:xfrm rot="5400000">
            <a:off x="8600047" y="256538"/>
            <a:ext cx="196850" cy="257175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endParaRPr lang="zh-CN" altLang="en-US" noProof="1">
              <a:solidFill>
                <a:srgbClr val="FFFFFF"/>
              </a:solidFill>
            </a:endParaRPr>
          </a:p>
        </p:txBody>
      </p:sp>
      <p:sp>
        <p:nvSpPr>
          <p:cNvPr id="18" name="等腰三角形 23"/>
          <p:cNvSpPr/>
          <p:nvPr/>
        </p:nvSpPr>
        <p:spPr>
          <a:xfrm rot="5400000">
            <a:off x="8288103" y="255744"/>
            <a:ext cx="198438" cy="257175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 algn="ctr" eaLnBrk="1" hangingPunct="1"/>
            <a:endParaRPr lang="zh-CN" altLang="en-US" noProof="1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chemeClr val="bg2">
              <a:lumMod val="50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jpe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.com.cn/html5/att_video_src.asp" TargetMode="External"/><Relationship Id="rId3" Type="http://schemas.openxmlformats.org/officeDocument/2006/relationships/hyperlink" Target="https://www.w3school.com.cn/html5/att_video_autoplay.asp" TargetMode="External"/><Relationship Id="rId7" Type="http://schemas.openxmlformats.org/officeDocument/2006/relationships/hyperlink" Target="https://www.w3school.com.cn/html5/att_video_preload.asp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.com.cn/html5/att_video_loop.asp" TargetMode="External"/><Relationship Id="rId5" Type="http://schemas.openxmlformats.org/officeDocument/2006/relationships/hyperlink" Target="https://www.w3school.com.cn/html5/att_video_height.asp" TargetMode="External"/><Relationship Id="rId4" Type="http://schemas.openxmlformats.org/officeDocument/2006/relationships/hyperlink" Target="https://www.w3school.com.cn/html5/att_video_controls.asp" TargetMode="External"/><Relationship Id="rId9" Type="http://schemas.openxmlformats.org/officeDocument/2006/relationships/hyperlink" Target="https://www.w3school.com.cn/html5/att_video_width.asp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05" b="2174"/>
          <a:stretch/>
        </p:blipFill>
        <p:spPr bwMode="auto">
          <a:xfrm>
            <a:off x="0" y="0"/>
            <a:ext cx="12599988" cy="6858000"/>
          </a:xfrm>
          <a:prstGeom prst="rect">
            <a:avLst/>
          </a:prstGeom>
          <a:noFill/>
        </p:spPr>
      </p:pic>
      <p:sp>
        <p:nvSpPr>
          <p:cNvPr id="3" name="五角星 2"/>
          <p:cNvSpPr/>
          <p:nvPr/>
        </p:nvSpPr>
        <p:spPr>
          <a:xfrm rot="19903756">
            <a:off x="9201148" y="735383"/>
            <a:ext cx="1056364" cy="1056364"/>
          </a:xfrm>
          <a:prstGeom prst="star5">
            <a:avLst>
              <a:gd name="adj" fmla="val 23926"/>
              <a:gd name="hf" fmla="val 105146"/>
              <a:gd name="vf" fmla="val 110557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804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五角星 3"/>
          <p:cNvSpPr/>
          <p:nvPr/>
        </p:nvSpPr>
        <p:spPr>
          <a:xfrm rot="21380687">
            <a:off x="7555485" y="407482"/>
            <a:ext cx="611191" cy="611191"/>
          </a:xfrm>
          <a:prstGeom prst="star5">
            <a:avLst>
              <a:gd name="adj" fmla="val 23926"/>
              <a:gd name="hf" fmla="val 105146"/>
              <a:gd name="vf" fmla="val 110557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804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五角星 4"/>
          <p:cNvSpPr/>
          <p:nvPr/>
        </p:nvSpPr>
        <p:spPr>
          <a:xfrm rot="19938392">
            <a:off x="10874314" y="1892576"/>
            <a:ext cx="486379" cy="486379"/>
          </a:xfrm>
          <a:prstGeom prst="star5">
            <a:avLst>
              <a:gd name="adj" fmla="val 23926"/>
              <a:gd name="hf" fmla="val 105146"/>
              <a:gd name="vf" fmla="val 110557"/>
            </a:avLst>
          </a:prstGeom>
          <a:solidFill>
            <a:srgbClr val="FFFF00"/>
          </a:solidFill>
          <a:ln w="28575">
            <a:solidFill>
              <a:srgbClr val="804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五角星 5"/>
          <p:cNvSpPr/>
          <p:nvPr/>
        </p:nvSpPr>
        <p:spPr>
          <a:xfrm rot="19938392">
            <a:off x="10971871" y="417915"/>
            <a:ext cx="486379" cy="486379"/>
          </a:xfrm>
          <a:prstGeom prst="star5">
            <a:avLst>
              <a:gd name="adj" fmla="val 23926"/>
              <a:gd name="hf" fmla="val 105146"/>
              <a:gd name="vf" fmla="val 110557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rgbClr val="804D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0661"/>
            <a:ext cx="6620933" cy="2977339"/>
          </a:xfrm>
          <a:prstGeom prst="rect">
            <a:avLst/>
          </a:prstGeom>
        </p:spPr>
      </p:pic>
      <p:sp>
        <p:nvSpPr>
          <p:cNvPr id="10" name="TextBox 6"/>
          <p:cNvSpPr txBox="1"/>
          <p:nvPr/>
        </p:nvSpPr>
        <p:spPr>
          <a:xfrm>
            <a:off x="986625" y="2360577"/>
            <a:ext cx="103589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170"/>
            <a:r>
              <a:rPr lang="en-US" altLang="zh-CN" sz="7200" b="1" dirty="0">
                <a:ln w="9525">
                  <a:noFill/>
                </a:ln>
                <a:solidFill>
                  <a:srgbClr val="FC6E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7200" b="1" dirty="0">
                <a:ln w="9525">
                  <a:noFill/>
                </a:ln>
                <a:solidFill>
                  <a:srgbClr val="FC6E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网页设计与制作实训</a:t>
            </a:r>
            <a:r>
              <a:rPr lang="en-US" altLang="zh-CN" sz="7200" b="1" dirty="0">
                <a:ln w="9525">
                  <a:noFill/>
                </a:ln>
                <a:solidFill>
                  <a:srgbClr val="FC6E5B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endParaRPr lang="zh-CN" altLang="en-US" sz="7200" b="1" dirty="0">
              <a:ln w="9525">
                <a:noFill/>
              </a:ln>
              <a:solidFill>
                <a:srgbClr val="FC6E5B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227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28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2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5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repeatCount="2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30" dur="3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8" presetClass="emph" presetSubtype="0" repeatCount="2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21600000">
                                          <p:cBhvr>
                                            <p:cTn id="32" dur="3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3" presetID="8" presetClass="emph" presetSubtype="0" repeatCount="2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3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5" presetID="6" presetClass="emph" presetSubtype="0" repeatCount="2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36" dur="2000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8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9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3" presetClass="entr" presetSubtype="36" fill="hold" grpId="0" nodeType="withEffect">
                                      <p:stCondLst>
                                        <p:cond delay="1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3" grpId="1" animBg="1"/>
          <p:bldP spid="4" grpId="0" animBg="1"/>
          <p:bldP spid="4" grpId="1" animBg="1"/>
          <p:bldP spid="5" grpId="0" animBg="1"/>
          <p:bldP spid="5" grpId="1" animBg="1"/>
          <p:bldP spid="6" grpId="0" animBg="1"/>
          <p:bldP spid="6" grpId="1" animBg="1"/>
          <p:bldP spid="1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28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2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3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8" presetClass="emph" presetSubtype="0" repeatCount="2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30" dur="3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1" presetID="8" presetClass="emph" presetSubtype="0" repeatCount="2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-21600000">
                                          <p:cBhvr>
                                            <p:cTn id="32" dur="3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3" presetID="8" presetClass="emph" presetSubtype="0" repeatCount="2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34" dur="3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5" presetID="6" presetClass="emph" presetSubtype="0" repeatCount="2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36" dur="2000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  <p:by x="150000" y="15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7" presetID="22" presetClass="entr" presetSubtype="8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9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23" presetClass="entr" presetSubtype="36" fill="hold" grpId="0" nodeType="withEffect">
                                      <p:stCondLst>
                                        <p:cond delay="1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7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3" grpId="1" animBg="1"/>
          <p:bldP spid="4" grpId="0" animBg="1"/>
          <p:bldP spid="4" grpId="1" animBg="1"/>
          <p:bldP spid="5" grpId="0" animBg="1"/>
          <p:bldP spid="5" grpId="1" animBg="1"/>
          <p:bldP spid="6" grpId="0" animBg="1"/>
          <p:bldP spid="6" grpId="1" animBg="1"/>
          <p:bldP spid="10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05" b="2174"/>
          <a:stretch/>
        </p:blipFill>
        <p:spPr bwMode="auto">
          <a:xfrm>
            <a:off x="0" y="0"/>
            <a:ext cx="12599988" cy="6858000"/>
          </a:xfrm>
          <a:prstGeom prst="rect">
            <a:avLst/>
          </a:prstGeom>
          <a:noFill/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20073"/>
            <a:ext cx="4328089" cy="1946280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4640430" y="957883"/>
            <a:ext cx="4617886" cy="729237"/>
            <a:chOff x="4441088" y="761746"/>
            <a:chExt cx="4617887" cy="729238"/>
          </a:xfrm>
        </p:grpSpPr>
        <p:grpSp>
          <p:nvGrpSpPr>
            <p:cNvPr id="38" name="组合 37"/>
            <p:cNvGrpSpPr/>
            <p:nvPr/>
          </p:nvGrpSpPr>
          <p:grpSpPr>
            <a:xfrm>
              <a:off x="4441088" y="761746"/>
              <a:ext cx="727764" cy="729238"/>
              <a:chOff x="4339490" y="761746"/>
              <a:chExt cx="727764" cy="729238"/>
            </a:xfrm>
          </p:grpSpPr>
          <p:sp>
            <p:nvSpPr>
              <p:cNvPr id="41" name="任意多边形 82"/>
              <p:cNvSpPr/>
              <p:nvPr/>
            </p:nvSpPr>
            <p:spPr bwMode="auto">
              <a:xfrm rot="3738964">
                <a:off x="4338753" y="762483"/>
                <a:ext cx="729238" cy="727764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solidFill>
                <a:srgbClr val="FC6E5B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42" name="TextBox 147"/>
              <p:cNvSpPr txBox="1"/>
              <p:nvPr/>
            </p:nvSpPr>
            <p:spPr>
              <a:xfrm>
                <a:off x="4474113" y="801513"/>
                <a:ext cx="463588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 defTabSz="1219170">
                  <a:defRPr/>
                </a:pPr>
                <a:r>
                  <a:rPr lang="en-US" altLang="zh-CN" sz="3200" kern="0" spc="3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3200" kern="0" spc="3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40" name="矩形 39"/>
            <p:cNvSpPr>
              <a:spLocks noChangeArrowheads="1"/>
            </p:cNvSpPr>
            <p:nvPr/>
          </p:nvSpPr>
          <p:spPr bwMode="auto">
            <a:xfrm>
              <a:off x="5296597" y="886031"/>
              <a:ext cx="3762378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r>
                <a:rPr lang="en-US" altLang="zh-CN" sz="3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</a:rPr>
                <a:t>HTML</a:t>
              </a:r>
              <a:r>
                <a:rPr lang="zh-CN" altLang="en-US" sz="3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字魂105号-简雅黑" panose="00000500000000000000" pitchFamily="2" charset="-122"/>
                </a:rPr>
                <a:t>语法规范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640430" y="1866803"/>
            <a:ext cx="5274208" cy="820894"/>
            <a:chOff x="4441088" y="670089"/>
            <a:chExt cx="5274209" cy="820895"/>
          </a:xfrm>
        </p:grpSpPr>
        <p:grpSp>
          <p:nvGrpSpPr>
            <p:cNvPr id="44" name="组合 43"/>
            <p:cNvGrpSpPr/>
            <p:nvPr/>
          </p:nvGrpSpPr>
          <p:grpSpPr>
            <a:xfrm>
              <a:off x="4441088" y="761746"/>
              <a:ext cx="727764" cy="729238"/>
              <a:chOff x="4339490" y="761746"/>
              <a:chExt cx="727764" cy="729238"/>
            </a:xfrm>
          </p:grpSpPr>
          <p:sp>
            <p:nvSpPr>
              <p:cNvPr id="47" name="任意多边形 82"/>
              <p:cNvSpPr/>
              <p:nvPr/>
            </p:nvSpPr>
            <p:spPr bwMode="auto">
              <a:xfrm rot="3738964">
                <a:off x="4338753" y="762483"/>
                <a:ext cx="729238" cy="727764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solidFill>
                <a:srgbClr val="FBC75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48" name="TextBox 153"/>
              <p:cNvSpPr txBox="1"/>
              <p:nvPr/>
            </p:nvSpPr>
            <p:spPr>
              <a:xfrm>
                <a:off x="4474113" y="801513"/>
                <a:ext cx="463588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 defTabSz="1219170">
                  <a:defRPr/>
                </a:pPr>
                <a:r>
                  <a:rPr lang="en-US" altLang="zh-CN" sz="3200" kern="0" spc="3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3200" kern="0" spc="3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46" name="矩形 39"/>
            <p:cNvSpPr>
              <a:spLocks noChangeArrowheads="1"/>
            </p:cNvSpPr>
            <p:nvPr/>
          </p:nvSpPr>
          <p:spPr bwMode="auto">
            <a:xfrm>
              <a:off x="5270197" y="670089"/>
              <a:ext cx="4445100" cy="74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defTabSz="1219170">
                <a:lnSpc>
                  <a:spcPct val="150000"/>
                </a:lnSpc>
                <a:spcBef>
                  <a:spcPts val="1000"/>
                </a:spcBef>
                <a:defRPr/>
              </a:pPr>
              <a:r>
                <a:rPr lang="en-US" altLang="zh-CN" sz="3200" b="1" kern="0" dirty="0">
                  <a:solidFill>
                    <a:srgbClr val="FBC75D"/>
                  </a:solidFill>
                  <a:latin typeface="微软雅黑" pitchFamily="34" charset="-122"/>
                  <a:ea typeface="微软雅黑" pitchFamily="34" charset="-122"/>
                  <a:cs typeface="宋体" charset="-122"/>
                </a:rPr>
                <a:t>HTML</a:t>
              </a:r>
              <a:r>
                <a:rPr lang="zh-CN" altLang="en-US" sz="3200" b="1" kern="0" dirty="0">
                  <a:solidFill>
                    <a:srgbClr val="FBC75D"/>
                  </a:solidFill>
                  <a:latin typeface="微软雅黑" pitchFamily="34" charset="-122"/>
                  <a:ea typeface="微软雅黑" pitchFamily="34" charset="-122"/>
                  <a:cs typeface="宋体" charset="-122"/>
                </a:rPr>
                <a:t>基本结构标签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640430" y="2867381"/>
            <a:ext cx="4522931" cy="820893"/>
            <a:chOff x="4441088" y="670090"/>
            <a:chExt cx="4522932" cy="820894"/>
          </a:xfrm>
        </p:grpSpPr>
        <p:grpSp>
          <p:nvGrpSpPr>
            <p:cNvPr id="50" name="组合 49"/>
            <p:cNvGrpSpPr/>
            <p:nvPr/>
          </p:nvGrpSpPr>
          <p:grpSpPr>
            <a:xfrm>
              <a:off x="4441088" y="761746"/>
              <a:ext cx="727764" cy="729238"/>
              <a:chOff x="4339490" y="761746"/>
              <a:chExt cx="727764" cy="729238"/>
            </a:xfrm>
          </p:grpSpPr>
          <p:sp>
            <p:nvSpPr>
              <p:cNvPr id="53" name="任意多边形 82"/>
              <p:cNvSpPr/>
              <p:nvPr/>
            </p:nvSpPr>
            <p:spPr bwMode="auto">
              <a:xfrm rot="3738964">
                <a:off x="4338753" y="762483"/>
                <a:ext cx="729238" cy="727764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solidFill>
                <a:srgbClr val="66BFB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54" name="TextBox 159"/>
              <p:cNvSpPr txBox="1"/>
              <p:nvPr/>
            </p:nvSpPr>
            <p:spPr>
              <a:xfrm>
                <a:off x="4474113" y="801513"/>
                <a:ext cx="463588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 defTabSz="1219170">
                  <a:defRPr/>
                </a:pPr>
                <a:r>
                  <a:rPr lang="en-US" altLang="zh-CN" sz="3200" kern="0" spc="3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3200" kern="0" spc="3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2" name="矩形 39"/>
            <p:cNvSpPr>
              <a:spLocks noChangeArrowheads="1"/>
            </p:cNvSpPr>
            <p:nvPr/>
          </p:nvSpPr>
          <p:spPr bwMode="auto">
            <a:xfrm>
              <a:off x="5201642" y="670090"/>
              <a:ext cx="3762378" cy="74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defTabSz="1219170">
                <a:lnSpc>
                  <a:spcPct val="150000"/>
                </a:lnSpc>
                <a:spcBef>
                  <a:spcPts val="1000"/>
                </a:spcBef>
                <a:defRPr/>
              </a:pPr>
              <a:r>
                <a:rPr lang="en-US" altLang="zh-CN" sz="3200" b="1" kern="0" dirty="0">
                  <a:solidFill>
                    <a:srgbClr val="66BFBC"/>
                  </a:solidFill>
                  <a:latin typeface="微软雅黑" pitchFamily="34" charset="-122"/>
                  <a:ea typeface="微软雅黑" pitchFamily="34" charset="-122"/>
                  <a:cs typeface="宋体" charset="-122"/>
                </a:rPr>
                <a:t> HTML</a:t>
              </a:r>
              <a:r>
                <a:rPr lang="zh-CN" altLang="en-US" sz="3200" b="1" kern="0" dirty="0">
                  <a:solidFill>
                    <a:srgbClr val="66BFBC"/>
                  </a:solidFill>
                  <a:latin typeface="微软雅黑" pitchFamily="34" charset="-122"/>
                  <a:ea typeface="微软雅黑" pitchFamily="34" charset="-122"/>
                  <a:cs typeface="宋体" charset="-122"/>
                </a:rPr>
                <a:t>标签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630702" y="3873263"/>
            <a:ext cx="6561744" cy="801719"/>
            <a:chOff x="4441088" y="689264"/>
            <a:chExt cx="6561745" cy="801720"/>
          </a:xfrm>
        </p:grpSpPr>
        <p:grpSp>
          <p:nvGrpSpPr>
            <p:cNvPr id="56" name="组合 55"/>
            <p:cNvGrpSpPr/>
            <p:nvPr/>
          </p:nvGrpSpPr>
          <p:grpSpPr>
            <a:xfrm>
              <a:off x="4441088" y="761746"/>
              <a:ext cx="727764" cy="729238"/>
              <a:chOff x="4339490" y="761746"/>
              <a:chExt cx="727764" cy="729238"/>
            </a:xfrm>
          </p:grpSpPr>
          <p:sp>
            <p:nvSpPr>
              <p:cNvPr id="59" name="任意多边形 82"/>
              <p:cNvSpPr/>
              <p:nvPr/>
            </p:nvSpPr>
            <p:spPr bwMode="auto">
              <a:xfrm rot="3738964">
                <a:off x="4338753" y="762483"/>
                <a:ext cx="729238" cy="727764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solidFill>
                <a:srgbClr val="8CC066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60" name="TextBox 165"/>
              <p:cNvSpPr txBox="1"/>
              <p:nvPr/>
            </p:nvSpPr>
            <p:spPr>
              <a:xfrm>
                <a:off x="4474113" y="801513"/>
                <a:ext cx="463588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 defTabSz="1219170">
                  <a:defRPr/>
                </a:pPr>
                <a:r>
                  <a:rPr lang="en-US" altLang="zh-CN" sz="3200" kern="0" spc="3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3200" kern="0" spc="3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8" name="矩形 39"/>
            <p:cNvSpPr>
              <a:spLocks noChangeArrowheads="1"/>
            </p:cNvSpPr>
            <p:nvPr/>
          </p:nvSpPr>
          <p:spPr bwMode="auto">
            <a:xfrm>
              <a:off x="5270197" y="689264"/>
              <a:ext cx="5732636" cy="74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defTabSz="1219170">
                <a:lnSpc>
                  <a:spcPct val="150000"/>
                </a:lnSpc>
                <a:spcBef>
                  <a:spcPts val="1000"/>
                </a:spcBef>
                <a:defRPr/>
              </a:pPr>
              <a:r>
                <a:rPr lang="en-US" altLang="zh-CN" sz="3200" b="1" kern="0" dirty="0">
                  <a:solidFill>
                    <a:srgbClr val="8CC066"/>
                  </a:solidFill>
                  <a:latin typeface="微软雅黑" pitchFamily="34" charset="-122"/>
                  <a:ea typeface="微软雅黑" pitchFamily="34" charset="-122"/>
                  <a:cs typeface="宋体" charset="-122"/>
                </a:rPr>
                <a:t>CSS</a:t>
              </a:r>
              <a:r>
                <a:rPr lang="zh-CN" altLang="en-US" sz="3200" b="1" kern="0" dirty="0">
                  <a:solidFill>
                    <a:srgbClr val="8CC066"/>
                  </a:solidFill>
                  <a:latin typeface="微软雅黑" pitchFamily="34" charset="-122"/>
                  <a:ea typeface="微软雅黑" pitchFamily="34" charset="-122"/>
                  <a:cs typeface="宋体" charset="-122"/>
                </a:rPr>
                <a:t>字体属性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CB2EE76-D159-4E81-C8DA-29D056FF58BF}"/>
              </a:ext>
            </a:extLst>
          </p:cNvPr>
          <p:cNvGrpSpPr/>
          <p:nvPr/>
        </p:nvGrpSpPr>
        <p:grpSpPr>
          <a:xfrm>
            <a:off x="4656356" y="4999183"/>
            <a:ext cx="6561744" cy="801719"/>
            <a:chOff x="4441088" y="689264"/>
            <a:chExt cx="6561745" cy="80172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246ED3E-0DC8-ED3D-ECFE-0AE4197153E0}"/>
                </a:ext>
              </a:extLst>
            </p:cNvPr>
            <p:cNvGrpSpPr/>
            <p:nvPr/>
          </p:nvGrpSpPr>
          <p:grpSpPr>
            <a:xfrm>
              <a:off x="4441088" y="761746"/>
              <a:ext cx="727764" cy="729238"/>
              <a:chOff x="4339490" y="761746"/>
              <a:chExt cx="727764" cy="729238"/>
            </a:xfrm>
          </p:grpSpPr>
          <p:sp>
            <p:nvSpPr>
              <p:cNvPr id="6" name="任意多边形 82">
                <a:extLst>
                  <a:ext uri="{FF2B5EF4-FFF2-40B4-BE49-F238E27FC236}">
                    <a16:creationId xmlns:a16="http://schemas.microsoft.com/office/drawing/2014/main" id="{BD747BFA-2207-1A1C-E382-92D15E594D28}"/>
                  </a:ext>
                </a:extLst>
              </p:cNvPr>
              <p:cNvSpPr/>
              <p:nvPr/>
            </p:nvSpPr>
            <p:spPr bwMode="auto">
              <a:xfrm rot="3738964">
                <a:off x="4338753" y="762483"/>
                <a:ext cx="729238" cy="727764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121917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400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8" name="TextBox 165">
                <a:extLst>
                  <a:ext uri="{FF2B5EF4-FFF2-40B4-BE49-F238E27FC236}">
                    <a16:creationId xmlns:a16="http://schemas.microsoft.com/office/drawing/2014/main" id="{AFCB62D9-82C0-D404-CFA2-9D6152E4A2DF}"/>
                  </a:ext>
                </a:extLst>
              </p:cNvPr>
              <p:cNvSpPr txBox="1"/>
              <p:nvPr/>
            </p:nvSpPr>
            <p:spPr>
              <a:xfrm>
                <a:off x="4471578" y="848475"/>
                <a:ext cx="463588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lvl="1" defTabSz="1219170">
                  <a:defRPr/>
                </a:pPr>
                <a:r>
                  <a:rPr lang="en-US" altLang="zh-CN" sz="3200" kern="0" spc="3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5</a:t>
                </a:r>
                <a:endParaRPr lang="zh-CN" altLang="en-US" sz="3200" kern="0" spc="3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5" name="矩形 39">
              <a:extLst>
                <a:ext uri="{FF2B5EF4-FFF2-40B4-BE49-F238E27FC236}">
                  <a16:creationId xmlns:a16="http://schemas.microsoft.com/office/drawing/2014/main" id="{2699429E-457D-3AF6-78D8-B6C73DA69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0197" y="689264"/>
              <a:ext cx="5732636" cy="74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defTabSz="1219170">
                <a:lnSpc>
                  <a:spcPct val="150000"/>
                </a:lnSpc>
                <a:spcBef>
                  <a:spcPts val="1000"/>
                </a:spcBef>
                <a:defRPr/>
              </a:pPr>
              <a:r>
                <a:rPr lang="en-US" altLang="zh-CN" sz="3200" b="1" kern="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宋体" charset="-122"/>
                </a:rPr>
                <a:t>CSS</a:t>
              </a:r>
              <a:r>
                <a:rPr lang="zh-CN" altLang="en-US" sz="3200" b="1" kern="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宋体" charset="-122"/>
                </a:rPr>
                <a:t>文本属性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764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05" b="2174"/>
          <a:stretch/>
        </p:blipFill>
        <p:spPr bwMode="auto">
          <a:xfrm>
            <a:off x="0" y="0"/>
            <a:ext cx="12599988" cy="6858000"/>
          </a:xfrm>
          <a:prstGeom prst="rect">
            <a:avLst/>
          </a:prstGeom>
          <a:noFill/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0661"/>
            <a:ext cx="6620933" cy="2977339"/>
          </a:xfrm>
          <a:prstGeom prst="rect">
            <a:avLst/>
          </a:prstGeom>
        </p:spPr>
      </p:pic>
      <p:sp>
        <p:nvSpPr>
          <p:cNvPr id="31" name="矩形 69"/>
          <p:cNvSpPr>
            <a:spLocks noChangeArrowheads="1"/>
          </p:cNvSpPr>
          <p:nvPr/>
        </p:nvSpPr>
        <p:spPr bwMode="auto">
          <a:xfrm>
            <a:off x="3222183" y="1407679"/>
            <a:ext cx="753511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defTabSz="1219170"/>
            <a:r>
              <a:rPr lang="en-US" altLang="zh-CN" sz="96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01</a:t>
            </a:r>
            <a:r>
              <a:rPr lang="en-US" altLang="zh-CN" sz="5867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HTML</a:t>
            </a:r>
            <a:r>
              <a:rPr lang="zh-CN" altLang="en-US" sz="5867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语法规范</a:t>
            </a:r>
            <a:endParaRPr lang="en-US" altLang="zh-CN" sz="5867" b="1" dirty="0">
              <a:solidFill>
                <a:srgbClr val="66BFBC"/>
              </a:solidFill>
              <a:latin typeface="方正卡通简体" panose="03000509000000000000" pitchFamily="65" charset="-122"/>
              <a:ea typeface="方正卡通简体" panose="03000509000000000000" pitchFamily="65" charset="-122"/>
              <a:sym typeface="微软雅黑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183" y="2680943"/>
            <a:ext cx="7205487" cy="120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0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HTML</a:t>
            </a:r>
            <a:r>
              <a:rPr lang="zh-CN" altLang="en-US" dirty="0"/>
              <a:t>语法规范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17220" y="1223010"/>
            <a:ext cx="10972800" cy="483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</a:t>
            </a:r>
            <a:r>
              <a:rPr lang="zh-CN" altLang="en-US" sz="3600" b="1" spc="-5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基本语法概述</a:t>
            </a:r>
            <a:endParaRPr lang="zh-CN" altLang="en-US" sz="3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lang="zh-CN" altLang="en-US"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0350" indent="-229235">
              <a:lnSpc>
                <a:spcPct val="150000"/>
              </a:lnSpc>
              <a:buAutoNum type="arabicPeriod"/>
              <a:tabLst>
                <a:tab pos="260985" algn="l"/>
              </a:tabLst>
            </a:pPr>
            <a:r>
              <a:rPr lang="en-US" altLang="zh-CN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en-US" sz="2800" spc="-2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标签是</a:t>
            </a:r>
            <a:r>
              <a:rPr lang="zh-CN" altLang="en-US" sz="28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</a:t>
            </a:r>
            <a:r>
              <a:rPr lang="zh-CN" altLang="en-US" sz="28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尖</a:t>
            </a:r>
            <a:r>
              <a:rPr lang="zh-CN" altLang="en-US" sz="28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括</a:t>
            </a:r>
            <a:r>
              <a:rPr lang="zh-CN" altLang="en-US" sz="2800" spc="-1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</a:t>
            </a:r>
            <a:r>
              <a:rPr lang="zh-CN" altLang="en-US" sz="28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</a:t>
            </a:r>
            <a:r>
              <a:rPr lang="zh-CN" altLang="en-US" sz="2800" spc="-1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围</a:t>
            </a:r>
            <a:r>
              <a:rPr lang="zh-CN" altLang="en-US" sz="28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800" spc="-1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</a:t>
            </a:r>
            <a:r>
              <a:rPr lang="zh-CN" altLang="en-US" sz="28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键</a:t>
            </a:r>
            <a:r>
              <a:rPr lang="zh-CN" altLang="en-US" sz="28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z="2800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8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&lt;html&gt;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0350" marR="5080" indent="-228600">
              <a:lnSpc>
                <a:spcPct val="150000"/>
              </a:lnSpc>
              <a:buAutoNum type="arabicPeriod"/>
              <a:tabLst>
                <a:tab pos="260985" algn="l"/>
              </a:tabLst>
            </a:pPr>
            <a:r>
              <a:rPr lang="en-US" altLang="zh-CN" sz="28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en-US" sz="2800" spc="-2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</a:t>
            </a:r>
            <a:r>
              <a:rPr lang="zh-CN" altLang="en-US" sz="28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通常是成</a:t>
            </a:r>
            <a:r>
              <a:rPr lang="zh-CN" altLang="en-US" sz="28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</a:t>
            </a:r>
            <a:r>
              <a:rPr lang="zh-CN" altLang="en-US" sz="28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</a:t>
            </a:r>
            <a:r>
              <a:rPr lang="zh-CN" altLang="en-US" sz="28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</a:t>
            </a:r>
            <a:r>
              <a:rPr lang="zh-CN" altLang="en-US" sz="28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</a:t>
            </a:r>
            <a:r>
              <a:rPr lang="zh-CN" altLang="en-US" sz="2800" spc="-2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&lt;html&gt;</a:t>
            </a:r>
            <a:r>
              <a:rPr lang="zh-CN" altLang="en-US" sz="2800" spc="-5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&lt;/html&gt;</a:t>
            </a:r>
            <a:r>
              <a:rPr lang="zh-CN" altLang="en-US" sz="2800" spc="-3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，我们称为</a:t>
            </a:r>
            <a:r>
              <a:rPr lang="zh-CN" altLang="en-US" sz="2800" b="1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双标</a:t>
            </a:r>
            <a:r>
              <a:rPr lang="zh-CN" altLang="en-US" sz="2800" b="1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800" b="1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签是 开始标签，第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0350" indent="-229235">
              <a:lnSpc>
                <a:spcPct val="150000"/>
              </a:lnSpc>
              <a:buAutoNum type="arabicPeriod"/>
              <a:tabLst>
                <a:tab pos="260985" algn="l"/>
              </a:tabLst>
            </a:pP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有些特殊的标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须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个标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极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少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况</a:t>
            </a:r>
            <a:r>
              <a:rPr lang="zh-CN" altLang="en-US" sz="28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z="28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</a:t>
            </a:r>
            <a:r>
              <a:rPr lang="en-US" altLang="zh-CN" sz="2800" dirty="0" err="1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/&gt;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8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我们称</a:t>
            </a:r>
            <a:r>
              <a:rPr lang="zh-CN" altLang="en-US" sz="28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zh-CN" altLang="en-US" sz="2800" b="1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</a:t>
            </a:r>
            <a:r>
              <a:rPr lang="zh-CN" altLang="en-US" sz="2800" b="1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800" b="1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HTML</a:t>
            </a:r>
            <a:r>
              <a:rPr lang="zh-CN" altLang="en-US" dirty="0"/>
              <a:t> 语法规范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7220" y="1223010"/>
            <a:ext cx="10972800" cy="102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1.2 </a:t>
            </a: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标签关系</a:t>
            </a:r>
            <a:endParaRPr lang="zh-CN" altLang="en-US" sz="3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lang="zh-CN" altLang="en-US"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0525" y="2472417"/>
            <a:ext cx="1526043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包含关系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5746368" y="2484220"/>
            <a:ext cx="1477392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并列关系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5"/>
          <p:cNvSpPr/>
          <p:nvPr/>
        </p:nvSpPr>
        <p:spPr>
          <a:xfrm>
            <a:off x="5057774" y="2576665"/>
            <a:ext cx="0" cy="3086735"/>
          </a:xfrm>
          <a:custGeom>
            <a:avLst/>
            <a:gdLst/>
            <a:ahLst/>
            <a:cxnLst/>
            <a:rect l="l" t="t" r="r" b="b"/>
            <a:pathLst>
              <a:path h="3086735">
                <a:moveTo>
                  <a:pt x="0" y="0"/>
                </a:moveTo>
                <a:lnTo>
                  <a:pt x="0" y="3086735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/>
          <p:cNvSpPr/>
          <p:nvPr/>
        </p:nvSpPr>
        <p:spPr>
          <a:xfrm>
            <a:off x="1660525" y="2939884"/>
            <a:ext cx="2870200" cy="1077218"/>
          </a:xfrm>
          <a:custGeom>
            <a:avLst/>
            <a:gdLst/>
            <a:ahLst/>
            <a:cxnLst/>
            <a:rect l="l" t="t" r="r" b="b"/>
            <a:pathLst>
              <a:path w="2870200" h="794385">
                <a:moveTo>
                  <a:pt x="0" y="794385"/>
                </a:moveTo>
                <a:lnTo>
                  <a:pt x="2870200" y="794385"/>
                </a:lnTo>
                <a:lnTo>
                  <a:pt x="2870200" y="0"/>
                </a:lnTo>
                <a:lnTo>
                  <a:pt x="0" y="0"/>
                </a:lnTo>
                <a:lnTo>
                  <a:pt x="0" y="794385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/>
          <p:cNvSpPr txBox="1"/>
          <p:nvPr/>
        </p:nvSpPr>
        <p:spPr>
          <a:xfrm>
            <a:off x="1753552" y="2939884"/>
            <a:ext cx="2870200" cy="1077218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720"/>
              </a:spcBef>
            </a:pPr>
            <a:r>
              <a:rPr spc="-5" dirty="0">
                <a:latin typeface="Courier New" panose="02070309020205020404"/>
                <a:cs typeface="Courier New" panose="02070309020205020404"/>
              </a:rPr>
              <a:t>&lt;head&gt;</a:t>
            </a:r>
            <a:endParaRPr dirty="0">
              <a:latin typeface="Courier New" panose="02070309020205020404"/>
              <a:cs typeface="Courier New" panose="02070309020205020404"/>
            </a:endParaRPr>
          </a:p>
          <a:p>
            <a:pPr marL="487680">
              <a:lnSpc>
                <a:spcPct val="100000"/>
              </a:lnSpc>
              <a:spcBef>
                <a:spcPts val="625"/>
              </a:spcBef>
            </a:pPr>
            <a:r>
              <a:rPr spc="-5" dirty="0">
                <a:latin typeface="Courier New" panose="02070309020205020404"/>
                <a:cs typeface="Courier New" panose="02070309020205020404"/>
              </a:rPr>
              <a:t>&lt;title&gt;</a:t>
            </a:r>
            <a:r>
              <a:rPr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pc="-5" dirty="0">
                <a:latin typeface="Courier New" panose="02070309020205020404"/>
                <a:cs typeface="Courier New" panose="02070309020205020404"/>
              </a:rPr>
              <a:t>&lt;/title&gt;</a:t>
            </a:r>
            <a:endParaRPr dirty="0">
              <a:latin typeface="Courier New" panose="02070309020205020404"/>
              <a:cs typeface="Courier New" panose="02070309020205020404"/>
            </a:endParaRPr>
          </a:p>
          <a:p>
            <a:pPr marL="170815">
              <a:lnSpc>
                <a:spcPct val="100000"/>
              </a:lnSpc>
              <a:spcBef>
                <a:spcPts val="640"/>
              </a:spcBef>
            </a:pPr>
            <a:r>
              <a:rPr spc="-10" dirty="0">
                <a:latin typeface="Courier New" panose="02070309020205020404"/>
                <a:cs typeface="Courier New" panose="02070309020205020404"/>
              </a:rPr>
              <a:t>&lt;/head&gt;</a:t>
            </a:r>
            <a:endParaRPr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8"/>
          <p:cNvSpPr/>
          <p:nvPr/>
        </p:nvSpPr>
        <p:spPr>
          <a:xfrm>
            <a:off x="1728786" y="4240100"/>
            <a:ext cx="2736213" cy="2481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/>
          <p:cNvSpPr/>
          <p:nvPr/>
        </p:nvSpPr>
        <p:spPr>
          <a:xfrm>
            <a:off x="5650550" y="2901114"/>
            <a:ext cx="2870200" cy="1051100"/>
          </a:xfrm>
          <a:custGeom>
            <a:avLst/>
            <a:gdLst/>
            <a:ahLst/>
            <a:cxnLst/>
            <a:rect l="l" t="t" r="r" b="b"/>
            <a:pathLst>
              <a:path w="2870200" h="794385">
                <a:moveTo>
                  <a:pt x="0" y="794385"/>
                </a:moveTo>
                <a:lnTo>
                  <a:pt x="2870200" y="794385"/>
                </a:lnTo>
                <a:lnTo>
                  <a:pt x="2870200" y="0"/>
                </a:lnTo>
                <a:lnTo>
                  <a:pt x="0" y="0"/>
                </a:lnTo>
                <a:lnTo>
                  <a:pt x="0" y="794385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 txBox="1"/>
          <p:nvPr/>
        </p:nvSpPr>
        <p:spPr>
          <a:xfrm>
            <a:off x="5815258" y="3010155"/>
            <a:ext cx="2870200" cy="7848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720"/>
              </a:spcBef>
            </a:pPr>
            <a:r>
              <a:rPr sz="2000" spc="-5" dirty="0">
                <a:latin typeface="Courier New" panose="02070309020205020404"/>
                <a:cs typeface="Courier New" panose="02070309020205020404"/>
              </a:rPr>
              <a:t>&lt;head&gt;</a:t>
            </a:r>
            <a:r>
              <a:rPr sz="2000" spc="-1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spc="-5" dirty="0">
                <a:latin typeface="Courier New" panose="02070309020205020404"/>
                <a:cs typeface="Courier New" panose="02070309020205020404"/>
              </a:rPr>
              <a:t>&lt;/head&gt;</a:t>
            </a:r>
            <a:endParaRPr sz="2000" dirty="0">
              <a:latin typeface="Courier New" panose="02070309020205020404"/>
              <a:cs typeface="Courier New" panose="02070309020205020404"/>
            </a:endParaRPr>
          </a:p>
          <a:p>
            <a:pPr marL="171450">
              <a:lnSpc>
                <a:spcPct val="100000"/>
              </a:lnSpc>
              <a:spcBef>
                <a:spcPts val="625"/>
              </a:spcBef>
            </a:pPr>
            <a:r>
              <a:rPr sz="2000" spc="-5" dirty="0">
                <a:latin typeface="Courier New" panose="02070309020205020404"/>
                <a:cs typeface="Courier New" panose="02070309020205020404"/>
              </a:rPr>
              <a:t>&lt;body&gt;</a:t>
            </a:r>
            <a:r>
              <a:rPr sz="2000" spc="-1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spc="-5" dirty="0">
                <a:latin typeface="Courier New" panose="02070309020205020404"/>
                <a:cs typeface="Courier New" panose="02070309020205020404"/>
              </a:rPr>
              <a:t>&lt;/body&gt;</a:t>
            </a:r>
            <a:endParaRPr sz="20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11"/>
          <p:cNvSpPr/>
          <p:nvPr/>
        </p:nvSpPr>
        <p:spPr>
          <a:xfrm>
            <a:off x="5539601" y="4079444"/>
            <a:ext cx="4027308" cy="24813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2"/>
          <p:cNvSpPr txBox="1"/>
          <p:nvPr/>
        </p:nvSpPr>
        <p:spPr>
          <a:xfrm>
            <a:off x="1439475" y="1958285"/>
            <a:ext cx="9721038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双</a:t>
            </a:r>
            <a:r>
              <a:rPr sz="2400" spc="-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sz="2400" spc="-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关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系</a:t>
            </a:r>
            <a:r>
              <a:rPr sz="2400" spc="-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可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以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分</a:t>
            </a:r>
            <a:r>
              <a:rPr sz="2400" spc="-1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两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类</a:t>
            </a:r>
            <a:r>
              <a:rPr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24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包</a:t>
            </a:r>
            <a:r>
              <a:rPr sz="2400" spc="-1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含</a:t>
            </a:r>
            <a:r>
              <a:rPr sz="24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关</a:t>
            </a:r>
            <a:r>
              <a:rPr sz="2400" spc="-1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系</a:t>
            </a:r>
            <a:r>
              <a:rPr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sz="2400" spc="-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并</a:t>
            </a:r>
            <a:r>
              <a:rPr sz="24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</a:t>
            </a:r>
            <a:r>
              <a:rPr sz="2400" spc="-1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关</a:t>
            </a:r>
            <a:r>
              <a:rPr sz="24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系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046C-550A-3A40-018A-F98B7832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D663695-60E4-E225-2399-2BC75DC0DD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05" b="2174"/>
          <a:stretch/>
        </p:blipFill>
        <p:spPr bwMode="auto">
          <a:xfrm>
            <a:off x="0" y="0"/>
            <a:ext cx="12599988" cy="6858000"/>
          </a:xfrm>
          <a:prstGeom prst="rect">
            <a:avLst/>
          </a:prstGeom>
          <a:noFill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95386F-D45F-B8B3-4F1A-B283012C8E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94" y="3880661"/>
            <a:ext cx="6620933" cy="2977339"/>
          </a:xfrm>
          <a:prstGeom prst="rect">
            <a:avLst/>
          </a:prstGeom>
        </p:spPr>
      </p:pic>
      <p:sp>
        <p:nvSpPr>
          <p:cNvPr id="31" name="矩形 69">
            <a:extLst>
              <a:ext uri="{FF2B5EF4-FFF2-40B4-BE49-F238E27FC236}">
                <a16:creationId xmlns:a16="http://schemas.microsoft.com/office/drawing/2014/main" id="{2DA658BF-9267-F32A-D717-8C373E08A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83" y="1407679"/>
            <a:ext cx="884011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defTabSz="1219170"/>
            <a:r>
              <a:rPr lang="en-US" altLang="zh-CN" sz="96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02</a:t>
            </a:r>
            <a:r>
              <a:rPr lang="en-US" altLang="zh-CN" sz="5867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HTML</a:t>
            </a:r>
            <a:r>
              <a:rPr lang="zh-CN" altLang="en-US" sz="5867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基本结构标签</a:t>
            </a:r>
            <a:endParaRPr lang="en-US" altLang="zh-CN" sz="5867" b="1" dirty="0">
              <a:solidFill>
                <a:srgbClr val="66BFBC"/>
              </a:solidFill>
              <a:latin typeface="方正卡通简体" panose="03000509000000000000" pitchFamily="65" charset="-122"/>
              <a:ea typeface="方正卡通简体" panose="03000509000000000000" pitchFamily="65" charset="-122"/>
              <a:sym typeface="微软雅黑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0C8D48FB-C3FB-2DA5-1E35-6C6DDC79A6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183" y="2680943"/>
            <a:ext cx="7205487" cy="120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8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HTML</a:t>
            </a:r>
            <a:r>
              <a:rPr lang="zh-CN" altLang="en-US" dirty="0"/>
              <a:t>基本结构标签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5790" y="1120140"/>
            <a:ext cx="10972800" cy="102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2.1 </a:t>
            </a: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第一个</a:t>
            </a:r>
            <a:r>
              <a:rPr lang="en-US" altLang="zh-CN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网页</a:t>
            </a:r>
            <a:endParaRPr lang="zh-CN" altLang="en-US" sz="3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lang="zh-CN" altLang="en-US"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8670" y="1634383"/>
            <a:ext cx="11365548" cy="1696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">
              <a:lnSpc>
                <a:spcPct val="150000"/>
              </a:lnSpc>
            </a:pP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每个网页都会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的结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也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称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骨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架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），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面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内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容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也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这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些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上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书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写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9845">
              <a:lnSpc>
                <a:spcPct val="150000"/>
              </a:lnSpc>
            </a:pPr>
            <a:r>
              <a:rPr lang="en-US" altLang="zh-CN" sz="2400" spc="-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页面也称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zh-CN" altLang="en-US" sz="2400" spc="-5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en-US" sz="2400" spc="-2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文档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endParaRPr lang="zh-CN" altLang="en-US"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object 3"/>
          <p:cNvSpPr/>
          <p:nvPr/>
        </p:nvSpPr>
        <p:spPr>
          <a:xfrm>
            <a:off x="2317270" y="3330488"/>
            <a:ext cx="7549839" cy="3390988"/>
          </a:xfrm>
          <a:custGeom>
            <a:avLst/>
            <a:gdLst/>
            <a:ahLst/>
            <a:cxnLst/>
            <a:rect l="l" t="t" r="r" b="b"/>
            <a:pathLst>
              <a:path w="6456045" h="2090420">
                <a:moveTo>
                  <a:pt x="0" y="2090039"/>
                </a:moveTo>
                <a:lnTo>
                  <a:pt x="6456045" y="2090039"/>
                </a:lnTo>
                <a:lnTo>
                  <a:pt x="6456045" y="0"/>
                </a:lnTo>
                <a:lnTo>
                  <a:pt x="0" y="0"/>
                </a:lnTo>
                <a:lnTo>
                  <a:pt x="0" y="2090039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/>
          <a:lstStyle/>
          <a:p>
            <a:pPr marL="170815">
              <a:lnSpc>
                <a:spcPct val="100000"/>
              </a:lnSpc>
              <a:spcBef>
                <a:spcPts val="5"/>
              </a:spcBef>
            </a:pPr>
            <a:endParaRPr lang="en-US" altLang="zh-CN" sz="2000" b="1" spc="-5" dirty="0">
              <a:latin typeface="Courier New" panose="02070309020205020404"/>
              <a:cs typeface="Courier New" panose="02070309020205020404"/>
            </a:endParaRPr>
          </a:p>
          <a:p>
            <a:pPr marL="170815">
              <a:lnSpc>
                <a:spcPct val="100000"/>
              </a:lnSpc>
              <a:spcBef>
                <a:spcPts val="5"/>
              </a:spcBef>
            </a:pPr>
            <a:r>
              <a:rPr lang="en-US" altLang="zh-CN" sz="2000" b="1" spc="-5" dirty="0">
                <a:latin typeface="Courier New" panose="02070309020205020404"/>
                <a:cs typeface="Courier New" panose="02070309020205020404"/>
              </a:rPr>
              <a:t>&lt;html&gt;</a:t>
            </a:r>
            <a:endParaRPr lang="en-US" altLang="zh-CN" sz="2000" b="1" dirty="0">
              <a:latin typeface="Courier New" panose="02070309020205020404"/>
              <a:cs typeface="Courier New" panose="02070309020205020404"/>
            </a:endParaRPr>
          </a:p>
          <a:p>
            <a:pPr marL="408305">
              <a:lnSpc>
                <a:spcPct val="100000"/>
              </a:lnSpc>
              <a:spcBef>
                <a:spcPts val="620"/>
              </a:spcBef>
            </a:pPr>
            <a:r>
              <a:rPr lang="en-US" altLang="zh-CN" sz="2000" b="1" spc="-5" dirty="0">
                <a:latin typeface="Courier New" panose="02070309020205020404"/>
                <a:cs typeface="Courier New" panose="02070309020205020404"/>
              </a:rPr>
              <a:t>&lt;head&gt;</a:t>
            </a:r>
            <a:endParaRPr lang="en-US" altLang="zh-CN" sz="2000" b="1" dirty="0">
              <a:latin typeface="Courier New" panose="02070309020205020404"/>
              <a:cs typeface="Courier New" panose="02070309020205020404"/>
            </a:endParaRPr>
          </a:p>
          <a:p>
            <a:pPr marL="728345">
              <a:lnSpc>
                <a:spcPct val="100000"/>
              </a:lnSpc>
              <a:spcBef>
                <a:spcPts val="650"/>
              </a:spcBef>
            </a:pPr>
            <a:r>
              <a:rPr lang="en-US" altLang="zh-CN" sz="2000" b="1" spc="-10" dirty="0">
                <a:latin typeface="Courier New" panose="02070309020205020404"/>
                <a:cs typeface="Courier New" panose="02070309020205020404"/>
              </a:rPr>
              <a:t>&lt;title&gt;</a:t>
            </a:r>
            <a:r>
              <a:rPr lang="zh-CN" altLang="en-US" sz="2000" b="1" spc="5" dirty="0">
                <a:latin typeface="宋体" panose="02010600030101010101" pitchFamily="2" charset="-122"/>
                <a:cs typeface="宋体" panose="02010600030101010101" pitchFamily="2" charset="-122"/>
              </a:rPr>
              <a:t>我</a:t>
            </a:r>
            <a:r>
              <a:rPr lang="zh-CN" altLang="en-US" sz="20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000" b="1" spc="5" dirty="0">
                <a:latin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 sz="20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lang="zh-CN" altLang="en-US" sz="2000" b="1" spc="5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zh-CN" altLang="en-US" sz="2000" b="1" spc="-5" dirty="0">
                <a:latin typeface="宋体" panose="02010600030101010101" pitchFamily="2" charset="-122"/>
                <a:cs typeface="宋体" panose="02010600030101010101" pitchFamily="2" charset="-122"/>
              </a:rPr>
              <a:t>页</a:t>
            </a:r>
            <a:r>
              <a:rPr lang="zh-CN" altLang="en-US" sz="2000" b="1" spc="-10" dirty="0">
                <a:latin typeface="宋体" panose="02010600030101010101" pitchFamily="2" charset="-122"/>
                <a:cs typeface="宋体" panose="02010600030101010101" pitchFamily="2" charset="-122"/>
              </a:rPr>
              <a:t>面</a:t>
            </a:r>
            <a:r>
              <a:rPr lang="en-US" altLang="zh-CN" sz="2000" b="1" spc="-10" dirty="0">
                <a:latin typeface="Courier New" panose="02070309020205020404"/>
                <a:cs typeface="Courier New" panose="02070309020205020404"/>
              </a:rPr>
              <a:t>&lt;/title&gt;</a:t>
            </a:r>
            <a:endParaRPr lang="en-US" altLang="zh-CN" sz="2000" b="1" dirty="0">
              <a:latin typeface="Courier New" panose="02070309020205020404"/>
              <a:cs typeface="Courier New" panose="02070309020205020404"/>
            </a:endParaRPr>
          </a:p>
          <a:p>
            <a:pPr marL="408305">
              <a:lnSpc>
                <a:spcPct val="100000"/>
              </a:lnSpc>
              <a:spcBef>
                <a:spcPts val="610"/>
              </a:spcBef>
            </a:pPr>
            <a:r>
              <a:rPr lang="en-US" altLang="zh-CN" sz="2000" b="1" spc="-5" dirty="0">
                <a:latin typeface="Courier New" panose="02070309020205020404"/>
                <a:cs typeface="Courier New" panose="02070309020205020404"/>
              </a:rPr>
              <a:t>&lt;/head&gt;</a:t>
            </a:r>
            <a:endParaRPr lang="en-US" altLang="zh-CN" sz="2000" b="1" dirty="0">
              <a:latin typeface="Courier New" panose="02070309020205020404"/>
              <a:cs typeface="Courier New" panose="02070309020205020404"/>
            </a:endParaRPr>
          </a:p>
          <a:p>
            <a:pPr marL="408305">
              <a:lnSpc>
                <a:spcPct val="100000"/>
              </a:lnSpc>
              <a:spcBef>
                <a:spcPts val="640"/>
              </a:spcBef>
            </a:pPr>
            <a:r>
              <a:rPr lang="en-US" altLang="zh-CN" sz="2000" b="1" spc="-5" dirty="0">
                <a:latin typeface="Courier New" panose="02070309020205020404"/>
                <a:cs typeface="Courier New" panose="02070309020205020404"/>
              </a:rPr>
              <a:t>&lt;body&gt;</a:t>
            </a:r>
            <a:endParaRPr lang="en-US" altLang="zh-CN" sz="2000" b="1" dirty="0">
              <a:latin typeface="Courier New" panose="02070309020205020404"/>
              <a:cs typeface="Courier New" panose="02070309020205020404"/>
            </a:endParaRPr>
          </a:p>
          <a:p>
            <a:pPr marL="728345">
              <a:lnSpc>
                <a:spcPct val="100000"/>
              </a:lnSpc>
              <a:spcBef>
                <a:spcPts val="650"/>
              </a:spcBef>
            </a:pPr>
            <a:r>
              <a:rPr lang="zh-CN" altLang="en-US" sz="2000" b="1" spc="5" dirty="0">
                <a:latin typeface="宋体" panose="02010600030101010101" pitchFamily="2" charset="-122"/>
                <a:cs typeface="宋体" panose="02010600030101010101" pitchFamily="2" charset="-122"/>
              </a:rPr>
              <a:t>我一定可以学好网页设计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08305">
              <a:lnSpc>
                <a:spcPct val="100000"/>
              </a:lnSpc>
              <a:spcBef>
                <a:spcPts val="610"/>
              </a:spcBef>
            </a:pPr>
            <a:r>
              <a:rPr lang="en-US" altLang="zh-CN" sz="2000" b="1" spc="-5" dirty="0">
                <a:latin typeface="Courier New" panose="02070309020205020404"/>
                <a:cs typeface="Courier New" panose="02070309020205020404"/>
              </a:rPr>
              <a:t>&lt;/body&gt;</a:t>
            </a:r>
            <a:endParaRPr lang="en-US" altLang="zh-CN" sz="2000" b="1" dirty="0">
              <a:latin typeface="Courier New" panose="02070309020205020404"/>
              <a:cs typeface="Courier New" panose="02070309020205020404"/>
            </a:endParaRPr>
          </a:p>
          <a:p>
            <a:pPr marL="170815">
              <a:lnSpc>
                <a:spcPct val="100000"/>
              </a:lnSpc>
              <a:spcBef>
                <a:spcPts val="625"/>
              </a:spcBef>
            </a:pPr>
            <a:r>
              <a:rPr lang="en-US" altLang="zh-CN" sz="2000" b="1" spc="-5" dirty="0">
                <a:latin typeface="Courier New" panose="02070309020205020404"/>
                <a:cs typeface="Courier New" panose="02070309020205020404"/>
              </a:rPr>
              <a:t>&lt;/html&gt;</a:t>
            </a:r>
            <a:endParaRPr lang="en-US" altLang="zh-CN" sz="2000" b="1" dirty="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HTML</a:t>
            </a:r>
            <a:r>
              <a:rPr lang="zh-CN" altLang="en-US" dirty="0"/>
              <a:t>基本结构标签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5790" y="1120140"/>
            <a:ext cx="10972800" cy="102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2.1 </a:t>
            </a: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第一个</a:t>
            </a:r>
            <a:r>
              <a:rPr lang="en-US" altLang="zh-CN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网页</a:t>
            </a:r>
            <a:endParaRPr lang="zh-CN" altLang="en-US" sz="3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lang="zh-CN" altLang="en-US"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7239" y="1824547"/>
            <a:ext cx="11065510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每个网页都会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的结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称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骨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容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些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书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1332188" y="2651760"/>
            <a:ext cx="9341251" cy="2351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/>
          <p:nvPr/>
        </p:nvSpPr>
        <p:spPr>
          <a:xfrm>
            <a:off x="767239" y="5149548"/>
            <a:ext cx="11065510" cy="13440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defTabSz="914400">
              <a:lnSpc>
                <a:spcPct val="150000"/>
              </a:lnSpc>
            </a:pPr>
            <a:r>
              <a:rPr sz="2000" spc="-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sz="2000" spc="-1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档</a:t>
            </a:r>
            <a:r>
              <a:rPr sz="20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0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后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缀</a:t>
            </a:r>
            <a:r>
              <a:rPr sz="20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名</a:t>
            </a:r>
            <a:r>
              <a:rPr sz="2000" spc="-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必</a:t>
            </a:r>
            <a:r>
              <a:rPr sz="20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须是</a:t>
            </a:r>
            <a:r>
              <a:rPr sz="2000" spc="-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.html </a:t>
            </a:r>
            <a:r>
              <a:rPr sz="20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sz="2000" spc="-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.htm 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浏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览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器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作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读取</a:t>
            </a:r>
            <a:r>
              <a:rPr sz="20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sz="2000" spc="-2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</a:t>
            </a:r>
            <a:r>
              <a:rPr sz="20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档</a:t>
            </a:r>
            <a:r>
              <a:rPr sz="20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0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并</a:t>
            </a:r>
            <a:r>
              <a:rPr sz="20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以</a:t>
            </a:r>
            <a:r>
              <a:rPr sz="20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网</a:t>
            </a:r>
            <a:r>
              <a:rPr sz="20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r>
              <a:rPr sz="20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0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形</a:t>
            </a:r>
            <a:r>
              <a:rPr sz="20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式显</a:t>
            </a:r>
            <a:r>
              <a:rPr sz="200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sz="20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出</a:t>
            </a:r>
            <a:r>
              <a:rPr sz="20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它</a:t>
            </a:r>
            <a:r>
              <a:rPr sz="20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们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000" dirty="0">
              <a:solidFill>
                <a:prstClr val="black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defTabSz="914400">
              <a:lnSpc>
                <a:spcPct val="150000"/>
              </a:lnSpc>
            </a:pP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此时，用浏览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器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打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开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这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网</a:t>
            </a:r>
            <a:r>
              <a:rPr sz="20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们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就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可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以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预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览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们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写</a:t>
            </a:r>
            <a:r>
              <a:rPr sz="20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0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一个</a:t>
            </a:r>
            <a:r>
              <a:rPr sz="2000" spc="-5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sz="2000" spc="-1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0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文件了。</a:t>
            </a:r>
            <a:endParaRPr sz="2000" dirty="0">
              <a:solidFill>
                <a:prstClr val="black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HTML</a:t>
            </a:r>
            <a:r>
              <a:rPr lang="zh-CN" altLang="en-US" dirty="0"/>
              <a:t>基本结构标签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5790" y="1120140"/>
            <a:ext cx="10972800" cy="102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2.2 </a:t>
            </a:r>
            <a:r>
              <a:rPr lang="zh-CN" altLang="en-US" sz="3600" b="1" dirty="0">
                <a:solidFill>
                  <a:srgbClr val="40404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基本结构标签总结</a:t>
            </a:r>
            <a:endParaRPr lang="zh-CN" altLang="en-US" sz="36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lang="zh-CN" altLang="en-US"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object 5"/>
          <p:cNvSpPr/>
          <p:nvPr/>
        </p:nvSpPr>
        <p:spPr>
          <a:xfrm>
            <a:off x="8279821" y="2843742"/>
            <a:ext cx="1698010" cy="2081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/>
        </p:nvSpPr>
        <p:spPr>
          <a:xfrm>
            <a:off x="6997957" y="2992721"/>
            <a:ext cx="1205865" cy="96520"/>
          </a:xfrm>
          <a:custGeom>
            <a:avLst/>
            <a:gdLst/>
            <a:ahLst/>
            <a:cxnLst/>
            <a:rect l="l" t="t" r="r" b="b"/>
            <a:pathLst>
              <a:path w="1205864" h="96519">
                <a:moveTo>
                  <a:pt x="1193183" y="48069"/>
                </a:moveTo>
                <a:lnTo>
                  <a:pt x="1120139" y="90677"/>
                </a:lnTo>
                <a:lnTo>
                  <a:pt x="1119631" y="92583"/>
                </a:lnTo>
                <a:lnTo>
                  <a:pt x="1121409" y="95630"/>
                </a:lnTo>
                <a:lnTo>
                  <a:pt x="1123441" y="96138"/>
                </a:lnTo>
                <a:lnTo>
                  <a:pt x="1200413" y="51308"/>
                </a:lnTo>
                <a:lnTo>
                  <a:pt x="1199514" y="51308"/>
                </a:lnTo>
                <a:lnTo>
                  <a:pt x="1199514" y="50800"/>
                </a:lnTo>
                <a:lnTo>
                  <a:pt x="1197864" y="50800"/>
                </a:lnTo>
                <a:lnTo>
                  <a:pt x="1193183" y="48069"/>
                </a:lnTo>
                <a:close/>
              </a:path>
              <a:path w="1205864" h="96519">
                <a:moveTo>
                  <a:pt x="1187849" y="44958"/>
                </a:moveTo>
                <a:lnTo>
                  <a:pt x="0" y="44958"/>
                </a:lnTo>
                <a:lnTo>
                  <a:pt x="0" y="51308"/>
                </a:lnTo>
                <a:lnTo>
                  <a:pt x="1187631" y="51308"/>
                </a:lnTo>
                <a:lnTo>
                  <a:pt x="1193183" y="48069"/>
                </a:lnTo>
                <a:lnTo>
                  <a:pt x="1187849" y="44958"/>
                </a:lnTo>
                <a:close/>
              </a:path>
              <a:path w="1205864" h="96519">
                <a:moveTo>
                  <a:pt x="1200428" y="44958"/>
                </a:moveTo>
                <a:lnTo>
                  <a:pt x="1199514" y="44958"/>
                </a:lnTo>
                <a:lnTo>
                  <a:pt x="1199514" y="51308"/>
                </a:lnTo>
                <a:lnTo>
                  <a:pt x="1200413" y="51308"/>
                </a:lnTo>
                <a:lnTo>
                  <a:pt x="1205864" y="48133"/>
                </a:lnTo>
                <a:lnTo>
                  <a:pt x="1200428" y="44958"/>
                </a:lnTo>
                <a:close/>
              </a:path>
              <a:path w="1205864" h="96519">
                <a:moveTo>
                  <a:pt x="1197864" y="45338"/>
                </a:moveTo>
                <a:lnTo>
                  <a:pt x="1193183" y="48069"/>
                </a:lnTo>
                <a:lnTo>
                  <a:pt x="1197864" y="50800"/>
                </a:lnTo>
                <a:lnTo>
                  <a:pt x="1197864" y="45338"/>
                </a:lnTo>
                <a:close/>
              </a:path>
              <a:path w="1205864" h="96519">
                <a:moveTo>
                  <a:pt x="1199514" y="45338"/>
                </a:moveTo>
                <a:lnTo>
                  <a:pt x="1197864" y="45338"/>
                </a:lnTo>
                <a:lnTo>
                  <a:pt x="1197864" y="50800"/>
                </a:lnTo>
                <a:lnTo>
                  <a:pt x="1199514" y="50800"/>
                </a:lnTo>
                <a:lnTo>
                  <a:pt x="1199514" y="45338"/>
                </a:lnTo>
                <a:close/>
              </a:path>
              <a:path w="1205864" h="96519">
                <a:moveTo>
                  <a:pt x="1123441" y="0"/>
                </a:moveTo>
                <a:lnTo>
                  <a:pt x="1121409" y="508"/>
                </a:lnTo>
                <a:lnTo>
                  <a:pt x="1119631" y="3555"/>
                </a:lnTo>
                <a:lnTo>
                  <a:pt x="1120139" y="5461"/>
                </a:lnTo>
                <a:lnTo>
                  <a:pt x="1193183" y="48069"/>
                </a:lnTo>
                <a:lnTo>
                  <a:pt x="1197864" y="45338"/>
                </a:lnTo>
                <a:lnTo>
                  <a:pt x="1199514" y="45338"/>
                </a:lnTo>
                <a:lnTo>
                  <a:pt x="1199514" y="44958"/>
                </a:lnTo>
                <a:lnTo>
                  <a:pt x="1200428" y="44958"/>
                </a:lnTo>
                <a:lnTo>
                  <a:pt x="112344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/>
        </p:nvSpPr>
        <p:spPr>
          <a:xfrm>
            <a:off x="6949823" y="3040854"/>
            <a:ext cx="96520" cy="1728470"/>
          </a:xfrm>
          <a:custGeom>
            <a:avLst/>
            <a:gdLst/>
            <a:ahLst/>
            <a:cxnLst/>
            <a:rect l="l" t="t" r="r" b="b"/>
            <a:pathLst>
              <a:path w="96520" h="1728470">
                <a:moveTo>
                  <a:pt x="3555" y="1642109"/>
                </a:moveTo>
                <a:lnTo>
                  <a:pt x="508" y="1643887"/>
                </a:lnTo>
                <a:lnTo>
                  <a:pt x="0" y="1645919"/>
                </a:lnTo>
                <a:lnTo>
                  <a:pt x="48133" y="1728342"/>
                </a:lnTo>
                <a:lnTo>
                  <a:pt x="51841" y="1721992"/>
                </a:lnTo>
                <a:lnTo>
                  <a:pt x="44958" y="1721992"/>
                </a:lnTo>
                <a:lnTo>
                  <a:pt x="44958" y="1710109"/>
                </a:lnTo>
                <a:lnTo>
                  <a:pt x="5587" y="1642617"/>
                </a:lnTo>
                <a:lnTo>
                  <a:pt x="3555" y="1642109"/>
                </a:lnTo>
                <a:close/>
              </a:path>
              <a:path w="96520" h="1728470">
                <a:moveTo>
                  <a:pt x="44958" y="1710109"/>
                </a:moveTo>
                <a:lnTo>
                  <a:pt x="44958" y="1721992"/>
                </a:lnTo>
                <a:lnTo>
                  <a:pt x="51308" y="1721992"/>
                </a:lnTo>
                <a:lnTo>
                  <a:pt x="51308" y="1720341"/>
                </a:lnTo>
                <a:lnTo>
                  <a:pt x="45338" y="1720341"/>
                </a:lnTo>
                <a:lnTo>
                  <a:pt x="48132" y="1715552"/>
                </a:lnTo>
                <a:lnTo>
                  <a:pt x="44958" y="1710109"/>
                </a:lnTo>
                <a:close/>
              </a:path>
              <a:path w="96520" h="1728470">
                <a:moveTo>
                  <a:pt x="92710" y="1642109"/>
                </a:moveTo>
                <a:lnTo>
                  <a:pt x="90677" y="1642617"/>
                </a:lnTo>
                <a:lnTo>
                  <a:pt x="51308" y="1710109"/>
                </a:lnTo>
                <a:lnTo>
                  <a:pt x="51308" y="1721992"/>
                </a:lnTo>
                <a:lnTo>
                  <a:pt x="51841" y="1721992"/>
                </a:lnTo>
                <a:lnTo>
                  <a:pt x="96265" y="1645919"/>
                </a:lnTo>
                <a:lnTo>
                  <a:pt x="95758" y="1643887"/>
                </a:lnTo>
                <a:lnTo>
                  <a:pt x="92710" y="1642109"/>
                </a:lnTo>
                <a:close/>
              </a:path>
              <a:path w="96520" h="1728470">
                <a:moveTo>
                  <a:pt x="48133" y="1715552"/>
                </a:moveTo>
                <a:lnTo>
                  <a:pt x="45338" y="1720341"/>
                </a:lnTo>
                <a:lnTo>
                  <a:pt x="50926" y="1720341"/>
                </a:lnTo>
                <a:lnTo>
                  <a:pt x="48133" y="1715552"/>
                </a:lnTo>
                <a:close/>
              </a:path>
              <a:path w="96520" h="1728470">
                <a:moveTo>
                  <a:pt x="51308" y="1710109"/>
                </a:moveTo>
                <a:lnTo>
                  <a:pt x="48133" y="1715552"/>
                </a:lnTo>
                <a:lnTo>
                  <a:pt x="50926" y="1720341"/>
                </a:lnTo>
                <a:lnTo>
                  <a:pt x="51308" y="1720341"/>
                </a:lnTo>
                <a:lnTo>
                  <a:pt x="51308" y="1710109"/>
                </a:lnTo>
                <a:close/>
              </a:path>
              <a:path w="96520" h="1728470">
                <a:moveTo>
                  <a:pt x="51308" y="0"/>
                </a:moveTo>
                <a:lnTo>
                  <a:pt x="44958" y="0"/>
                </a:lnTo>
                <a:lnTo>
                  <a:pt x="44958" y="1710109"/>
                </a:lnTo>
                <a:lnTo>
                  <a:pt x="48133" y="1715552"/>
                </a:lnTo>
                <a:lnTo>
                  <a:pt x="51307" y="1710109"/>
                </a:lnTo>
                <a:lnTo>
                  <a:pt x="5130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/>
        </p:nvSpPr>
        <p:spPr>
          <a:xfrm>
            <a:off x="7068315" y="4721063"/>
            <a:ext cx="1366520" cy="96520"/>
          </a:xfrm>
          <a:custGeom>
            <a:avLst/>
            <a:gdLst/>
            <a:ahLst/>
            <a:cxnLst/>
            <a:rect l="l" t="t" r="r" b="b"/>
            <a:pathLst>
              <a:path w="1366520" h="96520">
                <a:moveTo>
                  <a:pt x="1353965" y="48069"/>
                </a:moveTo>
                <a:lnTo>
                  <a:pt x="1280922" y="90678"/>
                </a:lnTo>
                <a:lnTo>
                  <a:pt x="1280414" y="92583"/>
                </a:lnTo>
                <a:lnTo>
                  <a:pt x="1282192" y="95631"/>
                </a:lnTo>
                <a:lnTo>
                  <a:pt x="1284097" y="96139"/>
                </a:lnTo>
                <a:lnTo>
                  <a:pt x="1361083" y="51181"/>
                </a:lnTo>
                <a:lnTo>
                  <a:pt x="1360297" y="51181"/>
                </a:lnTo>
                <a:lnTo>
                  <a:pt x="1360297" y="50800"/>
                </a:lnTo>
                <a:lnTo>
                  <a:pt x="1358646" y="50800"/>
                </a:lnTo>
                <a:lnTo>
                  <a:pt x="1353965" y="48069"/>
                </a:lnTo>
                <a:close/>
              </a:path>
              <a:path w="1366520" h="96520">
                <a:moveTo>
                  <a:pt x="1348413" y="44831"/>
                </a:moveTo>
                <a:lnTo>
                  <a:pt x="0" y="44831"/>
                </a:lnTo>
                <a:lnTo>
                  <a:pt x="0" y="51181"/>
                </a:lnTo>
                <a:lnTo>
                  <a:pt x="1348631" y="51181"/>
                </a:lnTo>
                <a:lnTo>
                  <a:pt x="1353965" y="48069"/>
                </a:lnTo>
                <a:lnTo>
                  <a:pt x="1348413" y="44831"/>
                </a:lnTo>
                <a:close/>
              </a:path>
              <a:path w="1366520" h="96520">
                <a:moveTo>
                  <a:pt x="1361068" y="44831"/>
                </a:moveTo>
                <a:lnTo>
                  <a:pt x="1360297" y="44831"/>
                </a:lnTo>
                <a:lnTo>
                  <a:pt x="1360297" y="51181"/>
                </a:lnTo>
                <a:lnTo>
                  <a:pt x="1361083" y="51181"/>
                </a:lnTo>
                <a:lnTo>
                  <a:pt x="1366520" y="48006"/>
                </a:lnTo>
                <a:lnTo>
                  <a:pt x="1361068" y="44831"/>
                </a:lnTo>
                <a:close/>
              </a:path>
              <a:path w="1366520" h="96520">
                <a:moveTo>
                  <a:pt x="1358646" y="45339"/>
                </a:moveTo>
                <a:lnTo>
                  <a:pt x="1353965" y="48069"/>
                </a:lnTo>
                <a:lnTo>
                  <a:pt x="1358646" y="50800"/>
                </a:lnTo>
                <a:lnTo>
                  <a:pt x="1358646" y="45339"/>
                </a:lnTo>
                <a:close/>
              </a:path>
              <a:path w="1366520" h="96520">
                <a:moveTo>
                  <a:pt x="1360297" y="45339"/>
                </a:moveTo>
                <a:lnTo>
                  <a:pt x="1358646" y="45339"/>
                </a:lnTo>
                <a:lnTo>
                  <a:pt x="1358646" y="50800"/>
                </a:lnTo>
                <a:lnTo>
                  <a:pt x="1360297" y="50800"/>
                </a:lnTo>
                <a:lnTo>
                  <a:pt x="1360297" y="45339"/>
                </a:lnTo>
                <a:close/>
              </a:path>
              <a:path w="1366520" h="96520">
                <a:moveTo>
                  <a:pt x="1284097" y="0"/>
                </a:moveTo>
                <a:lnTo>
                  <a:pt x="1282192" y="508"/>
                </a:lnTo>
                <a:lnTo>
                  <a:pt x="1280414" y="3556"/>
                </a:lnTo>
                <a:lnTo>
                  <a:pt x="1280922" y="5461"/>
                </a:lnTo>
                <a:lnTo>
                  <a:pt x="1353965" y="48069"/>
                </a:lnTo>
                <a:lnTo>
                  <a:pt x="1358646" y="45339"/>
                </a:lnTo>
                <a:lnTo>
                  <a:pt x="1360297" y="45339"/>
                </a:lnTo>
                <a:lnTo>
                  <a:pt x="1360297" y="44831"/>
                </a:lnTo>
                <a:lnTo>
                  <a:pt x="1361068" y="44831"/>
                </a:lnTo>
                <a:lnTo>
                  <a:pt x="128409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/>
        </p:nvSpPr>
        <p:spPr>
          <a:xfrm>
            <a:off x="7751574" y="3133436"/>
            <a:ext cx="452755" cy="96520"/>
          </a:xfrm>
          <a:custGeom>
            <a:avLst/>
            <a:gdLst/>
            <a:ahLst/>
            <a:cxnLst/>
            <a:rect l="l" t="t" r="r" b="b"/>
            <a:pathLst>
              <a:path w="452754" h="96519">
                <a:moveTo>
                  <a:pt x="439565" y="48069"/>
                </a:moveTo>
                <a:lnTo>
                  <a:pt x="366522" y="90677"/>
                </a:lnTo>
                <a:lnTo>
                  <a:pt x="366013" y="92583"/>
                </a:lnTo>
                <a:lnTo>
                  <a:pt x="367791" y="95631"/>
                </a:lnTo>
                <a:lnTo>
                  <a:pt x="369824" y="96138"/>
                </a:lnTo>
                <a:lnTo>
                  <a:pt x="446810" y="51181"/>
                </a:lnTo>
                <a:lnTo>
                  <a:pt x="445897" y="51181"/>
                </a:lnTo>
                <a:lnTo>
                  <a:pt x="445897" y="50800"/>
                </a:lnTo>
                <a:lnTo>
                  <a:pt x="444246" y="50800"/>
                </a:lnTo>
                <a:lnTo>
                  <a:pt x="439565" y="48069"/>
                </a:lnTo>
                <a:close/>
              </a:path>
              <a:path w="452754" h="96519">
                <a:moveTo>
                  <a:pt x="434013" y="44831"/>
                </a:moveTo>
                <a:lnTo>
                  <a:pt x="0" y="44831"/>
                </a:lnTo>
                <a:lnTo>
                  <a:pt x="0" y="51181"/>
                </a:lnTo>
                <a:lnTo>
                  <a:pt x="434231" y="51181"/>
                </a:lnTo>
                <a:lnTo>
                  <a:pt x="439565" y="48069"/>
                </a:lnTo>
                <a:lnTo>
                  <a:pt x="434013" y="44831"/>
                </a:lnTo>
                <a:close/>
              </a:path>
              <a:path w="452754" h="96519">
                <a:moveTo>
                  <a:pt x="446795" y="44831"/>
                </a:moveTo>
                <a:lnTo>
                  <a:pt x="445897" y="44831"/>
                </a:lnTo>
                <a:lnTo>
                  <a:pt x="445897" y="51181"/>
                </a:lnTo>
                <a:lnTo>
                  <a:pt x="446810" y="51181"/>
                </a:lnTo>
                <a:lnTo>
                  <a:pt x="452247" y="48006"/>
                </a:lnTo>
                <a:lnTo>
                  <a:pt x="446795" y="44831"/>
                </a:lnTo>
                <a:close/>
              </a:path>
              <a:path w="452754" h="96519">
                <a:moveTo>
                  <a:pt x="444246" y="45338"/>
                </a:moveTo>
                <a:lnTo>
                  <a:pt x="439565" y="48069"/>
                </a:lnTo>
                <a:lnTo>
                  <a:pt x="444246" y="50800"/>
                </a:lnTo>
                <a:lnTo>
                  <a:pt x="444246" y="45338"/>
                </a:lnTo>
                <a:close/>
              </a:path>
              <a:path w="452754" h="96519">
                <a:moveTo>
                  <a:pt x="445897" y="45338"/>
                </a:moveTo>
                <a:lnTo>
                  <a:pt x="444246" y="45338"/>
                </a:lnTo>
                <a:lnTo>
                  <a:pt x="444246" y="50800"/>
                </a:lnTo>
                <a:lnTo>
                  <a:pt x="445897" y="50800"/>
                </a:lnTo>
                <a:lnTo>
                  <a:pt x="445897" y="45338"/>
                </a:lnTo>
                <a:close/>
              </a:path>
              <a:path w="452754" h="96519">
                <a:moveTo>
                  <a:pt x="369824" y="0"/>
                </a:moveTo>
                <a:lnTo>
                  <a:pt x="367791" y="508"/>
                </a:lnTo>
                <a:lnTo>
                  <a:pt x="366013" y="3556"/>
                </a:lnTo>
                <a:lnTo>
                  <a:pt x="366522" y="5461"/>
                </a:lnTo>
                <a:lnTo>
                  <a:pt x="439565" y="48069"/>
                </a:lnTo>
                <a:lnTo>
                  <a:pt x="444246" y="45338"/>
                </a:lnTo>
                <a:lnTo>
                  <a:pt x="445897" y="45338"/>
                </a:lnTo>
                <a:lnTo>
                  <a:pt x="445897" y="44831"/>
                </a:lnTo>
                <a:lnTo>
                  <a:pt x="446795" y="44831"/>
                </a:lnTo>
                <a:lnTo>
                  <a:pt x="36982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/>
        </p:nvSpPr>
        <p:spPr>
          <a:xfrm>
            <a:off x="7703441" y="3181442"/>
            <a:ext cx="96520" cy="633730"/>
          </a:xfrm>
          <a:custGeom>
            <a:avLst/>
            <a:gdLst/>
            <a:ahLst/>
            <a:cxnLst/>
            <a:rect l="l" t="t" r="r" b="b"/>
            <a:pathLst>
              <a:path w="96520" h="633730">
                <a:moveTo>
                  <a:pt x="3556" y="547623"/>
                </a:moveTo>
                <a:lnTo>
                  <a:pt x="2032" y="548512"/>
                </a:lnTo>
                <a:lnTo>
                  <a:pt x="635" y="549401"/>
                </a:lnTo>
                <a:lnTo>
                  <a:pt x="0" y="551306"/>
                </a:lnTo>
                <a:lnTo>
                  <a:pt x="48133" y="633729"/>
                </a:lnTo>
                <a:lnTo>
                  <a:pt x="51767" y="627506"/>
                </a:lnTo>
                <a:lnTo>
                  <a:pt x="44958" y="627506"/>
                </a:lnTo>
                <a:lnTo>
                  <a:pt x="44958" y="615623"/>
                </a:lnTo>
                <a:lnTo>
                  <a:pt x="5587" y="548131"/>
                </a:lnTo>
                <a:lnTo>
                  <a:pt x="3556" y="547623"/>
                </a:lnTo>
                <a:close/>
              </a:path>
              <a:path w="96520" h="633730">
                <a:moveTo>
                  <a:pt x="44958" y="615623"/>
                </a:moveTo>
                <a:lnTo>
                  <a:pt x="44958" y="627506"/>
                </a:lnTo>
                <a:lnTo>
                  <a:pt x="51308" y="627506"/>
                </a:lnTo>
                <a:lnTo>
                  <a:pt x="51308" y="625855"/>
                </a:lnTo>
                <a:lnTo>
                  <a:pt x="45338" y="625855"/>
                </a:lnTo>
                <a:lnTo>
                  <a:pt x="48133" y="621066"/>
                </a:lnTo>
                <a:lnTo>
                  <a:pt x="44958" y="615623"/>
                </a:lnTo>
                <a:close/>
              </a:path>
              <a:path w="96520" h="633730">
                <a:moveTo>
                  <a:pt x="92710" y="547623"/>
                </a:moveTo>
                <a:lnTo>
                  <a:pt x="90678" y="548131"/>
                </a:lnTo>
                <a:lnTo>
                  <a:pt x="51308" y="615623"/>
                </a:lnTo>
                <a:lnTo>
                  <a:pt x="51308" y="627506"/>
                </a:lnTo>
                <a:lnTo>
                  <a:pt x="51767" y="627506"/>
                </a:lnTo>
                <a:lnTo>
                  <a:pt x="96266" y="551306"/>
                </a:lnTo>
                <a:lnTo>
                  <a:pt x="95758" y="549401"/>
                </a:lnTo>
                <a:lnTo>
                  <a:pt x="92710" y="547623"/>
                </a:lnTo>
                <a:close/>
              </a:path>
              <a:path w="96520" h="633730">
                <a:moveTo>
                  <a:pt x="48133" y="621066"/>
                </a:moveTo>
                <a:lnTo>
                  <a:pt x="45338" y="625855"/>
                </a:lnTo>
                <a:lnTo>
                  <a:pt x="50926" y="625855"/>
                </a:lnTo>
                <a:lnTo>
                  <a:pt x="48133" y="621066"/>
                </a:lnTo>
                <a:close/>
              </a:path>
              <a:path w="96520" h="633730">
                <a:moveTo>
                  <a:pt x="51308" y="615623"/>
                </a:moveTo>
                <a:lnTo>
                  <a:pt x="48133" y="621066"/>
                </a:lnTo>
                <a:lnTo>
                  <a:pt x="50926" y="625855"/>
                </a:lnTo>
                <a:lnTo>
                  <a:pt x="51308" y="625855"/>
                </a:lnTo>
                <a:lnTo>
                  <a:pt x="51308" y="615623"/>
                </a:lnTo>
                <a:close/>
              </a:path>
              <a:path w="96520" h="633730">
                <a:moveTo>
                  <a:pt x="51308" y="0"/>
                </a:moveTo>
                <a:lnTo>
                  <a:pt x="44958" y="0"/>
                </a:lnTo>
                <a:lnTo>
                  <a:pt x="44958" y="615623"/>
                </a:lnTo>
                <a:lnTo>
                  <a:pt x="48133" y="621066"/>
                </a:lnTo>
                <a:lnTo>
                  <a:pt x="51307" y="615623"/>
                </a:lnTo>
                <a:lnTo>
                  <a:pt x="5130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7751574" y="3767167"/>
            <a:ext cx="452755" cy="96520"/>
          </a:xfrm>
          <a:custGeom>
            <a:avLst/>
            <a:gdLst/>
            <a:ahLst/>
            <a:cxnLst/>
            <a:rect l="l" t="t" r="r" b="b"/>
            <a:pathLst>
              <a:path w="452754" h="96519">
                <a:moveTo>
                  <a:pt x="439565" y="48069"/>
                </a:moveTo>
                <a:lnTo>
                  <a:pt x="366522" y="90678"/>
                </a:lnTo>
                <a:lnTo>
                  <a:pt x="366013" y="92582"/>
                </a:lnTo>
                <a:lnTo>
                  <a:pt x="367791" y="95631"/>
                </a:lnTo>
                <a:lnTo>
                  <a:pt x="369824" y="96138"/>
                </a:lnTo>
                <a:lnTo>
                  <a:pt x="446810" y="51181"/>
                </a:lnTo>
                <a:lnTo>
                  <a:pt x="445897" y="51181"/>
                </a:lnTo>
                <a:lnTo>
                  <a:pt x="445897" y="50800"/>
                </a:lnTo>
                <a:lnTo>
                  <a:pt x="444246" y="50800"/>
                </a:lnTo>
                <a:lnTo>
                  <a:pt x="439565" y="48069"/>
                </a:lnTo>
                <a:close/>
              </a:path>
              <a:path w="452754" h="96519">
                <a:moveTo>
                  <a:pt x="434013" y="44831"/>
                </a:moveTo>
                <a:lnTo>
                  <a:pt x="0" y="44831"/>
                </a:lnTo>
                <a:lnTo>
                  <a:pt x="0" y="51181"/>
                </a:lnTo>
                <a:lnTo>
                  <a:pt x="434231" y="51181"/>
                </a:lnTo>
                <a:lnTo>
                  <a:pt x="439565" y="48069"/>
                </a:lnTo>
                <a:lnTo>
                  <a:pt x="434013" y="44831"/>
                </a:lnTo>
                <a:close/>
              </a:path>
              <a:path w="452754" h="96519">
                <a:moveTo>
                  <a:pt x="446795" y="44831"/>
                </a:moveTo>
                <a:lnTo>
                  <a:pt x="445897" y="44831"/>
                </a:lnTo>
                <a:lnTo>
                  <a:pt x="445897" y="51181"/>
                </a:lnTo>
                <a:lnTo>
                  <a:pt x="446810" y="51181"/>
                </a:lnTo>
                <a:lnTo>
                  <a:pt x="452247" y="48006"/>
                </a:lnTo>
                <a:lnTo>
                  <a:pt x="446795" y="44831"/>
                </a:lnTo>
                <a:close/>
              </a:path>
              <a:path w="452754" h="96519">
                <a:moveTo>
                  <a:pt x="444246" y="45338"/>
                </a:moveTo>
                <a:lnTo>
                  <a:pt x="439565" y="48069"/>
                </a:lnTo>
                <a:lnTo>
                  <a:pt x="444246" y="50800"/>
                </a:lnTo>
                <a:lnTo>
                  <a:pt x="444246" y="45338"/>
                </a:lnTo>
                <a:close/>
              </a:path>
              <a:path w="452754" h="96519">
                <a:moveTo>
                  <a:pt x="445897" y="45338"/>
                </a:moveTo>
                <a:lnTo>
                  <a:pt x="444246" y="45338"/>
                </a:lnTo>
                <a:lnTo>
                  <a:pt x="444246" y="50800"/>
                </a:lnTo>
                <a:lnTo>
                  <a:pt x="445897" y="50800"/>
                </a:lnTo>
                <a:lnTo>
                  <a:pt x="445897" y="45338"/>
                </a:lnTo>
                <a:close/>
              </a:path>
              <a:path w="452754" h="96519">
                <a:moveTo>
                  <a:pt x="369824" y="0"/>
                </a:moveTo>
                <a:lnTo>
                  <a:pt x="367791" y="507"/>
                </a:lnTo>
                <a:lnTo>
                  <a:pt x="366013" y="3556"/>
                </a:lnTo>
                <a:lnTo>
                  <a:pt x="366522" y="5461"/>
                </a:lnTo>
                <a:lnTo>
                  <a:pt x="439565" y="48069"/>
                </a:lnTo>
                <a:lnTo>
                  <a:pt x="444246" y="45338"/>
                </a:lnTo>
                <a:lnTo>
                  <a:pt x="445897" y="45338"/>
                </a:lnTo>
                <a:lnTo>
                  <a:pt x="445897" y="44831"/>
                </a:lnTo>
                <a:lnTo>
                  <a:pt x="446795" y="44831"/>
                </a:lnTo>
                <a:lnTo>
                  <a:pt x="36982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/>
          <p:nvPr/>
        </p:nvSpPr>
        <p:spPr>
          <a:xfrm>
            <a:off x="9299069" y="3222845"/>
            <a:ext cx="774065" cy="96520"/>
          </a:xfrm>
          <a:custGeom>
            <a:avLst/>
            <a:gdLst/>
            <a:ahLst/>
            <a:cxnLst/>
            <a:rect l="l" t="t" r="r" b="b"/>
            <a:pathLst>
              <a:path w="774065" h="96519">
                <a:moveTo>
                  <a:pt x="81788" y="0"/>
                </a:moveTo>
                <a:lnTo>
                  <a:pt x="80264" y="888"/>
                </a:lnTo>
                <a:lnTo>
                  <a:pt x="0" y="49022"/>
                </a:lnTo>
                <a:lnTo>
                  <a:pt x="81407" y="95250"/>
                </a:lnTo>
                <a:lnTo>
                  <a:pt x="82931" y="96138"/>
                </a:lnTo>
                <a:lnTo>
                  <a:pt x="84963" y="95503"/>
                </a:lnTo>
                <a:lnTo>
                  <a:pt x="85725" y="93979"/>
                </a:lnTo>
                <a:lnTo>
                  <a:pt x="86614" y="92456"/>
                </a:lnTo>
                <a:lnTo>
                  <a:pt x="86106" y="90550"/>
                </a:lnTo>
                <a:lnTo>
                  <a:pt x="84582" y="89662"/>
                </a:lnTo>
                <a:lnTo>
                  <a:pt x="18306" y="52197"/>
                </a:lnTo>
                <a:lnTo>
                  <a:pt x="6223" y="52197"/>
                </a:lnTo>
                <a:lnTo>
                  <a:pt x="6223" y="45847"/>
                </a:lnTo>
                <a:lnTo>
                  <a:pt x="17835" y="45695"/>
                </a:lnTo>
                <a:lnTo>
                  <a:pt x="83439" y="6223"/>
                </a:lnTo>
                <a:lnTo>
                  <a:pt x="84963" y="5334"/>
                </a:lnTo>
                <a:lnTo>
                  <a:pt x="85471" y="3428"/>
                </a:lnTo>
                <a:lnTo>
                  <a:pt x="83693" y="380"/>
                </a:lnTo>
                <a:lnTo>
                  <a:pt x="81788" y="0"/>
                </a:lnTo>
                <a:close/>
              </a:path>
              <a:path w="774065" h="96519">
                <a:moveTo>
                  <a:pt x="17835" y="45695"/>
                </a:moveTo>
                <a:lnTo>
                  <a:pt x="6223" y="45847"/>
                </a:lnTo>
                <a:lnTo>
                  <a:pt x="6223" y="52197"/>
                </a:lnTo>
                <a:lnTo>
                  <a:pt x="18033" y="52042"/>
                </a:lnTo>
                <a:lnTo>
                  <a:pt x="17407" y="51688"/>
                </a:lnTo>
                <a:lnTo>
                  <a:pt x="7874" y="51688"/>
                </a:lnTo>
                <a:lnTo>
                  <a:pt x="7747" y="46227"/>
                </a:lnTo>
                <a:lnTo>
                  <a:pt x="16950" y="46227"/>
                </a:lnTo>
                <a:lnTo>
                  <a:pt x="17835" y="45695"/>
                </a:lnTo>
                <a:close/>
              </a:path>
              <a:path w="774065" h="96519">
                <a:moveTo>
                  <a:pt x="18033" y="52042"/>
                </a:moveTo>
                <a:lnTo>
                  <a:pt x="6223" y="52197"/>
                </a:lnTo>
                <a:lnTo>
                  <a:pt x="18306" y="52197"/>
                </a:lnTo>
                <a:lnTo>
                  <a:pt x="18033" y="52042"/>
                </a:lnTo>
                <a:close/>
              </a:path>
              <a:path w="774065" h="96519">
                <a:moveTo>
                  <a:pt x="773684" y="35813"/>
                </a:moveTo>
                <a:lnTo>
                  <a:pt x="17835" y="45695"/>
                </a:lnTo>
                <a:lnTo>
                  <a:pt x="12492" y="48910"/>
                </a:lnTo>
                <a:lnTo>
                  <a:pt x="18033" y="52042"/>
                </a:lnTo>
                <a:lnTo>
                  <a:pt x="773684" y="42163"/>
                </a:lnTo>
                <a:lnTo>
                  <a:pt x="773684" y="35813"/>
                </a:lnTo>
                <a:close/>
              </a:path>
              <a:path w="774065" h="96519">
                <a:moveTo>
                  <a:pt x="7747" y="46227"/>
                </a:moveTo>
                <a:lnTo>
                  <a:pt x="7874" y="51688"/>
                </a:lnTo>
                <a:lnTo>
                  <a:pt x="12492" y="48910"/>
                </a:lnTo>
                <a:lnTo>
                  <a:pt x="7747" y="46227"/>
                </a:lnTo>
                <a:close/>
              </a:path>
              <a:path w="774065" h="96519">
                <a:moveTo>
                  <a:pt x="12492" y="48910"/>
                </a:moveTo>
                <a:lnTo>
                  <a:pt x="7874" y="51688"/>
                </a:lnTo>
                <a:lnTo>
                  <a:pt x="17407" y="51688"/>
                </a:lnTo>
                <a:lnTo>
                  <a:pt x="12492" y="48910"/>
                </a:lnTo>
                <a:close/>
              </a:path>
              <a:path w="774065" h="96519">
                <a:moveTo>
                  <a:pt x="16950" y="46227"/>
                </a:moveTo>
                <a:lnTo>
                  <a:pt x="7747" y="46227"/>
                </a:lnTo>
                <a:lnTo>
                  <a:pt x="12492" y="48910"/>
                </a:lnTo>
                <a:lnTo>
                  <a:pt x="16950" y="4622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/>
          <p:cNvSpPr txBox="1"/>
          <p:nvPr/>
        </p:nvSpPr>
        <p:spPr>
          <a:xfrm>
            <a:off x="10179053" y="3133056"/>
            <a:ext cx="306705" cy="22249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350" dirty="0">
                <a:latin typeface="Calibri" panose="020F0502020204030204"/>
                <a:cs typeface="Calibri" panose="020F0502020204030204"/>
              </a:rPr>
              <a:t>title</a:t>
            </a:r>
          </a:p>
        </p:txBody>
      </p:sp>
      <p:sp>
        <p:nvSpPr>
          <p:cNvPr id="17" name="object 14"/>
          <p:cNvSpPr/>
          <p:nvPr/>
        </p:nvSpPr>
        <p:spPr>
          <a:xfrm>
            <a:off x="7752717" y="3865592"/>
            <a:ext cx="452755" cy="96520"/>
          </a:xfrm>
          <a:custGeom>
            <a:avLst/>
            <a:gdLst/>
            <a:ahLst/>
            <a:cxnLst/>
            <a:rect l="l" t="t" r="r" b="b"/>
            <a:pathLst>
              <a:path w="452754" h="96519">
                <a:moveTo>
                  <a:pt x="439565" y="48069"/>
                </a:moveTo>
                <a:lnTo>
                  <a:pt x="366522" y="90678"/>
                </a:lnTo>
                <a:lnTo>
                  <a:pt x="366014" y="92710"/>
                </a:lnTo>
                <a:lnTo>
                  <a:pt x="366903" y="94106"/>
                </a:lnTo>
                <a:lnTo>
                  <a:pt x="367792" y="95631"/>
                </a:lnTo>
                <a:lnTo>
                  <a:pt x="369824" y="96138"/>
                </a:lnTo>
                <a:lnTo>
                  <a:pt x="446795" y="51307"/>
                </a:lnTo>
                <a:lnTo>
                  <a:pt x="445897" y="51307"/>
                </a:lnTo>
                <a:lnTo>
                  <a:pt x="445897" y="50800"/>
                </a:lnTo>
                <a:lnTo>
                  <a:pt x="444246" y="50800"/>
                </a:lnTo>
                <a:lnTo>
                  <a:pt x="439565" y="48069"/>
                </a:lnTo>
                <a:close/>
              </a:path>
              <a:path w="452754" h="96519">
                <a:moveTo>
                  <a:pt x="434231" y="44957"/>
                </a:moveTo>
                <a:lnTo>
                  <a:pt x="0" y="44957"/>
                </a:lnTo>
                <a:lnTo>
                  <a:pt x="0" y="51307"/>
                </a:lnTo>
                <a:lnTo>
                  <a:pt x="434013" y="51307"/>
                </a:lnTo>
                <a:lnTo>
                  <a:pt x="439565" y="48069"/>
                </a:lnTo>
                <a:lnTo>
                  <a:pt x="434231" y="44957"/>
                </a:lnTo>
                <a:close/>
              </a:path>
              <a:path w="452754" h="96519">
                <a:moveTo>
                  <a:pt x="446810" y="44957"/>
                </a:moveTo>
                <a:lnTo>
                  <a:pt x="445897" y="44957"/>
                </a:lnTo>
                <a:lnTo>
                  <a:pt x="445897" y="51307"/>
                </a:lnTo>
                <a:lnTo>
                  <a:pt x="446795" y="51307"/>
                </a:lnTo>
                <a:lnTo>
                  <a:pt x="452247" y="48132"/>
                </a:lnTo>
                <a:lnTo>
                  <a:pt x="446810" y="44957"/>
                </a:lnTo>
                <a:close/>
              </a:path>
              <a:path w="452754" h="96519">
                <a:moveTo>
                  <a:pt x="444246" y="45338"/>
                </a:moveTo>
                <a:lnTo>
                  <a:pt x="439565" y="48069"/>
                </a:lnTo>
                <a:lnTo>
                  <a:pt x="444246" y="50800"/>
                </a:lnTo>
                <a:lnTo>
                  <a:pt x="444246" y="45338"/>
                </a:lnTo>
                <a:close/>
              </a:path>
              <a:path w="452754" h="96519">
                <a:moveTo>
                  <a:pt x="445897" y="45338"/>
                </a:moveTo>
                <a:lnTo>
                  <a:pt x="444246" y="45338"/>
                </a:lnTo>
                <a:lnTo>
                  <a:pt x="444246" y="50800"/>
                </a:lnTo>
                <a:lnTo>
                  <a:pt x="445897" y="50800"/>
                </a:lnTo>
                <a:lnTo>
                  <a:pt x="445897" y="45338"/>
                </a:lnTo>
                <a:close/>
              </a:path>
              <a:path w="452754" h="96519">
                <a:moveTo>
                  <a:pt x="369824" y="0"/>
                </a:moveTo>
                <a:lnTo>
                  <a:pt x="367792" y="507"/>
                </a:lnTo>
                <a:lnTo>
                  <a:pt x="366014" y="3556"/>
                </a:lnTo>
                <a:lnTo>
                  <a:pt x="366522" y="5587"/>
                </a:lnTo>
                <a:lnTo>
                  <a:pt x="368046" y="6350"/>
                </a:lnTo>
                <a:lnTo>
                  <a:pt x="439565" y="48069"/>
                </a:lnTo>
                <a:lnTo>
                  <a:pt x="444246" y="45338"/>
                </a:lnTo>
                <a:lnTo>
                  <a:pt x="445897" y="45338"/>
                </a:lnTo>
                <a:lnTo>
                  <a:pt x="445897" y="44957"/>
                </a:lnTo>
                <a:lnTo>
                  <a:pt x="446810" y="44957"/>
                </a:lnTo>
                <a:lnTo>
                  <a:pt x="36982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5"/>
          <p:cNvSpPr/>
          <p:nvPr/>
        </p:nvSpPr>
        <p:spPr>
          <a:xfrm>
            <a:off x="7704711" y="3913724"/>
            <a:ext cx="96520" cy="633730"/>
          </a:xfrm>
          <a:custGeom>
            <a:avLst/>
            <a:gdLst/>
            <a:ahLst/>
            <a:cxnLst/>
            <a:rect l="l" t="t" r="r" b="b"/>
            <a:pathLst>
              <a:path w="96520" h="633730">
                <a:moveTo>
                  <a:pt x="3428" y="547624"/>
                </a:moveTo>
                <a:lnTo>
                  <a:pt x="1904" y="548513"/>
                </a:lnTo>
                <a:lnTo>
                  <a:pt x="508" y="549402"/>
                </a:lnTo>
                <a:lnTo>
                  <a:pt x="0" y="551307"/>
                </a:lnTo>
                <a:lnTo>
                  <a:pt x="762" y="552831"/>
                </a:lnTo>
                <a:lnTo>
                  <a:pt x="48005" y="633730"/>
                </a:lnTo>
                <a:lnTo>
                  <a:pt x="51714" y="627380"/>
                </a:lnTo>
                <a:lnTo>
                  <a:pt x="44830" y="627380"/>
                </a:lnTo>
                <a:lnTo>
                  <a:pt x="44830" y="615623"/>
                </a:lnTo>
                <a:lnTo>
                  <a:pt x="5461" y="548132"/>
                </a:lnTo>
                <a:lnTo>
                  <a:pt x="3428" y="547624"/>
                </a:lnTo>
                <a:close/>
              </a:path>
              <a:path w="96520" h="633730">
                <a:moveTo>
                  <a:pt x="44831" y="615623"/>
                </a:moveTo>
                <a:lnTo>
                  <a:pt x="44830" y="627380"/>
                </a:lnTo>
                <a:lnTo>
                  <a:pt x="51180" y="627380"/>
                </a:lnTo>
                <a:lnTo>
                  <a:pt x="51180" y="625856"/>
                </a:lnTo>
                <a:lnTo>
                  <a:pt x="45212" y="625856"/>
                </a:lnTo>
                <a:lnTo>
                  <a:pt x="48006" y="621066"/>
                </a:lnTo>
                <a:lnTo>
                  <a:pt x="44831" y="615623"/>
                </a:lnTo>
                <a:close/>
              </a:path>
              <a:path w="96520" h="633730">
                <a:moveTo>
                  <a:pt x="92583" y="547624"/>
                </a:moveTo>
                <a:lnTo>
                  <a:pt x="90550" y="548132"/>
                </a:lnTo>
                <a:lnTo>
                  <a:pt x="51180" y="615623"/>
                </a:lnTo>
                <a:lnTo>
                  <a:pt x="51180" y="627380"/>
                </a:lnTo>
                <a:lnTo>
                  <a:pt x="51714" y="627380"/>
                </a:lnTo>
                <a:lnTo>
                  <a:pt x="96138" y="551307"/>
                </a:lnTo>
                <a:lnTo>
                  <a:pt x="95630" y="549402"/>
                </a:lnTo>
                <a:lnTo>
                  <a:pt x="92583" y="547624"/>
                </a:lnTo>
                <a:close/>
              </a:path>
              <a:path w="96520" h="633730">
                <a:moveTo>
                  <a:pt x="48005" y="621066"/>
                </a:moveTo>
                <a:lnTo>
                  <a:pt x="45212" y="625856"/>
                </a:lnTo>
                <a:lnTo>
                  <a:pt x="50800" y="625856"/>
                </a:lnTo>
                <a:lnTo>
                  <a:pt x="48005" y="621066"/>
                </a:lnTo>
                <a:close/>
              </a:path>
              <a:path w="96520" h="633730">
                <a:moveTo>
                  <a:pt x="51180" y="615623"/>
                </a:moveTo>
                <a:lnTo>
                  <a:pt x="48005" y="621066"/>
                </a:lnTo>
                <a:lnTo>
                  <a:pt x="50800" y="625856"/>
                </a:lnTo>
                <a:lnTo>
                  <a:pt x="51180" y="625856"/>
                </a:lnTo>
                <a:lnTo>
                  <a:pt x="51180" y="615623"/>
                </a:lnTo>
                <a:close/>
              </a:path>
              <a:path w="96520" h="633730">
                <a:moveTo>
                  <a:pt x="51180" y="0"/>
                </a:moveTo>
                <a:lnTo>
                  <a:pt x="44830" y="0"/>
                </a:lnTo>
                <a:lnTo>
                  <a:pt x="44831" y="615623"/>
                </a:lnTo>
                <a:lnTo>
                  <a:pt x="48005" y="621066"/>
                </a:lnTo>
                <a:lnTo>
                  <a:pt x="51180" y="615623"/>
                </a:lnTo>
                <a:lnTo>
                  <a:pt x="5118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6"/>
          <p:cNvSpPr/>
          <p:nvPr/>
        </p:nvSpPr>
        <p:spPr>
          <a:xfrm>
            <a:off x="7752717" y="4499321"/>
            <a:ext cx="452755" cy="96520"/>
          </a:xfrm>
          <a:custGeom>
            <a:avLst/>
            <a:gdLst/>
            <a:ahLst/>
            <a:cxnLst/>
            <a:rect l="l" t="t" r="r" b="b"/>
            <a:pathLst>
              <a:path w="452754" h="96519">
                <a:moveTo>
                  <a:pt x="439565" y="48069"/>
                </a:moveTo>
                <a:lnTo>
                  <a:pt x="366522" y="90677"/>
                </a:lnTo>
                <a:lnTo>
                  <a:pt x="366014" y="92582"/>
                </a:lnTo>
                <a:lnTo>
                  <a:pt x="367792" y="95631"/>
                </a:lnTo>
                <a:lnTo>
                  <a:pt x="369824" y="96138"/>
                </a:lnTo>
                <a:lnTo>
                  <a:pt x="446795" y="51307"/>
                </a:lnTo>
                <a:lnTo>
                  <a:pt x="445897" y="51307"/>
                </a:lnTo>
                <a:lnTo>
                  <a:pt x="445897" y="50800"/>
                </a:lnTo>
                <a:lnTo>
                  <a:pt x="444246" y="50800"/>
                </a:lnTo>
                <a:lnTo>
                  <a:pt x="439565" y="48069"/>
                </a:lnTo>
                <a:close/>
              </a:path>
              <a:path w="452754" h="96519">
                <a:moveTo>
                  <a:pt x="434231" y="44957"/>
                </a:moveTo>
                <a:lnTo>
                  <a:pt x="0" y="44957"/>
                </a:lnTo>
                <a:lnTo>
                  <a:pt x="0" y="51307"/>
                </a:lnTo>
                <a:lnTo>
                  <a:pt x="434013" y="51307"/>
                </a:lnTo>
                <a:lnTo>
                  <a:pt x="439565" y="48069"/>
                </a:lnTo>
                <a:lnTo>
                  <a:pt x="434231" y="44957"/>
                </a:lnTo>
                <a:close/>
              </a:path>
              <a:path w="452754" h="96519">
                <a:moveTo>
                  <a:pt x="446810" y="44957"/>
                </a:moveTo>
                <a:lnTo>
                  <a:pt x="445897" y="44957"/>
                </a:lnTo>
                <a:lnTo>
                  <a:pt x="445897" y="51307"/>
                </a:lnTo>
                <a:lnTo>
                  <a:pt x="446795" y="51307"/>
                </a:lnTo>
                <a:lnTo>
                  <a:pt x="452247" y="48132"/>
                </a:lnTo>
                <a:lnTo>
                  <a:pt x="446810" y="44957"/>
                </a:lnTo>
                <a:close/>
              </a:path>
              <a:path w="452754" h="96519">
                <a:moveTo>
                  <a:pt x="444246" y="45338"/>
                </a:moveTo>
                <a:lnTo>
                  <a:pt x="439565" y="48069"/>
                </a:lnTo>
                <a:lnTo>
                  <a:pt x="444246" y="50800"/>
                </a:lnTo>
                <a:lnTo>
                  <a:pt x="444246" y="45338"/>
                </a:lnTo>
                <a:close/>
              </a:path>
              <a:path w="452754" h="96519">
                <a:moveTo>
                  <a:pt x="445897" y="45338"/>
                </a:moveTo>
                <a:lnTo>
                  <a:pt x="444246" y="45338"/>
                </a:lnTo>
                <a:lnTo>
                  <a:pt x="444246" y="50800"/>
                </a:lnTo>
                <a:lnTo>
                  <a:pt x="445897" y="50800"/>
                </a:lnTo>
                <a:lnTo>
                  <a:pt x="445897" y="45338"/>
                </a:lnTo>
                <a:close/>
              </a:path>
              <a:path w="452754" h="96519">
                <a:moveTo>
                  <a:pt x="369824" y="0"/>
                </a:moveTo>
                <a:lnTo>
                  <a:pt x="367792" y="507"/>
                </a:lnTo>
                <a:lnTo>
                  <a:pt x="366014" y="3556"/>
                </a:lnTo>
                <a:lnTo>
                  <a:pt x="366522" y="5461"/>
                </a:lnTo>
                <a:lnTo>
                  <a:pt x="439565" y="48069"/>
                </a:lnTo>
                <a:lnTo>
                  <a:pt x="444246" y="45338"/>
                </a:lnTo>
                <a:lnTo>
                  <a:pt x="445897" y="45338"/>
                </a:lnTo>
                <a:lnTo>
                  <a:pt x="445897" y="44957"/>
                </a:lnTo>
                <a:lnTo>
                  <a:pt x="446810" y="44957"/>
                </a:lnTo>
                <a:lnTo>
                  <a:pt x="369824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7"/>
          <p:cNvSpPr txBox="1"/>
          <p:nvPr/>
        </p:nvSpPr>
        <p:spPr>
          <a:xfrm>
            <a:off x="6474716" y="3369352"/>
            <a:ext cx="1220470" cy="9671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52805">
              <a:lnSpc>
                <a:spcPct val="100000"/>
              </a:lnSpc>
              <a:spcBef>
                <a:spcPts val="120"/>
              </a:spcBef>
            </a:pPr>
            <a:r>
              <a:rPr sz="1350" spc="5" dirty="0">
                <a:latin typeface="Calibri" panose="020F0502020204030204"/>
                <a:cs typeface="Calibri" panose="020F0502020204030204"/>
              </a:rPr>
              <a:t>he</a:t>
            </a:r>
            <a:r>
              <a:rPr sz="1350" spc="10" dirty="0">
                <a:latin typeface="Calibri" panose="020F0502020204030204"/>
                <a:cs typeface="Calibri" panose="020F0502020204030204"/>
              </a:rPr>
              <a:t>ad</a:t>
            </a:r>
            <a:endParaRPr sz="135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13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495"/>
              </a:lnSpc>
              <a:spcBef>
                <a:spcPts val="5"/>
              </a:spcBef>
            </a:pPr>
            <a:r>
              <a:rPr sz="1350" dirty="0">
                <a:latin typeface="Calibri" panose="020F0502020204030204"/>
                <a:cs typeface="Calibri" panose="020F0502020204030204"/>
              </a:rPr>
              <a:t>html</a:t>
            </a:r>
          </a:p>
          <a:p>
            <a:pPr marL="853440">
              <a:lnSpc>
                <a:spcPts val="1495"/>
              </a:lnSpc>
            </a:pPr>
            <a:r>
              <a:rPr sz="1350" spc="10" dirty="0">
                <a:latin typeface="Calibri" panose="020F0502020204030204"/>
                <a:cs typeface="Calibri" panose="020F0502020204030204"/>
              </a:rPr>
              <a:t>b</a:t>
            </a:r>
            <a:r>
              <a:rPr sz="1350" spc="5" dirty="0">
                <a:latin typeface="Calibri" panose="020F0502020204030204"/>
                <a:cs typeface="Calibri" panose="020F0502020204030204"/>
              </a:rPr>
              <a:t>ody</a:t>
            </a:r>
            <a:endParaRPr sz="135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Rectangle 14"/>
          <p:cNvSpPr txBox="1">
            <a:spLocks noChangeArrowheads="1"/>
          </p:cNvSpPr>
          <p:nvPr/>
        </p:nvSpPr>
        <p:spPr>
          <a:xfrm>
            <a:off x="2062872" y="2246748"/>
            <a:ext cx="3358036" cy="34307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125" lvl="1" indent="0">
              <a:buNone/>
            </a:pPr>
            <a:r>
              <a:rPr lang="zh-CN" altLang="en-US" dirty="0">
                <a:latin typeface="+mn-ea"/>
              </a:rPr>
              <a:t>&lt;</a:t>
            </a:r>
            <a:r>
              <a:rPr lang="en-US" altLang="zh-CN" dirty="0">
                <a:latin typeface="+mn-ea"/>
              </a:rPr>
              <a:t>html&gt;</a:t>
            </a:r>
          </a:p>
          <a:p>
            <a:pPr marL="365125" lvl="1" indent="0">
              <a:buNone/>
            </a:pPr>
            <a:r>
              <a:rPr lang="en-US" altLang="zh-CN" dirty="0">
                <a:latin typeface="+mn-ea"/>
              </a:rPr>
              <a:t>	&lt;head&gt;</a:t>
            </a:r>
          </a:p>
          <a:p>
            <a:pPr marL="365125" lvl="1" indent="0">
              <a:buNone/>
            </a:pPr>
            <a:endParaRPr lang="en-US" altLang="zh-CN" dirty="0">
              <a:latin typeface="+mn-ea"/>
            </a:endParaRPr>
          </a:p>
          <a:p>
            <a:pPr marL="365125" lvl="1" indent="0">
              <a:buNone/>
            </a:pPr>
            <a:r>
              <a:rPr lang="en-US" altLang="zh-CN" dirty="0">
                <a:latin typeface="+mn-ea"/>
              </a:rPr>
              <a:t>	&lt;/head&gt;</a:t>
            </a:r>
          </a:p>
          <a:p>
            <a:pPr marL="365125" lvl="1" indent="0">
              <a:buNone/>
            </a:pPr>
            <a:r>
              <a:rPr lang="en-US" altLang="zh-CN" dirty="0">
                <a:latin typeface="+mn-ea"/>
              </a:rPr>
              <a:t>	&lt;body&gt;</a:t>
            </a:r>
          </a:p>
          <a:p>
            <a:pPr marL="365125" lvl="1" indent="0">
              <a:buNone/>
            </a:pPr>
            <a:endParaRPr lang="en-US" altLang="zh-CN" dirty="0">
              <a:latin typeface="+mn-ea"/>
            </a:endParaRPr>
          </a:p>
          <a:p>
            <a:pPr marL="365125" lvl="1" indent="0">
              <a:buNone/>
            </a:pPr>
            <a:r>
              <a:rPr lang="en-US" altLang="zh-CN" dirty="0">
                <a:latin typeface="+mn-ea"/>
              </a:rPr>
              <a:t>	&lt;/body&gt;</a:t>
            </a:r>
          </a:p>
          <a:p>
            <a:pPr marL="365125" lvl="1" indent="0">
              <a:buNone/>
            </a:pPr>
            <a:r>
              <a:rPr lang="en-US" altLang="zh-CN" dirty="0">
                <a:latin typeface="+mn-ea"/>
              </a:rPr>
              <a:t>&lt;/html&gt;</a:t>
            </a:r>
          </a:p>
        </p:txBody>
      </p:sp>
      <p:sp>
        <p:nvSpPr>
          <p:cNvPr id="22" name="左大括号 21"/>
          <p:cNvSpPr/>
          <p:nvPr/>
        </p:nvSpPr>
        <p:spPr>
          <a:xfrm>
            <a:off x="2062872" y="2458025"/>
            <a:ext cx="289079" cy="27336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515657" y="3224697"/>
            <a:ext cx="3376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网页文件</a:t>
            </a:r>
          </a:p>
        </p:txBody>
      </p:sp>
      <p:sp>
        <p:nvSpPr>
          <p:cNvPr id="24" name="右大括号 23"/>
          <p:cNvSpPr/>
          <p:nvPr/>
        </p:nvSpPr>
        <p:spPr>
          <a:xfrm>
            <a:off x="4582707" y="2762825"/>
            <a:ext cx="190500" cy="8477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右大括号 24"/>
          <p:cNvSpPr/>
          <p:nvPr/>
        </p:nvSpPr>
        <p:spPr>
          <a:xfrm>
            <a:off x="4516032" y="4058225"/>
            <a:ext cx="257175" cy="10382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961167" y="4058225"/>
            <a:ext cx="459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网页内容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4C428-C18B-EED7-3A75-DB89D6D7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AE741B8-2C1D-3246-44F5-FD0D1BD40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05" b="2174"/>
          <a:stretch/>
        </p:blipFill>
        <p:spPr bwMode="auto">
          <a:xfrm>
            <a:off x="0" y="0"/>
            <a:ext cx="12599988" cy="6858000"/>
          </a:xfrm>
          <a:prstGeom prst="rect">
            <a:avLst/>
          </a:prstGeom>
          <a:noFill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1F7C98-5722-EF94-C636-BC6CBEC725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7015"/>
            <a:ext cx="6620933" cy="2977339"/>
          </a:xfrm>
          <a:prstGeom prst="rect">
            <a:avLst/>
          </a:prstGeom>
        </p:spPr>
      </p:pic>
      <p:sp>
        <p:nvSpPr>
          <p:cNvPr id="31" name="矩形 69">
            <a:extLst>
              <a:ext uri="{FF2B5EF4-FFF2-40B4-BE49-F238E27FC236}">
                <a16:creationId xmlns:a16="http://schemas.microsoft.com/office/drawing/2014/main" id="{D92D9D60-217E-ACEC-1CFE-020D088D0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83" y="1407679"/>
            <a:ext cx="884011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defTabSz="1219170"/>
            <a:r>
              <a:rPr lang="en-US" altLang="zh-CN" sz="96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03 </a:t>
            </a:r>
            <a:r>
              <a:rPr lang="en-US" altLang="zh-CN" sz="60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HTML</a:t>
            </a:r>
            <a:r>
              <a:rPr lang="zh-CN" altLang="en-US" sz="60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标签</a:t>
            </a:r>
            <a:endParaRPr lang="en-US" altLang="zh-CN" sz="6000" b="1" dirty="0">
              <a:solidFill>
                <a:srgbClr val="66BFBC"/>
              </a:solidFill>
              <a:latin typeface="方正卡通简体" panose="03000509000000000000" pitchFamily="65" charset="-122"/>
              <a:ea typeface="方正卡通简体" panose="03000509000000000000" pitchFamily="65" charset="-122"/>
              <a:sym typeface="微软雅黑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C56AFDD-6CA0-B564-84A4-F029B9A1D6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183" y="2680943"/>
            <a:ext cx="7205487" cy="120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/>
          <p:cNvSpPr/>
          <p:nvPr/>
        </p:nvSpPr>
        <p:spPr>
          <a:xfrm>
            <a:off x="867103" y="1599268"/>
            <a:ext cx="428625" cy="429895"/>
          </a:xfrm>
          <a:custGeom>
            <a:avLst/>
            <a:gdLst/>
            <a:ahLst/>
            <a:cxnLst/>
            <a:rect l="l" t="t" r="r" b="b"/>
            <a:pathLst>
              <a:path w="428625" h="429894">
                <a:moveTo>
                  <a:pt x="211835" y="429767"/>
                </a:moveTo>
                <a:lnTo>
                  <a:pt x="169163" y="425195"/>
                </a:lnTo>
                <a:lnTo>
                  <a:pt x="129539" y="413003"/>
                </a:lnTo>
                <a:lnTo>
                  <a:pt x="94487" y="393192"/>
                </a:lnTo>
                <a:lnTo>
                  <a:pt x="62483" y="365759"/>
                </a:lnTo>
                <a:lnTo>
                  <a:pt x="36575" y="335279"/>
                </a:lnTo>
                <a:lnTo>
                  <a:pt x="16763" y="298703"/>
                </a:lnTo>
                <a:lnTo>
                  <a:pt x="4571" y="259079"/>
                </a:lnTo>
                <a:lnTo>
                  <a:pt x="0" y="216408"/>
                </a:lnTo>
                <a:lnTo>
                  <a:pt x="1524" y="193548"/>
                </a:lnTo>
                <a:lnTo>
                  <a:pt x="10667" y="150875"/>
                </a:lnTo>
                <a:lnTo>
                  <a:pt x="25907" y="111251"/>
                </a:lnTo>
                <a:lnTo>
                  <a:pt x="48767" y="77723"/>
                </a:lnTo>
                <a:lnTo>
                  <a:pt x="77724" y="48767"/>
                </a:lnTo>
                <a:lnTo>
                  <a:pt x="111251" y="24383"/>
                </a:lnTo>
                <a:lnTo>
                  <a:pt x="131063" y="16763"/>
                </a:lnTo>
                <a:lnTo>
                  <a:pt x="149351" y="9143"/>
                </a:lnTo>
                <a:lnTo>
                  <a:pt x="170687" y="3047"/>
                </a:lnTo>
                <a:lnTo>
                  <a:pt x="190500" y="0"/>
                </a:lnTo>
                <a:lnTo>
                  <a:pt x="234695" y="0"/>
                </a:lnTo>
                <a:lnTo>
                  <a:pt x="256031" y="3047"/>
                </a:lnTo>
                <a:lnTo>
                  <a:pt x="277367" y="9143"/>
                </a:lnTo>
                <a:lnTo>
                  <a:pt x="285292" y="12191"/>
                </a:lnTo>
                <a:lnTo>
                  <a:pt x="211835" y="12191"/>
                </a:lnTo>
                <a:lnTo>
                  <a:pt x="192024" y="13716"/>
                </a:lnTo>
                <a:lnTo>
                  <a:pt x="152400" y="21335"/>
                </a:lnTo>
                <a:lnTo>
                  <a:pt x="117348" y="36575"/>
                </a:lnTo>
                <a:lnTo>
                  <a:pt x="85343" y="57912"/>
                </a:lnTo>
                <a:lnTo>
                  <a:pt x="57911" y="85343"/>
                </a:lnTo>
                <a:lnTo>
                  <a:pt x="36575" y="118871"/>
                </a:lnTo>
                <a:lnTo>
                  <a:pt x="21335" y="155448"/>
                </a:lnTo>
                <a:lnTo>
                  <a:pt x="13715" y="195071"/>
                </a:lnTo>
                <a:lnTo>
                  <a:pt x="13715" y="236219"/>
                </a:lnTo>
                <a:lnTo>
                  <a:pt x="22859" y="275843"/>
                </a:lnTo>
                <a:lnTo>
                  <a:pt x="47243" y="327659"/>
                </a:lnTo>
                <a:lnTo>
                  <a:pt x="71627" y="358140"/>
                </a:lnTo>
                <a:lnTo>
                  <a:pt x="102107" y="382524"/>
                </a:lnTo>
                <a:lnTo>
                  <a:pt x="135635" y="400811"/>
                </a:lnTo>
                <a:lnTo>
                  <a:pt x="172211" y="413003"/>
                </a:lnTo>
                <a:lnTo>
                  <a:pt x="192024" y="416051"/>
                </a:lnTo>
                <a:lnTo>
                  <a:pt x="285749" y="416051"/>
                </a:lnTo>
                <a:lnTo>
                  <a:pt x="256031" y="425195"/>
                </a:lnTo>
                <a:lnTo>
                  <a:pt x="234695" y="428243"/>
                </a:lnTo>
                <a:lnTo>
                  <a:pt x="211835" y="429767"/>
                </a:lnTo>
                <a:close/>
              </a:path>
              <a:path w="428625" h="429894">
                <a:moveTo>
                  <a:pt x="285749" y="416051"/>
                </a:moveTo>
                <a:lnTo>
                  <a:pt x="233171" y="416051"/>
                </a:lnTo>
                <a:lnTo>
                  <a:pt x="254507" y="413003"/>
                </a:lnTo>
                <a:lnTo>
                  <a:pt x="272795" y="406908"/>
                </a:lnTo>
                <a:lnTo>
                  <a:pt x="326135" y="382524"/>
                </a:lnTo>
                <a:lnTo>
                  <a:pt x="356615" y="358140"/>
                </a:lnTo>
                <a:lnTo>
                  <a:pt x="381000" y="327659"/>
                </a:lnTo>
                <a:lnTo>
                  <a:pt x="399287" y="294132"/>
                </a:lnTo>
                <a:lnTo>
                  <a:pt x="411479" y="256032"/>
                </a:lnTo>
                <a:lnTo>
                  <a:pt x="414527" y="236219"/>
                </a:lnTo>
                <a:lnTo>
                  <a:pt x="414527" y="195071"/>
                </a:lnTo>
                <a:lnTo>
                  <a:pt x="405383" y="153924"/>
                </a:lnTo>
                <a:lnTo>
                  <a:pt x="390144" y="117348"/>
                </a:lnTo>
                <a:lnTo>
                  <a:pt x="368808" y="85343"/>
                </a:lnTo>
                <a:lnTo>
                  <a:pt x="341375" y="57912"/>
                </a:lnTo>
                <a:lnTo>
                  <a:pt x="309371" y="36575"/>
                </a:lnTo>
                <a:lnTo>
                  <a:pt x="272795" y="21335"/>
                </a:lnTo>
                <a:lnTo>
                  <a:pt x="233171" y="13716"/>
                </a:lnTo>
                <a:lnTo>
                  <a:pt x="211835" y="12191"/>
                </a:lnTo>
                <a:lnTo>
                  <a:pt x="285292" y="12191"/>
                </a:lnTo>
                <a:lnTo>
                  <a:pt x="333756" y="36575"/>
                </a:lnTo>
                <a:lnTo>
                  <a:pt x="365760" y="62483"/>
                </a:lnTo>
                <a:lnTo>
                  <a:pt x="391667" y="94487"/>
                </a:lnTo>
                <a:lnTo>
                  <a:pt x="411479" y="131064"/>
                </a:lnTo>
                <a:lnTo>
                  <a:pt x="423671" y="172211"/>
                </a:lnTo>
                <a:lnTo>
                  <a:pt x="428244" y="216408"/>
                </a:lnTo>
                <a:lnTo>
                  <a:pt x="426719" y="237743"/>
                </a:lnTo>
                <a:lnTo>
                  <a:pt x="411479" y="298703"/>
                </a:lnTo>
                <a:lnTo>
                  <a:pt x="391667" y="335279"/>
                </a:lnTo>
                <a:lnTo>
                  <a:pt x="364235" y="367283"/>
                </a:lnTo>
                <a:lnTo>
                  <a:pt x="332231" y="393192"/>
                </a:lnTo>
                <a:lnTo>
                  <a:pt x="295656" y="413003"/>
                </a:lnTo>
                <a:lnTo>
                  <a:pt x="285749" y="416051"/>
                </a:lnTo>
                <a:close/>
              </a:path>
              <a:path w="428625" h="429894">
                <a:moveTo>
                  <a:pt x="213359" y="394716"/>
                </a:moveTo>
                <a:lnTo>
                  <a:pt x="160019" y="387095"/>
                </a:lnTo>
                <a:lnTo>
                  <a:pt x="112775" y="364235"/>
                </a:lnTo>
                <a:lnTo>
                  <a:pt x="74675" y="330708"/>
                </a:lnTo>
                <a:lnTo>
                  <a:pt x="48767" y="286511"/>
                </a:lnTo>
                <a:lnTo>
                  <a:pt x="35051" y="234695"/>
                </a:lnTo>
                <a:lnTo>
                  <a:pt x="35051" y="198119"/>
                </a:lnTo>
                <a:lnTo>
                  <a:pt x="48767" y="146303"/>
                </a:lnTo>
                <a:lnTo>
                  <a:pt x="74675" y="100583"/>
                </a:lnTo>
                <a:lnTo>
                  <a:pt x="112775" y="65531"/>
                </a:lnTo>
                <a:lnTo>
                  <a:pt x="158495" y="42671"/>
                </a:lnTo>
                <a:lnTo>
                  <a:pt x="211835" y="33527"/>
                </a:lnTo>
                <a:lnTo>
                  <a:pt x="230124" y="35051"/>
                </a:lnTo>
                <a:lnTo>
                  <a:pt x="248411" y="38100"/>
                </a:lnTo>
                <a:lnTo>
                  <a:pt x="265175" y="42671"/>
                </a:lnTo>
                <a:lnTo>
                  <a:pt x="277748" y="47243"/>
                </a:lnTo>
                <a:lnTo>
                  <a:pt x="195071" y="47243"/>
                </a:lnTo>
                <a:lnTo>
                  <a:pt x="179831" y="50291"/>
                </a:lnTo>
                <a:lnTo>
                  <a:pt x="120395" y="74675"/>
                </a:lnTo>
                <a:lnTo>
                  <a:pt x="85343" y="108203"/>
                </a:lnTo>
                <a:lnTo>
                  <a:pt x="60959" y="149351"/>
                </a:lnTo>
                <a:lnTo>
                  <a:pt x="48767" y="198119"/>
                </a:lnTo>
                <a:lnTo>
                  <a:pt x="47243" y="216408"/>
                </a:lnTo>
                <a:lnTo>
                  <a:pt x="50291" y="249935"/>
                </a:lnTo>
                <a:lnTo>
                  <a:pt x="67055" y="295656"/>
                </a:lnTo>
                <a:lnTo>
                  <a:pt x="94487" y="333756"/>
                </a:lnTo>
                <a:lnTo>
                  <a:pt x="132587" y="362711"/>
                </a:lnTo>
                <a:lnTo>
                  <a:pt x="178307" y="377951"/>
                </a:lnTo>
                <a:lnTo>
                  <a:pt x="211835" y="382524"/>
                </a:lnTo>
                <a:lnTo>
                  <a:pt x="279272" y="382524"/>
                </a:lnTo>
                <a:lnTo>
                  <a:pt x="266700" y="387095"/>
                </a:lnTo>
                <a:lnTo>
                  <a:pt x="248411" y="391667"/>
                </a:lnTo>
                <a:lnTo>
                  <a:pt x="213359" y="394716"/>
                </a:lnTo>
                <a:close/>
              </a:path>
              <a:path w="428625" h="429894">
                <a:moveTo>
                  <a:pt x="279272" y="382524"/>
                </a:moveTo>
                <a:lnTo>
                  <a:pt x="211835" y="382524"/>
                </a:lnTo>
                <a:lnTo>
                  <a:pt x="245363" y="379475"/>
                </a:lnTo>
                <a:lnTo>
                  <a:pt x="262127" y="374903"/>
                </a:lnTo>
                <a:lnTo>
                  <a:pt x="306323" y="353567"/>
                </a:lnTo>
                <a:lnTo>
                  <a:pt x="341375" y="323087"/>
                </a:lnTo>
                <a:lnTo>
                  <a:pt x="367283" y="281940"/>
                </a:lnTo>
                <a:lnTo>
                  <a:pt x="381000" y="216408"/>
                </a:lnTo>
                <a:lnTo>
                  <a:pt x="377952" y="182879"/>
                </a:lnTo>
                <a:lnTo>
                  <a:pt x="361187" y="135635"/>
                </a:lnTo>
                <a:lnTo>
                  <a:pt x="320039" y="85343"/>
                </a:lnTo>
                <a:lnTo>
                  <a:pt x="277367" y="59435"/>
                </a:lnTo>
                <a:lnTo>
                  <a:pt x="230124" y="47243"/>
                </a:lnTo>
                <a:lnTo>
                  <a:pt x="277748" y="47243"/>
                </a:lnTo>
                <a:lnTo>
                  <a:pt x="312419" y="65531"/>
                </a:lnTo>
                <a:lnTo>
                  <a:pt x="352044" y="100583"/>
                </a:lnTo>
                <a:lnTo>
                  <a:pt x="379475" y="144779"/>
                </a:lnTo>
                <a:lnTo>
                  <a:pt x="393192" y="196595"/>
                </a:lnTo>
                <a:lnTo>
                  <a:pt x="393192" y="234695"/>
                </a:lnTo>
                <a:lnTo>
                  <a:pt x="379475" y="286511"/>
                </a:lnTo>
                <a:lnTo>
                  <a:pt x="352044" y="330708"/>
                </a:lnTo>
                <a:lnTo>
                  <a:pt x="313943" y="364235"/>
                </a:lnTo>
                <a:lnTo>
                  <a:pt x="283463" y="381000"/>
                </a:lnTo>
                <a:lnTo>
                  <a:pt x="279272" y="382524"/>
                </a:lnTo>
                <a:close/>
              </a:path>
            </a:pathLst>
          </a:custGeom>
          <a:solidFill>
            <a:srgbClr val="384267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5"/>
          <p:cNvSpPr/>
          <p:nvPr/>
        </p:nvSpPr>
        <p:spPr>
          <a:xfrm>
            <a:off x="1002928" y="1704486"/>
            <a:ext cx="156972" cy="219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26"/>
          <p:cNvSpPr txBox="1"/>
          <p:nvPr/>
        </p:nvSpPr>
        <p:spPr>
          <a:xfrm>
            <a:off x="1295728" y="2524777"/>
            <a:ext cx="9745652" cy="16101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indent="-342265">
              <a:lnSpc>
                <a:spcPct val="150000"/>
              </a:lnSpc>
              <a:buFont typeface="Wingdings" panose="05000000000000000000"/>
              <a:buChar char=""/>
              <a:tabLst>
                <a:tab pos="354965" algn="l"/>
                <a:tab pos="355600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在一对尖括号之间</a:t>
            </a:r>
          </a:p>
          <a:p>
            <a:pPr marL="0" lvl="1" indent="-342900">
              <a:lnSpc>
                <a:spcPct val="150000"/>
              </a:lnSpc>
              <a:buFont typeface="Arial" panose="020B0604020202020204"/>
              <a:buChar char="•"/>
              <a:tabLst>
                <a:tab pos="982980" algn="l"/>
                <a:tab pos="983615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标签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名称</a:t>
            </a:r>
            <a:r>
              <a:rPr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&gt;HTML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内容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&lt;/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</a:t>
            </a:r>
            <a:r>
              <a:rPr sz="2400" spc="-15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称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&gt;</a:t>
            </a:r>
          </a:p>
          <a:p>
            <a:pPr marL="0" lvl="1" indent="-342900">
              <a:lnSpc>
                <a:spcPct val="150000"/>
              </a:lnSpc>
              <a:buFont typeface="Arial" panose="020B0604020202020204"/>
              <a:buChar char="•"/>
              <a:tabLst>
                <a:tab pos="982980" algn="l"/>
                <a:tab pos="983615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&lt;h2&gt;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你好！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&lt;/h2&gt;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29070" y="1521357"/>
            <a:ext cx="8980975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签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sz="2800" spc="-14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a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g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s</a:t>
            </a:r>
            <a:r>
              <a:rPr sz="28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H</a:t>
            </a:r>
            <a:r>
              <a:rPr sz="2800" spc="15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sz="28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M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L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</a:t>
            </a:r>
            <a:r>
              <a:rPr sz="28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档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中一些有特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定意义的符号，</a:t>
            </a:r>
          </a:p>
          <a:p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这些符号指明内容的含</a:t>
            </a:r>
            <a:r>
              <a:rPr sz="28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义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或结构。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bject 19"/>
          <p:cNvSpPr txBox="1"/>
          <p:nvPr/>
        </p:nvSpPr>
        <p:spPr>
          <a:xfrm>
            <a:off x="1283891" y="4410220"/>
            <a:ext cx="9471332" cy="1055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-342265">
              <a:lnSpc>
                <a:spcPct val="150000"/>
              </a:lnSpc>
              <a:buFont typeface="Wingdings" panose="05000000000000000000"/>
              <a:buChar char=""/>
              <a:tabLst>
                <a:tab pos="354965" algn="l"/>
                <a:tab pos="355600" algn="l"/>
              </a:tabLst>
            </a:pP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分为“起始标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”、“</a:t>
            </a:r>
            <a:r>
              <a:rPr sz="2400" spc="-2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名称相同，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签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在名称前有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/</a:t>
            </a:r>
          </a:p>
          <a:p>
            <a:pPr indent="-342265">
              <a:lnSpc>
                <a:spcPct val="150000"/>
              </a:lnSpc>
              <a:buFont typeface="Wingdings" panose="05000000000000000000"/>
              <a:buChar char=""/>
              <a:tabLst>
                <a:tab pos="354965" algn="l"/>
                <a:tab pos="355600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大小写无关（最好小写）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HTML</a:t>
            </a:r>
            <a:r>
              <a:rPr lang="zh-CN" altLang="en-US" dirty="0"/>
              <a:t> 标签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HTML</a:t>
            </a:r>
            <a:r>
              <a:rPr lang="zh-CN" altLang="en-US" dirty="0"/>
              <a:t> 标签</a:t>
            </a:r>
          </a:p>
        </p:txBody>
      </p:sp>
      <p:sp>
        <p:nvSpPr>
          <p:cNvPr id="2" name="object 6"/>
          <p:cNvSpPr/>
          <p:nvPr/>
        </p:nvSpPr>
        <p:spPr>
          <a:xfrm>
            <a:off x="1279366" y="1575905"/>
            <a:ext cx="156972" cy="219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6"/>
          <p:cNvSpPr/>
          <p:nvPr/>
        </p:nvSpPr>
        <p:spPr>
          <a:xfrm>
            <a:off x="1279366" y="3763543"/>
            <a:ext cx="156972" cy="219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6"/>
          <p:cNvSpPr/>
          <p:nvPr/>
        </p:nvSpPr>
        <p:spPr>
          <a:xfrm>
            <a:off x="1279366" y="5168567"/>
            <a:ext cx="156972" cy="219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1279366" y="2734612"/>
            <a:ext cx="156972" cy="219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文本框 5"/>
          <p:cNvSpPr txBox="1"/>
          <p:nvPr/>
        </p:nvSpPr>
        <p:spPr>
          <a:xfrm>
            <a:off x="1779747" y="1418927"/>
            <a:ext cx="9741693" cy="46892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700">
              <a:lnSpc>
                <a:spcPts val="3700"/>
              </a:lnSpc>
              <a:spcBef>
                <a:spcPts val="565"/>
              </a:spcBef>
            </a:pP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单标记、配对标记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042670" indent="-342900">
              <a:lnSpc>
                <a:spcPts val="3700"/>
              </a:lnSpc>
              <a:spcBef>
                <a:spcPts val="415"/>
              </a:spcBef>
              <a:buFont typeface="Arial" panose="020B0604020202020204"/>
              <a:buChar char="•"/>
              <a:tabLst>
                <a:tab pos="1042035" algn="l"/>
                <a:tab pos="1043305" algn="l"/>
              </a:tabLst>
            </a:pP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单标记最好自封闭：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&lt;br</a:t>
            </a:r>
            <a:r>
              <a:rPr sz="24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/&gt;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&lt;img</a:t>
            </a:r>
            <a:r>
              <a:rPr sz="24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/&gt;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&lt;hr</a:t>
            </a:r>
            <a:r>
              <a:rPr sz="24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/&gt;……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ts val="3700"/>
              </a:lnSpc>
              <a:spcBef>
                <a:spcPts val="875"/>
              </a:spcBef>
            </a:pP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标记可以联合使用，也</a:t>
            </a:r>
            <a:r>
              <a:rPr sz="2400" spc="-2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以嵌套使用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042670" indent="-342900">
              <a:lnSpc>
                <a:spcPts val="3700"/>
              </a:lnSpc>
              <a:spcBef>
                <a:spcPts val="705"/>
              </a:spcBef>
              <a:buFont typeface="Arial" panose="020B0604020202020204"/>
              <a:buChar char="•"/>
              <a:tabLst>
                <a:tab pos="1042035" algn="l"/>
                <a:tab pos="104330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&lt;p&gt;&lt;b&gt;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粗体字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&lt;/b&gt;&lt;/p&gt;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3700"/>
              </a:lnSpc>
              <a:spcBef>
                <a:spcPts val="145"/>
              </a:spcBef>
            </a:pP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标记可以带有一个或多</a:t>
            </a:r>
            <a:r>
              <a:rPr sz="2400" spc="-15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</a:t>
            </a:r>
            <a:r>
              <a:rPr sz="2400" b="1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属性</a:t>
            </a:r>
            <a:r>
              <a:rPr sz="2400" b="1" spc="-2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</a:t>
            </a:r>
            <a:r>
              <a:rPr sz="2400" b="1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042670" indent="-342900">
              <a:lnSpc>
                <a:spcPts val="3700"/>
              </a:lnSpc>
              <a:buFont typeface="Arial" panose="020B0604020202020204"/>
              <a:buChar char="•"/>
              <a:tabLst>
                <a:tab pos="1042035" algn="l"/>
                <a:tab pos="104330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&lt;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标记名</a:t>
            </a:r>
            <a:r>
              <a:rPr sz="2400" spc="43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称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属性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1=“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属性值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1”</a:t>
            </a:r>
            <a:r>
              <a:rPr sz="24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…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属</a:t>
            </a:r>
            <a:r>
              <a:rPr sz="2400" spc="-15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性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n=“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属性值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1762760" algn="ctr">
              <a:lnSpc>
                <a:spcPts val="3700"/>
              </a:lnSpc>
            </a:pP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n”&gt;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内容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&lt;/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标记名称</a:t>
            </a:r>
            <a:r>
              <a:rPr sz="2400" dirty="0">
                <a:latin typeface="Times New Roman" panose="02020603050405020304"/>
                <a:cs typeface="Times New Roman" panose="02020603050405020304"/>
                <a:sym typeface="+mn-ea"/>
              </a:rPr>
              <a:t>&gt;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45720">
              <a:lnSpc>
                <a:spcPts val="3700"/>
              </a:lnSpc>
              <a:spcBef>
                <a:spcPts val="245"/>
              </a:spcBef>
            </a:pPr>
            <a:r>
              <a:rPr sz="2400" b="1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注释标记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&lt;!--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</a:t>
            </a:r>
            <a:r>
              <a:rPr sz="2400" spc="-2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释</a:t>
            </a: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</a:t>
            </a:r>
            <a:r>
              <a:rPr sz="2400" spc="5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容</a:t>
            </a:r>
            <a:r>
              <a:rPr sz="2400" spc="-5" dirty="0">
                <a:latin typeface="Times New Roman" panose="02020603050405020304"/>
                <a:cs typeface="Times New Roman" panose="02020603050405020304"/>
                <a:sym typeface="+mn-ea"/>
              </a:rPr>
              <a:t>--&gt;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076325" indent="-342900">
              <a:lnSpc>
                <a:spcPts val="3700"/>
              </a:lnSpc>
              <a:spcBef>
                <a:spcPts val="550"/>
              </a:spcBef>
              <a:buFont typeface="Arial" panose="020B0604020202020204"/>
              <a:buChar char="•"/>
              <a:tabLst>
                <a:tab pos="1076325" algn="l"/>
                <a:tab pos="1076960" algn="l"/>
              </a:tabLst>
            </a:pPr>
            <a:r>
              <a:rPr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注释内容不在浏览器中显示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HTML</a:t>
            </a:r>
            <a:r>
              <a:rPr lang="zh-CN" altLang="en-US" dirty="0"/>
              <a:t> 标签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11154" y="972235"/>
            <a:ext cx="9377680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浏览器并不是直接显示的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标签，但可以使用标签来决定如何展现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页面的内容给用户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302" y="2517115"/>
            <a:ext cx="4893412" cy="411953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97274" y="3745886"/>
            <a:ext cx="4704080" cy="829945"/>
          </a:xfrm>
          <a:prstGeom prst="rect">
            <a:avLst/>
          </a:prstGeom>
          <a:solidFill>
            <a:srgbClr val="FFB7B7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n-ea"/>
                <a:cs typeface="+mn-ea"/>
              </a:rPr>
              <a:t>只有 </a:t>
            </a:r>
            <a:r>
              <a:rPr lang="en-US" altLang="zh-CN" sz="2400" dirty="0">
                <a:latin typeface="+mn-ea"/>
                <a:cs typeface="+mn-ea"/>
              </a:rPr>
              <a:t>&lt;body&gt; </a:t>
            </a:r>
            <a:r>
              <a:rPr lang="zh-CN" altLang="en-US" sz="2400" dirty="0">
                <a:latin typeface="+mn-ea"/>
                <a:cs typeface="+mn-ea"/>
              </a:rPr>
              <a:t>区域 </a:t>
            </a:r>
            <a:r>
              <a:rPr lang="en-US" altLang="zh-CN" sz="2400" dirty="0">
                <a:latin typeface="+mn-ea"/>
                <a:cs typeface="+mn-ea"/>
              </a:rPr>
              <a:t>(</a:t>
            </a:r>
            <a:r>
              <a:rPr lang="zh-CN" altLang="en-US" sz="2400" dirty="0">
                <a:latin typeface="+mn-ea"/>
                <a:cs typeface="+mn-ea"/>
              </a:rPr>
              <a:t>白色部分</a:t>
            </a:r>
            <a:r>
              <a:rPr lang="en-US" altLang="zh-CN" sz="2400" dirty="0">
                <a:latin typeface="+mn-ea"/>
                <a:cs typeface="+mn-ea"/>
              </a:rPr>
              <a:t>) </a:t>
            </a:r>
            <a:r>
              <a:rPr lang="zh-CN" altLang="en-US" sz="2400" dirty="0">
                <a:latin typeface="+mn-ea"/>
                <a:cs typeface="+mn-ea"/>
              </a:rPr>
              <a:t>才会在浏览器中显示。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HTML</a:t>
            </a:r>
            <a:r>
              <a:rPr lang="zh-CN" altLang="en-US" dirty="0"/>
              <a:t>标签语义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87655" y="1062752"/>
            <a:ext cx="11450955" cy="2333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学习标签是有技巧的，重点是记住每个标签的语义。简单理解就是指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标签的含义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，即这个标签是用来干嘛的。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根据标签的语义，在合适的地方给一个最为合理的标签，可以让页面结构更清晰。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ea typeface="+mn-lt"/>
              <a:cs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3413"/>
          <a:stretch>
            <a:fillRect/>
          </a:stretch>
        </p:blipFill>
        <p:spPr>
          <a:xfrm>
            <a:off x="161925" y="3067050"/>
            <a:ext cx="10584916" cy="369570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10356316" y="3600450"/>
            <a:ext cx="641617" cy="98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077575" y="3330040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标题标签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10601325" y="5057775"/>
            <a:ext cx="581025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1077575" y="4863485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段落标签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764" y="1061590"/>
            <a:ext cx="11234459" cy="1137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为了使网页更具有语义化，我们经常会在页面中用到标题标签。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HTML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提供了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个等级的网页标题，即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&lt;h1&gt;-&lt;h6&gt;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2764" y="3291106"/>
            <a:ext cx="11234459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head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的缩写，意为头部、标题。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标签语义：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作为标题使用，并且依据重要性递减。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82764" y="4433454"/>
            <a:ext cx="11234459" cy="1781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特点：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加了标题的文字会变的加粗，字号也会依次变大。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一个标题独占一行。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标题标签</a:t>
            </a:r>
          </a:p>
        </p:txBody>
      </p:sp>
      <p:sp>
        <p:nvSpPr>
          <p:cNvPr id="9" name="object 4"/>
          <p:cNvSpPr/>
          <p:nvPr/>
        </p:nvSpPr>
        <p:spPr>
          <a:xfrm>
            <a:off x="682764" y="2355455"/>
            <a:ext cx="7675513" cy="702507"/>
          </a:xfrm>
          <a:custGeom>
            <a:avLst/>
            <a:gdLst/>
            <a:ahLst/>
            <a:cxnLst/>
            <a:rect l="l" t="t" r="r" b="b"/>
            <a:pathLst>
              <a:path w="6456045" h="532764">
                <a:moveTo>
                  <a:pt x="0" y="532764"/>
                </a:moveTo>
                <a:lnTo>
                  <a:pt x="6456045" y="532764"/>
                </a:lnTo>
                <a:lnTo>
                  <a:pt x="6456045" y="0"/>
                </a:lnTo>
                <a:lnTo>
                  <a:pt x="0" y="0"/>
                </a:lnTo>
                <a:lnTo>
                  <a:pt x="0" y="532764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r>
              <a:rPr lang="en-US" altLang="zh-CN"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&lt;h1&gt;</a:t>
            </a:r>
            <a:r>
              <a:rPr lang="en-US" altLang="zh-CN" sz="2400" spc="-4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 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我是一级标题</a:t>
            </a:r>
            <a:r>
              <a:rPr lang="zh-CN" altLang="en-US" sz="2400" spc="5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&lt;/h1&gt;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/>
          <p:nvPr/>
        </p:nvSpPr>
        <p:spPr>
          <a:xfrm>
            <a:off x="937260" y="1360170"/>
            <a:ext cx="8469630" cy="4217670"/>
          </a:xfrm>
          <a:custGeom>
            <a:avLst/>
            <a:gdLst/>
            <a:ahLst/>
            <a:cxnLst/>
            <a:rect l="l" t="t" r="r" b="b"/>
            <a:pathLst>
              <a:path w="6456045" h="1868804">
                <a:moveTo>
                  <a:pt x="0" y="1868424"/>
                </a:moveTo>
                <a:lnTo>
                  <a:pt x="6456045" y="1868424"/>
                </a:lnTo>
                <a:lnTo>
                  <a:pt x="6456045" y="0"/>
                </a:lnTo>
                <a:lnTo>
                  <a:pt x="0" y="0"/>
                </a:lnTo>
                <a:lnTo>
                  <a:pt x="0" y="1868424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标题标签</a:t>
            </a:r>
            <a:r>
              <a:rPr lang="en-US" altLang="zh-CN" dirty="0"/>
              <a:t>&lt;h1&gt;-&lt;h6&gt;(</a:t>
            </a:r>
            <a:r>
              <a:rPr lang="zh-CN" altLang="en-US" dirty="0"/>
              <a:t>重要）</a:t>
            </a:r>
          </a:p>
        </p:txBody>
      </p:sp>
      <p:sp>
        <p:nvSpPr>
          <p:cNvPr id="5" name="object 4"/>
          <p:cNvSpPr txBox="1"/>
          <p:nvPr/>
        </p:nvSpPr>
        <p:spPr>
          <a:xfrm>
            <a:off x="1603308" y="1360170"/>
            <a:ext cx="8613041" cy="38954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&lt;h1&gt;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标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题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一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共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六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级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选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,&lt;/h1&gt;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/>
            </a:endParaRPr>
          </a:p>
          <a:p>
            <a:pPr>
              <a:lnSpc>
                <a:spcPct val="150000"/>
              </a:lnSpc>
            </a:pP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&lt;h2</a:t>
            </a:r>
            <a:r>
              <a:rPr sz="28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文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字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加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粗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一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行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显</a:t>
            </a:r>
            <a:r>
              <a:rPr sz="2800" spc="-3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/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h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2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/>
            </a:endParaRPr>
          </a:p>
          <a:p>
            <a:pPr>
              <a:lnSpc>
                <a:spcPct val="150000"/>
              </a:lnSpc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&lt;h3</a:t>
            </a:r>
            <a:r>
              <a:rPr sz="28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由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大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到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小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依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次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减</a:t>
            </a:r>
            <a:r>
              <a:rPr sz="28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</a:t>
            </a:r>
            <a:r>
              <a:rPr sz="28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/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h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3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&lt;h4</a:t>
            </a:r>
            <a:r>
              <a:rPr sz="28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从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重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到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轻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随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之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变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</a:t>
            </a:r>
            <a:r>
              <a:rPr sz="28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/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h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4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</a:p>
          <a:p>
            <a:pPr>
              <a:lnSpc>
                <a:spcPct val="150000"/>
              </a:lnSpc>
            </a:pP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&lt;h5</a:t>
            </a:r>
            <a:r>
              <a:rPr sz="28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语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法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规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范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书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写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后</a:t>
            </a:r>
            <a:r>
              <a:rPr sz="28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</a:t>
            </a:r>
            <a:r>
              <a:rPr sz="28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/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h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5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</a:p>
          <a:p>
            <a:pPr>
              <a:lnSpc>
                <a:spcPct val="150000"/>
              </a:lnSpc>
            </a:pP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&lt;h6</a:t>
            </a:r>
            <a:r>
              <a:rPr sz="28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具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体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效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果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刷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新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见</a:t>
            </a:r>
            <a:r>
              <a:rPr sz="2800" spc="-3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</a:t>
            </a:r>
            <a:r>
              <a:rPr sz="2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/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h</a:t>
            </a:r>
            <a:r>
              <a:rPr sz="2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6</a:t>
            </a:r>
            <a:r>
              <a:rPr sz="28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&gt;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段落、换行标签和水平线（重要）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1306" y="925093"/>
            <a:ext cx="11234459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在网页中，要把文字有条理地显示出来，就需要将这些文字分段显示。在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HTML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标签中，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&lt;p&gt;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标签用于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定义段落，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它可以将整个网页分为若干个段落。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2764" y="3405530"/>
            <a:ext cx="1123445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标签语义：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文档分割为若干个段落。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2763" y="3986587"/>
            <a:ext cx="11234459" cy="1781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特点：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文本在一个段落中会根据浏览器窗口的大小自动换行。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段落和段落之间保有空隙。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8" name="object 4"/>
          <p:cNvSpPr/>
          <p:nvPr/>
        </p:nvSpPr>
        <p:spPr>
          <a:xfrm>
            <a:off x="795614" y="2439478"/>
            <a:ext cx="6456045" cy="722464"/>
          </a:xfrm>
          <a:custGeom>
            <a:avLst/>
            <a:gdLst/>
            <a:ahLst/>
            <a:cxnLst/>
            <a:rect l="l" t="t" r="r" b="b"/>
            <a:pathLst>
              <a:path w="6456045" h="532764">
                <a:moveTo>
                  <a:pt x="0" y="532765"/>
                </a:moveTo>
                <a:lnTo>
                  <a:pt x="6456045" y="532765"/>
                </a:lnTo>
                <a:lnTo>
                  <a:pt x="6456045" y="0"/>
                </a:lnTo>
                <a:lnTo>
                  <a:pt x="0" y="0"/>
                </a:lnTo>
                <a:lnTo>
                  <a:pt x="0" y="532765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&lt;p&gt;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我是一个段落标签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&lt;/p&gt;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/>
        </p:nvSpPr>
        <p:spPr>
          <a:xfrm>
            <a:off x="686586" y="1635512"/>
            <a:ext cx="8953032" cy="3865658"/>
          </a:xfrm>
          <a:prstGeom prst="rect">
            <a:avLst/>
          </a:prstGeom>
          <a:blipFill>
            <a:blip r:embed="rId2" cstate="print"/>
            <a:stretch>
              <a:fillRect b="-11650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4"/>
          <p:cNvSpPr txBox="1"/>
          <p:nvPr/>
        </p:nvSpPr>
        <p:spPr>
          <a:xfrm>
            <a:off x="10253980" y="1671207"/>
            <a:ext cx="1176020" cy="36639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80"/>
              </a:spcBef>
            </a:pPr>
            <a:r>
              <a:rPr sz="1350" spc="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标题标</a:t>
            </a:r>
            <a:r>
              <a:rPr sz="1350" spc="35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签</a:t>
            </a:r>
            <a:r>
              <a:rPr sz="135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h1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5"/>
          <p:cNvSpPr/>
          <p:nvPr/>
        </p:nvSpPr>
        <p:spPr>
          <a:xfrm>
            <a:off x="9428988" y="1806233"/>
            <a:ext cx="825500" cy="96520"/>
          </a:xfrm>
          <a:custGeom>
            <a:avLst/>
            <a:gdLst/>
            <a:ahLst/>
            <a:cxnLst/>
            <a:rect l="l" t="t" r="r" b="b"/>
            <a:pathLst>
              <a:path w="825500" h="96519">
                <a:moveTo>
                  <a:pt x="82423" y="0"/>
                </a:moveTo>
                <a:lnTo>
                  <a:pt x="0" y="48132"/>
                </a:lnTo>
                <a:lnTo>
                  <a:pt x="82423" y="96138"/>
                </a:lnTo>
                <a:lnTo>
                  <a:pt x="84328" y="95630"/>
                </a:lnTo>
                <a:lnTo>
                  <a:pt x="86106" y="92582"/>
                </a:lnTo>
                <a:lnTo>
                  <a:pt x="85598" y="90677"/>
                </a:lnTo>
                <a:lnTo>
                  <a:pt x="18106" y="51307"/>
                </a:lnTo>
                <a:lnTo>
                  <a:pt x="6223" y="51307"/>
                </a:lnTo>
                <a:lnTo>
                  <a:pt x="6223" y="44957"/>
                </a:lnTo>
                <a:lnTo>
                  <a:pt x="17888" y="44957"/>
                </a:lnTo>
                <a:lnTo>
                  <a:pt x="85598" y="5461"/>
                </a:lnTo>
                <a:lnTo>
                  <a:pt x="86106" y="3555"/>
                </a:lnTo>
                <a:lnTo>
                  <a:pt x="84328" y="507"/>
                </a:lnTo>
                <a:lnTo>
                  <a:pt x="82423" y="0"/>
                </a:lnTo>
                <a:close/>
              </a:path>
              <a:path w="825500" h="96519">
                <a:moveTo>
                  <a:pt x="17888" y="44957"/>
                </a:moveTo>
                <a:lnTo>
                  <a:pt x="6223" y="44957"/>
                </a:lnTo>
                <a:lnTo>
                  <a:pt x="6223" y="51307"/>
                </a:lnTo>
                <a:lnTo>
                  <a:pt x="18106" y="51307"/>
                </a:lnTo>
                <a:lnTo>
                  <a:pt x="17235" y="50800"/>
                </a:lnTo>
                <a:lnTo>
                  <a:pt x="7874" y="50800"/>
                </a:lnTo>
                <a:lnTo>
                  <a:pt x="7874" y="45338"/>
                </a:lnTo>
                <a:lnTo>
                  <a:pt x="17235" y="45338"/>
                </a:lnTo>
                <a:lnTo>
                  <a:pt x="17888" y="44957"/>
                </a:lnTo>
                <a:close/>
              </a:path>
              <a:path w="825500" h="96519">
                <a:moveTo>
                  <a:pt x="824992" y="44957"/>
                </a:moveTo>
                <a:lnTo>
                  <a:pt x="17888" y="44957"/>
                </a:lnTo>
                <a:lnTo>
                  <a:pt x="12554" y="48069"/>
                </a:lnTo>
                <a:lnTo>
                  <a:pt x="18106" y="51307"/>
                </a:lnTo>
                <a:lnTo>
                  <a:pt x="824992" y="51307"/>
                </a:lnTo>
                <a:lnTo>
                  <a:pt x="824992" y="44957"/>
                </a:lnTo>
                <a:close/>
              </a:path>
              <a:path w="825500" h="96519">
                <a:moveTo>
                  <a:pt x="7874" y="45338"/>
                </a:moveTo>
                <a:lnTo>
                  <a:pt x="7874" y="50800"/>
                </a:lnTo>
                <a:lnTo>
                  <a:pt x="12554" y="48069"/>
                </a:lnTo>
                <a:lnTo>
                  <a:pt x="7874" y="45338"/>
                </a:lnTo>
                <a:close/>
              </a:path>
              <a:path w="825500" h="96519">
                <a:moveTo>
                  <a:pt x="12554" y="48069"/>
                </a:moveTo>
                <a:lnTo>
                  <a:pt x="7874" y="50800"/>
                </a:lnTo>
                <a:lnTo>
                  <a:pt x="17235" y="50800"/>
                </a:lnTo>
                <a:lnTo>
                  <a:pt x="12554" y="48069"/>
                </a:lnTo>
                <a:close/>
              </a:path>
              <a:path w="825500" h="96519">
                <a:moveTo>
                  <a:pt x="17235" y="45338"/>
                </a:moveTo>
                <a:lnTo>
                  <a:pt x="7874" y="45338"/>
                </a:lnTo>
                <a:lnTo>
                  <a:pt x="12554" y="48069"/>
                </a:lnTo>
                <a:lnTo>
                  <a:pt x="17235" y="4533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/>
          <p:cNvSpPr txBox="1"/>
          <p:nvPr/>
        </p:nvSpPr>
        <p:spPr>
          <a:xfrm>
            <a:off x="10253980" y="2174516"/>
            <a:ext cx="1176020" cy="36639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80"/>
              </a:spcBef>
            </a:pPr>
            <a:r>
              <a:rPr sz="1350" spc="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标题标</a:t>
            </a:r>
            <a:r>
              <a:rPr sz="1350" spc="35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签</a:t>
            </a:r>
            <a:r>
              <a:rPr sz="135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h4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7"/>
          <p:cNvSpPr/>
          <p:nvPr/>
        </p:nvSpPr>
        <p:spPr>
          <a:xfrm>
            <a:off x="5922138" y="2309543"/>
            <a:ext cx="4331970" cy="96520"/>
          </a:xfrm>
          <a:custGeom>
            <a:avLst/>
            <a:gdLst/>
            <a:ahLst/>
            <a:cxnLst/>
            <a:rect l="l" t="t" r="r" b="b"/>
            <a:pathLst>
              <a:path w="4331970" h="96519">
                <a:moveTo>
                  <a:pt x="82295" y="0"/>
                </a:moveTo>
                <a:lnTo>
                  <a:pt x="80898" y="888"/>
                </a:lnTo>
                <a:lnTo>
                  <a:pt x="0" y="48006"/>
                </a:lnTo>
                <a:lnTo>
                  <a:pt x="80898" y="95250"/>
                </a:lnTo>
                <a:lnTo>
                  <a:pt x="82295" y="96138"/>
                </a:lnTo>
                <a:lnTo>
                  <a:pt x="84327" y="95631"/>
                </a:lnTo>
                <a:lnTo>
                  <a:pt x="86106" y="92582"/>
                </a:lnTo>
                <a:lnTo>
                  <a:pt x="85597" y="90677"/>
                </a:lnTo>
                <a:lnTo>
                  <a:pt x="17888" y="51181"/>
                </a:lnTo>
                <a:lnTo>
                  <a:pt x="6095" y="51181"/>
                </a:lnTo>
                <a:lnTo>
                  <a:pt x="6095" y="44831"/>
                </a:lnTo>
                <a:lnTo>
                  <a:pt x="18106" y="44831"/>
                </a:lnTo>
                <a:lnTo>
                  <a:pt x="85597" y="5460"/>
                </a:lnTo>
                <a:lnTo>
                  <a:pt x="86106" y="3556"/>
                </a:lnTo>
                <a:lnTo>
                  <a:pt x="84327" y="507"/>
                </a:lnTo>
                <a:lnTo>
                  <a:pt x="82295" y="0"/>
                </a:lnTo>
                <a:close/>
              </a:path>
              <a:path w="4331970" h="96519">
                <a:moveTo>
                  <a:pt x="18106" y="44831"/>
                </a:moveTo>
                <a:lnTo>
                  <a:pt x="6095" y="44831"/>
                </a:lnTo>
                <a:lnTo>
                  <a:pt x="6095" y="51181"/>
                </a:lnTo>
                <a:lnTo>
                  <a:pt x="17888" y="51181"/>
                </a:lnTo>
                <a:lnTo>
                  <a:pt x="17235" y="50800"/>
                </a:lnTo>
                <a:lnTo>
                  <a:pt x="7873" y="50800"/>
                </a:lnTo>
                <a:lnTo>
                  <a:pt x="7873" y="45338"/>
                </a:lnTo>
                <a:lnTo>
                  <a:pt x="17235" y="45338"/>
                </a:lnTo>
                <a:lnTo>
                  <a:pt x="18106" y="44831"/>
                </a:lnTo>
                <a:close/>
              </a:path>
              <a:path w="4331970" h="96519">
                <a:moveTo>
                  <a:pt x="4331843" y="44831"/>
                </a:moveTo>
                <a:lnTo>
                  <a:pt x="18106" y="44831"/>
                </a:lnTo>
                <a:lnTo>
                  <a:pt x="12554" y="48069"/>
                </a:lnTo>
                <a:lnTo>
                  <a:pt x="17888" y="51181"/>
                </a:lnTo>
                <a:lnTo>
                  <a:pt x="4331843" y="51181"/>
                </a:lnTo>
                <a:lnTo>
                  <a:pt x="4331843" y="44831"/>
                </a:lnTo>
                <a:close/>
              </a:path>
              <a:path w="4331970" h="96519">
                <a:moveTo>
                  <a:pt x="7873" y="45338"/>
                </a:moveTo>
                <a:lnTo>
                  <a:pt x="7873" y="50800"/>
                </a:lnTo>
                <a:lnTo>
                  <a:pt x="12554" y="48069"/>
                </a:lnTo>
                <a:lnTo>
                  <a:pt x="7873" y="45338"/>
                </a:lnTo>
                <a:close/>
              </a:path>
              <a:path w="4331970" h="96519">
                <a:moveTo>
                  <a:pt x="12554" y="48069"/>
                </a:moveTo>
                <a:lnTo>
                  <a:pt x="7873" y="50800"/>
                </a:lnTo>
                <a:lnTo>
                  <a:pt x="17235" y="50800"/>
                </a:lnTo>
                <a:lnTo>
                  <a:pt x="12554" y="48069"/>
                </a:lnTo>
                <a:close/>
              </a:path>
              <a:path w="4331970" h="96519">
                <a:moveTo>
                  <a:pt x="17235" y="45338"/>
                </a:moveTo>
                <a:lnTo>
                  <a:pt x="7873" y="45338"/>
                </a:lnTo>
                <a:lnTo>
                  <a:pt x="12554" y="48069"/>
                </a:lnTo>
                <a:lnTo>
                  <a:pt x="17235" y="45338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/>
          <p:cNvSpPr txBox="1"/>
          <p:nvPr/>
        </p:nvSpPr>
        <p:spPr>
          <a:xfrm>
            <a:off x="10319047" y="3226041"/>
            <a:ext cx="1176020" cy="36639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585"/>
              </a:spcBef>
            </a:pPr>
            <a:r>
              <a:rPr sz="1350" spc="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段落标</a:t>
            </a:r>
            <a:r>
              <a:rPr sz="1350" spc="2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签</a:t>
            </a:r>
            <a:r>
              <a:rPr sz="1350" spc="-36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35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9"/>
          <p:cNvSpPr/>
          <p:nvPr/>
        </p:nvSpPr>
        <p:spPr>
          <a:xfrm>
            <a:off x="9650647" y="3360940"/>
            <a:ext cx="668655" cy="96520"/>
          </a:xfrm>
          <a:custGeom>
            <a:avLst/>
            <a:gdLst/>
            <a:ahLst/>
            <a:cxnLst/>
            <a:rect l="l" t="t" r="r" b="b"/>
            <a:pathLst>
              <a:path w="668654" h="96520">
                <a:moveTo>
                  <a:pt x="82423" y="0"/>
                </a:moveTo>
                <a:lnTo>
                  <a:pt x="0" y="48133"/>
                </a:lnTo>
                <a:lnTo>
                  <a:pt x="82423" y="96266"/>
                </a:lnTo>
                <a:lnTo>
                  <a:pt x="84454" y="95631"/>
                </a:lnTo>
                <a:lnTo>
                  <a:pt x="85343" y="94234"/>
                </a:lnTo>
                <a:lnTo>
                  <a:pt x="86232" y="92710"/>
                </a:lnTo>
                <a:lnTo>
                  <a:pt x="85598" y="90678"/>
                </a:lnTo>
                <a:lnTo>
                  <a:pt x="84200" y="89789"/>
                </a:lnTo>
                <a:lnTo>
                  <a:pt x="18233" y="51308"/>
                </a:lnTo>
                <a:lnTo>
                  <a:pt x="6350" y="51308"/>
                </a:lnTo>
                <a:lnTo>
                  <a:pt x="6350" y="44958"/>
                </a:lnTo>
                <a:lnTo>
                  <a:pt x="18233" y="44958"/>
                </a:lnTo>
                <a:lnTo>
                  <a:pt x="84200" y="6477"/>
                </a:lnTo>
                <a:lnTo>
                  <a:pt x="85598" y="5588"/>
                </a:lnTo>
                <a:lnTo>
                  <a:pt x="86232" y="3556"/>
                </a:lnTo>
                <a:lnTo>
                  <a:pt x="84454" y="508"/>
                </a:lnTo>
                <a:lnTo>
                  <a:pt x="82423" y="0"/>
                </a:lnTo>
                <a:close/>
              </a:path>
              <a:path w="668654" h="96520">
                <a:moveTo>
                  <a:pt x="18233" y="44958"/>
                </a:moveTo>
                <a:lnTo>
                  <a:pt x="6350" y="44958"/>
                </a:lnTo>
                <a:lnTo>
                  <a:pt x="6350" y="51308"/>
                </a:lnTo>
                <a:lnTo>
                  <a:pt x="18233" y="51308"/>
                </a:lnTo>
                <a:lnTo>
                  <a:pt x="17580" y="50927"/>
                </a:lnTo>
                <a:lnTo>
                  <a:pt x="8000" y="50927"/>
                </a:lnTo>
                <a:lnTo>
                  <a:pt x="8000" y="45339"/>
                </a:lnTo>
                <a:lnTo>
                  <a:pt x="17580" y="45339"/>
                </a:lnTo>
                <a:lnTo>
                  <a:pt x="18233" y="44958"/>
                </a:lnTo>
                <a:close/>
              </a:path>
              <a:path w="668654" h="96520">
                <a:moveTo>
                  <a:pt x="668401" y="44958"/>
                </a:moveTo>
                <a:lnTo>
                  <a:pt x="18233" y="44958"/>
                </a:lnTo>
                <a:lnTo>
                  <a:pt x="12790" y="48133"/>
                </a:lnTo>
                <a:lnTo>
                  <a:pt x="18233" y="51308"/>
                </a:lnTo>
                <a:lnTo>
                  <a:pt x="668401" y="51308"/>
                </a:lnTo>
                <a:lnTo>
                  <a:pt x="668401" y="44958"/>
                </a:lnTo>
                <a:close/>
              </a:path>
              <a:path w="668654" h="96520">
                <a:moveTo>
                  <a:pt x="8000" y="45339"/>
                </a:moveTo>
                <a:lnTo>
                  <a:pt x="8000" y="50927"/>
                </a:lnTo>
                <a:lnTo>
                  <a:pt x="12790" y="48133"/>
                </a:lnTo>
                <a:lnTo>
                  <a:pt x="8000" y="45339"/>
                </a:lnTo>
                <a:close/>
              </a:path>
              <a:path w="668654" h="96520">
                <a:moveTo>
                  <a:pt x="12790" y="48133"/>
                </a:moveTo>
                <a:lnTo>
                  <a:pt x="8000" y="50927"/>
                </a:lnTo>
                <a:lnTo>
                  <a:pt x="17580" y="50927"/>
                </a:lnTo>
                <a:lnTo>
                  <a:pt x="12790" y="48133"/>
                </a:lnTo>
                <a:close/>
              </a:path>
              <a:path w="668654" h="96520">
                <a:moveTo>
                  <a:pt x="17580" y="45339"/>
                </a:moveTo>
                <a:lnTo>
                  <a:pt x="8000" y="45339"/>
                </a:lnTo>
                <a:lnTo>
                  <a:pt x="12790" y="48133"/>
                </a:lnTo>
                <a:lnTo>
                  <a:pt x="17580" y="4533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/>
          <p:cNvSpPr txBox="1"/>
          <p:nvPr/>
        </p:nvSpPr>
        <p:spPr>
          <a:xfrm>
            <a:off x="10319047" y="4706131"/>
            <a:ext cx="1176020" cy="36639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585"/>
              </a:spcBef>
            </a:pPr>
            <a:r>
              <a:rPr sz="1350" spc="15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换行标</a:t>
            </a:r>
            <a:r>
              <a:rPr sz="1350" spc="350" dirty="0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签</a:t>
            </a:r>
            <a:r>
              <a:rPr sz="135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br</a:t>
            </a:r>
            <a:endParaRPr sz="135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1"/>
          <p:cNvSpPr/>
          <p:nvPr/>
        </p:nvSpPr>
        <p:spPr>
          <a:xfrm>
            <a:off x="5163102" y="4841069"/>
            <a:ext cx="5156200" cy="96520"/>
          </a:xfrm>
          <a:custGeom>
            <a:avLst/>
            <a:gdLst/>
            <a:ahLst/>
            <a:cxnLst/>
            <a:rect l="l" t="t" r="r" b="b"/>
            <a:pathLst>
              <a:path w="5156200" h="96520">
                <a:moveTo>
                  <a:pt x="82422" y="0"/>
                </a:moveTo>
                <a:lnTo>
                  <a:pt x="0" y="48069"/>
                </a:lnTo>
                <a:lnTo>
                  <a:pt x="82422" y="96151"/>
                </a:lnTo>
                <a:lnTo>
                  <a:pt x="84328" y="95631"/>
                </a:lnTo>
                <a:lnTo>
                  <a:pt x="86105" y="92608"/>
                </a:lnTo>
                <a:lnTo>
                  <a:pt x="85597" y="90665"/>
                </a:lnTo>
                <a:lnTo>
                  <a:pt x="18019" y="51244"/>
                </a:lnTo>
                <a:lnTo>
                  <a:pt x="5841" y="51244"/>
                </a:lnTo>
                <a:lnTo>
                  <a:pt x="5841" y="44894"/>
                </a:lnTo>
                <a:lnTo>
                  <a:pt x="18019" y="44894"/>
                </a:lnTo>
                <a:lnTo>
                  <a:pt x="85597" y="5473"/>
                </a:lnTo>
                <a:lnTo>
                  <a:pt x="86105" y="3530"/>
                </a:lnTo>
                <a:lnTo>
                  <a:pt x="84328" y="508"/>
                </a:lnTo>
                <a:lnTo>
                  <a:pt x="82422" y="0"/>
                </a:lnTo>
                <a:close/>
              </a:path>
              <a:path w="5156200" h="96520">
                <a:moveTo>
                  <a:pt x="18019" y="44894"/>
                </a:moveTo>
                <a:lnTo>
                  <a:pt x="5841" y="44894"/>
                </a:lnTo>
                <a:lnTo>
                  <a:pt x="5841" y="51244"/>
                </a:lnTo>
                <a:lnTo>
                  <a:pt x="18019" y="51244"/>
                </a:lnTo>
                <a:lnTo>
                  <a:pt x="17279" y="50812"/>
                </a:lnTo>
                <a:lnTo>
                  <a:pt x="7874" y="50812"/>
                </a:lnTo>
                <a:lnTo>
                  <a:pt x="7874" y="45326"/>
                </a:lnTo>
                <a:lnTo>
                  <a:pt x="17279" y="45326"/>
                </a:lnTo>
                <a:lnTo>
                  <a:pt x="18019" y="44894"/>
                </a:lnTo>
                <a:close/>
              </a:path>
              <a:path w="5156200" h="96520">
                <a:moveTo>
                  <a:pt x="5155819" y="44894"/>
                </a:moveTo>
                <a:lnTo>
                  <a:pt x="18019" y="44894"/>
                </a:lnTo>
                <a:lnTo>
                  <a:pt x="12576" y="48069"/>
                </a:lnTo>
                <a:lnTo>
                  <a:pt x="18019" y="51244"/>
                </a:lnTo>
                <a:lnTo>
                  <a:pt x="5155819" y="51244"/>
                </a:lnTo>
                <a:lnTo>
                  <a:pt x="5155819" y="44894"/>
                </a:lnTo>
                <a:close/>
              </a:path>
              <a:path w="5156200" h="96520">
                <a:moveTo>
                  <a:pt x="7874" y="45326"/>
                </a:moveTo>
                <a:lnTo>
                  <a:pt x="7874" y="50812"/>
                </a:lnTo>
                <a:lnTo>
                  <a:pt x="12576" y="48069"/>
                </a:lnTo>
                <a:lnTo>
                  <a:pt x="7874" y="45326"/>
                </a:lnTo>
                <a:close/>
              </a:path>
              <a:path w="5156200" h="96520">
                <a:moveTo>
                  <a:pt x="12576" y="48069"/>
                </a:moveTo>
                <a:lnTo>
                  <a:pt x="7874" y="50812"/>
                </a:lnTo>
                <a:lnTo>
                  <a:pt x="17279" y="50812"/>
                </a:lnTo>
                <a:lnTo>
                  <a:pt x="12576" y="48069"/>
                </a:lnTo>
                <a:close/>
              </a:path>
              <a:path w="5156200" h="96520">
                <a:moveTo>
                  <a:pt x="17279" y="45326"/>
                </a:moveTo>
                <a:lnTo>
                  <a:pt x="7874" y="45326"/>
                </a:lnTo>
                <a:lnTo>
                  <a:pt x="12576" y="48069"/>
                </a:lnTo>
                <a:lnTo>
                  <a:pt x="17279" y="4532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/>
          <p:cNvSpPr txBox="1"/>
          <p:nvPr/>
        </p:nvSpPr>
        <p:spPr>
          <a:xfrm>
            <a:off x="1371598" y="325220"/>
            <a:ext cx="4034791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课堂案例：体育新闻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788670" y="357653"/>
            <a:ext cx="359782" cy="3827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7368-E1E0-C483-9E2E-6DC99C9E5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CB5F77-1ABC-B8F0-82DF-19E2C96A8304}"/>
              </a:ext>
            </a:extLst>
          </p:cNvPr>
          <p:cNvSpPr txBox="1"/>
          <p:nvPr/>
        </p:nvSpPr>
        <p:spPr>
          <a:xfrm>
            <a:off x="1026954" y="576960"/>
            <a:ext cx="1069848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9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想一想</a:t>
            </a:r>
            <a:endParaRPr sz="2900" b="1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09851-8706-BB98-A519-1F83DE46EF45}"/>
              </a:ext>
            </a:extLst>
          </p:cNvPr>
          <p:cNvSpPr/>
          <p:nvPr/>
        </p:nvSpPr>
        <p:spPr>
          <a:xfrm>
            <a:off x="1026954" y="1115568"/>
            <a:ext cx="1056132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A9BC8-3D3E-53B4-9AA4-8947D6483EA8}"/>
              </a:ext>
            </a:extLst>
          </p:cNvPr>
          <p:cNvSpPr txBox="1"/>
          <p:nvPr/>
        </p:nvSpPr>
        <p:spPr>
          <a:xfrm>
            <a:off x="1072674" y="1371901"/>
            <a:ext cx="9090829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） 一个网页可以写多个</a:t>
            </a:r>
            <a:r>
              <a:rPr lang="en-US" altLang="zh-CN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&lt;h1&gt;</a:t>
            </a: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吗？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lang="en-US" altLang="zh-CN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&lt;p&gt;</a:t>
            </a: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标签会自动换行吗？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） </a:t>
            </a:r>
            <a:r>
              <a:rPr lang="en-US" altLang="zh-CN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h1 </a:t>
            </a: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和 </a:t>
            </a:r>
            <a:r>
              <a:rPr lang="en-US" altLang="zh-CN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h6 </a:t>
            </a:r>
            <a:r>
              <a:rPr lang="zh-CN" altLang="en-US" sz="28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哪一个字体更大？</a:t>
            </a:r>
          </a:p>
        </p:txBody>
      </p:sp>
    </p:spTree>
    <p:extLst>
      <p:ext uri="{BB962C8B-B14F-4D97-AF65-F5344CB8AC3E}">
        <p14:creationId xmlns:p14="http://schemas.microsoft.com/office/powerpoint/2010/main" val="2054617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段落、换行标签和水平线（重要）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2312" y="3363694"/>
            <a:ext cx="11527740" cy="32721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50000"/>
              </a:lnSpc>
            </a:pP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单词</a:t>
            </a:r>
            <a:r>
              <a:rPr sz="2400" spc="-1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sz="2400" spc="-2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的缩写，意为打断</a:t>
            </a:r>
            <a:r>
              <a:rPr sz="2400" spc="-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sz="24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换</a:t>
            </a:r>
            <a:r>
              <a:rPr sz="24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ct val="150000"/>
              </a:lnSpc>
            </a:pPr>
            <a:r>
              <a:rPr sz="2400" spc="5" dirty="0" err="1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标签语义：</a:t>
            </a:r>
            <a:r>
              <a:rPr sz="24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强</a:t>
            </a:r>
            <a:r>
              <a:rPr sz="24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制</a:t>
            </a:r>
            <a:r>
              <a:rPr sz="24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换</a:t>
            </a:r>
            <a:r>
              <a:rPr sz="2400" spc="-10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ct val="150000"/>
              </a:lnSpc>
            </a:pPr>
            <a:r>
              <a:rPr sz="2400" b="1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特点：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61925" indent="-149860">
              <a:lnSpc>
                <a:spcPct val="150000"/>
              </a:lnSpc>
              <a:buAutoNum type="arabicPeriod"/>
              <a:tabLst>
                <a:tab pos="162560" algn="l"/>
              </a:tabLst>
            </a:pPr>
            <a:r>
              <a:rPr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&lt;br</a:t>
            </a:r>
            <a:r>
              <a:rPr sz="2400" spc="-1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/&gt;</a:t>
            </a:r>
            <a:r>
              <a:rPr sz="2400" spc="-1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5" dirty="0" err="1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是个单标签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61925" indent="-149860">
              <a:lnSpc>
                <a:spcPct val="150000"/>
              </a:lnSpc>
              <a:buAutoNum type="arabicPeriod"/>
              <a:tabLst>
                <a:tab pos="162560" algn="l"/>
              </a:tabLst>
            </a:pPr>
            <a:r>
              <a:rPr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&lt;br</a:t>
            </a:r>
            <a:r>
              <a:rPr sz="2400" spc="-3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/&gt;</a:t>
            </a:r>
            <a:r>
              <a:rPr sz="2400" spc="-3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标签只是简单地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开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始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新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跟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段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落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不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样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段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落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之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间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会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插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入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些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垂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400" spc="-1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间</a:t>
            </a:r>
            <a:r>
              <a:rPr sz="2400" spc="5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距。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4"/>
          <p:cNvSpPr/>
          <p:nvPr/>
        </p:nvSpPr>
        <p:spPr>
          <a:xfrm>
            <a:off x="742302" y="2636619"/>
            <a:ext cx="6456045" cy="532765"/>
          </a:xfrm>
          <a:custGeom>
            <a:avLst/>
            <a:gdLst/>
            <a:ahLst/>
            <a:cxnLst/>
            <a:rect l="l" t="t" r="r" b="b"/>
            <a:pathLst>
              <a:path w="6456045" h="532764">
                <a:moveTo>
                  <a:pt x="0" y="532765"/>
                </a:moveTo>
                <a:lnTo>
                  <a:pt x="6456045" y="532765"/>
                </a:lnTo>
                <a:lnTo>
                  <a:pt x="6456045" y="0"/>
                </a:lnTo>
                <a:lnTo>
                  <a:pt x="0" y="0"/>
                </a:lnTo>
                <a:lnTo>
                  <a:pt x="0" y="532765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250190">
              <a:lnSpc>
                <a:spcPct val="100000"/>
              </a:lnSpc>
            </a:pPr>
            <a:r>
              <a:rPr lang="en-US" altLang="zh-CN" sz="24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&lt;br /&gt;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742302" y="1225934"/>
            <a:ext cx="11527740" cy="1061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" marR="86360">
              <a:lnSpc>
                <a:spcPct val="151000"/>
              </a:lnSpc>
              <a:spcBef>
                <a:spcPts val="95"/>
              </a:spcBef>
            </a:pP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sz="2400" spc="-2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sz="2400" spc="-4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中，一个段落中的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字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会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左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右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依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次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排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浏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览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器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窗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口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右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端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然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后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才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自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动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换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果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希望 某段文本强制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换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显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就需</a:t>
            </a:r>
            <a:r>
              <a:rPr sz="2400" spc="-10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要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</a:t>
            </a:r>
            <a:r>
              <a:rPr sz="2400" spc="-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sz="24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换</a:t>
            </a:r>
            <a:r>
              <a:rPr sz="2400" spc="-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r>
              <a:rPr sz="24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标签</a:t>
            </a:r>
            <a:r>
              <a:rPr sz="2400" spc="-5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&lt;</a:t>
            </a:r>
            <a:r>
              <a:rPr sz="2400" dirty="0" err="1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br</a:t>
            </a:r>
            <a:r>
              <a:rPr sz="2400" spc="-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/&gt;</a:t>
            </a:r>
            <a:r>
              <a:rPr sz="24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段落、换行标签和水平线（重要）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036" y="2906833"/>
            <a:ext cx="11527740" cy="27252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zh-CN" altLang="en-US" sz="2400" b="1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r>
              <a:rPr sz="2400" b="1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sz="2400" b="1" dirty="0">
              <a:solidFill>
                <a:srgbClr val="252525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ct val="150000"/>
              </a:lnSpc>
            </a:pPr>
            <a:r>
              <a:rPr 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color: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设置水平线的颜色</a:t>
            </a:r>
            <a:endParaRPr lang="en-US" altLang="zh-CN" sz="2400" dirty="0">
              <a:solidFill>
                <a:srgbClr val="252525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ct val="150000"/>
              </a:lnSpc>
            </a:pPr>
            <a:r>
              <a:rPr 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Width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：设置水平线的长度</a:t>
            </a:r>
            <a:endParaRPr lang="en-US" altLang="zh-CN" sz="2400" dirty="0">
              <a:solidFill>
                <a:srgbClr val="252525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ct val="150000"/>
              </a:lnSpc>
            </a:pPr>
            <a:r>
              <a:rPr 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size: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设置水平线的高度</a:t>
            </a:r>
            <a:endParaRPr lang="en-US" altLang="zh-CN" sz="2400" dirty="0">
              <a:solidFill>
                <a:srgbClr val="252525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ct val="150000"/>
              </a:lnSpc>
            </a:pPr>
            <a:r>
              <a:rPr 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algin: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设置水平线的对齐方式（默认居中），可取值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left  right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4"/>
          <p:cNvSpPr/>
          <p:nvPr/>
        </p:nvSpPr>
        <p:spPr>
          <a:xfrm>
            <a:off x="742302" y="2177996"/>
            <a:ext cx="7988339" cy="510782"/>
          </a:xfrm>
          <a:custGeom>
            <a:avLst/>
            <a:gdLst/>
            <a:ahLst/>
            <a:cxnLst/>
            <a:rect l="l" t="t" r="r" b="b"/>
            <a:pathLst>
              <a:path w="6456045" h="532764">
                <a:moveTo>
                  <a:pt x="0" y="532765"/>
                </a:moveTo>
                <a:lnTo>
                  <a:pt x="6456045" y="532765"/>
                </a:lnTo>
                <a:lnTo>
                  <a:pt x="6456045" y="0"/>
                </a:lnTo>
                <a:lnTo>
                  <a:pt x="0" y="0"/>
                </a:lnTo>
                <a:lnTo>
                  <a:pt x="0" y="532765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250190">
              <a:lnSpc>
                <a:spcPct val="100000"/>
              </a:lnSpc>
            </a:pPr>
            <a:r>
              <a:rPr lang="en-US" altLang="zh-CN"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 &lt;</a:t>
            </a:r>
            <a:r>
              <a:rPr lang="en-US" altLang="zh-CN" sz="2400" spc="-5" dirty="0" err="1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hr</a:t>
            </a:r>
            <a:r>
              <a:rPr lang="en-US" altLang="zh-CN"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  color=“” width=“” size=“” align=“”/&gt;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742302" y="1225934"/>
            <a:ext cx="11527740" cy="5938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" marR="86360">
              <a:lnSpc>
                <a:spcPct val="151000"/>
              </a:lnSpc>
              <a:spcBef>
                <a:spcPts val="95"/>
              </a:spcBef>
            </a:pPr>
            <a:r>
              <a:rPr lang="en-US" sz="28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&lt;</a:t>
            </a:r>
            <a:r>
              <a:rPr lang="en-US" sz="2800" spc="5" dirty="0" err="1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hr</a:t>
            </a:r>
            <a:r>
              <a:rPr lang="en-US" sz="2800" spc="5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/&gt;</a:t>
            </a:r>
            <a:r>
              <a:rPr lang="zh-CN" altLang="en-US" sz="28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标签在</a:t>
            </a:r>
            <a:r>
              <a:rPr lang="en-US" altLang="zh-CN" sz="28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HTML</a:t>
            </a:r>
            <a:r>
              <a:rPr lang="zh-CN" altLang="en-US" sz="2800" spc="5" dirty="0">
                <a:solidFill>
                  <a:srgbClr val="333333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页面中创建水平线</a:t>
            </a:r>
            <a:endParaRPr sz="28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954" y="576960"/>
            <a:ext cx="1069848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9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练一练</a:t>
            </a:r>
            <a:endParaRPr sz="2900" b="1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6954" y="1115568"/>
            <a:ext cx="10561320" cy="317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2674" y="1371901"/>
            <a:ext cx="10469880" cy="3912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新建 </a:t>
            </a:r>
            <a:r>
              <a:rPr lang="en-US" altLang="zh-CN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html </a:t>
            </a:r>
            <a:r>
              <a:rPr lang="zh-CN" altLang="en-US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页面，完成下面需求：我的个人简介</a:t>
            </a:r>
            <a:endParaRPr lang="en-US" altLang="zh-CN" sz="2100" b="1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(1)  </a:t>
            </a:r>
            <a:r>
              <a:rPr lang="zh-CN" altLang="en-US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我的爱好</a:t>
            </a: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(2)  </a:t>
            </a:r>
            <a:r>
              <a:rPr lang="zh-CN" altLang="en-US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写一段介绍自己的文字</a:t>
            </a: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(3) </a:t>
            </a:r>
            <a:r>
              <a:rPr lang="zh-CN" altLang="en-US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喜欢的书籍</a:t>
            </a:r>
            <a:endParaRPr lang="en-US" altLang="zh-CN" sz="2100" b="1" dirty="0"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(4) </a:t>
            </a:r>
            <a:r>
              <a:rPr lang="zh-CN" altLang="en-US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写一段描述书籍的文字</a:t>
            </a: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(5) </a:t>
            </a:r>
            <a:r>
              <a:rPr lang="zh-CN" altLang="en-US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日常计划</a:t>
            </a: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(6)</a:t>
            </a:r>
            <a:r>
              <a:rPr lang="zh-CN" altLang="en-US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写一段日常安排文字</a:t>
            </a:r>
          </a:p>
          <a:p>
            <a:pPr>
              <a:lnSpc>
                <a:spcPct val="150000"/>
              </a:lnSpc>
            </a:pPr>
            <a:r>
              <a:rPr lang="zh-CN" altLang="en-US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✅要求：标签成对书写，不要漏写结束标签 </a:t>
            </a:r>
            <a:r>
              <a:rPr lang="en-US" altLang="zh-CN" sz="2100" b="1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&lt;/h1&gt; &lt;/p&gt;</a:t>
            </a:r>
          </a:p>
        </p:txBody>
      </p:sp>
    </p:spTree>
    <p:extLst>
      <p:ext uri="{BB962C8B-B14F-4D97-AF65-F5344CB8AC3E}">
        <p14:creationId xmlns:p14="http://schemas.microsoft.com/office/powerpoint/2010/main" val="2704223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文本格式化标签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2376" y="1227228"/>
            <a:ext cx="11658600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HTML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中，有时需要为文字设置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粗体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、</a:t>
            </a:r>
            <a:r>
              <a:rPr lang="zh-CN" altLang="en-US" sz="28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斜体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或</a:t>
            </a:r>
            <a:r>
              <a:rPr lang="zh-CN" altLang="en-US" sz="28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下划线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等效果，这时就需要用到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HTML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中的文本格式化标签，使文字以特殊的方式显示。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5612" y="2613373"/>
            <a:ext cx="11234459" cy="672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标签语义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突出重要性，比普通文字更重要。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48" y="4234436"/>
            <a:ext cx="11674280" cy="105149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95612" y="3484427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例图：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文本格式化标签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09245" y="1405890"/>
            <a:ext cx="7713980" cy="2348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&lt;b&gt;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&lt;/b&gt;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	 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&lt;strong&gt;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&lt;/strong&gt;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</a:t>
            </a:r>
            <a:r>
              <a:rPr lang="en-US" altLang="zh-CN" sz="2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加重语气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fontAlgn="auto"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fontAlgn="auto"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995" y="1315085"/>
            <a:ext cx="3648075" cy="13049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1955" y="3754755"/>
            <a:ext cx="71882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 algn="l"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&lt;i&gt;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&lt;/i&gt;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	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斜体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&lt;em&gt;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&lt;/em&gt;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   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语义更强烈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995" y="3754755"/>
            <a:ext cx="3648075" cy="1238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4" grpId="0"/>
      <p:bldP spid="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文本格式化标签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1165" y="1159510"/>
            <a:ext cx="771398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&lt;s&gt;…….&lt;/s&gt;           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删除线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fontAlgn="auto">
              <a:lnSpc>
                <a:spcPct val="125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* 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&lt;del&gt;……&lt;/del&gt;            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语义更强烈</a:t>
            </a:r>
          </a:p>
          <a:p>
            <a:pPr lvl="1" indent="0" fontAlgn="auto"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fontAlgn="auto"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5010" y="2602865"/>
            <a:ext cx="714565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 algn="l"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&lt;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&lt;/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下划线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>
              <a:lnSpc>
                <a:spcPct val="125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……&lt;/ins&gt;		       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语义更强烈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225" y="4212590"/>
            <a:ext cx="5229860" cy="1920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文本格式化标签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63525" y="1282700"/>
            <a:ext cx="771398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&lt;sup&gt;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&lt;/sup&gt;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上标文本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fontAlgn="auto">
              <a:lnSpc>
                <a:spcPct val="125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&lt;sub&gt;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&lt;/sub&gt;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下标文本</a:t>
            </a:r>
          </a:p>
          <a:p>
            <a:pPr lvl="1" indent="0" fontAlgn="auto">
              <a:lnSpc>
                <a:spcPct val="125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520" y="3169285"/>
            <a:ext cx="4185920" cy="2523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6522" y="392545"/>
            <a:ext cx="522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1——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文本格式化标签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16EAF85-9753-D485-23A5-E032EE869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22" y="1467917"/>
            <a:ext cx="11839972" cy="2518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图像标签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72881" y="877076"/>
            <a:ext cx="11250182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图像标签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标签用于定义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页面中的图像。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73365" y="3451510"/>
            <a:ext cx="11234459" cy="131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的缩写，意为图像。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img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必须属性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，它用于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指定图像文件的路径和文件名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565" y="2635217"/>
            <a:ext cx="8347844" cy="58105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73365" y="4820366"/>
            <a:ext cx="11234458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URL </a:t>
            </a:r>
            <a:r>
              <a:rPr lang="zh-CN" altLang="en-US" sz="28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指存储图像的位置，</a:t>
            </a:r>
            <a:r>
              <a:rPr lang="en-US" altLang="zh-CN" sz="28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alt </a:t>
            </a:r>
            <a:r>
              <a:rPr lang="zh-CN" altLang="en-US" sz="28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属性用来为图像定义一串预备的可替换的文本。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图像标签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7641" y="1025031"/>
            <a:ext cx="11250182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图像标签的其他属性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3"/>
          <p:cNvSpPr/>
          <p:nvPr/>
        </p:nvSpPr>
        <p:spPr>
          <a:xfrm>
            <a:off x="517459" y="1881621"/>
            <a:ext cx="11790364" cy="4079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图像标签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73364" y="1296051"/>
            <a:ext cx="11250182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图像标签注意点：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3364" y="1950493"/>
            <a:ext cx="10718165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图像标签可以拥有多个属性，必须写在标签名的后面。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属性之间不分先后顺序，标签名与属性、属性与属性之间均以空格分开。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 属性采取键值对的格式，即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key=“value”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的格式，属性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“属性值。”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3364" y="3903361"/>
            <a:ext cx="11234459" cy="1787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rPr>
              <a:t>重点掌握点：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ea typeface="+mn-lt"/>
                <a:cs typeface="+mn-lt"/>
              </a:rPr>
              <a:t>请说出 图像标签哪个属性是必须要写的？</a:t>
            </a:r>
            <a:endParaRPr lang="en-US" altLang="zh-CN" sz="2400" dirty="0">
              <a:ea typeface="+mn-lt"/>
              <a:cs typeface="+mn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ea typeface="+mn-lt"/>
                <a:cs typeface="+mn-lt"/>
              </a:rPr>
              <a:t>请说出图像标签中</a:t>
            </a:r>
            <a:r>
              <a:rPr lang="en-US" altLang="zh-CN" sz="2400" dirty="0">
                <a:ea typeface="+mn-lt"/>
                <a:cs typeface="+mn-lt"/>
              </a:rPr>
              <a:t>alt</a:t>
            </a:r>
            <a:r>
              <a:rPr lang="zh-CN" altLang="en-US" sz="2400" dirty="0">
                <a:ea typeface="+mn-lt"/>
                <a:cs typeface="+mn-lt"/>
              </a:rPr>
              <a:t>和</a:t>
            </a:r>
            <a:r>
              <a:rPr lang="en-US" altLang="zh-CN" sz="2400" dirty="0">
                <a:ea typeface="+mn-lt"/>
                <a:cs typeface="+mn-lt"/>
              </a:rPr>
              <a:t>title</a:t>
            </a:r>
            <a:r>
              <a:rPr lang="zh-CN" altLang="en-US" sz="2400" dirty="0">
                <a:ea typeface="+mn-lt"/>
                <a:cs typeface="+mn-lt"/>
              </a:rPr>
              <a:t>属性区别？</a:t>
            </a:r>
            <a:endParaRPr lang="en-US" altLang="zh-CN" sz="2800" dirty="0"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图像标签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0535" y="1144389"/>
            <a:ext cx="2289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effectLst/>
                <a:latin typeface="Helvetica Neue"/>
              </a:rPr>
              <a:t>课堂练习</a:t>
            </a:r>
            <a:endParaRPr lang="zh-CN" altLang="en-US" sz="2800" b="1" i="0" dirty="0">
              <a:solidFill>
                <a:srgbClr val="FF0000"/>
              </a:solidFill>
              <a:effectLst/>
              <a:latin typeface="Helvetica Neue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7901" r="81736" b="65679"/>
          <a:stretch>
            <a:fillRect/>
          </a:stretch>
        </p:blipFill>
        <p:spPr>
          <a:xfrm>
            <a:off x="6096000" y="1549932"/>
            <a:ext cx="5300133" cy="43126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0535" y="2768600"/>
            <a:ext cx="5604934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1.</a:t>
            </a:r>
            <a:r>
              <a:rPr lang="zh-CN" altLang="en-US" sz="2400" dirty="0"/>
              <a:t>图像宽</a:t>
            </a:r>
            <a:r>
              <a:rPr lang="en-US" altLang="zh-CN" sz="2400" dirty="0"/>
              <a:t>300</a:t>
            </a:r>
            <a:r>
              <a:rPr lang="zh-CN" altLang="en-US" sz="2400" dirty="0"/>
              <a:t>，长</a:t>
            </a:r>
            <a:r>
              <a:rPr lang="en-US" altLang="zh-CN" sz="2400" dirty="0"/>
              <a:t>200px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2.</a:t>
            </a:r>
            <a:r>
              <a:rPr lang="zh-CN" altLang="en-US" sz="2400" dirty="0"/>
              <a:t>当鼠标放上图片时，显示“红旗飘扬”文字；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B71D5-5414-E311-FD78-9651CA82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0915C9-57A8-CE9B-95FF-5082BFCE28EA}"/>
              </a:ext>
            </a:extLst>
          </p:cNvPr>
          <p:cNvSpPr txBox="1"/>
          <p:nvPr/>
        </p:nvSpPr>
        <p:spPr>
          <a:xfrm>
            <a:off x="517459" y="876693"/>
            <a:ext cx="10298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         课程作业提交通知（修订版网页）模拟软件工程课程发布的作业通知网页，包含文字修订痕迹、截图图片、重点提示。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F1A57AD-6234-17C8-8F12-676273CC5BAB}"/>
              </a:ext>
            </a:extLst>
          </p:cNvPr>
          <p:cNvSpPr txBox="1"/>
          <p:nvPr/>
        </p:nvSpPr>
        <p:spPr>
          <a:xfrm>
            <a:off x="517459" y="136524"/>
            <a:ext cx="7968174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练习二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课程提交作业通知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50851EE-B5E6-FFFA-0E7D-0CC712D54D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1023960" y="1858517"/>
            <a:ext cx="8616428" cy="476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3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58729" y="1317654"/>
            <a:ext cx="12082529" cy="4529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HTML</a:t>
            </a:r>
            <a:r>
              <a:rPr lang="zh-CN" altLang="en-US" sz="2800" b="1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有</a:t>
            </a:r>
            <a:r>
              <a:rPr lang="en-US" altLang="zh-CN" sz="2800" b="1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种路径的写法：绝对路径和相对路径</a:t>
            </a:r>
            <a:endParaRPr lang="en-US" altLang="zh-CN" sz="2800" b="1" dirty="0">
              <a:solidFill>
                <a:srgbClr val="000000"/>
              </a:solidFill>
              <a:latin typeface="Verdana" panose="020B0604030504040204" pitchFamily="34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1.HTML</a:t>
            </a:r>
            <a:r>
              <a:rPr lang="zh-CN" altLang="en-US" sz="2800" b="1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绝对路径</a:t>
            </a:r>
            <a:r>
              <a:rPr lang="en-US" altLang="zh-CN" sz="2800" b="1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(Absolute Path)</a:t>
            </a:r>
          </a:p>
          <a:p>
            <a:pPr algn="just" defTabSz="91440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HTML</a:t>
            </a:r>
            <a:r>
              <a:rPr lang="zh-CN" altLang="en-US" sz="2800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绝对路径</a:t>
            </a:r>
            <a:r>
              <a:rPr lang="en-US" altLang="zh-CN" sz="2800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(absolute path)</a:t>
            </a:r>
            <a:r>
              <a:rPr lang="zh-CN" altLang="en-US" sz="2800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在网页制作中指带域名的文件的完整路径，</a:t>
            </a:r>
            <a:r>
              <a:rPr lang="zh-CN" altLang="en-US" sz="2800" dirty="0">
                <a:solidFill>
                  <a:srgbClr val="FF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是电脑的盘符存储与访问的具体地址</a:t>
            </a:r>
            <a:r>
              <a:rPr lang="zh-CN" altLang="en-US" sz="2800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。</a:t>
            </a:r>
            <a:endParaRPr lang="en-US" altLang="zh-CN" sz="2800" dirty="0">
              <a:solidFill>
                <a:srgbClr val="000000"/>
              </a:solidFill>
              <a:latin typeface="Verdana" panose="020B0604030504040204" pitchFamily="34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例如：</a:t>
            </a:r>
            <a:r>
              <a:rPr lang="nn-NO" altLang="zh-CN" sz="2800" i="1" u="sng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C:\Program Files (x86)\Microsoft Office</a:t>
            </a:r>
            <a:r>
              <a:rPr lang="en-US" altLang="zh-CN" sz="2800" i="1" u="sng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\code\1.jpg</a:t>
            </a:r>
          </a:p>
          <a:p>
            <a:pPr algn="just" defTabSz="914400" latinLnBrk="1">
              <a:lnSpc>
                <a:spcPct val="150000"/>
              </a:lnSpc>
              <a:defRPr/>
            </a:pPr>
            <a:r>
              <a:rPr lang="en-US" altLang="zh-CN" sz="2800" i="1" dirty="0">
                <a:highlight>
                  <a:srgbClr val="BBDAA6"/>
                </a:highlight>
                <a:latin typeface="Verdana" panose="020B0604030504040204" pitchFamily="34" charset="0"/>
                <a:ea typeface="微软雅黑" panose="020B0503020204020204" pitchFamily="34" charset="-122"/>
              </a:rPr>
              <a:t>&lt;</a:t>
            </a:r>
            <a:r>
              <a:rPr lang="en-US" altLang="zh-CN" sz="2800" i="1" dirty="0" err="1">
                <a:highlight>
                  <a:srgbClr val="BBDAA6"/>
                </a:highlight>
                <a:latin typeface="Verdana" panose="020B0604030504040204" pitchFamily="34" charset="0"/>
                <a:ea typeface="微软雅黑" panose="020B0503020204020204" pitchFamily="34" charset="-122"/>
              </a:rPr>
              <a:t>img</a:t>
            </a:r>
            <a:r>
              <a:rPr lang="en-US" altLang="zh-CN" sz="2800" i="1" dirty="0">
                <a:highlight>
                  <a:srgbClr val="BBDAA6"/>
                </a:highlight>
                <a:latin typeface="Verdana" panose="020B060403050404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800" i="1" dirty="0" err="1">
                <a:highlight>
                  <a:srgbClr val="BBDAA6"/>
                </a:highlight>
                <a:latin typeface="Verdana" panose="020B0604030504040204" pitchFamily="34" charset="0"/>
                <a:ea typeface="微软雅黑" panose="020B0503020204020204" pitchFamily="34" charset="-122"/>
              </a:rPr>
              <a:t>src</a:t>
            </a:r>
            <a:r>
              <a:rPr lang="en-US" altLang="zh-CN" sz="2800" i="1" dirty="0">
                <a:highlight>
                  <a:srgbClr val="BBDAA6"/>
                </a:highlight>
                <a:latin typeface="Verdana" panose="020B0604030504040204" pitchFamily="34" charset="0"/>
                <a:ea typeface="微软雅黑" panose="020B0503020204020204" pitchFamily="34" charset="-122"/>
              </a:rPr>
              <a:t>=“</a:t>
            </a:r>
            <a:r>
              <a:rPr lang="nn-NO" altLang="zh-CN" sz="2800" i="1" dirty="0">
                <a:highlight>
                  <a:srgbClr val="BBDAA6"/>
                </a:highlight>
                <a:latin typeface="Verdana" panose="020B0604030504040204" pitchFamily="34" charset="0"/>
                <a:ea typeface="微软雅黑" panose="020B0503020204020204" pitchFamily="34" charset="-122"/>
              </a:rPr>
              <a:t>C:\Program Files (x86)\Microsoft Office</a:t>
            </a:r>
            <a:r>
              <a:rPr lang="en-US" altLang="zh-CN" sz="2800" i="1" dirty="0">
                <a:highlight>
                  <a:srgbClr val="BBDAA6"/>
                </a:highlight>
                <a:latin typeface="Verdana" panose="020B0604030504040204" pitchFamily="34" charset="0"/>
                <a:ea typeface="微软雅黑" panose="020B0503020204020204" pitchFamily="34" charset="-122"/>
              </a:rPr>
              <a:t>\code\1.jpg”&gt;</a:t>
            </a:r>
            <a:endParaRPr lang="nn-NO" altLang="zh-CN" sz="2800" i="1" dirty="0">
              <a:highlight>
                <a:srgbClr val="BBDAA6"/>
              </a:highlight>
              <a:latin typeface="Verdana" panose="020B0604030504040204" pitchFamily="34" charset="0"/>
              <a:ea typeface="微软雅黑" panose="020B0503020204020204" pitchFamily="34" charset="-122"/>
            </a:endParaRPr>
          </a:p>
          <a:p>
            <a:pPr algn="just" defTabSz="914400">
              <a:lnSpc>
                <a:spcPct val="150000"/>
              </a:lnSpc>
              <a:defRPr/>
            </a:pPr>
            <a:r>
              <a:rPr lang="nn-NO" altLang="zh-CN" sz="2800" i="1" dirty="0">
                <a:solidFill>
                  <a:srgbClr val="00000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	</a:t>
            </a:r>
            <a:endParaRPr lang="nn-NO" altLang="zh-CN" sz="2800" i="1" u="sng" dirty="0">
              <a:solidFill>
                <a:srgbClr val="000000"/>
              </a:solidFill>
              <a:latin typeface="Verdana" panose="020B060403050404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517459" y="136524"/>
            <a:ext cx="7968174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路径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B89AA7-CD6E-7A74-6822-9B44319B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6919" y="993723"/>
            <a:ext cx="10535920" cy="2335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lnSpc>
                <a:spcPct val="150000"/>
              </a:lnSpc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2.HTML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相对路径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(Relative Path)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defTabSz="914400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目标文件</a:t>
            </a:r>
            <a:r>
              <a:rPr lang="zh-CN" altLang="en-US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</a:t>
            </a:r>
            <a:r>
              <a:rPr lang="en-US" altLang="zh-CN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页面的位置</a:t>
            </a:r>
            <a:r>
              <a:rPr lang="zh-CN" altLang="en-US" sz="24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的路径，网页结构设计中多采用这种方法来表示目标的路径。相对路径有多种表示方法，其表示的意义不尽相同。表示方法如下：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056" y="4440488"/>
            <a:ext cx="8669932" cy="1682115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517459" y="136524"/>
            <a:ext cx="7968174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路径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7231" y="3429000"/>
            <a:ext cx="6785217" cy="2255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两者相对关系，两者在同一路径下可以直接访问</a:t>
            </a:r>
            <a:endParaRPr lang="en-US" altLang="zh-CN" sz="24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1.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子级关系： 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BBDAA6"/>
                </a:highlight>
                <a:latin typeface="华文仿宋" panose="02010600040101010101" pitchFamily="2" charset="-122"/>
                <a:ea typeface="华文仿宋" panose="02010600040101010101" pitchFamily="2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2. 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父级关系：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BBDAA6"/>
                </a:highlight>
                <a:latin typeface="华文仿宋" panose="02010600040101010101" pitchFamily="2" charset="-122"/>
                <a:ea typeface="华文仿宋" panose="02010600040101010101" pitchFamily="2" charset="-122"/>
              </a:rPr>
              <a:t>../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3.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同级关系： 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BBDAA6"/>
                </a:highlight>
                <a:latin typeface="华文仿宋" panose="02010600040101010101" pitchFamily="2" charset="-122"/>
                <a:ea typeface="华文仿宋" panose="02010600040101010101" pitchFamily="2" charset="-122"/>
              </a:rPr>
              <a:t>./</a:t>
            </a:r>
            <a:endParaRPr lang="zh-CN" altLang="en-US" sz="2400" b="1" dirty="0">
              <a:solidFill>
                <a:srgbClr val="FF0000"/>
              </a:solidFill>
              <a:highlight>
                <a:srgbClr val="BBDAA6"/>
              </a:highlight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C1FD767-62B8-EFB1-6C77-B0CF062D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t="1823" b="7435"/>
          <a:stretch>
            <a:fillRect/>
          </a:stretch>
        </p:blipFill>
        <p:spPr>
          <a:xfrm>
            <a:off x="2577465" y="1848465"/>
            <a:ext cx="6136640" cy="48361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28133" y="1104900"/>
            <a:ext cx="835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path.html</a:t>
            </a:r>
            <a:r>
              <a:rPr lang="zh-CN" altLang="en-US" dirty="0"/>
              <a:t>中，使用同级路径、上级路径、下级路径引入图片，完成三张图片在一个网页中的效果，鼠标放在每张图片上时，有相应的文字描述</a:t>
            </a:r>
          </a:p>
        </p:txBody>
      </p:sp>
      <p:cxnSp>
        <p:nvCxnSpPr>
          <p:cNvPr id="4" name="直接箭头连接符 3"/>
          <p:cNvCxnSpPr>
            <a:cxnSpLocks/>
          </p:cNvCxnSpPr>
          <p:nvPr/>
        </p:nvCxnSpPr>
        <p:spPr>
          <a:xfrm flipV="1">
            <a:off x="7433187" y="3640667"/>
            <a:ext cx="1516080" cy="203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8714316" y="2799602"/>
            <a:ext cx="2751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鼠标悬停时，显示“机智幽默爱捣蛋”</a:t>
            </a:r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>
          <a:xfrm flipV="1">
            <a:off x="5122606" y="5173266"/>
            <a:ext cx="1778521" cy="579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326716" y="5431367"/>
            <a:ext cx="2751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鼠标悬停时，显示“聪明勇敢有力气”</a:t>
            </a:r>
          </a:p>
        </p:txBody>
      </p:sp>
      <p:cxnSp>
        <p:nvCxnSpPr>
          <p:cNvPr id="8" name="直接箭头连接符 7"/>
          <p:cNvCxnSpPr>
            <a:cxnSpLocks/>
          </p:cNvCxnSpPr>
          <p:nvPr/>
        </p:nvCxnSpPr>
        <p:spPr>
          <a:xfrm flipH="1" flipV="1">
            <a:off x="1389375" y="3064933"/>
            <a:ext cx="2228896" cy="575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8411" y="2280335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鼠标悬停时，显示“忠诚活泼很可爱”</a:t>
            </a:r>
          </a:p>
        </p:txBody>
      </p:sp>
      <p:sp>
        <p:nvSpPr>
          <p:cNvPr id="10" name="标题 1"/>
          <p:cNvSpPr txBox="1"/>
          <p:nvPr/>
        </p:nvSpPr>
        <p:spPr>
          <a:xfrm>
            <a:off x="517459" y="136524"/>
            <a:ext cx="7968174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课堂练习三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路径练习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div</a:t>
            </a:r>
            <a:r>
              <a:rPr lang="zh-CN" altLang="en-US" dirty="0"/>
              <a:t>标签、</a:t>
            </a:r>
            <a:r>
              <a:rPr lang="en-US" altLang="zh-CN" dirty="0"/>
              <a:t>span</a:t>
            </a:r>
            <a:r>
              <a:rPr lang="zh-CN" altLang="en-US" dirty="0"/>
              <a:t>标签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57642" y="3222492"/>
            <a:ext cx="11542346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division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的缩写，表示分割、分区，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意为跨度、跨距。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57642" y="1150330"/>
            <a:ext cx="11250182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&lt;div&gt;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&lt;span&gt;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是没有语义的，它们就是一个盒子，用来装内容的。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57642" y="4123610"/>
            <a:ext cx="10701542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:&lt;div&gt;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标签用来布局，作用是设定字、画、表格等的摆放位置。一行只能放一个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&lt;div&gt;.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大盒子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57642" y="5412592"/>
            <a:ext cx="11542346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:&lt;span&gt;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标签用来布局，一行上可以多个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&lt;span&gt;,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小盒子</a:t>
            </a:r>
          </a:p>
        </p:txBody>
      </p:sp>
      <p:sp>
        <p:nvSpPr>
          <p:cNvPr id="10" name="object 3"/>
          <p:cNvSpPr/>
          <p:nvPr/>
        </p:nvSpPr>
        <p:spPr>
          <a:xfrm>
            <a:off x="1258810" y="2057525"/>
            <a:ext cx="6456045" cy="926403"/>
          </a:xfrm>
          <a:custGeom>
            <a:avLst/>
            <a:gdLst/>
            <a:ahLst/>
            <a:cxnLst/>
            <a:rect l="l" t="t" r="r" b="b"/>
            <a:pathLst>
              <a:path w="6456045" h="735330">
                <a:moveTo>
                  <a:pt x="0" y="735202"/>
                </a:moveTo>
                <a:lnTo>
                  <a:pt x="6456045" y="735202"/>
                </a:lnTo>
                <a:lnTo>
                  <a:pt x="6456045" y="0"/>
                </a:lnTo>
                <a:lnTo>
                  <a:pt x="0" y="0"/>
                </a:lnTo>
                <a:lnTo>
                  <a:pt x="0" y="735202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0815"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&lt;div&gt;</a:t>
            </a:r>
            <a:r>
              <a:rPr lang="en-US" altLang="zh-CN" sz="2000" spc="-5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 </a:t>
            </a:r>
            <a:r>
              <a:rPr lang="zh-CN" altLang="en-US" sz="20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这是头部</a:t>
            </a:r>
            <a:r>
              <a:rPr lang="zh-CN" altLang="en-US" sz="2000" spc="6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&lt;/div&gt;</a:t>
            </a:r>
          </a:p>
          <a:p>
            <a:pPr marL="170815">
              <a:lnSpc>
                <a:spcPct val="100000"/>
              </a:lnSpc>
              <a:spcBef>
                <a:spcPts val="635"/>
              </a:spcBef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&lt;span&gt;</a:t>
            </a:r>
            <a:r>
              <a:rPr lang="en-US" altLang="zh-CN" sz="2000" spc="-4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 </a:t>
            </a:r>
            <a:r>
              <a:rPr lang="zh-CN" altLang="en-US" sz="20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今日价格</a:t>
            </a:r>
            <a:r>
              <a:rPr lang="zh-CN" altLang="en-US" sz="2000" spc="6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/>
              </a:rPr>
              <a:t>&lt;/span&gt;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/>
            </a:endParaRPr>
          </a:p>
        </p:txBody>
      </p:sp>
    </p:spTree>
    <p:extLst>
      <p:ext uri="{BB962C8B-B14F-4D97-AF65-F5344CB8AC3E}">
        <p14:creationId xmlns:p14="http://schemas.microsoft.com/office/powerpoint/2010/main" val="340361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的引入方式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CEF206B-7E65-9B97-95DE-A7BF8418D64C}"/>
              </a:ext>
            </a:extLst>
          </p:cNvPr>
          <p:cNvSpPr txBox="1"/>
          <p:nvPr/>
        </p:nvSpPr>
        <p:spPr>
          <a:xfrm>
            <a:off x="1038097" y="1389380"/>
            <a:ext cx="10711943" cy="33111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5" dirty="0">
                <a:solidFill>
                  <a:srgbClr val="585858"/>
                </a:solidFill>
                <a:latin typeface="微软雅黑"/>
                <a:cs typeface="微软雅黑"/>
              </a:rPr>
              <a:t>1.</a:t>
            </a:r>
            <a:r>
              <a:rPr sz="2800" b="1" spc="-5" dirty="0">
                <a:solidFill>
                  <a:srgbClr val="585858"/>
                </a:solidFill>
                <a:latin typeface="微软雅黑"/>
                <a:cs typeface="微软雅黑"/>
              </a:rPr>
              <a:t>CSS</a:t>
            </a:r>
            <a:r>
              <a:rPr sz="2800" b="1" spc="5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800" b="1" dirty="0">
                <a:solidFill>
                  <a:srgbClr val="585858"/>
                </a:solidFill>
                <a:latin typeface="微软雅黑"/>
                <a:cs typeface="微软雅黑"/>
              </a:rPr>
              <a:t>的三种样式表</a:t>
            </a:r>
            <a:endParaRPr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按照</a:t>
            </a:r>
            <a:r>
              <a:rPr sz="2400" spc="-3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252525"/>
                </a:solidFill>
                <a:latin typeface="微软雅黑"/>
                <a:cs typeface="微软雅黑"/>
              </a:rPr>
              <a:t>CSS</a:t>
            </a:r>
            <a:r>
              <a:rPr sz="2400" spc="-5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样式书写的位置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（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或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者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引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入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方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sz="2400" spc="-5" dirty="0">
                <a:solidFill>
                  <a:srgbClr val="252525"/>
                </a:solidFill>
                <a:latin typeface="微软雅黑"/>
                <a:cs typeface="微软雅黑"/>
              </a:rPr>
              <a:t>），CSS</a:t>
            </a:r>
            <a:r>
              <a:rPr sz="2400" spc="-6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样式表可以分为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三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大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类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：</a:t>
            </a:r>
            <a:endParaRPr sz="24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 dirty="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行内样式表（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行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内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endParaRPr sz="24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52525"/>
              </a:buClr>
              <a:buFont typeface="΢"/>
              <a:buAutoNum type="arabicPeriod"/>
            </a:pPr>
            <a:endParaRPr sz="2400" dirty="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300" algn="l"/>
              </a:tabLst>
            </a:pP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内部样式表（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嵌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入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endParaRPr sz="24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252525"/>
              </a:buClr>
              <a:buFont typeface="΢"/>
              <a:buAutoNum type="arabicPeriod"/>
            </a:pPr>
            <a:endParaRPr sz="2400" dirty="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外部样式表（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链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接</a:t>
            </a:r>
            <a:r>
              <a:rPr sz="2400" spc="-10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sz="2400" spc="5" dirty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endParaRPr sz="24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496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的引入方式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ABCCB3-3743-651C-09BB-2F77B810AB25}"/>
              </a:ext>
            </a:extLst>
          </p:cNvPr>
          <p:cNvSpPr txBox="1"/>
          <p:nvPr/>
        </p:nvSpPr>
        <p:spPr>
          <a:xfrm>
            <a:off x="517458" y="1023781"/>
            <a:ext cx="6315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2.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行内</a:t>
            </a:r>
            <a:r>
              <a:rPr lang="zh-CN" altLang="en-US" sz="28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样式表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973E0B-1B96-8BE3-BA89-FCB650730884}"/>
              </a:ext>
            </a:extLst>
          </p:cNvPr>
          <p:cNvSpPr txBox="1"/>
          <p:nvPr/>
        </p:nvSpPr>
        <p:spPr>
          <a:xfrm>
            <a:off x="757238" y="1489277"/>
            <a:ext cx="10318432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50000"/>
              </a:lnSpc>
            </a:pP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行内样式表（内联样式表）是</a:t>
            </a:r>
            <a:r>
              <a:rPr lang="zh-CN" altLang="en-US" sz="20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在元素标签内部的 </a:t>
            </a:r>
            <a:r>
              <a:rPr lang="en-US" altLang="zh-CN" sz="20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style </a:t>
            </a:r>
            <a:r>
              <a:rPr lang="zh-CN" altLang="en-US" sz="20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属性中设定 </a:t>
            </a:r>
            <a:r>
              <a:rPr lang="en-US" altLang="zh-CN" sz="20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 </a:t>
            </a:r>
            <a:r>
              <a:rPr lang="zh-CN" altLang="en-US" sz="20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样式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。适合于修改简单样式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8EC2EB4-B06D-89AD-DBE5-7617AD3C2876}"/>
              </a:ext>
            </a:extLst>
          </p:cNvPr>
          <p:cNvSpPr/>
          <p:nvPr/>
        </p:nvSpPr>
        <p:spPr>
          <a:xfrm>
            <a:off x="757238" y="2575330"/>
            <a:ext cx="10215562" cy="670790"/>
          </a:xfrm>
          <a:custGeom>
            <a:avLst/>
            <a:gdLst/>
            <a:ahLst/>
            <a:cxnLst/>
            <a:rect l="l" t="t" r="r" b="b"/>
            <a:pathLst>
              <a:path w="6578600" h="1603375">
                <a:moveTo>
                  <a:pt x="0" y="1603374"/>
                </a:moveTo>
                <a:lnTo>
                  <a:pt x="6578346" y="1603374"/>
                </a:lnTo>
                <a:lnTo>
                  <a:pt x="6578346" y="0"/>
                </a:lnTo>
                <a:lnTo>
                  <a:pt x="0" y="0"/>
                </a:lnTo>
                <a:lnTo>
                  <a:pt x="0" y="1603374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0815"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&lt;div</a:t>
            </a:r>
            <a:r>
              <a:rPr lang="en-US" altLang="zh-CN" sz="2000" spc="-5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style=“color:</a:t>
            </a:r>
            <a:r>
              <a:rPr lang="en-US" altLang="zh-CN" sz="2000" spc="-4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red;</a:t>
            </a:r>
            <a:r>
              <a:rPr lang="en-US" altLang="zh-CN" sz="2000" spc="-5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font-size:</a:t>
            </a:r>
            <a:r>
              <a:rPr lang="en-US" altLang="zh-CN" sz="2000" spc="-5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12px;”&gt;</a:t>
            </a:r>
            <a:r>
              <a:rPr lang="zh-CN" altLang="en-US"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我是行内样式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&lt;/div&gt;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C1ABF5-00CE-FEAE-04F6-F2F7213029ED}"/>
              </a:ext>
            </a:extLst>
          </p:cNvPr>
          <p:cNvSpPr txBox="1"/>
          <p:nvPr/>
        </p:nvSpPr>
        <p:spPr>
          <a:xfrm>
            <a:off x="894398" y="3429000"/>
            <a:ext cx="11038522" cy="2807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/>
              <a:buChar char=""/>
              <a:tabLst>
                <a:tab pos="185420" algn="l"/>
              </a:tabLst>
            </a:pP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style</a:t>
            </a:r>
            <a:r>
              <a:rPr lang="zh-CN" altLang="en-US" sz="2000" spc="-2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其实就是标签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50000"/>
              </a:lnSpc>
              <a:buFont typeface="Wingdings"/>
              <a:buChar char=""/>
              <a:tabLst>
                <a:tab pos="185420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在双引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号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中间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写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法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要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符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合</a:t>
            </a:r>
            <a:r>
              <a:rPr lang="zh-CN" altLang="en-US" sz="2000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000" spc="-3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规范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50000"/>
              </a:lnSpc>
              <a:buFont typeface="Wingdings"/>
              <a:buChar char=""/>
              <a:tabLst>
                <a:tab pos="185420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以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控制当前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标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签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设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置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R="5080">
              <a:lnSpc>
                <a:spcPct val="150000"/>
              </a:lnSpc>
              <a:buFont typeface="Wingdings"/>
              <a:buChar char=""/>
              <a:tabLst>
                <a:tab pos="185420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由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于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书写繁琐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并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且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没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有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体现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出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结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与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相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分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离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思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想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所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以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不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推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荐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量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使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用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只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有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对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当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前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元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素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添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加简 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单样式的时候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以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考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虑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使用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50000"/>
              </a:lnSpc>
              <a:buFont typeface="Wingdings"/>
              <a:buChar char=""/>
              <a:tabLst>
                <a:tab pos="185420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使用行内样式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表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设定</a:t>
            </a:r>
            <a:r>
              <a:rPr lang="zh-CN" altLang="en-US" sz="2000" spc="-2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通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常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也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被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称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为</a:t>
            </a:r>
            <a:r>
              <a:rPr lang="zh-CN" altLang="en-US" sz="20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0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内</a:t>
            </a:r>
            <a:r>
              <a:rPr lang="zh-CN" altLang="en-US" sz="20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0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引</a:t>
            </a:r>
            <a:r>
              <a:rPr lang="zh-CN" altLang="en-US" sz="20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7539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的引入方式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ABCCB3-3743-651C-09BB-2F77B810AB25}"/>
              </a:ext>
            </a:extLst>
          </p:cNvPr>
          <p:cNvSpPr txBox="1"/>
          <p:nvPr/>
        </p:nvSpPr>
        <p:spPr>
          <a:xfrm>
            <a:off x="517458" y="1023781"/>
            <a:ext cx="6315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3.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8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内部样式表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973E0B-1B96-8BE3-BA89-FCB650730884}"/>
              </a:ext>
            </a:extLst>
          </p:cNvPr>
          <p:cNvSpPr txBox="1"/>
          <p:nvPr/>
        </p:nvSpPr>
        <p:spPr>
          <a:xfrm>
            <a:off x="757238" y="1489277"/>
            <a:ext cx="10318432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50000"/>
              </a:lnSpc>
            </a:pP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内部样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表（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内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嵌样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表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）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是写到</a:t>
            </a: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html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页面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内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部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 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是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将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所有的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代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码抽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取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出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来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，单独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放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到一个</a:t>
            </a:r>
            <a:r>
              <a:rPr lang="zh-CN" altLang="en-US" sz="2000" spc="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&lt;style&gt;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标签中。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8EC2EB4-B06D-89AD-DBE5-7617AD3C2876}"/>
              </a:ext>
            </a:extLst>
          </p:cNvPr>
          <p:cNvSpPr/>
          <p:nvPr/>
        </p:nvSpPr>
        <p:spPr>
          <a:xfrm>
            <a:off x="913408" y="2471705"/>
            <a:ext cx="8562061" cy="2271745"/>
          </a:xfrm>
          <a:custGeom>
            <a:avLst/>
            <a:gdLst/>
            <a:ahLst/>
            <a:cxnLst/>
            <a:rect l="l" t="t" r="r" b="b"/>
            <a:pathLst>
              <a:path w="6578600" h="1603375">
                <a:moveTo>
                  <a:pt x="0" y="1603374"/>
                </a:moveTo>
                <a:lnTo>
                  <a:pt x="6578346" y="1603374"/>
                </a:lnTo>
                <a:lnTo>
                  <a:pt x="6578346" y="0"/>
                </a:lnTo>
                <a:lnTo>
                  <a:pt x="0" y="0"/>
                </a:lnTo>
                <a:lnTo>
                  <a:pt x="0" y="1603374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0815">
              <a:lnSpc>
                <a:spcPct val="100000"/>
              </a:lnSpc>
              <a:spcBef>
                <a:spcPts val="5"/>
              </a:spcBef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&lt;style&gt;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408305">
              <a:lnSpc>
                <a:spcPct val="100000"/>
              </a:lnSpc>
              <a:spcBef>
                <a:spcPts val="620"/>
              </a:spcBef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div</a:t>
            </a:r>
            <a:r>
              <a:rPr lang="en-US" altLang="zh-CN" sz="20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</a:p>
          <a:p>
            <a:pPr marL="568325">
              <a:lnSpc>
                <a:spcPct val="100000"/>
              </a:lnSpc>
              <a:spcBef>
                <a:spcPts val="640"/>
              </a:spcBef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color:</a:t>
            </a:r>
            <a:r>
              <a:rPr lang="en-US" altLang="zh-CN" sz="2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red;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568325">
              <a:lnSpc>
                <a:spcPct val="100000"/>
              </a:lnSpc>
              <a:spcBef>
                <a:spcPts val="625"/>
              </a:spcBef>
            </a:pPr>
            <a:r>
              <a:rPr lang="en-US" altLang="zh-CN"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font-size:</a:t>
            </a:r>
            <a:r>
              <a:rPr lang="en-US" altLang="zh-CN" sz="2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12px;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408305">
              <a:lnSpc>
                <a:spcPct val="100000"/>
              </a:lnSpc>
              <a:spcBef>
                <a:spcPts val="635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</a:p>
          <a:p>
            <a:pPr marL="170815">
              <a:lnSpc>
                <a:spcPct val="100000"/>
              </a:lnSpc>
              <a:spcBef>
                <a:spcPts val="625"/>
              </a:spcBef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&lt;/style&gt;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D47561-686A-F41D-D3F1-B526A1E12484}"/>
              </a:ext>
            </a:extLst>
          </p:cNvPr>
          <p:cNvSpPr txBox="1"/>
          <p:nvPr/>
        </p:nvSpPr>
        <p:spPr>
          <a:xfrm>
            <a:off x="757238" y="4774477"/>
            <a:ext cx="11141392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/>
              <a:buChar char=""/>
              <a:tabLst>
                <a:tab pos="278130" algn="l"/>
              </a:tabLst>
            </a:pP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&lt;style&gt;</a:t>
            </a:r>
            <a:r>
              <a:rPr lang="zh-CN" altLang="en-US" sz="20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标签理论上可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以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放在</a:t>
            </a:r>
            <a:r>
              <a:rPr lang="zh-CN" altLang="en-US" sz="20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HTML</a:t>
            </a:r>
            <a:r>
              <a:rPr lang="zh-CN" altLang="en-US" sz="20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文档的任何地方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但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般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会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放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在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档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&lt;head&gt;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标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签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中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50000"/>
              </a:lnSpc>
              <a:buFont typeface="Wingdings"/>
              <a:buChar char=""/>
              <a:tabLst>
                <a:tab pos="278130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通过此种方式，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以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方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便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控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制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当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前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整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个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页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面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中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元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素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设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50000"/>
              </a:lnSpc>
              <a:buFont typeface="Wingdings"/>
              <a:buChar char=""/>
              <a:tabLst>
                <a:tab pos="278130" algn="l"/>
              </a:tabLst>
            </a:pP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代码结构清晰，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但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是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并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没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有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实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现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结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构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与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完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全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分离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50000"/>
              </a:lnSpc>
              <a:buFont typeface="Wingdings"/>
              <a:buChar char=""/>
              <a:tabLst>
                <a:tab pos="278130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使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用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内部样式表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设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0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通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常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也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被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称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为</a:t>
            </a:r>
            <a:r>
              <a:rPr lang="zh-CN" altLang="en-US" sz="20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嵌</a:t>
            </a:r>
            <a:r>
              <a:rPr lang="zh-CN" altLang="en-US" sz="20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入</a:t>
            </a:r>
            <a:r>
              <a:rPr lang="zh-CN" altLang="en-US" sz="20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0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引</a:t>
            </a:r>
            <a:r>
              <a:rPr lang="zh-CN" altLang="en-US" sz="20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入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这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种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方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是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我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们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练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习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时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常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用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方式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6943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的引入方式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B9410A-0B54-F29E-B526-B2A5235C9C0A}"/>
              </a:ext>
            </a:extLst>
          </p:cNvPr>
          <p:cNvSpPr txBox="1"/>
          <p:nvPr/>
        </p:nvSpPr>
        <p:spPr>
          <a:xfrm>
            <a:off x="517458" y="1023781"/>
            <a:ext cx="6315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lang="en-US" altLang="zh-CN" sz="28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4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800" b="1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外部</a:t>
            </a:r>
            <a:r>
              <a:rPr lang="zh-CN" altLang="en-US" sz="28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样式表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C8C3CC-7233-BB52-C08C-3EE46A74C36B}"/>
              </a:ext>
            </a:extLst>
          </p:cNvPr>
          <p:cNvSpPr txBox="1"/>
          <p:nvPr/>
        </p:nvSpPr>
        <p:spPr>
          <a:xfrm>
            <a:off x="677478" y="1473416"/>
            <a:ext cx="10432482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74625">
              <a:lnSpc>
                <a:spcPct val="150000"/>
              </a:lnSpc>
            </a:pP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实际开发都是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外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部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表</a:t>
            </a:r>
            <a:r>
              <a:rPr lang="en-US" altLang="zh-CN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</a:t>
            </a:r>
            <a:r>
              <a:rPr lang="zh-CN" altLang="en-US" spc="-5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适合于样式比较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多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情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况</a:t>
            </a:r>
            <a:r>
              <a:rPr lang="en-US" altLang="zh-CN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</a:t>
            </a:r>
            <a:r>
              <a:rPr lang="zh-CN" altLang="en-US" spc="-5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核心是</a:t>
            </a:r>
            <a:r>
              <a:rPr lang="en-US" altLang="zh-CN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: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样式单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独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写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到</a:t>
            </a:r>
            <a:r>
              <a:rPr lang="en-US" altLang="zh-CN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pc="-6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文件中，之后把</a:t>
            </a:r>
            <a:r>
              <a:rPr lang="en-US" altLang="zh-CN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件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引入 到</a:t>
            </a:r>
            <a:r>
              <a:rPr lang="zh-CN" altLang="en-US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HTML</a:t>
            </a:r>
            <a:r>
              <a:rPr lang="zh-CN" altLang="en-US" spc="-2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页面中使用</a:t>
            </a:r>
            <a:r>
              <a:rPr lang="en-US" altLang="zh-CN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50000"/>
              </a:lnSpc>
            </a:pP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引入外部样式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表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分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为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两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步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50000"/>
              </a:lnSpc>
              <a:buAutoNum type="arabicPeriod"/>
              <a:tabLst>
                <a:tab pos="186055" algn="l"/>
              </a:tabLst>
            </a:pP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新建一个后缀</a:t>
            </a:r>
            <a:r>
              <a:rPr lang="zh-CN" altLang="en-US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名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为</a:t>
            </a:r>
            <a:r>
              <a:rPr lang="zh-CN" altLang="en-US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</a:t>
            </a:r>
            <a:r>
              <a:rPr lang="en-US" altLang="zh-CN" spc="-5" dirty="0" err="1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en-US" altLang="zh-CN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的样式文件，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把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所有</a:t>
            </a:r>
            <a:r>
              <a:rPr lang="zh-CN" altLang="en-US" spc="-5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pc="-2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代码都放入此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件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中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50000"/>
              </a:lnSpc>
              <a:buAutoNum type="arabicPeriod"/>
              <a:tabLst>
                <a:tab pos="186055" algn="l"/>
              </a:tabLst>
            </a:pP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在</a:t>
            </a:r>
            <a:r>
              <a:rPr lang="zh-CN" altLang="en-US" spc="-2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HTML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页面中，使用</a:t>
            </a:r>
            <a:r>
              <a:rPr lang="en-US" altLang="zh-CN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&lt;link&gt;</a:t>
            </a:r>
            <a:r>
              <a:rPr lang="zh-CN" altLang="en-US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标签引入这个</a:t>
            </a:r>
            <a:r>
              <a:rPr lang="zh-CN" altLang="en-US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件。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102DD6F-DF99-3EDB-32CF-3A50B070A780}"/>
              </a:ext>
            </a:extLst>
          </p:cNvPr>
          <p:cNvSpPr/>
          <p:nvPr/>
        </p:nvSpPr>
        <p:spPr>
          <a:xfrm>
            <a:off x="795134" y="3700411"/>
            <a:ext cx="9789046" cy="415276"/>
          </a:xfrm>
          <a:custGeom>
            <a:avLst/>
            <a:gdLst/>
            <a:ahLst/>
            <a:cxnLst/>
            <a:rect l="l" t="t" r="r" b="b"/>
            <a:pathLst>
              <a:path w="6490970" h="462279">
                <a:moveTo>
                  <a:pt x="0" y="462280"/>
                </a:moveTo>
                <a:lnTo>
                  <a:pt x="6490843" y="462280"/>
                </a:lnTo>
                <a:lnTo>
                  <a:pt x="6490843" y="0"/>
                </a:lnTo>
                <a:lnTo>
                  <a:pt x="0" y="0"/>
                </a:lnTo>
                <a:lnTo>
                  <a:pt x="0" y="462280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9070">
              <a:lnSpc>
                <a:spcPct val="100000"/>
              </a:lnSpc>
              <a:tabLst>
                <a:tab pos="2085975" algn="l"/>
              </a:tabLs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&lt;link</a:t>
            </a:r>
            <a:r>
              <a:rPr lang="en-US" altLang="zh-CN" sz="20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rel</a:t>
            </a:r>
            <a:r>
              <a:rPr lang="en-US" altLang="zh-CN"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="stylesheet"	</a:t>
            </a:r>
            <a:r>
              <a:rPr lang="en-US" altLang="zh-CN" sz="20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href</a:t>
            </a:r>
            <a:r>
              <a:rPr lang="en-US" altLang="zh-CN"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="</a:t>
            </a:r>
            <a:r>
              <a:rPr lang="en-US" altLang="zh-CN" sz="20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css</a:t>
            </a:r>
            <a:r>
              <a:rPr lang="zh-CN" altLang="en-US"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文</a:t>
            </a:r>
            <a:r>
              <a:rPr lang="zh-CN" altLang="en-US" sz="20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件</a:t>
            </a:r>
            <a:r>
              <a:rPr lang="zh-CN" altLang="en-US" sz="20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路</a:t>
            </a:r>
            <a:r>
              <a:rPr lang="zh-CN" altLang="en-US" sz="2000" spc="5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径</a:t>
            </a:r>
            <a:r>
              <a:rPr lang="en-US" altLang="zh-CN"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"&gt;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3A2EB2D-BD6B-3074-170F-EA1E9355561E}"/>
              </a:ext>
            </a:extLst>
          </p:cNvPr>
          <p:cNvSpPr/>
          <p:nvPr/>
        </p:nvSpPr>
        <p:spPr>
          <a:xfrm>
            <a:off x="795134" y="4221780"/>
            <a:ext cx="10189096" cy="17732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C47897-9011-E147-E40A-D3DE7BBB8872}"/>
              </a:ext>
            </a:extLst>
          </p:cNvPr>
          <p:cNvSpPr txBox="1"/>
          <p:nvPr/>
        </p:nvSpPr>
        <p:spPr>
          <a:xfrm>
            <a:off x="677478" y="6241577"/>
            <a:ext cx="10809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5"/>
              </a:spcBef>
              <a:buFont typeface="Wingdings"/>
              <a:buChar char=""/>
              <a:tabLst>
                <a:tab pos="185420" algn="l"/>
              </a:tabLst>
            </a:pP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使用外部样</a:t>
            </a:r>
            <a:r>
              <a:rPr lang="zh-CN" altLang="en-US" sz="1800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表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设定</a:t>
            </a:r>
            <a:r>
              <a:rPr lang="zh-CN" altLang="en-US" sz="1800" spc="-5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1800" spc="-5" dirty="0">
                <a:solidFill>
                  <a:srgbClr val="252525"/>
                </a:solidFill>
                <a:latin typeface="微软雅黑"/>
                <a:cs typeface="微软雅黑"/>
              </a:rPr>
              <a:t>CSS</a:t>
            </a:r>
            <a:r>
              <a:rPr lang="zh-CN" altLang="en-US" sz="1800" spc="-5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通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常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也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被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称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为</a:t>
            </a:r>
            <a:r>
              <a:rPr lang="zh-CN" altLang="en-US" sz="1800" spc="5" dirty="0">
                <a:solidFill>
                  <a:srgbClr val="FF0000"/>
                </a:solidFill>
                <a:latin typeface="微软雅黑"/>
                <a:cs typeface="微软雅黑"/>
              </a:rPr>
              <a:t>外</a:t>
            </a:r>
            <a:r>
              <a:rPr lang="zh-CN" altLang="en-US" sz="1800" spc="-10" dirty="0">
                <a:solidFill>
                  <a:srgbClr val="FF0000"/>
                </a:solidFill>
                <a:latin typeface="微软雅黑"/>
                <a:cs typeface="微软雅黑"/>
              </a:rPr>
              <a:t>链</a:t>
            </a:r>
            <a:r>
              <a:rPr lang="zh-CN" altLang="en-US" sz="1800" dirty="0">
                <a:solidFill>
                  <a:srgbClr val="FF0000"/>
                </a:solidFill>
                <a:latin typeface="微软雅黑"/>
                <a:cs typeface="微软雅黑"/>
              </a:rPr>
              <a:t>式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或</a:t>
            </a:r>
            <a:r>
              <a:rPr lang="zh-CN" altLang="en-US" sz="1800" spc="5" dirty="0">
                <a:solidFill>
                  <a:srgbClr val="FF0000"/>
                </a:solidFill>
                <a:latin typeface="微软雅黑"/>
                <a:cs typeface="微软雅黑"/>
              </a:rPr>
              <a:t>链</a:t>
            </a:r>
            <a:r>
              <a:rPr lang="zh-CN" altLang="en-US" sz="1800" spc="-10" dirty="0">
                <a:solidFill>
                  <a:srgbClr val="FF0000"/>
                </a:solidFill>
                <a:latin typeface="微软雅黑"/>
                <a:cs typeface="微软雅黑"/>
              </a:rPr>
              <a:t>接</a:t>
            </a:r>
            <a:r>
              <a:rPr lang="zh-CN" altLang="en-US" sz="1800" spc="5" dirty="0">
                <a:solidFill>
                  <a:srgbClr val="FF0000"/>
                </a:solidFill>
                <a:latin typeface="微软雅黑"/>
                <a:cs typeface="微软雅黑"/>
              </a:rPr>
              <a:t>式</a:t>
            </a:r>
            <a:r>
              <a:rPr lang="zh-CN" altLang="en-US" sz="1800" spc="-10" dirty="0">
                <a:solidFill>
                  <a:srgbClr val="FF0000"/>
                </a:solidFill>
                <a:latin typeface="微软雅黑"/>
                <a:cs typeface="微软雅黑"/>
              </a:rPr>
              <a:t>引</a:t>
            </a:r>
            <a:r>
              <a:rPr lang="zh-CN" altLang="en-US" sz="1800" spc="5" dirty="0">
                <a:solidFill>
                  <a:srgbClr val="FF0000"/>
                </a:solidFill>
                <a:latin typeface="微软雅黑"/>
                <a:cs typeface="微软雅黑"/>
              </a:rPr>
              <a:t>入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这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种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方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是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开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发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中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常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用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z="1800" spc="-10" dirty="0">
                <a:solidFill>
                  <a:srgbClr val="252525"/>
                </a:solidFill>
                <a:latin typeface="微软雅黑"/>
                <a:cs typeface="微软雅黑"/>
              </a:rPr>
              <a:t>方</a:t>
            </a:r>
            <a:r>
              <a:rPr lang="zh-CN" altLang="en-US" sz="1800" spc="5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endParaRPr lang="zh-CN" altLang="en-US" sz="18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6859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的引入方式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C86387-B822-37A6-5F5F-B3A3278966D1}"/>
              </a:ext>
            </a:extLst>
          </p:cNvPr>
          <p:cNvSpPr txBox="1"/>
          <p:nvPr/>
        </p:nvSpPr>
        <p:spPr>
          <a:xfrm>
            <a:off x="825818" y="1278374"/>
            <a:ext cx="6315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5.</a:t>
            </a:r>
            <a:r>
              <a:rPr lang="zh-CN" altLang="en-US" sz="2400" b="1" spc="-4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b="1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400" b="1" spc="-3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引入方式总结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3BD7A05-58DE-30F7-471A-A57D3670560D}"/>
              </a:ext>
            </a:extLst>
          </p:cNvPr>
          <p:cNvSpPr/>
          <p:nvPr/>
        </p:nvSpPr>
        <p:spPr>
          <a:xfrm>
            <a:off x="666382" y="2141720"/>
            <a:ext cx="11267223" cy="2261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56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B9F9A4C-4AEB-03F8-CC92-CD23A98F4F16}"/>
              </a:ext>
            </a:extLst>
          </p:cNvPr>
          <p:cNvSpPr txBox="1"/>
          <p:nvPr/>
        </p:nvSpPr>
        <p:spPr>
          <a:xfrm>
            <a:off x="566584" y="1099120"/>
            <a:ext cx="106212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      </a:t>
            </a:r>
            <a:r>
              <a:rPr lang="zh-CN" altLang="en-US" sz="2800" b="1" dirty="0"/>
              <a:t>页面中有一个 </a:t>
            </a:r>
            <a:r>
              <a:rPr lang="en-US" altLang="zh-CN" sz="2800" b="1" dirty="0"/>
              <a:t>h2 </a:t>
            </a:r>
            <a:r>
              <a:rPr lang="zh-CN" altLang="en-US" sz="2800" b="1" dirty="0"/>
              <a:t>标题，文字颜色蓝色；一个 </a:t>
            </a:r>
            <a:r>
              <a:rPr lang="en-US" altLang="zh-CN" sz="2800" b="1" dirty="0"/>
              <a:t>p </a:t>
            </a:r>
            <a:r>
              <a:rPr lang="zh-CN" altLang="en-US" sz="2800" b="1" dirty="0"/>
              <a:t>段落文字大小 </a:t>
            </a:r>
            <a:r>
              <a:rPr lang="en-US" altLang="zh-CN" sz="2800" b="1" dirty="0"/>
              <a:t>16px</a:t>
            </a:r>
            <a:r>
              <a:rPr lang="zh-CN" altLang="en-US" sz="2800" b="1" dirty="0"/>
              <a:t>，字体颜色为白色。 </a:t>
            </a:r>
            <a:endParaRPr lang="en-US" altLang="zh-CN" sz="2800" b="1" dirty="0"/>
          </a:p>
          <a:p>
            <a:r>
              <a:rPr lang="zh-CN" altLang="en-US" sz="2800" dirty="0"/>
              <a:t>要求：</a:t>
            </a:r>
          </a:p>
          <a:p>
            <a:r>
              <a:rPr lang="zh-CN" altLang="en-US" sz="2800" dirty="0"/>
              <a:t>①</a:t>
            </a:r>
            <a:r>
              <a:rPr lang="en-US" altLang="zh-CN" sz="2800" dirty="0"/>
              <a:t>h2 </a:t>
            </a:r>
            <a:r>
              <a:rPr lang="zh-CN" altLang="en-US" sz="2800" dirty="0"/>
              <a:t>标题使用行内样式设置文字蓝色；</a:t>
            </a:r>
          </a:p>
          <a:p>
            <a:r>
              <a:rPr lang="zh-CN" altLang="en-US" sz="2800" dirty="0"/>
              <a:t>②</a:t>
            </a:r>
            <a:r>
              <a:rPr lang="en-US" altLang="zh-CN" sz="2800" dirty="0"/>
              <a:t>p </a:t>
            </a:r>
            <a:r>
              <a:rPr lang="zh-CN" altLang="en-US" sz="2800" dirty="0"/>
              <a:t>标签使用内部样式设置字号 </a:t>
            </a:r>
            <a:r>
              <a:rPr lang="en-US" altLang="zh-CN" sz="2800" dirty="0"/>
              <a:t>16px</a:t>
            </a:r>
            <a:r>
              <a:rPr lang="zh-CN" altLang="en-US" sz="2800" dirty="0"/>
              <a:t>；</a:t>
            </a:r>
          </a:p>
          <a:p>
            <a:r>
              <a:rPr lang="zh-CN" altLang="en-US" sz="2800" dirty="0"/>
              <a:t>③另外使用外部样式表给页面 </a:t>
            </a:r>
            <a:r>
              <a:rPr lang="en-US" altLang="zh-CN" sz="2800" dirty="0"/>
              <a:t>body </a:t>
            </a:r>
            <a:r>
              <a:rPr lang="zh-CN" altLang="en-US" sz="2800" dirty="0"/>
              <a:t>设置背景颜色 </a:t>
            </a:r>
            <a:r>
              <a:rPr lang="en-US" altLang="zh-CN" sz="2800" dirty="0"/>
              <a:t>#191a20</a:t>
            </a:r>
            <a:r>
              <a:rPr lang="zh-CN" altLang="en-US" sz="2800" dirty="0"/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117D1B-5DBB-9728-56DA-1DD0CA5EF65F}"/>
              </a:ext>
            </a:extLst>
          </p:cNvPr>
          <p:cNvSpPr txBox="1"/>
          <p:nvPr/>
        </p:nvSpPr>
        <p:spPr>
          <a:xfrm>
            <a:off x="423979" y="451067"/>
            <a:ext cx="4718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课堂练习</a:t>
            </a:r>
            <a:r>
              <a:rPr lang="en-US" altLang="zh-CN" sz="2800" b="1" dirty="0">
                <a:solidFill>
                  <a:srgbClr val="FF0000"/>
                </a:solidFill>
              </a:rPr>
              <a:t>1-CSS</a:t>
            </a:r>
            <a:r>
              <a:rPr lang="zh-CN" altLang="en-US" sz="2800" b="1" dirty="0">
                <a:solidFill>
                  <a:srgbClr val="FF0000"/>
                </a:solidFill>
              </a:rPr>
              <a:t>引入方式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3F88F07-2571-3B2B-7623-2B73EE6AB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01" y="4013594"/>
            <a:ext cx="10023239" cy="207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9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28409" y="1502857"/>
            <a:ext cx="8385928" cy="5069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CSS 语法规则由两个主要的部分构成：选择器以及一条或多条声明</a:t>
            </a:r>
            <a:r>
              <a:rPr lang="zh-CN" altLang="en-US" sz="2000" dirty="0">
                <a:solidFill>
                  <a:srgbClr val="C00000"/>
                </a:solidFill>
              </a:rPr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281848" y="4443076"/>
            <a:ext cx="9854085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charset="2"/>
              <a:buChar char="l"/>
            </a:pPr>
            <a:r>
              <a:rPr lang="en-US" altLang="zh-CN" sz="2000" dirty="0"/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选择器</a:t>
            </a:r>
            <a:r>
              <a:rPr lang="zh-CN" altLang="en-US" sz="2000" dirty="0"/>
              <a:t>是用于指定</a:t>
            </a:r>
            <a:r>
              <a:rPr lang="en-US" altLang="zh-CN" sz="2000" dirty="0"/>
              <a:t>CSS</a:t>
            </a:r>
            <a:r>
              <a:rPr lang="zh-CN" altLang="en-US" sz="2000" dirty="0"/>
              <a:t>样式的</a:t>
            </a:r>
            <a:r>
              <a:rPr lang="en-US" altLang="zh-CN" sz="2000" dirty="0">
                <a:solidFill>
                  <a:srgbClr val="FF0000"/>
                </a:solidFill>
              </a:rPr>
              <a:t>HTML</a:t>
            </a:r>
            <a:r>
              <a:rPr lang="zh-CN" altLang="en-US" sz="2000" dirty="0">
                <a:solidFill>
                  <a:srgbClr val="FF0000"/>
                </a:solidFill>
              </a:rPr>
              <a:t>标签</a:t>
            </a:r>
            <a:r>
              <a:rPr lang="zh-CN" altLang="en-US" sz="2000" dirty="0"/>
              <a:t>，花括号内是对该对象设置的具体样式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charset="2"/>
              <a:buChar char="l"/>
            </a:pPr>
            <a:r>
              <a:rPr lang="zh-CN" altLang="en-US" sz="2000" dirty="0"/>
              <a:t> 属性和属性值以“键值对”的形式出现，多个属性和属性值使用分号</a:t>
            </a:r>
            <a:r>
              <a:rPr lang="en-US" altLang="zh-CN" sz="2000" b="1" dirty="0">
                <a:solidFill>
                  <a:srgbClr val="FF0000"/>
                </a:solidFill>
              </a:rPr>
              <a:t>;</a:t>
            </a:r>
            <a:r>
              <a:rPr lang="zh-CN" altLang="en-US" sz="2000" dirty="0"/>
              <a:t>隔开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charset="2"/>
              <a:buChar char="l"/>
            </a:pPr>
            <a:r>
              <a:rPr lang="zh-CN" altLang="en-US" sz="2000" dirty="0"/>
              <a:t> 属性是对指定的对象设置的样式属性，例如字体大小、文本颜色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charset="2"/>
              <a:buChar char="l"/>
            </a:pPr>
            <a:r>
              <a:rPr lang="zh-CN" altLang="en-US" sz="2000" dirty="0"/>
              <a:t>多条声明之间，使用英文分号隔开</a:t>
            </a:r>
          </a:p>
        </p:txBody>
      </p:sp>
      <p:sp>
        <p:nvSpPr>
          <p:cNvPr id="2" name="矩形: 圆角 1"/>
          <p:cNvSpPr/>
          <p:nvPr/>
        </p:nvSpPr>
        <p:spPr>
          <a:xfrm>
            <a:off x="1455682" y="2814984"/>
            <a:ext cx="1162493" cy="94275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h1</a:t>
            </a:r>
            <a:endParaRPr lang="zh-CN" altLang="en-US" sz="3200" dirty="0"/>
          </a:p>
        </p:txBody>
      </p:sp>
      <p:sp>
        <p:nvSpPr>
          <p:cNvPr id="4" name="矩形: 圆角 3"/>
          <p:cNvSpPr/>
          <p:nvPr/>
        </p:nvSpPr>
        <p:spPr>
          <a:xfrm>
            <a:off x="3117905" y="2650500"/>
            <a:ext cx="7931889" cy="9756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Consolas" pitchFamily="49" charset="0"/>
              </a:rPr>
              <a:t>{ </a:t>
            </a:r>
            <a:r>
              <a:rPr lang="en-US" altLang="zh-CN" sz="3200" dirty="0" err="1">
                <a:latin typeface="Consolas" pitchFamily="49" charset="0"/>
              </a:rPr>
              <a:t>color:blue</a:t>
            </a:r>
            <a:r>
              <a:rPr lang="en-US" altLang="zh-CN" sz="3200" dirty="0">
                <a:latin typeface="Consolas" pitchFamily="49" charset="0"/>
              </a:rPr>
              <a:t>; text-align: center; }</a:t>
            </a:r>
            <a:endParaRPr lang="zh-CN" altLang="en-US" sz="3200" dirty="0">
              <a:latin typeface="Consolas" pitchFamily="49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264235" y="3334487"/>
            <a:ext cx="0" cy="38788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387603" y="207199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声明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455007" y="3332237"/>
            <a:ext cx="0" cy="39013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929460" y="369573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属性值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156985" y="3334488"/>
            <a:ext cx="0" cy="4547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854659" y="373470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属性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9614337" y="3394122"/>
            <a:ext cx="0" cy="3950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137284" y="371074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属性值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538444" y="215194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选择器</a:t>
            </a:r>
          </a:p>
        </p:txBody>
      </p:sp>
      <p:sp>
        <p:nvSpPr>
          <p:cNvPr id="29" name="矩形 28"/>
          <p:cNvSpPr/>
          <p:nvPr/>
        </p:nvSpPr>
        <p:spPr>
          <a:xfrm>
            <a:off x="3593268" y="2744766"/>
            <a:ext cx="2286296" cy="1390050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4686870" y="2426713"/>
            <a:ext cx="0" cy="3180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951826" y="369573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属性</a:t>
            </a:r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8410731" y="2426712"/>
            <a:ext cx="0" cy="3180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6297982" y="2744765"/>
            <a:ext cx="4007803" cy="1390051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8121553" y="204459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声明</a:t>
            </a:r>
          </a:p>
        </p:txBody>
      </p:sp>
      <p:cxnSp>
        <p:nvCxnSpPr>
          <p:cNvPr id="36" name="直接箭头连接符 35"/>
          <p:cNvCxnSpPr>
            <a:endCxn id="26" idx="2"/>
          </p:cNvCxnSpPr>
          <p:nvPr/>
        </p:nvCxnSpPr>
        <p:spPr>
          <a:xfrm flipV="1">
            <a:off x="2015497" y="2552058"/>
            <a:ext cx="1" cy="42195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512D1547-AB79-EA20-436B-2578B8F5C576}"/>
              </a:ext>
            </a:extLst>
          </p:cNvPr>
          <p:cNvSpPr txBox="1">
            <a:spLocks/>
          </p:cNvSpPr>
          <p:nvPr/>
        </p:nvSpPr>
        <p:spPr>
          <a:xfrm>
            <a:off x="517458" y="136524"/>
            <a:ext cx="8613041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CSS</a:t>
            </a:r>
            <a:r>
              <a:rPr lang="zh-CN" altLang="en-US" dirty="0"/>
              <a:t>语法规范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D2ECCA-130F-398C-F817-EA2E10E9E3CD}"/>
              </a:ext>
            </a:extLst>
          </p:cNvPr>
          <p:cNvSpPr txBox="1"/>
          <p:nvPr/>
        </p:nvSpPr>
        <p:spPr>
          <a:xfrm>
            <a:off x="880094" y="1036828"/>
            <a:ext cx="5758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3.1 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CSS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语法规范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---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怎么写？</a:t>
            </a:r>
            <a:endParaRPr lang="en-US" altLang="zh-CN" sz="2400" b="1" i="0" dirty="0">
              <a:effectLst/>
              <a:latin typeface="+mn-ea"/>
              <a:cs typeface="+mn-ea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72D79F4F-CEA8-8EAC-AAC8-712E9619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79835" y="1057081"/>
            <a:ext cx="5758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3.2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CSS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代码风格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—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内部样式</a:t>
            </a:r>
            <a:endParaRPr lang="en-US" altLang="zh-CN" sz="2400" b="1" dirty="0"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34936" y="1452719"/>
            <a:ext cx="9384658" cy="111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样式格式书写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① 紧凑格式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34936" y="3429001"/>
            <a:ext cx="6096000" cy="569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② 展开格式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440954" y="6091597"/>
            <a:ext cx="6096000" cy="569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强烈推荐第二种格式</a:t>
            </a:r>
            <a:r>
              <a:rPr lang="zh-CN" altLang="en-US" dirty="0"/>
              <a:t>，因为更直观。</a:t>
            </a:r>
          </a:p>
        </p:txBody>
      </p:sp>
      <p:sp>
        <p:nvSpPr>
          <p:cNvPr id="4" name="矩形 3"/>
          <p:cNvSpPr/>
          <p:nvPr/>
        </p:nvSpPr>
        <p:spPr>
          <a:xfrm>
            <a:off x="1785951" y="2683745"/>
            <a:ext cx="5037505" cy="562784"/>
          </a:xfrm>
          <a:prstGeom prst="rect">
            <a:avLst/>
          </a:prstGeom>
          <a:solidFill>
            <a:srgbClr val="E4F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div{</a:t>
            </a:r>
            <a:r>
              <a:rPr lang="en-US" altLang="zh-CN" sz="2000" b="1" dirty="0" err="1">
                <a:solidFill>
                  <a:schemeClr val="tx1"/>
                </a:solidFill>
                <a:latin typeface="Consolas" pitchFamily="49" charset="0"/>
              </a:rPr>
              <a:t>color:red;text-align:center</a:t>
            </a: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;}</a:t>
            </a:r>
          </a:p>
        </p:txBody>
      </p:sp>
      <p:sp>
        <p:nvSpPr>
          <p:cNvPr id="5" name="矩形 4"/>
          <p:cNvSpPr/>
          <p:nvPr/>
        </p:nvSpPr>
        <p:spPr>
          <a:xfrm>
            <a:off x="1785950" y="4174255"/>
            <a:ext cx="5037505" cy="1675657"/>
          </a:xfrm>
          <a:prstGeom prst="rect">
            <a:avLst/>
          </a:prstGeom>
          <a:solidFill>
            <a:srgbClr val="E4F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   div{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        </a:t>
            </a:r>
            <a:r>
              <a:rPr lang="en-US" altLang="zh-CN" sz="2000" b="1" dirty="0" err="1">
                <a:solidFill>
                  <a:schemeClr val="tx1"/>
                </a:solidFill>
                <a:latin typeface="Consolas" pitchFamily="49" charset="0"/>
              </a:rPr>
              <a:t>color:red</a:t>
            </a: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        </a:t>
            </a:r>
            <a:r>
              <a:rPr lang="en-US" altLang="zh-CN" sz="2000" b="1" dirty="0" err="1">
                <a:solidFill>
                  <a:schemeClr val="tx1"/>
                </a:solidFill>
                <a:latin typeface="Consolas" pitchFamily="49" charset="0"/>
              </a:rPr>
              <a:t>text-align:center</a:t>
            </a: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   }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E20239FC-17F9-B18D-1689-E5E7B2D1CD90}"/>
              </a:ext>
            </a:extLst>
          </p:cNvPr>
          <p:cNvSpPr txBox="1">
            <a:spLocks/>
          </p:cNvSpPr>
          <p:nvPr/>
        </p:nvSpPr>
        <p:spPr>
          <a:xfrm>
            <a:off x="517458" y="136524"/>
            <a:ext cx="8613041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CSS</a:t>
            </a:r>
            <a:r>
              <a:rPr lang="zh-CN" altLang="en-US" dirty="0"/>
              <a:t>语法规范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8043829-FC84-6B5F-0C67-7661038E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79835" y="1057081"/>
            <a:ext cx="5758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3.2 CSS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代码风格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---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内部样式</a:t>
            </a:r>
            <a:endParaRPr lang="en-US" altLang="zh-CN" sz="2400" b="1" dirty="0"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34936" y="1452719"/>
            <a:ext cx="9384658" cy="56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样式大小写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334936" y="5713910"/>
            <a:ext cx="10480033" cy="569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强烈推荐样式选择器，属性名，属性值关键字</a:t>
            </a:r>
            <a:r>
              <a:rPr lang="zh-CN" altLang="en-US" b="1" dirty="0">
                <a:solidFill>
                  <a:srgbClr val="FF0000"/>
                </a:solidFill>
              </a:rPr>
              <a:t>全部使用小写字母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zh-CN" altLang="en-US" dirty="0"/>
              <a:t>特殊情况外。</a:t>
            </a:r>
          </a:p>
        </p:txBody>
      </p:sp>
      <p:sp>
        <p:nvSpPr>
          <p:cNvPr id="4" name="矩形 3"/>
          <p:cNvSpPr/>
          <p:nvPr/>
        </p:nvSpPr>
        <p:spPr>
          <a:xfrm>
            <a:off x="1537447" y="2348867"/>
            <a:ext cx="5037505" cy="1267460"/>
          </a:xfrm>
          <a:prstGeom prst="rect">
            <a:avLst/>
          </a:prstGeom>
          <a:solidFill>
            <a:srgbClr val="E4F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h3{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     </a:t>
            </a:r>
            <a:r>
              <a:rPr lang="en-US" altLang="zh-CN" sz="2000" b="1" dirty="0" err="1">
                <a:solidFill>
                  <a:schemeClr val="tx1"/>
                </a:solidFill>
                <a:latin typeface="Consolas" pitchFamily="49" charset="0"/>
              </a:rPr>
              <a:t>color:pink</a:t>
            </a: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;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1537447" y="3949693"/>
            <a:ext cx="5037505" cy="1267460"/>
          </a:xfrm>
          <a:prstGeom prst="rect">
            <a:avLst/>
          </a:prstGeom>
          <a:solidFill>
            <a:srgbClr val="E4F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H3{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    COLOR:PINK;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D274784-C563-9D90-3103-B3CFBCD63F27}"/>
              </a:ext>
            </a:extLst>
          </p:cNvPr>
          <p:cNvSpPr txBox="1">
            <a:spLocks/>
          </p:cNvSpPr>
          <p:nvPr/>
        </p:nvSpPr>
        <p:spPr>
          <a:xfrm>
            <a:off x="517458" y="136524"/>
            <a:ext cx="8613041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CSS</a:t>
            </a:r>
            <a:r>
              <a:rPr lang="zh-CN" altLang="en-US" dirty="0"/>
              <a:t>语法规范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92BB995-83E7-83B5-4E0E-FB9E197B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79835" y="1057081"/>
            <a:ext cx="5758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3. 2 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CSS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cs typeface="+mn-ea"/>
              </a:rPr>
              <a:t>代码风格</a:t>
            </a:r>
            <a:endParaRPr lang="en-US" altLang="zh-CN" sz="2400" b="1" dirty="0"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34936" y="1452719"/>
            <a:ext cx="9384658" cy="111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空格规范</a:t>
            </a:r>
            <a:endParaRPr lang="en-US" altLang="zh-CN" dirty="0"/>
          </a:p>
          <a:p>
            <a:pPr>
              <a:lnSpc>
                <a:spcPct val="200000"/>
              </a:lnSpc>
            </a:pP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334934" y="4042258"/>
            <a:ext cx="8608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circleNumDbPlain"/>
            </a:pPr>
            <a:r>
              <a:rPr lang="zh-CN" altLang="en-US" sz="2000" dirty="0"/>
              <a:t>属性值前面，冒号后面，保留一个空格</a:t>
            </a:r>
            <a:endParaRPr lang="en-US" altLang="zh-CN" sz="2000" dirty="0"/>
          </a:p>
          <a:p>
            <a:pPr marL="342900" indent="-342900">
              <a:buAutoNum type="circleNumDbPlain"/>
            </a:pPr>
            <a:endParaRPr lang="en-US" altLang="zh-CN" sz="2000" dirty="0"/>
          </a:p>
          <a:p>
            <a:pPr marL="342900" indent="-342900">
              <a:buAutoNum type="circleNumDbPlain"/>
            </a:pPr>
            <a:r>
              <a:rPr lang="zh-CN" altLang="en-US" sz="2000" dirty="0"/>
              <a:t>选择器（标签）和大括号中间保留空格</a:t>
            </a:r>
          </a:p>
        </p:txBody>
      </p:sp>
      <p:sp>
        <p:nvSpPr>
          <p:cNvPr id="3" name="矩形 2"/>
          <p:cNvSpPr/>
          <p:nvPr/>
        </p:nvSpPr>
        <p:spPr>
          <a:xfrm>
            <a:off x="1537447" y="2348867"/>
            <a:ext cx="5037505" cy="1267460"/>
          </a:xfrm>
          <a:prstGeom prst="rect">
            <a:avLst/>
          </a:prstGeom>
          <a:solidFill>
            <a:srgbClr val="E4F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h3 {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     color: pink;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ED43D87-E8CD-E3B8-2D06-1FA2615718EA}"/>
              </a:ext>
            </a:extLst>
          </p:cNvPr>
          <p:cNvSpPr txBox="1">
            <a:spLocks/>
          </p:cNvSpPr>
          <p:nvPr/>
        </p:nvSpPr>
        <p:spPr>
          <a:xfrm>
            <a:off x="517458" y="136524"/>
            <a:ext cx="8613041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CSS</a:t>
            </a:r>
            <a:r>
              <a:rPr lang="zh-CN" altLang="en-US" dirty="0"/>
              <a:t>语法规范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6D8D641-1871-B96F-E840-F028F91D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C9E7-8970-F66B-1202-FC1D9BFB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F3C2B44-397D-5D9F-0C8A-BE93F1DEA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0661"/>
            <a:ext cx="6620933" cy="2977339"/>
          </a:xfrm>
          <a:prstGeom prst="rect">
            <a:avLst/>
          </a:prstGeom>
        </p:spPr>
      </p:pic>
      <p:sp>
        <p:nvSpPr>
          <p:cNvPr id="31" name="矩形 69">
            <a:extLst>
              <a:ext uri="{FF2B5EF4-FFF2-40B4-BE49-F238E27FC236}">
                <a16:creationId xmlns:a16="http://schemas.microsoft.com/office/drawing/2014/main" id="{9CA7181C-7447-758B-C80B-AB974488A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83" y="1407679"/>
            <a:ext cx="753511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defTabSz="1219170"/>
            <a:r>
              <a:rPr lang="en-US" altLang="zh-CN" sz="96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04  </a:t>
            </a:r>
            <a:r>
              <a:rPr lang="en-US" altLang="zh-CN" sz="66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CSS</a:t>
            </a:r>
            <a:r>
              <a:rPr lang="zh-CN" altLang="en-US" sz="66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字体属性</a:t>
            </a:r>
            <a:endParaRPr lang="en-US" altLang="zh-CN" sz="6600" b="1" dirty="0">
              <a:solidFill>
                <a:srgbClr val="66BFBC"/>
              </a:solidFill>
              <a:latin typeface="方正卡通简体" panose="03000509000000000000" pitchFamily="65" charset="-122"/>
              <a:ea typeface="方正卡通简体" panose="03000509000000000000" pitchFamily="65" charset="-122"/>
              <a:sym typeface="微软雅黑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797BE034-66A7-45BB-4855-10B049E6B1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183" y="2680943"/>
            <a:ext cx="7205487" cy="120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3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A562CAB-F4B0-7DC5-F659-F3970E327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字体属性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86173C-A732-2E28-7B0D-FA0A2F1614B6}"/>
              </a:ext>
            </a:extLst>
          </p:cNvPr>
          <p:cNvSpPr txBox="1"/>
          <p:nvPr/>
        </p:nvSpPr>
        <p:spPr>
          <a:xfrm>
            <a:off x="700088" y="1733776"/>
            <a:ext cx="6315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3.1</a:t>
            </a:r>
            <a:r>
              <a:rPr lang="zh-CN" altLang="en-US" sz="2400" b="1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 字体系列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3D5058-E840-AA69-19B1-A37A0F8A2114}"/>
              </a:ext>
            </a:extLst>
          </p:cNvPr>
          <p:cNvSpPr txBox="1"/>
          <p:nvPr/>
        </p:nvSpPr>
        <p:spPr>
          <a:xfrm>
            <a:off x="700088" y="1114407"/>
            <a:ext cx="10912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en-US" altLang="zh-CN" sz="2400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Fonts</a:t>
            </a:r>
            <a:r>
              <a:rPr lang="en-US" altLang="zh-CN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(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字体</a:t>
            </a:r>
            <a:r>
              <a:rPr lang="en-US" altLang="zh-CN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)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属性用于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系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列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小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粗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细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斜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16BF85-F0FF-2A72-16BB-5D6E29F78931}"/>
              </a:ext>
            </a:extLst>
          </p:cNvPr>
          <p:cNvSpPr txBox="1"/>
          <p:nvPr/>
        </p:nvSpPr>
        <p:spPr>
          <a:xfrm>
            <a:off x="700088" y="2328148"/>
            <a:ext cx="85925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en-US" altLang="zh-CN" sz="2400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使用</a:t>
            </a:r>
            <a:r>
              <a:rPr lang="zh-CN" altLang="en-US" sz="24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font-family</a:t>
            </a:r>
            <a:r>
              <a:rPr lang="en-US" altLang="zh-CN" sz="2400" spc="-4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属性定义文本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系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列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3657BF7-129B-F116-D891-34AD816F58E6}"/>
              </a:ext>
            </a:extLst>
          </p:cNvPr>
          <p:cNvSpPr/>
          <p:nvPr/>
        </p:nvSpPr>
        <p:spPr>
          <a:xfrm>
            <a:off x="860108" y="2922520"/>
            <a:ext cx="8055292" cy="985648"/>
          </a:xfrm>
          <a:custGeom>
            <a:avLst/>
            <a:gdLst/>
            <a:ahLst/>
            <a:cxnLst/>
            <a:rect l="l" t="t" r="r" b="b"/>
            <a:pathLst>
              <a:path w="6610984" h="647700">
                <a:moveTo>
                  <a:pt x="0" y="647103"/>
                </a:moveTo>
                <a:lnTo>
                  <a:pt x="6610984" y="647103"/>
                </a:lnTo>
                <a:lnTo>
                  <a:pt x="6610984" y="0"/>
                </a:lnTo>
                <a:lnTo>
                  <a:pt x="0" y="0"/>
                </a:lnTo>
                <a:lnTo>
                  <a:pt x="0" y="647103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0815">
              <a:lnSpc>
                <a:spcPct val="100000"/>
              </a:lnSpc>
            </a:pPr>
            <a:r>
              <a:rPr lang="en-US" altLang="zh-CN" sz="1800" spc="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p</a:t>
            </a:r>
            <a:r>
              <a:rPr lang="en-US" altLang="zh-CN" sz="1800" spc="-2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 spc="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  <a:r>
              <a:rPr lang="en-US" altLang="zh-CN" sz="1800" spc="-2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 spc="-1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font-family:"</a:t>
            </a:r>
            <a:r>
              <a:rPr lang="zh-CN" altLang="en-US" sz="1800" spc="5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微</a:t>
            </a:r>
            <a:r>
              <a:rPr lang="zh-CN" altLang="en-US" sz="1800" spc="-5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软</a:t>
            </a:r>
            <a:r>
              <a:rPr lang="zh-CN" altLang="en-US" sz="1800" spc="-1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雅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黑</a:t>
            </a:r>
            <a:r>
              <a:rPr lang="en-US" altLang="zh-CN" sz="18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";}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170815">
              <a:lnSpc>
                <a:spcPct val="100000"/>
              </a:lnSpc>
              <a:spcBef>
                <a:spcPts val="635"/>
              </a:spcBef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div</a:t>
            </a:r>
            <a:r>
              <a:rPr lang="en-US" altLang="zh-CN" sz="1800" spc="-4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{font-family:</a:t>
            </a:r>
            <a:r>
              <a:rPr lang="en-US" altLang="zh-CN" sz="1800" spc="-4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Arial,"Microsoft</a:t>
            </a:r>
            <a:r>
              <a:rPr lang="en-US" altLang="zh-CN" sz="1800" spc="-5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Yahei",</a:t>
            </a:r>
            <a:r>
              <a:rPr lang="en-US" altLang="zh-CN" sz="1800" spc="-5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 spc="2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"</a:t>
            </a:r>
            <a:r>
              <a:rPr lang="zh-CN" altLang="en-US" sz="1800" spc="5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微软雅黑</a:t>
            </a:r>
            <a:r>
              <a:rPr lang="en-US" altLang="zh-CN" sz="1800" spc="-1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";}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C07635-2878-3E7D-040F-A374DCA38586}"/>
              </a:ext>
            </a:extLst>
          </p:cNvPr>
          <p:cNvSpPr txBox="1"/>
          <p:nvPr/>
        </p:nvSpPr>
        <p:spPr>
          <a:xfrm>
            <a:off x="860108" y="4212325"/>
            <a:ext cx="11369992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1775" indent="-212090">
              <a:lnSpc>
                <a:spcPct val="100000"/>
              </a:lnSpc>
              <a:buFont typeface="Wingdings"/>
              <a:buChar char=""/>
              <a:tabLst>
                <a:tab pos="232410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各种字体之间必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须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使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用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英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状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态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下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逗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号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隔开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52525"/>
              </a:buClr>
              <a:buFont typeface="Wingdings"/>
              <a:buChar char="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192405" indent="-172720">
              <a:lnSpc>
                <a:spcPct val="100000"/>
              </a:lnSpc>
              <a:buFont typeface="Wingdings"/>
              <a:buChar char=""/>
              <a:tabLst>
                <a:tab pos="193040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一般情况下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,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果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有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空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格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隔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开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多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个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单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词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组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成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,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加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引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号</a:t>
            </a: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.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252525"/>
              </a:buClr>
              <a:buFont typeface="Wingdings"/>
              <a:buChar char="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231775" indent="-212090">
              <a:lnSpc>
                <a:spcPct val="100000"/>
              </a:lnSpc>
              <a:buFont typeface="Wingdings"/>
              <a:buChar char=""/>
              <a:tabLst>
                <a:tab pos="232410" algn="l"/>
              </a:tabLst>
            </a:pP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尽量使用系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统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默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认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自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带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保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证</a:t>
            </a:r>
            <a:r>
              <a:rPr lang="zh-CN" altLang="en-US" sz="20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在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任</a:t>
            </a:r>
            <a:r>
              <a:rPr lang="zh-CN" altLang="en-US" sz="20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何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用</a:t>
            </a:r>
            <a:r>
              <a:rPr lang="zh-CN" altLang="en-US" sz="20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户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浏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览</a:t>
            </a:r>
            <a:r>
              <a:rPr lang="zh-CN" altLang="en-US" sz="20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器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中</a:t>
            </a:r>
            <a:r>
              <a:rPr lang="zh-CN" altLang="en-US" sz="20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都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能</a:t>
            </a:r>
            <a:r>
              <a:rPr lang="zh-CN" altLang="en-US" sz="20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正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确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显示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252525"/>
              </a:buClr>
              <a:buFont typeface="Wingdings"/>
              <a:buChar char="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231775" indent="-212090">
              <a:lnSpc>
                <a:spcPct val="100000"/>
              </a:lnSpc>
              <a:buFont typeface="Wingdings"/>
              <a:buChar char=""/>
              <a:tabLst>
                <a:tab pos="232410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最常见的几个字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zh-CN" altLang="en-US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body</a:t>
            </a:r>
            <a:r>
              <a:rPr lang="zh-CN" altLang="en-US" sz="20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{font-family:</a:t>
            </a:r>
            <a:r>
              <a:rPr lang="zh-CN" altLang="en-US" sz="2000" spc="-3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'Microsoft</a:t>
            </a:r>
            <a:r>
              <a:rPr lang="zh-CN" altLang="en-US" sz="2000" spc="-3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spc="-5" dirty="0" err="1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YaHei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',tahoma,arial,'</a:t>
            </a:r>
            <a:r>
              <a:rPr lang="en-US" altLang="zh-CN" sz="2000" spc="-5" dirty="0" err="1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Hiragino</a:t>
            </a:r>
            <a:r>
              <a:rPr lang="zh-CN" altLang="en-US" sz="2000" spc="-3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Sans</a:t>
            </a:r>
            <a:r>
              <a:rPr lang="zh-CN" altLang="en-US" sz="2000" spc="-2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GB';</a:t>
            </a:r>
            <a:r>
              <a:rPr lang="zh-CN" altLang="en-US" sz="2000" spc="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3769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C4BD9-7F64-0308-E656-FFCBA98A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字体属性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1DBC3ED-0C03-660F-BFB8-215A88D0A2FA}"/>
              </a:ext>
            </a:extLst>
          </p:cNvPr>
          <p:cNvGraphicFramePr>
            <a:graphicFrameLocks noGrp="1"/>
          </p:cNvGraphicFramePr>
          <p:nvPr/>
        </p:nvGraphicFramePr>
        <p:xfrm>
          <a:off x="1568815" y="1454329"/>
          <a:ext cx="9072000" cy="4791832"/>
        </p:xfrm>
        <a:graphic>
          <a:graphicData uri="http://schemas.openxmlformats.org/drawingml/2006/table">
            <a:tbl>
              <a:tblPr/>
              <a:tblGrid>
                <a:gridCol w="453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宋体</a:t>
                      </a: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SimSun</a:t>
                      </a:r>
                      <a:endParaRPr lang="zh-CN" alt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黑体</a:t>
                      </a: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SimHei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微软雅黑</a:t>
                      </a: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Microsoft </a:t>
                      </a:r>
                      <a:r>
                        <a:rPr lang="en-US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Yahei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楷体</a:t>
                      </a: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KaiTi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新宋体</a:t>
                      </a: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NSimSun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仿宋</a:t>
                      </a: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FangSong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549" marR="58549" marT="81968" marB="8196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华文琥珀</a:t>
                      </a:r>
                    </a:p>
                  </a:txBody>
                  <a:tcPr marL="95090" marR="95090" marT="133127" marB="13312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STHupo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090" marR="95090" marT="133127" marB="13312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华文新魏</a:t>
                      </a:r>
                    </a:p>
                  </a:txBody>
                  <a:tcPr marL="95090" marR="95090" marT="133127" marB="13312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STXinwei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090" marR="95090" marT="133127" marB="13312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华文隶书</a:t>
                      </a:r>
                    </a:p>
                  </a:txBody>
                  <a:tcPr marL="95090" marR="95090" marT="133127" marB="13312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STLiti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090" marR="95090" marT="133127" marB="13312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dirty="0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华文行楷</a:t>
                      </a:r>
                    </a:p>
                  </a:txBody>
                  <a:tcPr marL="95090" marR="95090" marT="133127" marB="13312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 err="1">
                          <a:solidFill>
                            <a:srgbClr val="4F4F4F"/>
                          </a:solidFill>
                          <a:effectLst/>
                          <a:latin typeface="+mn-ea"/>
                          <a:ea typeface="+mn-ea"/>
                        </a:rPr>
                        <a:t>STXingkai</a:t>
                      </a:r>
                      <a:endParaRPr lang="en-US" sz="1800" b="0" dirty="0">
                        <a:solidFill>
                          <a:srgbClr val="4F4F4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090" marR="95090" marT="133127" marB="133127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81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1EF59-A315-DEC9-2F5F-5F7251F43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课堂练习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B093E9-682A-4191-1CE0-E20D48FDF3C4}"/>
              </a:ext>
            </a:extLst>
          </p:cNvPr>
          <p:cNvSpPr txBox="1"/>
          <p:nvPr/>
        </p:nvSpPr>
        <p:spPr>
          <a:xfrm>
            <a:off x="1328738" y="2672720"/>
            <a:ext cx="9781222" cy="14229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&lt;h1&gt;CSS font-family&lt;/h1&gt;</a:t>
            </a:r>
          </a:p>
          <a:p>
            <a:pPr>
              <a:lnSpc>
                <a:spcPct val="150000"/>
              </a:lnSpc>
            </a:pPr>
            <a:r>
              <a:rPr lang="en-US" altLang="zh-CN" sz="20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&lt;p &gt;</a:t>
            </a:r>
            <a:r>
              <a:rPr lang="zh-CN" altLang="en-US" sz="20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这一段的字体是 </a:t>
            </a:r>
            <a:r>
              <a:rPr lang="en-US" altLang="zh-CN" sz="20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Times New Roman &lt;/p&gt;</a:t>
            </a:r>
          </a:p>
          <a:p>
            <a:pPr>
              <a:lnSpc>
                <a:spcPct val="150000"/>
              </a:lnSpc>
            </a:pPr>
            <a:r>
              <a:rPr lang="en-US" altLang="zh-CN" sz="20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&lt;p &gt;</a:t>
            </a:r>
            <a:r>
              <a:rPr lang="zh-CN" altLang="en-US" sz="20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这一段的字体是 </a:t>
            </a:r>
            <a:r>
              <a:rPr lang="en-US" altLang="zh-CN" sz="20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Arial.&lt;/p&gt;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F82700-0A61-76FB-906E-5B066BF35228}"/>
              </a:ext>
            </a:extLst>
          </p:cNvPr>
          <p:cNvSpPr txBox="1"/>
          <p:nvPr/>
        </p:nvSpPr>
        <p:spPr>
          <a:xfrm>
            <a:off x="1214438" y="1112170"/>
            <a:ext cx="104470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标签的内容字体变为“微软雅黑”；将“</a:t>
            </a:r>
            <a:r>
              <a:rPr lang="zh-CN" altLang="en-US" sz="28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这一段的字体是 </a:t>
            </a:r>
            <a:r>
              <a:rPr lang="en-US" altLang="zh-CN" sz="28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Times New Roman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”字体变为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Times New Roman 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将“</a:t>
            </a:r>
            <a:r>
              <a:rPr lang="zh-CN" altLang="en-US" sz="28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这一段的字体是 </a:t>
            </a:r>
            <a:r>
              <a:rPr lang="en-US" altLang="zh-CN" sz="2800" b="1" i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Arial.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”字体格式变为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Arial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82CAA3-CB4B-DD79-6154-35F0ACCCF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97" y="4205727"/>
            <a:ext cx="5324544" cy="262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2C5CE18-6537-7087-5DC8-5D1CA4FE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字体属性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0A715C-8341-E097-FC71-3635FA33876D}"/>
              </a:ext>
            </a:extLst>
          </p:cNvPr>
          <p:cNvSpPr txBox="1"/>
          <p:nvPr/>
        </p:nvSpPr>
        <p:spPr>
          <a:xfrm>
            <a:off x="837248" y="1124873"/>
            <a:ext cx="113928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en-US" altLang="zh-CN" sz="2400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Fonts</a:t>
            </a:r>
            <a:r>
              <a:rPr lang="en-US" altLang="zh-CN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(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字体</a:t>
            </a:r>
            <a:r>
              <a:rPr lang="en-US" altLang="zh-CN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)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属性用于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系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列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小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粗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细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斜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zh-CN" altLang="en-US" sz="1200" dirty="0">
              <a:latin typeface="微软雅黑"/>
              <a:cs typeface="微软雅黑"/>
            </a:endParaRPr>
          </a:p>
          <a:p>
            <a:pPr marL="91440">
              <a:lnSpc>
                <a:spcPct val="100000"/>
              </a:lnSpc>
            </a:pPr>
            <a:r>
              <a:rPr lang="en-US" altLang="zh-CN" sz="24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3.2</a:t>
            </a:r>
            <a:r>
              <a:rPr lang="zh-CN" altLang="en-US" sz="2400" b="1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字体大小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075B98-8FED-3CE1-FCCB-C0B4A4B3FA01}"/>
              </a:ext>
            </a:extLst>
          </p:cNvPr>
          <p:cNvSpPr txBox="1"/>
          <p:nvPr/>
        </p:nvSpPr>
        <p:spPr>
          <a:xfrm>
            <a:off x="917776" y="2308706"/>
            <a:ext cx="6315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en-US" altLang="zh-CN" sz="2400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使用</a:t>
            </a:r>
            <a:r>
              <a:rPr lang="zh-CN" altLang="en-US" sz="24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font-size</a:t>
            </a:r>
            <a:r>
              <a:rPr lang="en-US" altLang="zh-CN" sz="2400" spc="-3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属性定义字体大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小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BD6D2BC-8886-7426-77D5-0A122345F07C}"/>
              </a:ext>
            </a:extLst>
          </p:cNvPr>
          <p:cNvSpPr/>
          <p:nvPr/>
        </p:nvSpPr>
        <p:spPr>
          <a:xfrm>
            <a:off x="1077796" y="2962432"/>
            <a:ext cx="7380404" cy="1015663"/>
          </a:xfrm>
          <a:custGeom>
            <a:avLst/>
            <a:gdLst/>
            <a:ahLst/>
            <a:cxnLst/>
            <a:rect l="l" t="t" r="r" b="b"/>
            <a:pathLst>
              <a:path w="6610984" h="871219">
                <a:moveTo>
                  <a:pt x="0" y="871080"/>
                </a:moveTo>
                <a:lnTo>
                  <a:pt x="6610984" y="871080"/>
                </a:lnTo>
                <a:lnTo>
                  <a:pt x="6610984" y="0"/>
                </a:lnTo>
                <a:lnTo>
                  <a:pt x="0" y="0"/>
                </a:lnTo>
                <a:lnTo>
                  <a:pt x="0" y="871080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0815">
              <a:lnSpc>
                <a:spcPct val="10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p</a:t>
            </a:r>
            <a:r>
              <a:rPr lang="en-US" altLang="zh-CN" sz="1800" spc="-2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</a:p>
          <a:p>
            <a:pPr marL="408305">
              <a:lnSpc>
                <a:spcPct val="100000"/>
              </a:lnSpc>
              <a:spcBef>
                <a:spcPts val="625"/>
              </a:spcBef>
            </a:pPr>
            <a:r>
              <a:rPr lang="en-US" altLang="zh-CN" sz="18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font-size:</a:t>
            </a:r>
            <a:r>
              <a:rPr lang="en-US" altLang="zh-CN" sz="1800" spc="-2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20px;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170815">
              <a:lnSpc>
                <a:spcPct val="100000"/>
              </a:lnSpc>
              <a:spcBef>
                <a:spcPts val="640"/>
              </a:spcBef>
            </a:pPr>
            <a:r>
              <a:rPr lang="en-US" altLang="zh-CN" sz="1800" spc="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151979-EE80-A73F-DC12-E0B80F9C2B4D}"/>
              </a:ext>
            </a:extLst>
          </p:cNvPr>
          <p:cNvSpPr txBox="1"/>
          <p:nvPr/>
        </p:nvSpPr>
        <p:spPr>
          <a:xfrm>
            <a:off x="1077796" y="4250166"/>
            <a:ext cx="10672244" cy="2259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940" indent="-212090">
              <a:lnSpc>
                <a:spcPct val="100000"/>
              </a:lnSpc>
              <a:spcBef>
                <a:spcPts val="795"/>
              </a:spcBef>
              <a:buFont typeface="Wingdings"/>
              <a:buChar char=""/>
              <a:tabLst>
                <a:tab pos="282575" algn="l"/>
              </a:tabLst>
            </a:pPr>
            <a:r>
              <a:rPr lang="en-US" altLang="zh-CN" sz="2000" dirty="0" err="1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px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像素）大小是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我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们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网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页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最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常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用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单位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52525"/>
              </a:buClr>
              <a:buFont typeface="Wingdings"/>
              <a:buChar char="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281940" indent="-212090">
              <a:lnSpc>
                <a:spcPct val="100000"/>
              </a:lnSpc>
              <a:spcBef>
                <a:spcPts val="5"/>
              </a:spcBef>
              <a:buFont typeface="Wingdings"/>
              <a:buChar char=""/>
              <a:tabLst>
                <a:tab pos="282575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谷歌浏览器默认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小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为</a:t>
            </a:r>
            <a:r>
              <a:rPr lang="en-US" altLang="zh-CN" sz="20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16px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52525"/>
              </a:buClr>
              <a:buFont typeface="Wingdings"/>
              <a:buChar char="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281940" indent="-212090">
              <a:lnSpc>
                <a:spcPct val="100000"/>
              </a:lnSpc>
              <a:buFont typeface="Wingdings"/>
              <a:buChar char=""/>
              <a:tabLst>
                <a:tab pos="282575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不同浏览器可能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默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认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显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示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号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小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不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致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我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们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尽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量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给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个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明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确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值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小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不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要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默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认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252525"/>
              </a:buClr>
              <a:buFont typeface="Wingdings"/>
              <a:buChar char="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281940" indent="-212090">
              <a:lnSpc>
                <a:spcPct val="100000"/>
              </a:lnSpc>
              <a:buFont typeface="Wingdings"/>
              <a:buChar char=""/>
              <a:tabLst>
                <a:tab pos="282575" algn="l"/>
              </a:tabLst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可以给</a:t>
            </a:r>
            <a:r>
              <a:rPr lang="zh-CN" altLang="en-US" sz="2000" spc="-2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body</a:t>
            </a:r>
            <a:r>
              <a:rPr lang="zh-CN" altLang="en-US" sz="2000" spc="-2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指定整个页面文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5197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A19A5E-F185-4EBB-E0CC-BF4396F9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字体属性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097723-BE5B-ADC8-3B7A-3B4804081364}"/>
              </a:ext>
            </a:extLst>
          </p:cNvPr>
          <p:cNvSpPr txBox="1"/>
          <p:nvPr/>
        </p:nvSpPr>
        <p:spPr>
          <a:xfrm>
            <a:off x="916841" y="1274193"/>
            <a:ext cx="9921241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设置字体大小像素：{font-size:20px;}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用em来设置字体大小: {font-size:0.75em;}em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，相对于父辈字体的大小来定义字体大小</a:t>
            </a:r>
          </a:p>
          <a:p>
            <a:pPr marL="0" lvl="1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使用百分比设置字体大小：</a:t>
            </a:r>
            <a:r>
              <a:rPr lang="zh-CN" altLang="en-US" sz="2400" b="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{font-size:150%;}</a:t>
            </a:r>
          </a:p>
          <a:p>
            <a:pPr marL="0" lvl="1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larger、smaller，根据父辈字体尺寸相对增大会缩小</a:t>
            </a:r>
            <a:endParaRPr lang="zh-CN" altLang="en-US" sz="24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921957-6894-674B-E7F9-C91E1D801120}"/>
              </a:ext>
            </a:extLst>
          </p:cNvPr>
          <p:cNvSpPr txBox="1"/>
          <p:nvPr/>
        </p:nvSpPr>
        <p:spPr>
          <a:xfrm>
            <a:off x="916839" y="4071241"/>
            <a:ext cx="10483949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使用绝对大小定义字体：</a:t>
            </a:r>
            <a:endParaRPr lang="en-US" altLang="zh-CN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	xx-small</a:t>
            </a: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、</a:t>
            </a:r>
            <a:r>
              <a:rPr lang="en-US" altLang="zh-CN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x-small</a:t>
            </a: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、</a:t>
            </a:r>
            <a:r>
              <a:rPr lang="en-US" altLang="zh-CN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small</a:t>
            </a: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、</a:t>
            </a:r>
            <a:r>
              <a:rPr lang="en-US" altLang="zh-CN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medium</a:t>
            </a: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、</a:t>
            </a:r>
            <a:r>
              <a:rPr lang="en-US" altLang="zh-CN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large</a:t>
            </a: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、</a:t>
            </a:r>
            <a:r>
              <a:rPr lang="en-US" altLang="zh-CN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x-large</a:t>
            </a: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、</a:t>
            </a:r>
            <a:r>
              <a:rPr lang="en-US" altLang="zh-CN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xx-large</a:t>
            </a: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D8502F-9A5C-7510-932F-AB97D3EE5F08}"/>
              </a:ext>
            </a:extLst>
          </p:cNvPr>
          <p:cNvSpPr txBox="1"/>
          <p:nvPr/>
        </p:nvSpPr>
        <p:spPr>
          <a:xfrm>
            <a:off x="1043449" y="5405737"/>
            <a:ext cx="10230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在网页设计中，常用像素（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px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）和百分比（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%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或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em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）作为字体的大小单位。</a:t>
            </a:r>
          </a:p>
        </p:txBody>
      </p:sp>
    </p:spTree>
    <p:extLst>
      <p:ext uri="{BB962C8B-B14F-4D97-AF65-F5344CB8AC3E}">
        <p14:creationId xmlns:p14="http://schemas.microsoft.com/office/powerpoint/2010/main" val="126965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0D442-146E-FDEF-F880-F1348FEE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825" y="603015"/>
            <a:ext cx="11339989" cy="46606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00000"/>
                </a:solidFill>
              </a:rPr>
              <a:t>想一想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BBEED8-D53A-A9B9-442B-991A11D7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3"/>
          <a:stretch>
            <a:fillRect/>
          </a:stretch>
        </p:blipFill>
        <p:spPr>
          <a:xfrm>
            <a:off x="5550639" y="1069079"/>
            <a:ext cx="5137026" cy="384203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9398A0A-BFFB-E857-9C7C-282DE015303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l="10525" t="-426"/>
          <a:stretch>
            <a:fillRect/>
          </a:stretch>
        </p:blipFill>
        <p:spPr>
          <a:xfrm>
            <a:off x="953728" y="1706396"/>
            <a:ext cx="4188544" cy="239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8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519BBF9-32CE-C207-EE71-C3EFB36E564C}"/>
              </a:ext>
            </a:extLst>
          </p:cNvPr>
          <p:cNvSpPr txBox="1">
            <a:spLocks/>
          </p:cNvSpPr>
          <p:nvPr/>
        </p:nvSpPr>
        <p:spPr>
          <a:xfrm>
            <a:off x="517458" y="174624"/>
            <a:ext cx="8613041" cy="740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000" dirty="0"/>
              <a:t>CSS</a:t>
            </a:r>
            <a:r>
              <a:rPr lang="zh-CN" altLang="en-US" sz="4000" dirty="0"/>
              <a:t>字体属性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8B53F2-8E44-56DB-529E-00C56CD3D6A6}"/>
              </a:ext>
            </a:extLst>
          </p:cNvPr>
          <p:cNvSpPr txBox="1"/>
          <p:nvPr/>
        </p:nvSpPr>
        <p:spPr>
          <a:xfrm>
            <a:off x="517458" y="1250603"/>
            <a:ext cx="113928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en-US" altLang="zh-CN" sz="2400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Fonts</a:t>
            </a:r>
            <a:r>
              <a:rPr lang="en-US" altLang="zh-CN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(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字体</a:t>
            </a:r>
            <a:r>
              <a:rPr lang="en-US" altLang="zh-CN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)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属性用于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系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列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小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粗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细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和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字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样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式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斜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体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zh-CN" altLang="en-US" sz="1200" dirty="0">
              <a:latin typeface="微软雅黑"/>
              <a:cs typeface="微软雅黑"/>
            </a:endParaRPr>
          </a:p>
          <a:p>
            <a:pPr marL="91440">
              <a:lnSpc>
                <a:spcPct val="100000"/>
              </a:lnSpc>
            </a:pPr>
            <a:r>
              <a:rPr lang="en-US" altLang="zh-CN" sz="2400" b="1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3.2</a:t>
            </a:r>
            <a:r>
              <a:rPr lang="zh-CN" altLang="en-US" sz="2400" b="1" spc="-5" dirty="0">
                <a:solidFill>
                  <a:srgbClr val="5858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文字样式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ADA80B-09AE-F3AB-64D3-CE03E8F73D8C}"/>
              </a:ext>
            </a:extLst>
          </p:cNvPr>
          <p:cNvSpPr txBox="1"/>
          <p:nvPr/>
        </p:nvSpPr>
        <p:spPr>
          <a:xfrm>
            <a:off x="608648" y="2417410"/>
            <a:ext cx="6315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lnSpc>
                <a:spcPct val="100000"/>
              </a:lnSpc>
              <a:spcBef>
                <a:spcPts val="1875"/>
              </a:spcBef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en-US" altLang="zh-CN" sz="2400" spc="-4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使用</a:t>
            </a:r>
            <a:r>
              <a:rPr lang="zh-CN" altLang="en-US" sz="2400" spc="-1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font-style</a:t>
            </a:r>
            <a:r>
              <a:rPr lang="en-US" altLang="zh-CN" sz="2400" spc="-3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属性设置文本的风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格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B76EBA42-B8BA-6551-9DC1-3E1BA413983A}"/>
              </a:ext>
            </a:extLst>
          </p:cNvPr>
          <p:cNvSpPr/>
          <p:nvPr/>
        </p:nvSpPr>
        <p:spPr>
          <a:xfrm>
            <a:off x="812165" y="3001608"/>
            <a:ext cx="6610984" cy="1147481"/>
          </a:xfrm>
          <a:custGeom>
            <a:avLst/>
            <a:gdLst/>
            <a:ahLst/>
            <a:cxnLst/>
            <a:rect l="l" t="t" r="r" b="b"/>
            <a:pathLst>
              <a:path w="6610984" h="830580">
                <a:moveTo>
                  <a:pt x="0" y="829957"/>
                </a:moveTo>
                <a:lnTo>
                  <a:pt x="6610984" y="829957"/>
                </a:lnTo>
                <a:lnTo>
                  <a:pt x="6610984" y="0"/>
                </a:lnTo>
                <a:lnTo>
                  <a:pt x="0" y="0"/>
                </a:lnTo>
                <a:lnTo>
                  <a:pt x="0" y="829957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0815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p</a:t>
            </a:r>
            <a:r>
              <a:rPr lang="en-US" altLang="zh-CN" sz="18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</a:p>
          <a:p>
            <a:pPr marL="408305">
              <a:lnSpc>
                <a:spcPct val="100000"/>
              </a:lnSpc>
              <a:spcBef>
                <a:spcPts val="625"/>
              </a:spcBef>
            </a:pPr>
            <a:r>
              <a:rPr lang="en-US" altLang="zh-CN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font-style:</a:t>
            </a:r>
            <a:r>
              <a:rPr lang="en-US" altLang="zh-CN" sz="18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normal;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170815">
              <a:lnSpc>
                <a:spcPct val="100000"/>
              </a:lnSpc>
              <a:spcBef>
                <a:spcPts val="635"/>
              </a:spcBef>
            </a:pPr>
            <a:r>
              <a:rPr lang="en-US" altLang="zh-CN" sz="18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DBF5791E-63D9-7617-2D23-3CDE97486A30}"/>
              </a:ext>
            </a:extLst>
          </p:cNvPr>
          <p:cNvSpPr/>
          <p:nvPr/>
        </p:nvSpPr>
        <p:spPr>
          <a:xfrm>
            <a:off x="812164" y="4416432"/>
            <a:ext cx="10343516" cy="15385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F8B21281-E881-4E4A-5893-1989C4F4B1F7}"/>
              </a:ext>
            </a:extLst>
          </p:cNvPr>
          <p:cNvSpPr txBox="1"/>
          <p:nvPr/>
        </p:nvSpPr>
        <p:spPr>
          <a:xfrm>
            <a:off x="812164" y="6222373"/>
            <a:ext cx="11680826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5" dirty="0">
                <a:solidFill>
                  <a:srgbClr val="FF0000"/>
                </a:solidFill>
                <a:latin typeface="微软雅黑"/>
                <a:cs typeface="微软雅黑"/>
              </a:rPr>
              <a:t>注意：</a:t>
            </a:r>
            <a:r>
              <a:rPr sz="2400" b="1" spc="-4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平时我们很少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给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文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字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加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斜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体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，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反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而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要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给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斜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体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标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签</a:t>
            </a:r>
            <a:r>
              <a:rPr sz="2400" spc="-5" dirty="0">
                <a:solidFill>
                  <a:srgbClr val="FF0000"/>
                </a:solidFill>
                <a:latin typeface="微软雅黑"/>
                <a:cs typeface="微软雅黑"/>
              </a:rPr>
              <a:t>（em，i）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改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为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不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倾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斜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字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体</a:t>
            </a:r>
            <a:r>
              <a:rPr sz="2400" spc="5" dirty="0">
                <a:solidFill>
                  <a:srgbClr val="FF0000"/>
                </a:solidFill>
                <a:latin typeface="微软雅黑"/>
                <a:cs typeface="微软雅黑"/>
              </a:rPr>
              <a:t>。</a:t>
            </a:r>
            <a:endParaRPr sz="24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77864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88D057D-7BB3-D3B9-FE62-62AEBA013196}"/>
              </a:ext>
            </a:extLst>
          </p:cNvPr>
          <p:cNvSpPr txBox="1">
            <a:spLocks/>
          </p:cNvSpPr>
          <p:nvPr/>
        </p:nvSpPr>
        <p:spPr>
          <a:xfrm>
            <a:off x="517458" y="174624"/>
            <a:ext cx="8613041" cy="740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000" dirty="0"/>
              <a:t>CSS</a:t>
            </a:r>
            <a:r>
              <a:rPr lang="zh-CN" altLang="en-US" sz="4000" dirty="0"/>
              <a:t>字体属性</a:t>
            </a: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DB4F4CAC-E49E-D88F-2802-D4FBD0AC477C}"/>
              </a:ext>
            </a:extLst>
          </p:cNvPr>
          <p:cNvSpPr txBox="1"/>
          <p:nvPr/>
        </p:nvSpPr>
        <p:spPr>
          <a:xfrm>
            <a:off x="719734" y="1249807"/>
            <a:ext cx="12424766" cy="13651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CSS</a:t>
            </a:r>
            <a:r>
              <a:rPr sz="2000" spc="-5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Fonts</a:t>
            </a:r>
            <a:r>
              <a:rPr sz="2000" spc="-3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(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字体</a:t>
            </a:r>
            <a:r>
              <a:rPr sz="2000" spc="-5" dirty="0">
                <a:solidFill>
                  <a:srgbClr val="252525"/>
                </a:solidFill>
                <a:latin typeface="微软雅黑"/>
                <a:cs typeface="微软雅黑"/>
              </a:rPr>
              <a:t>)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属性用于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定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义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字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体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系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列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、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大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小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、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粗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细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、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和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文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字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样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（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如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斜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体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585858"/>
                </a:solidFill>
                <a:latin typeface="微软雅黑"/>
                <a:cs typeface="微软雅黑"/>
              </a:rPr>
              <a:t>3.5</a:t>
            </a:r>
            <a:r>
              <a:rPr sz="2400" b="1" spc="-5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400" b="1" dirty="0">
                <a:solidFill>
                  <a:srgbClr val="585858"/>
                </a:solidFill>
                <a:latin typeface="微软雅黑"/>
                <a:cs typeface="微软雅黑"/>
              </a:rPr>
              <a:t>字</a:t>
            </a:r>
            <a:r>
              <a:rPr sz="2400" b="1" spc="-5" dirty="0">
                <a:solidFill>
                  <a:srgbClr val="585858"/>
                </a:solidFill>
                <a:latin typeface="微软雅黑"/>
                <a:cs typeface="微软雅黑"/>
              </a:rPr>
              <a:t>体</a:t>
            </a:r>
            <a:r>
              <a:rPr sz="2400" b="1" dirty="0">
                <a:solidFill>
                  <a:srgbClr val="585858"/>
                </a:solidFill>
                <a:latin typeface="微软雅黑"/>
                <a:cs typeface="微软雅黑"/>
              </a:rPr>
              <a:t>复合属性</a:t>
            </a:r>
            <a:endParaRPr sz="24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字体属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性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可以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把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以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上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文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字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样式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综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合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来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写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,</a:t>
            </a:r>
            <a:r>
              <a:rPr sz="2000" spc="-5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这样可以更节约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代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码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: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B0D60360-3300-7FC8-2B40-961F64895727}"/>
              </a:ext>
            </a:extLst>
          </p:cNvPr>
          <p:cNvSpPr/>
          <p:nvPr/>
        </p:nvSpPr>
        <p:spPr>
          <a:xfrm>
            <a:off x="830580" y="2939506"/>
            <a:ext cx="9204960" cy="1365117"/>
          </a:xfrm>
          <a:custGeom>
            <a:avLst/>
            <a:gdLst/>
            <a:ahLst/>
            <a:cxnLst/>
            <a:rect l="l" t="t" r="r" b="b"/>
            <a:pathLst>
              <a:path w="6604000" h="908685">
                <a:moveTo>
                  <a:pt x="0" y="908100"/>
                </a:moveTo>
                <a:lnTo>
                  <a:pt x="6604000" y="908100"/>
                </a:lnTo>
                <a:lnTo>
                  <a:pt x="6604000" y="0"/>
                </a:lnTo>
                <a:lnTo>
                  <a:pt x="0" y="0"/>
                </a:lnTo>
                <a:lnTo>
                  <a:pt x="0" y="908100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59BDC25-EEC7-64C9-6595-51533D2A49F3}"/>
              </a:ext>
            </a:extLst>
          </p:cNvPr>
          <p:cNvSpPr txBox="1"/>
          <p:nvPr/>
        </p:nvSpPr>
        <p:spPr>
          <a:xfrm>
            <a:off x="3050298" y="3452095"/>
            <a:ext cx="833676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031875" algn="l"/>
                <a:tab pos="2858770" algn="l"/>
              </a:tabLst>
            </a:pPr>
            <a:r>
              <a:rPr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font-weigh</a:t>
            </a:r>
            <a:r>
              <a:rPr lang="en-US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t</a:t>
            </a:r>
            <a:r>
              <a:rPr lang="zh-CN" altLang="en-US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 </a:t>
            </a:r>
            <a:r>
              <a:rPr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font-size/line-height	font-family;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47C40B65-CE01-0A41-1892-E1E02A94BEF7}"/>
              </a:ext>
            </a:extLst>
          </p:cNvPr>
          <p:cNvSpPr txBox="1"/>
          <p:nvPr/>
        </p:nvSpPr>
        <p:spPr>
          <a:xfrm>
            <a:off x="922324" y="2987334"/>
            <a:ext cx="6080456" cy="1169551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720"/>
              </a:spcBef>
            </a:pPr>
            <a:r>
              <a:rPr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body</a:t>
            </a:r>
            <a:r>
              <a:rPr sz="20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</a:p>
          <a:p>
            <a:pPr marL="158115">
              <a:lnSpc>
                <a:spcPct val="100000"/>
              </a:lnSpc>
              <a:spcBef>
                <a:spcPts val="625"/>
              </a:spcBef>
            </a:pPr>
            <a:r>
              <a:rPr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font:</a:t>
            </a:r>
            <a:r>
              <a:rPr sz="2000" spc="-5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font-style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52B06A55-ABB0-6DE4-4A09-C1C6DE4A833C}"/>
              </a:ext>
            </a:extLst>
          </p:cNvPr>
          <p:cNvSpPr txBox="1"/>
          <p:nvPr/>
        </p:nvSpPr>
        <p:spPr>
          <a:xfrm>
            <a:off x="830580" y="4629205"/>
            <a:ext cx="9925050" cy="18057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4" indent="-212090">
              <a:lnSpc>
                <a:spcPct val="150000"/>
              </a:lnSpc>
              <a:buFont typeface="Wingdings"/>
              <a:buChar char=""/>
              <a:tabLst>
                <a:tab pos="224790" algn="l"/>
              </a:tabLst>
            </a:pPr>
            <a:r>
              <a:rPr sz="2000" spc="5" dirty="0">
                <a:latin typeface="微软雅黑"/>
                <a:cs typeface="微软雅黑"/>
              </a:rPr>
              <a:t>使用</a:t>
            </a:r>
            <a:r>
              <a:rPr sz="2000" spc="-20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font</a:t>
            </a:r>
            <a:r>
              <a:rPr sz="2000" spc="-20" dirty="0">
                <a:latin typeface="微软雅黑"/>
                <a:cs typeface="微软雅黑"/>
              </a:rPr>
              <a:t> </a:t>
            </a:r>
            <a:r>
              <a:rPr sz="2000" spc="5" dirty="0" err="1">
                <a:latin typeface="微软雅黑"/>
                <a:cs typeface="微软雅黑"/>
              </a:rPr>
              <a:t>属性时，必须按</a:t>
            </a:r>
            <a:r>
              <a:rPr sz="2000" spc="-10" dirty="0" err="1">
                <a:latin typeface="微软雅黑"/>
                <a:cs typeface="微软雅黑"/>
              </a:rPr>
              <a:t>上</a:t>
            </a:r>
            <a:r>
              <a:rPr sz="2000" spc="5" dirty="0" err="1">
                <a:latin typeface="微软雅黑"/>
                <a:cs typeface="微软雅黑"/>
              </a:rPr>
              <a:t>面</a:t>
            </a:r>
            <a:r>
              <a:rPr sz="2000" spc="-10" dirty="0" err="1">
                <a:latin typeface="微软雅黑"/>
                <a:cs typeface="微软雅黑"/>
              </a:rPr>
              <a:t>语</a:t>
            </a:r>
            <a:r>
              <a:rPr sz="2000" spc="5" dirty="0" err="1">
                <a:latin typeface="微软雅黑"/>
                <a:cs typeface="微软雅黑"/>
              </a:rPr>
              <a:t>法</a:t>
            </a:r>
            <a:r>
              <a:rPr sz="2000" spc="-10" dirty="0" err="1">
                <a:latin typeface="微软雅黑"/>
                <a:cs typeface="微软雅黑"/>
              </a:rPr>
              <a:t>格</a:t>
            </a:r>
            <a:r>
              <a:rPr sz="2000" spc="5" dirty="0" err="1">
                <a:latin typeface="微软雅黑"/>
                <a:cs typeface="微软雅黑"/>
              </a:rPr>
              <a:t>式</a:t>
            </a:r>
            <a:r>
              <a:rPr sz="2000" spc="-10" dirty="0" err="1">
                <a:latin typeface="微软雅黑"/>
                <a:cs typeface="微软雅黑"/>
              </a:rPr>
              <a:t>中</a:t>
            </a:r>
            <a:r>
              <a:rPr sz="2000" spc="5" dirty="0" err="1">
                <a:latin typeface="微软雅黑"/>
                <a:cs typeface="微软雅黑"/>
              </a:rPr>
              <a:t>的</a:t>
            </a:r>
            <a:r>
              <a:rPr sz="2000" spc="-10" dirty="0" err="1">
                <a:latin typeface="微软雅黑"/>
                <a:cs typeface="微软雅黑"/>
              </a:rPr>
              <a:t>顺</a:t>
            </a:r>
            <a:r>
              <a:rPr sz="2000" spc="5" dirty="0" err="1">
                <a:latin typeface="微软雅黑"/>
                <a:cs typeface="微软雅黑"/>
              </a:rPr>
              <a:t>序</a:t>
            </a:r>
            <a:r>
              <a:rPr sz="2000" spc="-10" dirty="0" err="1">
                <a:latin typeface="微软雅黑"/>
                <a:cs typeface="微软雅黑"/>
              </a:rPr>
              <a:t>书</a:t>
            </a:r>
            <a:r>
              <a:rPr sz="2000" spc="5" dirty="0" err="1">
                <a:latin typeface="微软雅黑"/>
                <a:cs typeface="微软雅黑"/>
              </a:rPr>
              <a:t>写</a:t>
            </a:r>
            <a:r>
              <a:rPr sz="2000" spc="-10" dirty="0" err="1">
                <a:latin typeface="微软雅黑"/>
                <a:cs typeface="微软雅黑"/>
              </a:rPr>
              <a:t>，</a:t>
            </a:r>
            <a:r>
              <a:rPr sz="2000" spc="5" dirty="0" err="1">
                <a:solidFill>
                  <a:srgbClr val="FF0000"/>
                </a:solidFill>
                <a:latin typeface="微软雅黑"/>
                <a:cs typeface="微软雅黑"/>
              </a:rPr>
              <a:t>不</a:t>
            </a:r>
            <a:r>
              <a:rPr sz="2000" spc="-10" dirty="0" err="1">
                <a:solidFill>
                  <a:srgbClr val="FF0000"/>
                </a:solidFill>
                <a:latin typeface="微软雅黑"/>
                <a:cs typeface="微软雅黑"/>
              </a:rPr>
              <a:t>能</a:t>
            </a:r>
            <a:r>
              <a:rPr sz="2000" spc="5" dirty="0" err="1">
                <a:solidFill>
                  <a:srgbClr val="FF0000"/>
                </a:solidFill>
                <a:latin typeface="微软雅黑"/>
                <a:cs typeface="微软雅黑"/>
              </a:rPr>
              <a:t>更</a:t>
            </a:r>
            <a:r>
              <a:rPr sz="2000" spc="-10" dirty="0" err="1">
                <a:solidFill>
                  <a:srgbClr val="FF0000"/>
                </a:solidFill>
                <a:latin typeface="微软雅黑"/>
                <a:cs typeface="微软雅黑"/>
              </a:rPr>
              <a:t>换</a:t>
            </a:r>
            <a:r>
              <a:rPr sz="2000" spc="5" dirty="0" err="1">
                <a:solidFill>
                  <a:srgbClr val="FF0000"/>
                </a:solidFill>
                <a:latin typeface="微软雅黑"/>
                <a:cs typeface="微软雅黑"/>
              </a:rPr>
              <a:t>顺</a:t>
            </a:r>
            <a:r>
              <a:rPr sz="2000" spc="-5" dirty="0" err="1">
                <a:solidFill>
                  <a:srgbClr val="FF0000"/>
                </a:solidFill>
                <a:latin typeface="微软雅黑"/>
                <a:cs typeface="微软雅黑"/>
              </a:rPr>
              <a:t>序</a:t>
            </a:r>
            <a:r>
              <a:rPr sz="2000" spc="5" dirty="0" err="1">
                <a:latin typeface="微软雅黑"/>
                <a:cs typeface="微软雅黑"/>
              </a:rPr>
              <a:t>，</a:t>
            </a:r>
            <a:r>
              <a:rPr sz="2000" spc="-10" dirty="0" err="1">
                <a:latin typeface="微软雅黑"/>
                <a:cs typeface="微软雅黑"/>
              </a:rPr>
              <a:t>并</a:t>
            </a:r>
            <a:r>
              <a:rPr sz="2000" spc="5" dirty="0" err="1">
                <a:latin typeface="微软雅黑"/>
                <a:cs typeface="微软雅黑"/>
              </a:rPr>
              <a:t>且</a:t>
            </a:r>
            <a:r>
              <a:rPr sz="2000" spc="-10" dirty="0" err="1">
                <a:latin typeface="微软雅黑"/>
                <a:cs typeface="微软雅黑"/>
              </a:rPr>
              <a:t>各</a:t>
            </a:r>
            <a:r>
              <a:rPr sz="2000" spc="5" dirty="0" err="1">
                <a:latin typeface="微软雅黑"/>
                <a:cs typeface="微软雅黑"/>
              </a:rPr>
              <a:t>个</a:t>
            </a:r>
            <a:r>
              <a:rPr sz="2000" spc="-10" dirty="0" err="1">
                <a:latin typeface="微软雅黑"/>
                <a:cs typeface="微软雅黑"/>
              </a:rPr>
              <a:t>属</a:t>
            </a:r>
            <a:r>
              <a:rPr sz="2000" spc="5" dirty="0" err="1">
                <a:latin typeface="微软雅黑"/>
                <a:cs typeface="微软雅黑"/>
              </a:rPr>
              <a:t>性</a:t>
            </a:r>
            <a:r>
              <a:rPr sz="2000" spc="-10" dirty="0" err="1">
                <a:latin typeface="微软雅黑"/>
                <a:cs typeface="微软雅黑"/>
              </a:rPr>
              <a:t>间</a:t>
            </a:r>
            <a:r>
              <a:rPr sz="2000" dirty="0" err="1">
                <a:latin typeface="微软雅黑"/>
                <a:cs typeface="微软雅黑"/>
              </a:rPr>
              <a:t>以</a:t>
            </a:r>
            <a:r>
              <a:rPr sz="2000" spc="-10" dirty="0" err="1">
                <a:solidFill>
                  <a:srgbClr val="FF0000"/>
                </a:solidFill>
                <a:latin typeface="微软雅黑"/>
                <a:cs typeface="微软雅黑"/>
              </a:rPr>
              <a:t>空</a:t>
            </a:r>
            <a:r>
              <a:rPr sz="2000" spc="5" dirty="0" err="1">
                <a:solidFill>
                  <a:srgbClr val="FF0000"/>
                </a:solidFill>
                <a:latin typeface="微软雅黑"/>
                <a:cs typeface="微软雅黑"/>
              </a:rPr>
              <a:t>格</a:t>
            </a:r>
            <a:r>
              <a:rPr sz="2000" spc="-10" dirty="0" err="1">
                <a:latin typeface="微软雅黑"/>
                <a:cs typeface="微软雅黑"/>
              </a:rPr>
              <a:t>隔开</a:t>
            </a:r>
            <a:endParaRPr sz="2000" dirty="0">
              <a:latin typeface="微软雅黑"/>
              <a:cs typeface="微软雅黑"/>
            </a:endParaRPr>
          </a:p>
          <a:p>
            <a:pPr marL="224154" indent="-212090">
              <a:lnSpc>
                <a:spcPct val="150000"/>
              </a:lnSpc>
              <a:buFont typeface="Wingdings"/>
              <a:buChar char=""/>
              <a:tabLst>
                <a:tab pos="224790" algn="l"/>
              </a:tabLst>
            </a:pPr>
            <a:r>
              <a:rPr sz="2000" spc="5" dirty="0">
                <a:latin typeface="微软雅黑"/>
                <a:cs typeface="微软雅黑"/>
              </a:rPr>
              <a:t>不需要设置的属</a:t>
            </a:r>
            <a:r>
              <a:rPr sz="2000" spc="-10" dirty="0">
                <a:latin typeface="微软雅黑"/>
                <a:cs typeface="微软雅黑"/>
              </a:rPr>
              <a:t>性</a:t>
            </a:r>
            <a:r>
              <a:rPr sz="2000" spc="5" dirty="0">
                <a:latin typeface="微软雅黑"/>
                <a:cs typeface="微软雅黑"/>
              </a:rPr>
              <a:t>可</a:t>
            </a:r>
            <a:r>
              <a:rPr sz="2000" spc="-10" dirty="0">
                <a:latin typeface="微软雅黑"/>
                <a:cs typeface="微软雅黑"/>
              </a:rPr>
              <a:t>以</a:t>
            </a:r>
            <a:r>
              <a:rPr sz="2000" spc="5" dirty="0">
                <a:latin typeface="微软雅黑"/>
                <a:cs typeface="微软雅黑"/>
              </a:rPr>
              <a:t>省</a:t>
            </a:r>
            <a:r>
              <a:rPr sz="2000" spc="-10" dirty="0">
                <a:latin typeface="微软雅黑"/>
                <a:cs typeface="微软雅黑"/>
              </a:rPr>
              <a:t>略</a:t>
            </a:r>
            <a:r>
              <a:rPr sz="2000" spc="5" dirty="0">
                <a:latin typeface="微软雅黑"/>
                <a:cs typeface="微软雅黑"/>
              </a:rPr>
              <a:t>（</a:t>
            </a:r>
            <a:r>
              <a:rPr sz="2000" spc="-10" dirty="0">
                <a:latin typeface="微软雅黑"/>
                <a:cs typeface="微软雅黑"/>
              </a:rPr>
              <a:t>取</a:t>
            </a:r>
            <a:r>
              <a:rPr sz="2000" spc="5" dirty="0">
                <a:latin typeface="微软雅黑"/>
                <a:cs typeface="微软雅黑"/>
              </a:rPr>
              <a:t>默</a:t>
            </a:r>
            <a:r>
              <a:rPr sz="2000" spc="-10" dirty="0">
                <a:latin typeface="微软雅黑"/>
                <a:cs typeface="微软雅黑"/>
              </a:rPr>
              <a:t>认</a:t>
            </a:r>
            <a:r>
              <a:rPr sz="2000" spc="5" dirty="0">
                <a:latin typeface="微软雅黑"/>
                <a:cs typeface="微软雅黑"/>
              </a:rPr>
              <a:t>值</a:t>
            </a:r>
            <a:r>
              <a:rPr sz="2000" spc="-5" dirty="0">
                <a:latin typeface="微软雅黑"/>
                <a:cs typeface="微软雅黑"/>
              </a:rPr>
              <a:t>），但</a:t>
            </a:r>
            <a:r>
              <a:rPr sz="2000" spc="5" dirty="0">
                <a:solidFill>
                  <a:srgbClr val="FF0000"/>
                </a:solidFill>
                <a:latin typeface="微软雅黑"/>
                <a:cs typeface="微软雅黑"/>
              </a:rPr>
              <a:t>必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须</a:t>
            </a:r>
            <a:r>
              <a:rPr sz="2000" spc="5" dirty="0">
                <a:solidFill>
                  <a:srgbClr val="FF0000"/>
                </a:solidFill>
                <a:latin typeface="微软雅黑"/>
                <a:cs typeface="微软雅黑"/>
              </a:rPr>
              <a:t>保留</a:t>
            </a:r>
            <a:r>
              <a:rPr sz="2000" spc="-5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font-size</a:t>
            </a:r>
            <a:r>
              <a:rPr sz="2000" spc="-3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000" spc="5" dirty="0">
                <a:solidFill>
                  <a:srgbClr val="FF0000"/>
                </a:solidFill>
                <a:latin typeface="微软雅黑"/>
                <a:cs typeface="微软雅黑"/>
              </a:rPr>
              <a:t>和</a:t>
            </a:r>
            <a:r>
              <a:rPr sz="2000" spc="-1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微软雅黑"/>
                <a:cs typeface="微软雅黑"/>
              </a:rPr>
              <a:t>font-family</a:t>
            </a:r>
            <a:r>
              <a:rPr sz="2000" spc="-4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000" spc="5" dirty="0">
                <a:solidFill>
                  <a:srgbClr val="FF0000"/>
                </a:solidFill>
                <a:latin typeface="微软雅黑"/>
                <a:cs typeface="微软雅黑"/>
              </a:rPr>
              <a:t>属性</a:t>
            </a:r>
            <a:r>
              <a:rPr sz="2000" spc="5" dirty="0">
                <a:latin typeface="微软雅黑"/>
                <a:cs typeface="微软雅黑"/>
              </a:rPr>
              <a:t>，否则</a:t>
            </a:r>
            <a:r>
              <a:rPr sz="2000" spc="-35" dirty="0">
                <a:latin typeface="微软雅黑"/>
                <a:cs typeface="微软雅黑"/>
              </a:rPr>
              <a:t> </a:t>
            </a:r>
            <a:r>
              <a:rPr sz="2000" dirty="0">
                <a:latin typeface="微软雅黑"/>
                <a:cs typeface="微软雅黑"/>
              </a:rPr>
              <a:t>font</a:t>
            </a:r>
            <a:r>
              <a:rPr sz="2000" spc="-20" dirty="0">
                <a:latin typeface="微软雅黑"/>
                <a:cs typeface="微软雅黑"/>
              </a:rPr>
              <a:t> </a:t>
            </a:r>
            <a:r>
              <a:rPr sz="2000" spc="5" dirty="0">
                <a:latin typeface="微软雅黑"/>
                <a:cs typeface="微软雅黑"/>
              </a:rPr>
              <a:t>属性将不起作用</a:t>
            </a:r>
            <a:endParaRPr sz="20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507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D315D-111A-1DE0-EE74-AAFE0B0A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课堂练习</a:t>
            </a:r>
            <a:r>
              <a:rPr lang="en-US" altLang="zh-CN" b="1" dirty="0">
                <a:solidFill>
                  <a:srgbClr val="C00000"/>
                </a:solidFill>
              </a:rPr>
              <a:t>3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13378D-1CC5-C404-C475-55E897AA4DC5}"/>
              </a:ext>
            </a:extLst>
          </p:cNvPr>
          <p:cNvSpPr txBox="1"/>
          <p:nvPr/>
        </p:nvSpPr>
        <p:spPr>
          <a:xfrm>
            <a:off x="881739" y="798379"/>
            <a:ext cx="9252946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字体大小设置为</a:t>
            </a:r>
            <a:r>
              <a:rPr lang="en-US" altLang="zh-CN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像素，字体粗细设置为</a:t>
            </a:r>
            <a:r>
              <a:rPr lang="en-US" altLang="zh-CN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700</a:t>
            </a:r>
            <a:r>
              <a:rPr lang="zh-CN" altLang="en-US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，字体是‘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r>
              <a:rPr lang="zh-CN" altLang="en-US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’。当鼠标放在标题上时（</a:t>
            </a:r>
            <a:r>
              <a:rPr lang="en-US" altLang="zh-CN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a:hover</a:t>
            </a:r>
            <a:r>
              <a:rPr lang="zh-CN" altLang="en-US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），，字体颜色设置为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粉</a:t>
            </a:r>
            <a:r>
              <a:rPr lang="zh-CN" altLang="en-US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色，字体大小变为</a:t>
            </a:r>
            <a:r>
              <a:rPr lang="en-US" altLang="zh-CN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20px,</a:t>
            </a:r>
            <a:r>
              <a:rPr lang="zh-CN" altLang="en-US" sz="24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字体样式变为斜体，背景变为黑色。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0DB235-03B3-2C3E-A1A0-DF0CE95406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57" b="11305"/>
          <a:stretch>
            <a:fillRect/>
          </a:stretch>
        </p:blipFill>
        <p:spPr>
          <a:xfrm>
            <a:off x="730481" y="2554421"/>
            <a:ext cx="4519946" cy="31089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BEE61DE-545D-10A8-7C79-9288D3EF8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855" y="2697296"/>
            <a:ext cx="518160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4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9465B03-03C8-A149-9324-58A88A68295C}"/>
              </a:ext>
            </a:extLst>
          </p:cNvPr>
          <p:cNvSpPr txBox="1">
            <a:spLocks/>
          </p:cNvSpPr>
          <p:nvPr/>
        </p:nvSpPr>
        <p:spPr>
          <a:xfrm>
            <a:off x="517458" y="174624"/>
            <a:ext cx="8613041" cy="740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000" dirty="0"/>
              <a:t>CSS</a:t>
            </a:r>
            <a:r>
              <a:rPr lang="zh-CN" altLang="en-US" sz="4000" dirty="0"/>
              <a:t>字体属性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0809921-FD55-0A7D-4693-31F60E278F09}"/>
              </a:ext>
            </a:extLst>
          </p:cNvPr>
          <p:cNvSpPr txBox="1"/>
          <p:nvPr/>
        </p:nvSpPr>
        <p:spPr>
          <a:xfrm>
            <a:off x="834034" y="1683004"/>
            <a:ext cx="429803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85858"/>
                </a:solidFill>
                <a:latin typeface="微软雅黑"/>
                <a:cs typeface="微软雅黑"/>
              </a:rPr>
              <a:t>3.6</a:t>
            </a:r>
            <a:r>
              <a:rPr sz="2400" b="1" spc="-85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sz="2400" b="1" dirty="0">
                <a:solidFill>
                  <a:srgbClr val="585858"/>
                </a:solidFill>
                <a:latin typeface="微软雅黑"/>
                <a:cs typeface="微软雅黑"/>
              </a:rPr>
              <a:t>字体属性总结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DF83E64-CA85-6E53-00F2-98EA4B8FD7B3}"/>
              </a:ext>
            </a:extLst>
          </p:cNvPr>
          <p:cNvSpPr txBox="1"/>
          <p:nvPr/>
        </p:nvSpPr>
        <p:spPr>
          <a:xfrm>
            <a:off x="834034" y="1138277"/>
            <a:ext cx="1106459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CSS</a:t>
            </a:r>
            <a:r>
              <a:rPr sz="2000" spc="-5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Fonts</a:t>
            </a:r>
            <a:r>
              <a:rPr sz="2000" spc="-30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(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字体</a:t>
            </a:r>
            <a:r>
              <a:rPr sz="2000" spc="-5" dirty="0">
                <a:solidFill>
                  <a:srgbClr val="252525"/>
                </a:solidFill>
                <a:latin typeface="微软雅黑"/>
                <a:cs typeface="微软雅黑"/>
              </a:rPr>
              <a:t>)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属性用于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定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义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字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体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系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列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、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大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小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、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粗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细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、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和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文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字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样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（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如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斜</a:t>
            </a:r>
            <a:r>
              <a:rPr sz="2000" dirty="0">
                <a:solidFill>
                  <a:srgbClr val="252525"/>
                </a:solidFill>
                <a:latin typeface="微软雅黑"/>
                <a:cs typeface="微软雅黑"/>
              </a:rPr>
              <a:t>体</a:t>
            </a:r>
            <a:r>
              <a:rPr sz="2000" spc="-10" dirty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r>
              <a:rPr sz="2000" spc="5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D2F2229E-1961-FFDD-C461-785DFED673AB}"/>
              </a:ext>
            </a:extLst>
          </p:cNvPr>
          <p:cNvSpPr/>
          <p:nvPr/>
        </p:nvSpPr>
        <p:spPr>
          <a:xfrm>
            <a:off x="834034" y="2205990"/>
            <a:ext cx="9487256" cy="28003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09AF7A9-CBA5-AD49-98BF-49D3B739EFD0}"/>
              </a:ext>
            </a:extLst>
          </p:cNvPr>
          <p:cNvSpPr txBox="1"/>
          <p:nvPr/>
        </p:nvSpPr>
        <p:spPr>
          <a:xfrm>
            <a:off x="834034" y="5224490"/>
            <a:ext cx="10927436" cy="882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4" indent="-212090">
              <a:lnSpc>
                <a:spcPct val="150000"/>
              </a:lnSpc>
              <a:buFont typeface="Wingdings"/>
              <a:buChar char=""/>
              <a:tabLst>
                <a:tab pos="224790" algn="l"/>
              </a:tabLst>
            </a:pPr>
            <a:r>
              <a:rPr sz="2000" spc="5" dirty="0">
                <a:latin typeface="微软雅黑"/>
                <a:cs typeface="微软雅黑"/>
              </a:rPr>
              <a:t>字体复合属性如</a:t>
            </a:r>
            <a:r>
              <a:rPr sz="2000" spc="-10" dirty="0">
                <a:latin typeface="微软雅黑"/>
                <a:cs typeface="微软雅黑"/>
              </a:rPr>
              <a:t>何</a:t>
            </a:r>
            <a:r>
              <a:rPr sz="2000" spc="5" dirty="0">
                <a:latin typeface="微软雅黑"/>
                <a:cs typeface="微软雅黑"/>
              </a:rPr>
              <a:t>写</a:t>
            </a:r>
            <a:r>
              <a:rPr sz="2000" dirty="0">
                <a:latin typeface="微软雅黑"/>
                <a:cs typeface="微软雅黑"/>
              </a:rPr>
              <a:t>?</a:t>
            </a:r>
            <a:r>
              <a:rPr sz="2000" spc="-50" dirty="0">
                <a:latin typeface="微软雅黑"/>
                <a:cs typeface="微软雅黑"/>
              </a:rPr>
              <a:t> </a:t>
            </a:r>
            <a:r>
              <a:rPr sz="2000" spc="5" dirty="0" err="1">
                <a:latin typeface="微软雅黑"/>
                <a:cs typeface="微软雅黑"/>
              </a:rPr>
              <a:t>里面有什么注意</a:t>
            </a:r>
            <a:r>
              <a:rPr sz="2000" spc="-10" dirty="0" err="1">
                <a:latin typeface="微软雅黑"/>
                <a:cs typeface="微软雅黑"/>
              </a:rPr>
              <a:t>细</a:t>
            </a:r>
            <a:r>
              <a:rPr sz="2000" spc="5" dirty="0" err="1">
                <a:latin typeface="微软雅黑"/>
                <a:cs typeface="微软雅黑"/>
              </a:rPr>
              <a:t>节</a:t>
            </a:r>
            <a:r>
              <a:rPr sz="2000" dirty="0">
                <a:latin typeface="微软雅黑"/>
                <a:cs typeface="微软雅黑"/>
              </a:rPr>
              <a:t>?</a:t>
            </a:r>
          </a:p>
          <a:p>
            <a:pPr marL="224154" indent="-212090">
              <a:lnSpc>
                <a:spcPct val="150000"/>
              </a:lnSpc>
              <a:buFont typeface="Wingdings"/>
              <a:buChar char=""/>
              <a:tabLst>
                <a:tab pos="224790" algn="l"/>
              </a:tabLst>
            </a:pPr>
            <a:r>
              <a:rPr sz="2000" spc="5" dirty="0">
                <a:latin typeface="微软雅黑"/>
                <a:cs typeface="微软雅黑"/>
              </a:rPr>
              <a:t>如果让加粗的文</a:t>
            </a:r>
            <a:r>
              <a:rPr sz="2000" spc="-10" dirty="0">
                <a:latin typeface="微软雅黑"/>
                <a:cs typeface="微软雅黑"/>
              </a:rPr>
              <a:t>字</a:t>
            </a:r>
            <a:r>
              <a:rPr sz="2000" spc="5" dirty="0">
                <a:latin typeface="微软雅黑"/>
                <a:cs typeface="微软雅黑"/>
              </a:rPr>
              <a:t>不</a:t>
            </a:r>
            <a:r>
              <a:rPr sz="2000" spc="-10" dirty="0">
                <a:latin typeface="微软雅黑"/>
                <a:cs typeface="微软雅黑"/>
              </a:rPr>
              <a:t>加</a:t>
            </a:r>
            <a:r>
              <a:rPr sz="2000" spc="5" dirty="0">
                <a:latin typeface="微软雅黑"/>
                <a:cs typeface="微软雅黑"/>
              </a:rPr>
              <a:t>粗</a:t>
            </a:r>
            <a:r>
              <a:rPr sz="2000" spc="-10" dirty="0">
                <a:latin typeface="微软雅黑"/>
                <a:cs typeface="微软雅黑"/>
              </a:rPr>
              <a:t>显</a:t>
            </a:r>
            <a:r>
              <a:rPr sz="2000" spc="5" dirty="0">
                <a:latin typeface="微软雅黑"/>
                <a:cs typeface="微软雅黑"/>
              </a:rPr>
              <a:t>示</a:t>
            </a:r>
            <a:r>
              <a:rPr sz="2000" dirty="0">
                <a:latin typeface="微软雅黑"/>
                <a:cs typeface="微软雅黑"/>
              </a:rPr>
              <a:t>,</a:t>
            </a:r>
            <a:r>
              <a:rPr sz="2000" spc="-100" dirty="0">
                <a:latin typeface="微软雅黑"/>
                <a:cs typeface="微软雅黑"/>
              </a:rPr>
              <a:t> </a:t>
            </a:r>
            <a:r>
              <a:rPr sz="2000" spc="5" dirty="0">
                <a:latin typeface="微软雅黑"/>
                <a:cs typeface="微软雅黑"/>
              </a:rPr>
              <a:t>如何让倾斜的文</a:t>
            </a:r>
            <a:r>
              <a:rPr sz="2000" spc="-10" dirty="0">
                <a:latin typeface="微软雅黑"/>
                <a:cs typeface="微软雅黑"/>
              </a:rPr>
              <a:t>字</a:t>
            </a:r>
            <a:r>
              <a:rPr sz="2000" spc="5" dirty="0">
                <a:latin typeface="微软雅黑"/>
                <a:cs typeface="微软雅黑"/>
              </a:rPr>
              <a:t>不</a:t>
            </a:r>
            <a:r>
              <a:rPr sz="2000" spc="-10" dirty="0">
                <a:latin typeface="微软雅黑"/>
                <a:cs typeface="微软雅黑"/>
              </a:rPr>
              <a:t>倾</a:t>
            </a:r>
            <a:r>
              <a:rPr sz="2000" spc="5" dirty="0">
                <a:latin typeface="微软雅黑"/>
                <a:cs typeface="微软雅黑"/>
              </a:rPr>
              <a:t>斜</a:t>
            </a:r>
            <a:r>
              <a:rPr sz="2000" spc="-10" dirty="0">
                <a:latin typeface="微软雅黑"/>
                <a:cs typeface="微软雅黑"/>
              </a:rPr>
              <a:t>显</a:t>
            </a:r>
            <a:r>
              <a:rPr sz="2000" spc="5" dirty="0">
                <a:latin typeface="微软雅黑"/>
                <a:cs typeface="微软雅黑"/>
              </a:rPr>
              <a:t>示</a:t>
            </a:r>
            <a:r>
              <a:rPr sz="2000" dirty="0">
                <a:latin typeface="微软雅黑"/>
                <a:cs typeface="微软雅黑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6434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F589-0E7B-3BFD-41B4-B554AEA90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EDC7EFD-5C7C-9C36-F84D-E491B9169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0661"/>
            <a:ext cx="6620933" cy="2977339"/>
          </a:xfrm>
          <a:prstGeom prst="rect">
            <a:avLst/>
          </a:prstGeom>
        </p:spPr>
      </p:pic>
      <p:sp>
        <p:nvSpPr>
          <p:cNvPr id="31" name="矩形 69">
            <a:extLst>
              <a:ext uri="{FF2B5EF4-FFF2-40B4-BE49-F238E27FC236}">
                <a16:creationId xmlns:a16="http://schemas.microsoft.com/office/drawing/2014/main" id="{CC50982D-187D-CD30-45C4-2F4C73BB0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2318" y="1407679"/>
            <a:ext cx="1119246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defTabSz="1219170"/>
            <a:r>
              <a:rPr lang="en-US" altLang="zh-CN" sz="96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05  </a:t>
            </a:r>
            <a:r>
              <a:rPr lang="en-US" altLang="zh-CN" sz="66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CSS </a:t>
            </a:r>
            <a:r>
              <a:rPr lang="zh-CN" altLang="en-US" sz="6600" b="1" dirty="0">
                <a:solidFill>
                  <a:srgbClr val="FC6E5B"/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sym typeface="微软雅黑" pitchFamily="34" charset="-122"/>
              </a:rPr>
              <a:t>文本属性</a:t>
            </a:r>
            <a:endParaRPr lang="en-US" altLang="zh-CN" sz="6600" b="1" dirty="0">
              <a:solidFill>
                <a:srgbClr val="66BFBC"/>
              </a:solidFill>
              <a:latin typeface="方正卡通简体" panose="03000509000000000000" pitchFamily="65" charset="-122"/>
              <a:ea typeface="方正卡通简体" panose="03000509000000000000" pitchFamily="65" charset="-122"/>
              <a:sym typeface="微软雅黑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74A47A1-9830-4B89-5E79-1F6572C4A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183" y="2680943"/>
            <a:ext cx="7205487" cy="120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09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文本属性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2D2043-7714-2938-84FB-7C3848986161}"/>
              </a:ext>
            </a:extLst>
          </p:cNvPr>
          <p:cNvSpPr txBox="1"/>
          <p:nvPr/>
        </p:nvSpPr>
        <p:spPr>
          <a:xfrm>
            <a:off x="608648" y="876693"/>
            <a:ext cx="1092422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4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Text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文本）属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性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b="1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外</a:t>
            </a:r>
            <a:r>
              <a:rPr lang="zh-CN" altLang="en-US" sz="2400" b="1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观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颜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色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对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齐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装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饰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间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距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F62713-6FA4-ADD0-558C-EB8E5C82B3E6}"/>
              </a:ext>
            </a:extLst>
          </p:cNvPr>
          <p:cNvSpPr txBox="1"/>
          <p:nvPr/>
        </p:nvSpPr>
        <p:spPr>
          <a:xfrm>
            <a:off x="688908" y="2011747"/>
            <a:ext cx="6315074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800" b="1" dirty="0">
                <a:solidFill>
                  <a:srgbClr val="585858"/>
                </a:solidFill>
                <a:latin typeface="微软雅黑"/>
                <a:cs typeface="微软雅黑"/>
              </a:rPr>
              <a:t>4.1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lang="zh-CN" altLang="en-US" sz="2800" b="1" dirty="0">
                <a:solidFill>
                  <a:srgbClr val="585858"/>
                </a:solidFill>
                <a:latin typeface="微软雅黑"/>
                <a:cs typeface="微软雅黑"/>
              </a:rPr>
              <a:t>文本颜色</a:t>
            </a:r>
            <a:endParaRPr lang="zh-CN" altLang="en-US"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lang="en-US" altLang="zh-CN" sz="2400" spc="-5" dirty="0">
                <a:solidFill>
                  <a:srgbClr val="FF0000"/>
                </a:solidFill>
                <a:latin typeface="微软雅黑"/>
                <a:cs typeface="微软雅黑"/>
              </a:rPr>
              <a:t>color</a:t>
            </a:r>
            <a:r>
              <a:rPr lang="zh-CN" altLang="en-US" sz="2400" spc="-3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属性用于定义文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颜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色。</a:t>
            </a:r>
            <a:endParaRPr lang="zh-CN" altLang="en-US" sz="2400" dirty="0">
              <a:latin typeface="微软雅黑"/>
              <a:cs typeface="微软雅黑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19C0D2B6-44AA-91FE-2A55-0AE1CFF2115B}"/>
              </a:ext>
            </a:extLst>
          </p:cNvPr>
          <p:cNvSpPr/>
          <p:nvPr/>
        </p:nvSpPr>
        <p:spPr>
          <a:xfrm>
            <a:off x="688908" y="3146801"/>
            <a:ext cx="7506402" cy="1344831"/>
          </a:xfrm>
          <a:custGeom>
            <a:avLst/>
            <a:gdLst/>
            <a:ahLst/>
            <a:cxnLst/>
            <a:rect l="l" t="t" r="r" b="b"/>
            <a:pathLst>
              <a:path w="6530975" h="873125">
                <a:moveTo>
                  <a:pt x="0" y="872502"/>
                </a:moveTo>
                <a:lnTo>
                  <a:pt x="6530467" y="872502"/>
                </a:lnTo>
                <a:lnTo>
                  <a:pt x="6530467" y="0"/>
                </a:lnTo>
                <a:lnTo>
                  <a:pt x="0" y="0"/>
                </a:lnTo>
                <a:lnTo>
                  <a:pt x="0" y="872502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2085">
              <a:lnSpc>
                <a:spcPct val="100000"/>
              </a:lnSpc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div</a:t>
            </a:r>
            <a:r>
              <a:rPr lang="en-US" altLang="zh-CN" sz="2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</a:p>
          <a:p>
            <a:pPr marL="330835">
              <a:lnSpc>
                <a:spcPct val="100000"/>
              </a:lnSpc>
              <a:spcBef>
                <a:spcPts val="625"/>
              </a:spcBef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color:</a:t>
            </a:r>
            <a:r>
              <a:rPr lang="en-US" altLang="zh-CN" sz="2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red;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172085">
              <a:lnSpc>
                <a:spcPct val="100000"/>
              </a:lnSpc>
              <a:spcBef>
                <a:spcPts val="640"/>
              </a:spcBef>
            </a:pPr>
            <a:r>
              <a:rPr lang="en-US" altLang="zh-CN" sz="20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63E7118-E09E-578E-1A07-9542E0FB18EB}"/>
              </a:ext>
            </a:extLst>
          </p:cNvPr>
          <p:cNvSpPr/>
          <p:nvPr/>
        </p:nvSpPr>
        <p:spPr>
          <a:xfrm>
            <a:off x="688908" y="4753654"/>
            <a:ext cx="8441591" cy="15894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8908A7-F7F4-007B-2798-B5F0B98AEAE3}"/>
              </a:ext>
            </a:extLst>
          </p:cNvPr>
          <p:cNvSpPr txBox="1"/>
          <p:nvPr/>
        </p:nvSpPr>
        <p:spPr>
          <a:xfrm>
            <a:off x="9246870" y="5973727"/>
            <a:ext cx="6315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1800" spc="5" dirty="0">
                <a:solidFill>
                  <a:srgbClr val="FF0000"/>
                </a:solidFill>
                <a:latin typeface="微软雅黑"/>
                <a:cs typeface="微软雅黑"/>
              </a:rPr>
              <a:t>开发中最常用</a:t>
            </a:r>
            <a:r>
              <a:rPr lang="zh-CN" altLang="en-US" sz="1800" spc="-10" dirty="0">
                <a:solidFill>
                  <a:srgbClr val="FF0000"/>
                </a:solidFill>
                <a:latin typeface="微软雅黑"/>
                <a:cs typeface="微软雅黑"/>
              </a:rPr>
              <a:t>的</a:t>
            </a:r>
            <a:r>
              <a:rPr lang="zh-CN" altLang="en-US" sz="1800" spc="5" dirty="0">
                <a:solidFill>
                  <a:srgbClr val="FF0000"/>
                </a:solidFill>
                <a:latin typeface="微软雅黑"/>
                <a:cs typeface="微软雅黑"/>
              </a:rPr>
              <a:t>是</a:t>
            </a:r>
            <a:r>
              <a:rPr lang="zh-CN" altLang="en-US" sz="1800" spc="-10" dirty="0">
                <a:solidFill>
                  <a:srgbClr val="FF0000"/>
                </a:solidFill>
                <a:latin typeface="微软雅黑"/>
                <a:cs typeface="微软雅黑"/>
              </a:rPr>
              <a:t>十</a:t>
            </a:r>
            <a:r>
              <a:rPr lang="zh-CN" altLang="en-US" sz="1800" spc="5" dirty="0">
                <a:solidFill>
                  <a:srgbClr val="FF0000"/>
                </a:solidFill>
                <a:latin typeface="微软雅黑"/>
                <a:cs typeface="微软雅黑"/>
              </a:rPr>
              <a:t>六</a:t>
            </a:r>
            <a:r>
              <a:rPr lang="zh-CN" altLang="en-US" sz="1800" spc="-10" dirty="0">
                <a:solidFill>
                  <a:srgbClr val="FF0000"/>
                </a:solidFill>
                <a:latin typeface="微软雅黑"/>
                <a:cs typeface="微软雅黑"/>
              </a:rPr>
              <a:t>进</a:t>
            </a:r>
            <a:r>
              <a:rPr lang="zh-CN" altLang="en-US" sz="1800" dirty="0">
                <a:solidFill>
                  <a:srgbClr val="FF0000"/>
                </a:solidFill>
                <a:latin typeface="微软雅黑"/>
                <a:cs typeface="微软雅黑"/>
              </a:rPr>
              <a:t>制</a:t>
            </a:r>
            <a:r>
              <a:rPr lang="en-US" altLang="zh-CN" sz="1800" dirty="0">
                <a:solidFill>
                  <a:srgbClr val="FF0000"/>
                </a:solidFill>
                <a:latin typeface="微软雅黑"/>
                <a:cs typeface="微软雅黑"/>
              </a:rPr>
              <a:t>.</a:t>
            </a:r>
            <a:endParaRPr lang="zh-CN" altLang="en-US" sz="18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7558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文本属性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6B8ACD-287B-FCD9-E454-9A797966A1D7}"/>
              </a:ext>
            </a:extLst>
          </p:cNvPr>
          <p:cNvSpPr txBox="1"/>
          <p:nvPr/>
        </p:nvSpPr>
        <p:spPr>
          <a:xfrm>
            <a:off x="608648" y="876693"/>
            <a:ext cx="1092422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4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Text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文本）属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性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外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观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颜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色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对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齐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装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饰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间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距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4483AA-C0C8-264E-EE91-36039F714031}"/>
              </a:ext>
            </a:extLst>
          </p:cNvPr>
          <p:cNvSpPr txBox="1"/>
          <p:nvPr/>
        </p:nvSpPr>
        <p:spPr>
          <a:xfrm>
            <a:off x="688908" y="2011747"/>
            <a:ext cx="9152322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800" b="1" dirty="0">
                <a:solidFill>
                  <a:srgbClr val="585858"/>
                </a:solidFill>
                <a:latin typeface="微软雅黑"/>
                <a:cs typeface="微软雅黑"/>
              </a:rPr>
              <a:t>4.2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/>
                <a:cs typeface="微软雅黑"/>
              </a:rPr>
              <a:t> 对齐</a:t>
            </a:r>
            <a:r>
              <a:rPr lang="zh-CN" altLang="en-US" sz="2800" b="1" dirty="0">
                <a:solidFill>
                  <a:srgbClr val="585858"/>
                </a:solidFill>
                <a:latin typeface="微软雅黑"/>
                <a:cs typeface="微软雅黑"/>
              </a:rPr>
              <a:t>文本</a:t>
            </a:r>
            <a:endParaRPr lang="zh-CN" altLang="en-US"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lang="en-US" altLang="zh-CN" sz="2400" spc="-5" dirty="0">
                <a:solidFill>
                  <a:srgbClr val="FF0000"/>
                </a:solidFill>
                <a:latin typeface="微软雅黑"/>
                <a:cs typeface="微软雅黑"/>
              </a:rPr>
              <a:t>text-align</a:t>
            </a:r>
            <a:r>
              <a:rPr lang="zh-CN" altLang="en-US" sz="2400" spc="-4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属性用于设置元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素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内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内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容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水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平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对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齐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方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式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endParaRPr lang="zh-CN" altLang="en-US" sz="2400" dirty="0">
              <a:latin typeface="微软雅黑"/>
              <a:cs typeface="微软雅黑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8DD4E11-7065-0C9A-6430-0CE68ED53B72}"/>
              </a:ext>
            </a:extLst>
          </p:cNvPr>
          <p:cNvSpPr/>
          <p:nvPr/>
        </p:nvSpPr>
        <p:spPr>
          <a:xfrm>
            <a:off x="801281" y="3146801"/>
            <a:ext cx="6530975" cy="1173739"/>
          </a:xfrm>
          <a:custGeom>
            <a:avLst/>
            <a:gdLst/>
            <a:ahLst/>
            <a:cxnLst/>
            <a:rect l="l" t="t" r="r" b="b"/>
            <a:pathLst>
              <a:path w="6530975" h="873125">
                <a:moveTo>
                  <a:pt x="0" y="872502"/>
                </a:moveTo>
                <a:lnTo>
                  <a:pt x="6530467" y="872502"/>
                </a:lnTo>
                <a:lnTo>
                  <a:pt x="6530467" y="0"/>
                </a:lnTo>
                <a:lnTo>
                  <a:pt x="0" y="0"/>
                </a:lnTo>
                <a:lnTo>
                  <a:pt x="0" y="872502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2085">
              <a:lnSpc>
                <a:spcPct val="100000"/>
              </a:lnSpc>
            </a:pPr>
            <a:r>
              <a:rPr lang="en-US" altLang="zh-CN" sz="20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div</a:t>
            </a:r>
            <a:r>
              <a:rPr lang="en-US" altLang="zh-CN" sz="2000" spc="-2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</a:p>
          <a:p>
            <a:pPr marL="330835">
              <a:lnSpc>
                <a:spcPct val="100000"/>
              </a:lnSpc>
              <a:spcBef>
                <a:spcPts val="625"/>
              </a:spcBef>
            </a:pPr>
            <a:r>
              <a:rPr lang="en-US" altLang="zh-CN" sz="20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text-align:</a:t>
            </a:r>
            <a:r>
              <a:rPr lang="en-US" altLang="zh-CN" sz="2000" spc="-2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center;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172085">
              <a:lnSpc>
                <a:spcPct val="100000"/>
              </a:lnSpc>
              <a:spcBef>
                <a:spcPts val="640"/>
              </a:spcBef>
            </a:pPr>
            <a:r>
              <a:rPr lang="en-US" altLang="zh-CN" sz="2000" spc="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AF7B96C-20B8-68F9-ED11-A4433BE03629}"/>
              </a:ext>
            </a:extLst>
          </p:cNvPr>
          <p:cNvGraphicFramePr>
            <a:graphicFrameLocks noGrp="1"/>
          </p:cNvGraphicFramePr>
          <p:nvPr/>
        </p:nvGraphicFramePr>
        <p:xfrm>
          <a:off x="688908" y="4435476"/>
          <a:ext cx="8105776" cy="22860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8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值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6A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描述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dirty="0">
                          <a:effectLst/>
                        </a:rPr>
                        <a:t>left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dirty="0">
                          <a:effectLst/>
                        </a:rPr>
                        <a:t>把文本排列到左边，默认值。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dirty="0">
                          <a:effectLst/>
                        </a:rPr>
                        <a:t>right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dirty="0">
                          <a:effectLst/>
                        </a:rPr>
                        <a:t>把文本排列到右边。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dirty="0">
                          <a:effectLst/>
                        </a:rPr>
                        <a:t>center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dirty="0">
                          <a:effectLst/>
                        </a:rPr>
                        <a:t>把文本排列到中间。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dirty="0">
                          <a:effectLst/>
                        </a:rPr>
                        <a:t>justify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dirty="0">
                          <a:effectLst/>
                        </a:rPr>
                        <a:t>实现两端对齐文本效果。</a:t>
                      </a: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30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03798-DD46-C8AF-DF60-E8CD2AA3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99" y="607393"/>
            <a:ext cx="11339989" cy="466064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课堂练习</a:t>
            </a:r>
            <a:r>
              <a:rPr lang="en-US" altLang="zh-CN" b="1" dirty="0">
                <a:solidFill>
                  <a:srgbClr val="C00000"/>
                </a:solidFill>
              </a:rPr>
              <a:t>1-</a:t>
            </a:r>
            <a:r>
              <a:rPr lang="zh-CN" altLang="en-US" b="1" dirty="0">
                <a:solidFill>
                  <a:srgbClr val="C00000"/>
                </a:solidFill>
              </a:rPr>
              <a:t>（</a:t>
            </a:r>
            <a:r>
              <a:rPr lang="en-US" altLang="zh-CN" b="1" dirty="0">
                <a:solidFill>
                  <a:srgbClr val="C00000"/>
                </a:solidFill>
              </a:rPr>
              <a:t>*</a:t>
            </a:r>
            <a:r>
              <a:rPr lang="zh-CN" altLang="en-US" b="1" dirty="0">
                <a:solidFill>
                  <a:srgbClr val="C00000"/>
                </a:solidFill>
              </a:rPr>
              <a:t>拓展）</a:t>
            </a:r>
            <a:br>
              <a:rPr lang="en-US" altLang="zh-CN" b="1" dirty="0">
                <a:solidFill>
                  <a:srgbClr val="C00000"/>
                </a:solidFill>
              </a:rPr>
            </a:br>
            <a:br>
              <a:rPr lang="en-US" altLang="zh-CN" b="1" dirty="0">
                <a:solidFill>
                  <a:srgbClr val="C00000"/>
                </a:solidFill>
              </a:rPr>
            </a:b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、借助</a:t>
            </a:r>
            <a:r>
              <a:rPr lang="en-US" altLang="zh-CN" b="1" dirty="0">
                <a:solidFill>
                  <a:srgbClr val="C00000"/>
                </a:solidFill>
              </a:rPr>
              <a:t>AI-</a:t>
            </a:r>
            <a:r>
              <a:rPr lang="zh-CN" altLang="en-US" b="1" dirty="0">
                <a:solidFill>
                  <a:srgbClr val="C00000"/>
                </a:solidFill>
              </a:rPr>
              <a:t>不同内容用同一标签如何设置不同样式</a:t>
            </a:r>
            <a:br>
              <a:rPr lang="en-US" altLang="zh-CN" b="1" dirty="0">
                <a:solidFill>
                  <a:srgbClr val="C00000"/>
                </a:solidFill>
              </a:rPr>
            </a:br>
            <a:r>
              <a:rPr lang="en-US" altLang="zh-CN" b="1" dirty="0">
                <a:solidFill>
                  <a:srgbClr val="C00000"/>
                </a:solidFill>
              </a:rPr>
              <a:t> 2</a:t>
            </a:r>
            <a:r>
              <a:rPr lang="zh-CN" altLang="en-US" b="1" dirty="0">
                <a:solidFill>
                  <a:srgbClr val="C00000"/>
                </a:solidFill>
              </a:rPr>
              <a:t>、内容与边框如何设置一定间距？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2F031B-4431-8D3B-1B1C-A37BFAF66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686" y="1567028"/>
            <a:ext cx="8378173" cy="41811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D18A42D-DA75-068F-94F6-285FF7F675DA}"/>
              </a:ext>
            </a:extLst>
          </p:cNvPr>
          <p:cNvSpPr txBox="1"/>
          <p:nvPr/>
        </p:nvSpPr>
        <p:spPr>
          <a:xfrm>
            <a:off x="7506268" y="1064525"/>
            <a:ext cx="369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h2</a:t>
            </a:r>
            <a:r>
              <a:rPr lang="zh-CN" altLang="en-US" dirty="0"/>
              <a:t>标题</a:t>
            </a:r>
            <a:r>
              <a:rPr lang="en-US" altLang="zh-CN" dirty="0"/>
              <a:t>,</a:t>
            </a:r>
            <a:r>
              <a:rPr lang="zh-CN" altLang="en-US" dirty="0"/>
              <a:t>颜色为</a:t>
            </a:r>
            <a:r>
              <a:rPr lang="en-US" altLang="zh-CN" dirty="0"/>
              <a:t>#2E8B57</a:t>
            </a:r>
            <a:r>
              <a:rPr lang="zh-CN" altLang="en-US" dirty="0"/>
              <a:t>，居中对齐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B28385-68E1-F9A3-7213-8EC584E5264B}"/>
              </a:ext>
            </a:extLst>
          </p:cNvPr>
          <p:cNvSpPr txBox="1"/>
          <p:nvPr/>
        </p:nvSpPr>
        <p:spPr>
          <a:xfrm>
            <a:off x="10347859" y="2088107"/>
            <a:ext cx="2252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日期颜色为</a:t>
            </a:r>
            <a:r>
              <a:rPr lang="en-US" altLang="zh-CN" dirty="0"/>
              <a:t>#8B4513</a:t>
            </a:r>
            <a:r>
              <a:rPr lang="zh-CN" altLang="en-US" dirty="0"/>
              <a:t>，字体大小为</a:t>
            </a:r>
            <a:r>
              <a:rPr lang="en-US" altLang="zh-CN" dirty="0"/>
              <a:t>16px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45FF16-A67C-C61C-9347-174DC94D7946}"/>
              </a:ext>
            </a:extLst>
          </p:cNvPr>
          <p:cNvSpPr txBox="1"/>
          <p:nvPr/>
        </p:nvSpPr>
        <p:spPr>
          <a:xfrm>
            <a:off x="10347859" y="4462818"/>
            <a:ext cx="2085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字体大小为</a:t>
            </a:r>
            <a:r>
              <a:rPr lang="en-US" altLang="zh-CN" dirty="0"/>
              <a:t>18px,</a:t>
            </a:r>
            <a:r>
              <a:rPr lang="zh-CN" altLang="en-US" dirty="0"/>
              <a:t>字体颜色为</a:t>
            </a:r>
            <a:r>
              <a:rPr lang="en-US" altLang="zh-CN" dirty="0"/>
              <a:t>#2F4F4F</a:t>
            </a:r>
            <a:r>
              <a:rPr lang="zh-CN" altLang="en-US" dirty="0"/>
              <a:t>，居右。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ACFA40-E87A-D0E6-B5A1-DD8811358DB3}"/>
              </a:ext>
            </a:extLst>
          </p:cNvPr>
          <p:cNvSpPr txBox="1"/>
          <p:nvPr/>
        </p:nvSpPr>
        <p:spPr>
          <a:xfrm>
            <a:off x="300251" y="1787857"/>
            <a:ext cx="166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字体</a:t>
            </a:r>
            <a:r>
              <a:rPr lang="en-US" altLang="zh-CN" dirty="0"/>
              <a:t>18px</a:t>
            </a:r>
            <a:r>
              <a:rPr lang="zh-CN" altLang="en-US" dirty="0"/>
              <a:t>，颜色为</a:t>
            </a:r>
            <a:r>
              <a:rPr lang="en-US" altLang="zh-CN" dirty="0"/>
              <a:t>#4682B4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EFA980-D38D-9A4B-8874-9913977252BE}"/>
              </a:ext>
            </a:extLst>
          </p:cNvPr>
          <p:cNvSpPr txBox="1"/>
          <p:nvPr/>
        </p:nvSpPr>
        <p:spPr>
          <a:xfrm>
            <a:off x="0" y="3766782"/>
            <a:ext cx="2129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字体为</a:t>
            </a:r>
            <a:r>
              <a:rPr lang="en-US" altLang="zh-CN" dirty="0"/>
              <a:t>16px,</a:t>
            </a:r>
            <a:r>
              <a:rPr lang="zh-CN" altLang="en-US" dirty="0"/>
              <a:t>颜色为</a:t>
            </a:r>
            <a:r>
              <a:rPr lang="en-US" altLang="zh-CN" dirty="0"/>
              <a:t>#333333</a:t>
            </a:r>
            <a:r>
              <a:rPr lang="zh-CN" altLang="en-US" dirty="0"/>
              <a:t>，首行缩进</a:t>
            </a:r>
            <a:r>
              <a:rPr lang="en-US" altLang="zh-CN" dirty="0"/>
              <a:t>(text-indent)</a:t>
            </a:r>
            <a:r>
              <a:rPr lang="zh-CN" altLang="en-US" dirty="0"/>
              <a:t>两个字符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885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文本属性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6B8ACD-287B-FCD9-E454-9A797966A1D7}"/>
              </a:ext>
            </a:extLst>
          </p:cNvPr>
          <p:cNvSpPr txBox="1"/>
          <p:nvPr/>
        </p:nvSpPr>
        <p:spPr>
          <a:xfrm>
            <a:off x="608648" y="876693"/>
            <a:ext cx="1092422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4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Text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文本）属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性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外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观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颜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色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对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齐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装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饰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间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距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4483AA-C0C8-264E-EE91-36039F714031}"/>
              </a:ext>
            </a:extLst>
          </p:cNvPr>
          <p:cNvSpPr txBox="1"/>
          <p:nvPr/>
        </p:nvSpPr>
        <p:spPr>
          <a:xfrm>
            <a:off x="688907" y="2011747"/>
            <a:ext cx="11542421" cy="14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800" b="1" dirty="0">
                <a:solidFill>
                  <a:srgbClr val="585858"/>
                </a:solidFill>
                <a:latin typeface="微软雅黑"/>
                <a:cs typeface="微软雅黑"/>
              </a:rPr>
              <a:t>4.3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/>
                <a:cs typeface="微软雅黑"/>
              </a:rPr>
              <a:t> 装饰</a:t>
            </a:r>
            <a:r>
              <a:rPr lang="zh-CN" altLang="en-US" sz="2800" b="1" dirty="0">
                <a:solidFill>
                  <a:srgbClr val="585858"/>
                </a:solidFill>
                <a:latin typeface="微软雅黑"/>
                <a:cs typeface="微软雅黑"/>
              </a:rPr>
              <a:t>文本</a:t>
            </a:r>
            <a:endParaRPr lang="zh-CN" altLang="en-US" sz="2800" dirty="0">
              <a:latin typeface="微软雅黑"/>
              <a:cs typeface="微软雅黑"/>
            </a:endParaRPr>
          </a:p>
          <a:p>
            <a:pPr marL="12700">
              <a:spcBef>
                <a:spcPts val="1515"/>
              </a:spcBef>
            </a:pPr>
            <a:r>
              <a:rPr lang="en-US" altLang="zh-CN" sz="2400" spc="-5" dirty="0">
                <a:solidFill>
                  <a:srgbClr val="FF0000"/>
                </a:solidFill>
                <a:latin typeface="微软雅黑"/>
                <a:cs typeface="微软雅黑"/>
              </a:rPr>
              <a:t>text-decoration</a:t>
            </a:r>
            <a:r>
              <a:rPr lang="en-US" altLang="zh-CN" sz="2400" spc="-45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属性规定添加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到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文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修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饰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可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以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给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添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加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下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划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线（</a:t>
            </a:r>
            <a:r>
              <a:rPr lang="en-US" altLang="zh-CN" sz="2000" dirty="0">
                <a:solidFill>
                  <a:srgbClr val="FF0000"/>
                </a:solidFill>
              </a:rPr>
              <a:t>underline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删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除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线（</a:t>
            </a:r>
            <a:r>
              <a:rPr lang="en-US" altLang="zh-CN" sz="2000" dirty="0">
                <a:solidFill>
                  <a:srgbClr val="FF0000"/>
                </a:solidFill>
              </a:rPr>
              <a:t>line-through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上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划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线（</a:t>
            </a:r>
            <a:r>
              <a:rPr lang="en-US" altLang="zh-CN" sz="2000" dirty="0" err="1">
                <a:solidFill>
                  <a:srgbClr val="FF0000"/>
                </a:solidFill>
              </a:rPr>
              <a:t>overline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等。</a:t>
            </a:r>
            <a:endParaRPr lang="zh-CN" altLang="en-US" sz="2400" dirty="0">
              <a:latin typeface="微软雅黑"/>
              <a:cs typeface="微软雅黑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8DD4E11-7065-0C9A-6430-0CE68ED53B72}"/>
              </a:ext>
            </a:extLst>
          </p:cNvPr>
          <p:cNvSpPr/>
          <p:nvPr/>
        </p:nvSpPr>
        <p:spPr>
          <a:xfrm>
            <a:off x="1003540" y="3569253"/>
            <a:ext cx="6530975" cy="1173739"/>
          </a:xfrm>
          <a:custGeom>
            <a:avLst/>
            <a:gdLst/>
            <a:ahLst/>
            <a:cxnLst/>
            <a:rect l="l" t="t" r="r" b="b"/>
            <a:pathLst>
              <a:path w="6530975" h="873125">
                <a:moveTo>
                  <a:pt x="0" y="872502"/>
                </a:moveTo>
                <a:lnTo>
                  <a:pt x="6530467" y="872502"/>
                </a:lnTo>
                <a:lnTo>
                  <a:pt x="6530467" y="0"/>
                </a:lnTo>
                <a:lnTo>
                  <a:pt x="0" y="0"/>
                </a:lnTo>
                <a:lnTo>
                  <a:pt x="0" y="872502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2085">
              <a:lnSpc>
                <a:spcPct val="100000"/>
              </a:lnSpc>
              <a:spcBef>
                <a:spcPts val="5"/>
              </a:spcBef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div</a:t>
            </a:r>
            <a:r>
              <a:rPr lang="en-US" altLang="zh-CN" sz="2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330835">
              <a:lnSpc>
                <a:spcPct val="100000"/>
              </a:lnSpc>
              <a:spcBef>
                <a:spcPts val="645"/>
              </a:spcBef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text-decoration</a:t>
            </a:r>
            <a:r>
              <a:rPr lang="zh-CN" altLang="en-US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：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underline</a:t>
            </a:r>
            <a:r>
              <a:rPr lang="zh-CN" altLang="en-US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172085">
              <a:lnSpc>
                <a:spcPct val="100000"/>
              </a:lnSpc>
              <a:spcBef>
                <a:spcPts val="615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DEC1CCD-1973-02CD-CA9C-497F7EC5A5FE}"/>
              </a:ext>
            </a:extLst>
          </p:cNvPr>
          <p:cNvSpPr/>
          <p:nvPr/>
        </p:nvSpPr>
        <p:spPr>
          <a:xfrm>
            <a:off x="701390" y="4846254"/>
            <a:ext cx="7859680" cy="1875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610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F629FBB-12D6-9334-D1D8-DDCBF2C7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120DE7-6221-BA7A-5C97-185664D3B767}"/>
              </a:ext>
            </a:extLst>
          </p:cNvPr>
          <p:cNvSpPr txBox="1"/>
          <p:nvPr/>
        </p:nvSpPr>
        <p:spPr>
          <a:xfrm>
            <a:off x="1375115" y="1327611"/>
            <a:ext cx="5208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effectLst/>
                <a:latin typeface="Lato"/>
              </a:rPr>
              <a:t>text-decoration-style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+mn-ea"/>
              </a:rPr>
              <a:t>属性值</a:t>
            </a:r>
            <a:endParaRPr lang="zh-CN" altLang="en-US" sz="28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30973E9-784A-B09B-6FD5-62EA0027431C}"/>
              </a:ext>
            </a:extLst>
          </p:cNvPr>
          <p:cNvGraphicFramePr>
            <a:graphicFrameLocks noGrp="1"/>
          </p:cNvGraphicFramePr>
          <p:nvPr/>
        </p:nvGraphicFramePr>
        <p:xfrm>
          <a:off x="1845468" y="2075511"/>
          <a:ext cx="8501063" cy="3454878"/>
        </p:xfrm>
        <a:graphic>
          <a:graphicData uri="http://schemas.openxmlformats.org/drawingml/2006/table">
            <a:tbl>
              <a:tblPr/>
              <a:tblGrid>
                <a:gridCol w="2167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3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813"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b="1" dirty="0">
                          <a:solidFill>
                            <a:srgbClr val="5C6B77"/>
                          </a:solidFill>
                          <a:effectLst/>
                        </a:rPr>
                        <a:t>值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b="1">
                          <a:solidFill>
                            <a:srgbClr val="5C6B77"/>
                          </a:solidFill>
                          <a:effectLst/>
                        </a:rPr>
                        <a:t>描述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813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>
                          <a:effectLst/>
                        </a:rPr>
                        <a:t>solid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>
                          <a:effectLst/>
                        </a:rPr>
                        <a:t>默认值。线条将显示为单线。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813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>
                          <a:effectLst/>
                        </a:rPr>
                        <a:t>double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dirty="0">
                          <a:effectLst/>
                        </a:rPr>
                        <a:t>线条将显示为双线。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813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>
                          <a:effectLst/>
                        </a:rPr>
                        <a:t>dotted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>
                          <a:effectLst/>
                        </a:rPr>
                        <a:t>线条将显示为点状线。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813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>
                          <a:effectLst/>
                        </a:rPr>
                        <a:t>dashed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>
                          <a:effectLst/>
                        </a:rPr>
                        <a:t>线条将显示为虚线。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813">
                <a:tc>
                  <a:txBody>
                    <a:bodyPr/>
                    <a:lstStyle/>
                    <a:p>
                      <a:pPr algn="l" fontAlgn="auto"/>
                      <a:r>
                        <a:rPr lang="en-US" sz="2000" dirty="0">
                          <a:effectLst/>
                        </a:rPr>
                        <a:t>wavy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2000" dirty="0">
                          <a:effectLst/>
                        </a:rPr>
                        <a:t>线条将显示为波浪线。</a:t>
                      </a:r>
                    </a:p>
                  </a:txBody>
                  <a:tcPr marL="152400" marR="152400" marT="76200" marB="76200" anchor="ctr">
                    <a:lnL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77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EA13671-7A5C-8332-6809-C9EE01DCA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651" y="3429000"/>
            <a:ext cx="7340697" cy="15001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6F371F-3377-62D6-B7CB-87C233F22892}"/>
              </a:ext>
            </a:extLst>
          </p:cNvPr>
          <p:cNvSpPr txBox="1"/>
          <p:nvPr/>
        </p:nvSpPr>
        <p:spPr>
          <a:xfrm>
            <a:off x="1547446" y="2018548"/>
            <a:ext cx="89189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</a:rPr>
              <a:t>使用</a:t>
            </a:r>
            <a:r>
              <a:rPr lang="en-US" altLang="zh-CN" sz="2800" dirty="0">
                <a:latin typeface="+mn-ea"/>
              </a:rPr>
              <a:t>CSS</a:t>
            </a:r>
            <a:r>
              <a:rPr lang="zh-CN" altLang="en-US" sz="2800" dirty="0">
                <a:latin typeface="+mn-ea"/>
              </a:rPr>
              <a:t>样式属性实现以下效果：文字大小为</a:t>
            </a:r>
            <a:r>
              <a:rPr lang="en-US" altLang="zh-CN" sz="2800" dirty="0">
                <a:latin typeface="+mn-ea"/>
              </a:rPr>
              <a:t>18</a:t>
            </a:r>
            <a:r>
              <a:rPr lang="zh-CN" altLang="en-US" sz="2800" dirty="0">
                <a:latin typeface="+mn-ea"/>
              </a:rPr>
              <a:t>像素、颜色为</a:t>
            </a:r>
            <a:r>
              <a:rPr lang="en-US" altLang="zh-CN" sz="2800" dirty="0">
                <a:latin typeface="+mn-ea"/>
              </a:rPr>
              <a:t>#ff6666</a:t>
            </a:r>
            <a:r>
              <a:rPr lang="zh-CN" altLang="en-US" sz="2800" dirty="0">
                <a:latin typeface="+mn-ea"/>
              </a:rPr>
              <a:t>，文字倾斜且加粗显示。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5D9F7E5-1006-C90E-2C51-44A9627993C2}"/>
              </a:ext>
            </a:extLst>
          </p:cNvPr>
          <p:cNvSpPr txBox="1">
            <a:spLocks/>
          </p:cNvSpPr>
          <p:nvPr/>
        </p:nvSpPr>
        <p:spPr>
          <a:xfrm>
            <a:off x="629999" y="440607"/>
            <a:ext cx="11339989" cy="46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方正卡通简体" panose="03000509000000000000" pitchFamily="65" charset="-122"/>
                <a:ea typeface="方正卡通简体" panose="03000509000000000000" pitchFamily="65" charset="-122"/>
                <a:cs typeface="+mj-cs"/>
              </a:defRPr>
            </a:lvl1pPr>
          </a:lstStyle>
          <a:p>
            <a:r>
              <a:rPr lang="zh-CN" altLang="en-US" b="1" dirty="0">
                <a:solidFill>
                  <a:srgbClr val="C00000"/>
                </a:solidFill>
              </a:rPr>
              <a:t>课堂练习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69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文本属性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04F489-0CE6-4F0B-E0D8-ACE8A1003006}"/>
              </a:ext>
            </a:extLst>
          </p:cNvPr>
          <p:cNvSpPr txBox="1"/>
          <p:nvPr/>
        </p:nvSpPr>
        <p:spPr>
          <a:xfrm>
            <a:off x="608648" y="876693"/>
            <a:ext cx="1092422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4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Text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文本）属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性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外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观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颜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色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对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齐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装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饰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间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距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568325-2B64-6A71-15D5-B7A4F978E15A}"/>
              </a:ext>
            </a:extLst>
          </p:cNvPr>
          <p:cNvSpPr txBox="1"/>
          <p:nvPr/>
        </p:nvSpPr>
        <p:spPr>
          <a:xfrm>
            <a:off x="700088" y="2011747"/>
            <a:ext cx="12330112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800" b="1" dirty="0">
                <a:solidFill>
                  <a:srgbClr val="585858"/>
                </a:solidFill>
                <a:latin typeface="微软雅黑"/>
                <a:cs typeface="微软雅黑"/>
              </a:rPr>
              <a:t>4.4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lang="zh-CN" altLang="en-US" sz="2800" b="1" dirty="0">
                <a:solidFill>
                  <a:srgbClr val="585858"/>
                </a:solidFill>
                <a:latin typeface="微软雅黑"/>
                <a:cs typeface="微软雅黑"/>
              </a:rPr>
              <a:t>文本缩进</a:t>
            </a:r>
            <a:endParaRPr lang="zh-CN" altLang="en-US"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lang="en-US" altLang="zh-CN" sz="24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text-indent</a:t>
            </a:r>
            <a:r>
              <a:rPr lang="zh-CN" altLang="en-US" sz="2400" spc="-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属性用来指定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常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是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将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段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落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首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9474A81-0460-DE47-F847-C206091E95CA}"/>
              </a:ext>
            </a:extLst>
          </p:cNvPr>
          <p:cNvSpPr/>
          <p:nvPr/>
        </p:nvSpPr>
        <p:spPr>
          <a:xfrm>
            <a:off x="2466339" y="3146801"/>
            <a:ext cx="6380481" cy="3574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994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文本属性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743D6D-44AA-672C-5B73-46DD69F4A5F0}"/>
              </a:ext>
            </a:extLst>
          </p:cNvPr>
          <p:cNvSpPr txBox="1"/>
          <p:nvPr/>
        </p:nvSpPr>
        <p:spPr>
          <a:xfrm>
            <a:off x="608648" y="876693"/>
            <a:ext cx="1092422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4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Text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文本）属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性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外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观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颜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色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对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齐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装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饰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间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距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66E1F5-0861-9F37-AC40-91355907EDBA}"/>
              </a:ext>
            </a:extLst>
          </p:cNvPr>
          <p:cNvSpPr txBox="1"/>
          <p:nvPr/>
        </p:nvSpPr>
        <p:spPr>
          <a:xfrm>
            <a:off x="700088" y="2011747"/>
            <a:ext cx="12330112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800" b="1" dirty="0">
                <a:solidFill>
                  <a:srgbClr val="585858"/>
                </a:solidFill>
                <a:latin typeface="微软雅黑"/>
                <a:cs typeface="微软雅黑"/>
              </a:rPr>
              <a:t>4.4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/>
                <a:cs typeface="微软雅黑"/>
              </a:rPr>
              <a:t> </a:t>
            </a:r>
            <a:r>
              <a:rPr lang="zh-CN" altLang="en-US" sz="2800" b="1" dirty="0">
                <a:solidFill>
                  <a:srgbClr val="585858"/>
                </a:solidFill>
                <a:latin typeface="微软雅黑"/>
                <a:cs typeface="微软雅黑"/>
              </a:rPr>
              <a:t>文本缩进</a:t>
            </a:r>
            <a:endParaRPr lang="zh-CN" altLang="en-US"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lang="en-US" altLang="zh-CN" sz="24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text-indent</a:t>
            </a:r>
            <a:r>
              <a:rPr lang="zh-CN" altLang="en-US" sz="2400" spc="-2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属性用来指定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常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是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将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段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落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首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F4B5A2C-9763-95AD-01DA-93371375B914}"/>
              </a:ext>
            </a:extLst>
          </p:cNvPr>
          <p:cNvSpPr/>
          <p:nvPr/>
        </p:nvSpPr>
        <p:spPr>
          <a:xfrm>
            <a:off x="835583" y="3146801"/>
            <a:ext cx="8525587" cy="1257369"/>
          </a:xfrm>
          <a:custGeom>
            <a:avLst/>
            <a:gdLst/>
            <a:ahLst/>
            <a:cxnLst/>
            <a:rect l="l" t="t" r="r" b="b"/>
            <a:pathLst>
              <a:path w="6530975" h="873125">
                <a:moveTo>
                  <a:pt x="0" y="872502"/>
                </a:moveTo>
                <a:lnTo>
                  <a:pt x="6530467" y="872502"/>
                </a:lnTo>
                <a:lnTo>
                  <a:pt x="6530467" y="0"/>
                </a:lnTo>
                <a:lnTo>
                  <a:pt x="0" y="0"/>
                </a:lnTo>
                <a:lnTo>
                  <a:pt x="0" y="872502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7960021-82F4-56DA-74FC-B7371F99DD24}"/>
              </a:ext>
            </a:extLst>
          </p:cNvPr>
          <p:cNvSpPr/>
          <p:nvPr/>
        </p:nvSpPr>
        <p:spPr>
          <a:xfrm>
            <a:off x="835583" y="5123764"/>
            <a:ext cx="8525587" cy="1257369"/>
          </a:xfrm>
          <a:custGeom>
            <a:avLst/>
            <a:gdLst/>
            <a:ahLst/>
            <a:cxnLst/>
            <a:rect l="l" t="t" r="r" b="b"/>
            <a:pathLst>
              <a:path w="6530975" h="905510">
                <a:moveTo>
                  <a:pt x="0" y="905205"/>
                </a:moveTo>
                <a:lnTo>
                  <a:pt x="6530467" y="905205"/>
                </a:lnTo>
                <a:lnTo>
                  <a:pt x="6530467" y="0"/>
                </a:lnTo>
                <a:lnTo>
                  <a:pt x="0" y="0"/>
                </a:lnTo>
                <a:lnTo>
                  <a:pt x="0" y="905205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/>
          <a:lstStyle/>
          <a:p>
            <a:pPr marL="172085">
              <a:lnSpc>
                <a:spcPct val="10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p</a:t>
            </a:r>
            <a:r>
              <a:rPr lang="en-US" altLang="zh-CN" sz="2000" spc="-2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</a:p>
          <a:p>
            <a:pPr marL="330835">
              <a:lnSpc>
                <a:spcPct val="100000"/>
              </a:lnSpc>
              <a:spcBef>
                <a:spcPts val="625"/>
              </a:spcBef>
            </a:pPr>
            <a:r>
              <a:rPr lang="en-US" altLang="zh-CN" sz="2000" spc="-1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text-indent:</a:t>
            </a:r>
            <a:r>
              <a:rPr lang="en-US" altLang="zh-CN" sz="2000" spc="-2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5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2em;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172085">
              <a:lnSpc>
                <a:spcPct val="100000"/>
              </a:lnSpc>
              <a:spcBef>
                <a:spcPts val="635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2E6D69-85A5-855A-5AA0-935D1493CB92}"/>
              </a:ext>
            </a:extLst>
          </p:cNvPr>
          <p:cNvSpPr txBox="1"/>
          <p:nvPr/>
        </p:nvSpPr>
        <p:spPr>
          <a:xfrm>
            <a:off x="1057275" y="3234619"/>
            <a:ext cx="652653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2085">
              <a:lnSpc>
                <a:spcPct val="100000"/>
              </a:lnSpc>
            </a:pP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div</a:t>
            </a:r>
            <a:r>
              <a:rPr lang="en-US" altLang="zh-CN" sz="2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</a:p>
          <a:p>
            <a:pPr marL="330835">
              <a:lnSpc>
                <a:spcPct val="100000"/>
              </a:lnSpc>
              <a:spcBef>
                <a:spcPts val="625"/>
              </a:spcBef>
            </a:pPr>
            <a:r>
              <a:rPr lang="en-US" altLang="zh-CN"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text-indent:</a:t>
            </a:r>
            <a:r>
              <a:rPr lang="en-US" altLang="zh-CN" sz="2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10px;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172085">
              <a:lnSpc>
                <a:spcPct val="100000"/>
              </a:lnSpc>
              <a:spcBef>
                <a:spcPts val="635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A0F46A-929F-636C-5BF3-51F508193F03}"/>
              </a:ext>
            </a:extLst>
          </p:cNvPr>
          <p:cNvSpPr txBox="1"/>
          <p:nvPr/>
        </p:nvSpPr>
        <p:spPr>
          <a:xfrm>
            <a:off x="835583" y="4579301"/>
            <a:ext cx="10914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685">
              <a:lnSpc>
                <a:spcPct val="100000"/>
              </a:lnSpc>
              <a:spcBef>
                <a:spcPts val="805"/>
              </a:spcBef>
            </a:pP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通过设置该属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性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所</a:t>
            </a:r>
            <a:r>
              <a:rPr lang="zh-CN" altLang="en-US" sz="2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有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元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素的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第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都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以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一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个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给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长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度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甚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至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该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长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度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以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是</a:t>
            </a:r>
            <a:r>
              <a:rPr lang="zh-CN" altLang="en-US" sz="20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负</a:t>
            </a:r>
            <a:r>
              <a:rPr lang="zh-CN" altLang="en-US" sz="20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值。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2860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文本属性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115360-A524-3C0F-BA29-DD3A1AA9EBA0}"/>
              </a:ext>
            </a:extLst>
          </p:cNvPr>
          <p:cNvSpPr txBox="1"/>
          <p:nvPr/>
        </p:nvSpPr>
        <p:spPr>
          <a:xfrm>
            <a:off x="608648" y="876693"/>
            <a:ext cx="1092422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4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Text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文本）属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性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外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观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颜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色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对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齐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装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饰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间</a:t>
            </a:r>
            <a:r>
              <a:rPr lang="zh-CN" altLang="en-US" sz="2400" spc="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距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5CB1B5-E57F-5184-2A95-A09D3B01FBF0}"/>
              </a:ext>
            </a:extLst>
          </p:cNvPr>
          <p:cNvSpPr txBox="1"/>
          <p:nvPr/>
        </p:nvSpPr>
        <p:spPr>
          <a:xfrm>
            <a:off x="700088" y="2011747"/>
            <a:ext cx="12330112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800" b="1" dirty="0">
                <a:solidFill>
                  <a:srgbClr val="585858"/>
                </a:solidFill>
                <a:latin typeface="微软雅黑"/>
                <a:cs typeface="微软雅黑"/>
              </a:rPr>
              <a:t>4.5</a:t>
            </a:r>
            <a:r>
              <a:rPr lang="zh-CN" altLang="en-US" sz="2800" b="1" spc="-5" dirty="0">
                <a:solidFill>
                  <a:srgbClr val="585858"/>
                </a:solidFill>
                <a:latin typeface="微软雅黑"/>
                <a:cs typeface="微软雅黑"/>
              </a:rPr>
              <a:t> 行间距</a:t>
            </a:r>
            <a:endParaRPr lang="zh-CN" altLang="en-US"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lang="en-US" altLang="zh-CN" sz="2400" spc="-5" dirty="0">
                <a:solidFill>
                  <a:srgbClr val="FF0000"/>
                </a:solidFill>
                <a:latin typeface="微软雅黑"/>
                <a:cs typeface="微软雅黑"/>
              </a:rPr>
              <a:t>line-height</a:t>
            </a:r>
            <a:r>
              <a:rPr lang="en-US" altLang="zh-CN" sz="2400" spc="-2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属性用于设置行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间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距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离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高</a:t>
            </a:r>
            <a:r>
              <a:rPr lang="zh-CN" altLang="en-US" sz="2400" dirty="0">
                <a:solidFill>
                  <a:srgbClr val="252525"/>
                </a:solidFill>
                <a:latin typeface="微软雅黑"/>
                <a:cs typeface="微软雅黑"/>
              </a:rPr>
              <a:t>）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。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可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以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控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制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文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字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与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行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之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间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/>
                <a:cs typeface="微软雅黑"/>
              </a:rPr>
              <a:t>距</a:t>
            </a:r>
            <a:r>
              <a:rPr lang="zh-CN" altLang="en-US" sz="2400" spc="-10" dirty="0">
                <a:solidFill>
                  <a:srgbClr val="252525"/>
                </a:solidFill>
                <a:latin typeface="微软雅黑"/>
                <a:cs typeface="微软雅黑"/>
              </a:rPr>
              <a:t>离</a:t>
            </a:r>
            <a:r>
              <a:rPr lang="en-US" altLang="zh-CN" sz="2400" dirty="0">
                <a:solidFill>
                  <a:srgbClr val="252525"/>
                </a:solidFill>
                <a:latin typeface="微软雅黑"/>
                <a:cs typeface="微软雅黑"/>
              </a:rPr>
              <a:t>.</a:t>
            </a:r>
            <a:endParaRPr lang="zh-CN" altLang="en-US" sz="2400" dirty="0">
              <a:latin typeface="微软雅黑"/>
              <a:cs typeface="微软雅黑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979556CE-38E0-70BB-522D-E4BBE2514E07}"/>
              </a:ext>
            </a:extLst>
          </p:cNvPr>
          <p:cNvSpPr/>
          <p:nvPr/>
        </p:nvSpPr>
        <p:spPr>
          <a:xfrm rot="10800000" flipV="1">
            <a:off x="831329" y="3166629"/>
            <a:ext cx="10937329" cy="1189425"/>
          </a:xfrm>
          <a:custGeom>
            <a:avLst/>
            <a:gdLst/>
            <a:ahLst/>
            <a:cxnLst/>
            <a:rect l="l" t="t" r="r" b="b"/>
            <a:pathLst>
              <a:path w="6530975" h="873125">
                <a:moveTo>
                  <a:pt x="0" y="872502"/>
                </a:moveTo>
                <a:lnTo>
                  <a:pt x="6530467" y="872502"/>
                </a:lnTo>
                <a:lnTo>
                  <a:pt x="6530467" y="0"/>
                </a:lnTo>
                <a:lnTo>
                  <a:pt x="0" y="0"/>
                </a:lnTo>
                <a:lnTo>
                  <a:pt x="0" y="872502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/>
          <a:lstStyle/>
          <a:p>
            <a:pPr marL="172085">
              <a:lnSpc>
                <a:spcPct val="10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p</a:t>
            </a:r>
            <a:r>
              <a:rPr lang="en-US" altLang="zh-CN" sz="2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{</a:t>
            </a:r>
          </a:p>
          <a:p>
            <a:pPr marL="330835">
              <a:lnSpc>
                <a:spcPct val="100000"/>
              </a:lnSpc>
              <a:spcBef>
                <a:spcPts val="625"/>
              </a:spcBef>
            </a:pPr>
            <a:r>
              <a:rPr lang="en-US" altLang="zh-CN" sz="20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line-height:</a:t>
            </a:r>
            <a:r>
              <a:rPr lang="en-US" altLang="zh-CN" sz="20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 </a:t>
            </a:r>
            <a:r>
              <a:rPr lang="en-US" altLang="zh-CN" sz="2000" spc="-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26px;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pPr marL="172085">
              <a:lnSpc>
                <a:spcPct val="100000"/>
              </a:lnSpc>
              <a:spcBef>
                <a:spcPts val="640"/>
              </a:spcBef>
            </a:pPr>
            <a:r>
              <a:rPr lang="en-US" altLang="zh-CN" sz="2000" spc="5" dirty="0">
                <a:latin typeface="微软雅黑" panose="020B0503020204020204" pitchFamily="34" charset="-122"/>
                <a:ea typeface="微软雅黑" panose="020B0503020204020204" pitchFamily="34" charset="-122"/>
                <a:cs typeface="Courier New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ourier New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DC4A48C-5921-8877-846A-AC2120BB9FE4}"/>
              </a:ext>
            </a:extLst>
          </p:cNvPr>
          <p:cNvSpPr/>
          <p:nvPr/>
        </p:nvSpPr>
        <p:spPr>
          <a:xfrm>
            <a:off x="5501893" y="4751070"/>
            <a:ext cx="240029" cy="1737360"/>
          </a:xfrm>
          <a:custGeom>
            <a:avLst/>
            <a:gdLst/>
            <a:ahLst/>
            <a:cxnLst/>
            <a:rect l="l" t="t" r="r" b="b"/>
            <a:pathLst>
              <a:path w="240029" h="1737360">
                <a:moveTo>
                  <a:pt x="239902" y="1737347"/>
                </a:moveTo>
                <a:lnTo>
                  <a:pt x="193256" y="1727920"/>
                </a:lnTo>
                <a:lnTo>
                  <a:pt x="155146" y="1702212"/>
                </a:lnTo>
                <a:lnTo>
                  <a:pt x="129442" y="1664084"/>
                </a:lnTo>
                <a:lnTo>
                  <a:pt x="120014" y="1617395"/>
                </a:lnTo>
                <a:lnTo>
                  <a:pt x="120014" y="988618"/>
                </a:lnTo>
                <a:lnTo>
                  <a:pt x="110585" y="941930"/>
                </a:lnTo>
                <a:lnTo>
                  <a:pt x="84867" y="903801"/>
                </a:lnTo>
                <a:lnTo>
                  <a:pt x="46720" y="878094"/>
                </a:lnTo>
                <a:lnTo>
                  <a:pt x="0" y="868667"/>
                </a:lnTo>
                <a:lnTo>
                  <a:pt x="46720" y="859239"/>
                </a:lnTo>
                <a:lnTo>
                  <a:pt x="84867" y="833526"/>
                </a:lnTo>
                <a:lnTo>
                  <a:pt x="110585" y="795383"/>
                </a:lnTo>
                <a:lnTo>
                  <a:pt x="120014" y="748665"/>
                </a:lnTo>
                <a:lnTo>
                  <a:pt x="120014" y="119887"/>
                </a:lnTo>
                <a:lnTo>
                  <a:pt x="129442" y="73241"/>
                </a:lnTo>
                <a:lnTo>
                  <a:pt x="155146" y="35131"/>
                </a:lnTo>
                <a:lnTo>
                  <a:pt x="193256" y="9427"/>
                </a:lnTo>
                <a:lnTo>
                  <a:pt x="239902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244839C0-867B-D455-AA96-1BA267094D94}"/>
              </a:ext>
            </a:extLst>
          </p:cNvPr>
          <p:cNvSpPr/>
          <p:nvPr/>
        </p:nvSpPr>
        <p:spPr>
          <a:xfrm>
            <a:off x="6701535" y="4751070"/>
            <a:ext cx="240029" cy="1737360"/>
          </a:xfrm>
          <a:custGeom>
            <a:avLst/>
            <a:gdLst/>
            <a:ahLst/>
            <a:cxnLst/>
            <a:rect l="l" t="t" r="r" b="b"/>
            <a:pathLst>
              <a:path w="240029" h="1737360">
                <a:moveTo>
                  <a:pt x="0" y="0"/>
                </a:moveTo>
                <a:lnTo>
                  <a:pt x="46720" y="9427"/>
                </a:lnTo>
                <a:lnTo>
                  <a:pt x="84867" y="35131"/>
                </a:lnTo>
                <a:lnTo>
                  <a:pt x="110585" y="73241"/>
                </a:lnTo>
                <a:lnTo>
                  <a:pt x="120014" y="119887"/>
                </a:lnTo>
                <a:lnTo>
                  <a:pt x="120014" y="748665"/>
                </a:lnTo>
                <a:lnTo>
                  <a:pt x="129442" y="795383"/>
                </a:lnTo>
                <a:lnTo>
                  <a:pt x="155146" y="833526"/>
                </a:lnTo>
                <a:lnTo>
                  <a:pt x="193256" y="859239"/>
                </a:lnTo>
                <a:lnTo>
                  <a:pt x="239903" y="868667"/>
                </a:lnTo>
                <a:lnTo>
                  <a:pt x="193256" y="878094"/>
                </a:lnTo>
                <a:lnTo>
                  <a:pt x="155146" y="903801"/>
                </a:lnTo>
                <a:lnTo>
                  <a:pt x="129442" y="941930"/>
                </a:lnTo>
                <a:lnTo>
                  <a:pt x="120014" y="988618"/>
                </a:lnTo>
                <a:lnTo>
                  <a:pt x="120014" y="1617395"/>
                </a:lnTo>
                <a:lnTo>
                  <a:pt x="110585" y="1664084"/>
                </a:lnTo>
                <a:lnTo>
                  <a:pt x="84867" y="1702212"/>
                </a:lnTo>
                <a:lnTo>
                  <a:pt x="46720" y="1727920"/>
                </a:lnTo>
                <a:lnTo>
                  <a:pt x="0" y="1737347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CBCEDFA6-7E09-BBEA-4DA1-FF5311D75A78}"/>
              </a:ext>
            </a:extLst>
          </p:cNvPr>
          <p:cNvSpPr/>
          <p:nvPr/>
        </p:nvSpPr>
        <p:spPr>
          <a:xfrm>
            <a:off x="2549232" y="4602467"/>
            <a:ext cx="3993388" cy="1885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3CB8CD24-B8E8-A3C8-E467-1AEEF44F6E41}"/>
              </a:ext>
            </a:extLst>
          </p:cNvPr>
          <p:cNvSpPr/>
          <p:nvPr/>
        </p:nvSpPr>
        <p:spPr>
          <a:xfrm>
            <a:off x="7003034" y="5393054"/>
            <a:ext cx="1162685" cy="453390"/>
          </a:xfrm>
          <a:custGeom>
            <a:avLst/>
            <a:gdLst/>
            <a:ahLst/>
            <a:cxnLst/>
            <a:rect l="l" t="t" r="r" b="b"/>
            <a:pathLst>
              <a:path w="1162684" h="453389">
                <a:moveTo>
                  <a:pt x="1087119" y="0"/>
                </a:moveTo>
                <a:lnTo>
                  <a:pt x="75564" y="0"/>
                </a:lnTo>
                <a:lnTo>
                  <a:pt x="46184" y="5931"/>
                </a:lnTo>
                <a:lnTo>
                  <a:pt x="22161" y="22113"/>
                </a:lnTo>
                <a:lnTo>
                  <a:pt x="5949" y="46130"/>
                </a:lnTo>
                <a:lnTo>
                  <a:pt x="0" y="75564"/>
                </a:lnTo>
                <a:lnTo>
                  <a:pt x="0" y="377812"/>
                </a:lnTo>
                <a:lnTo>
                  <a:pt x="5949" y="407225"/>
                </a:lnTo>
                <a:lnTo>
                  <a:pt x="22161" y="431244"/>
                </a:lnTo>
                <a:lnTo>
                  <a:pt x="46184" y="447438"/>
                </a:lnTo>
                <a:lnTo>
                  <a:pt x="75564" y="453377"/>
                </a:lnTo>
                <a:lnTo>
                  <a:pt x="1087119" y="453377"/>
                </a:lnTo>
                <a:lnTo>
                  <a:pt x="1116554" y="447438"/>
                </a:lnTo>
                <a:lnTo>
                  <a:pt x="1140571" y="431244"/>
                </a:lnTo>
                <a:lnTo>
                  <a:pt x="1156753" y="407225"/>
                </a:lnTo>
                <a:lnTo>
                  <a:pt x="1162685" y="377812"/>
                </a:lnTo>
                <a:lnTo>
                  <a:pt x="1162685" y="75564"/>
                </a:lnTo>
                <a:lnTo>
                  <a:pt x="1156753" y="46130"/>
                </a:lnTo>
                <a:lnTo>
                  <a:pt x="1140571" y="22113"/>
                </a:lnTo>
                <a:lnTo>
                  <a:pt x="1116554" y="5931"/>
                </a:lnTo>
                <a:lnTo>
                  <a:pt x="108711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59ABCF15-5980-8AAF-A537-7B54F86F25BD}"/>
              </a:ext>
            </a:extLst>
          </p:cNvPr>
          <p:cNvSpPr/>
          <p:nvPr/>
        </p:nvSpPr>
        <p:spPr>
          <a:xfrm>
            <a:off x="7003034" y="5393054"/>
            <a:ext cx="1162685" cy="453390"/>
          </a:xfrm>
          <a:custGeom>
            <a:avLst/>
            <a:gdLst/>
            <a:ahLst/>
            <a:cxnLst/>
            <a:rect l="l" t="t" r="r" b="b"/>
            <a:pathLst>
              <a:path w="1162684" h="453389">
                <a:moveTo>
                  <a:pt x="0" y="75564"/>
                </a:moveTo>
                <a:lnTo>
                  <a:pt x="5949" y="46130"/>
                </a:lnTo>
                <a:lnTo>
                  <a:pt x="22161" y="22113"/>
                </a:lnTo>
                <a:lnTo>
                  <a:pt x="46184" y="5931"/>
                </a:lnTo>
                <a:lnTo>
                  <a:pt x="75564" y="0"/>
                </a:lnTo>
                <a:lnTo>
                  <a:pt x="1087119" y="0"/>
                </a:lnTo>
                <a:lnTo>
                  <a:pt x="1116554" y="5931"/>
                </a:lnTo>
                <a:lnTo>
                  <a:pt x="1140571" y="22113"/>
                </a:lnTo>
                <a:lnTo>
                  <a:pt x="1156753" y="46130"/>
                </a:lnTo>
                <a:lnTo>
                  <a:pt x="1162685" y="75564"/>
                </a:lnTo>
                <a:lnTo>
                  <a:pt x="1162685" y="377812"/>
                </a:lnTo>
                <a:lnTo>
                  <a:pt x="1156753" y="407225"/>
                </a:lnTo>
                <a:lnTo>
                  <a:pt x="1140571" y="431244"/>
                </a:lnTo>
                <a:lnTo>
                  <a:pt x="1116554" y="447438"/>
                </a:lnTo>
                <a:lnTo>
                  <a:pt x="1087119" y="453377"/>
                </a:lnTo>
                <a:lnTo>
                  <a:pt x="75564" y="453377"/>
                </a:lnTo>
                <a:lnTo>
                  <a:pt x="46184" y="447438"/>
                </a:lnTo>
                <a:lnTo>
                  <a:pt x="22161" y="431244"/>
                </a:lnTo>
                <a:lnTo>
                  <a:pt x="5949" y="407225"/>
                </a:lnTo>
                <a:lnTo>
                  <a:pt x="0" y="377812"/>
                </a:lnTo>
                <a:lnTo>
                  <a:pt x="0" y="75564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394EFF4-BC68-D8CA-43F2-0497D2319A85}"/>
              </a:ext>
            </a:extLst>
          </p:cNvPr>
          <p:cNvSpPr txBox="1"/>
          <p:nvPr/>
        </p:nvSpPr>
        <p:spPr>
          <a:xfrm>
            <a:off x="7312405" y="5496255"/>
            <a:ext cx="54673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15" dirty="0">
                <a:solidFill>
                  <a:srgbClr val="FFFFFF"/>
                </a:solidFill>
                <a:latin typeface="宋体"/>
                <a:cs typeface="宋体"/>
              </a:rPr>
              <a:t>行间距</a:t>
            </a:r>
            <a:endParaRPr sz="135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1159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C8D21-C277-EE17-86DA-8EBAD31E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CSS</a:t>
            </a:r>
            <a:r>
              <a:rPr lang="zh-CN" altLang="en-US" dirty="0"/>
              <a:t>文本属性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CD5A41F-F041-97FC-0109-02284F657B15}"/>
              </a:ext>
            </a:extLst>
          </p:cNvPr>
          <p:cNvSpPr/>
          <p:nvPr/>
        </p:nvSpPr>
        <p:spPr>
          <a:xfrm>
            <a:off x="928688" y="2905779"/>
            <a:ext cx="10388488" cy="28095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C71D48-B8CA-07DD-1313-7DEBD0D43488}"/>
              </a:ext>
            </a:extLst>
          </p:cNvPr>
          <p:cNvSpPr txBox="1"/>
          <p:nvPr/>
        </p:nvSpPr>
        <p:spPr>
          <a:xfrm>
            <a:off x="608648" y="876693"/>
            <a:ext cx="1092422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CSS</a:t>
            </a:r>
            <a:r>
              <a:rPr lang="zh-CN" altLang="en-US" sz="2400" spc="-4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Text</a:t>
            </a:r>
            <a:r>
              <a:rPr lang="zh-CN" altLang="en-US" sz="24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文本）属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性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可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定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义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外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观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比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如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的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颜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色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对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齐</a:t>
            </a:r>
            <a:r>
              <a:rPr lang="zh-CN" altLang="en-US" sz="2400" spc="-1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装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饰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文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本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缩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进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间</a:t>
            </a:r>
            <a:r>
              <a:rPr lang="zh-CN" altLang="en-US"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距</a:t>
            </a:r>
            <a:r>
              <a:rPr lang="zh-CN" altLang="en-US" sz="2400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等</a:t>
            </a:r>
            <a:r>
              <a:rPr lang="zh-CN" altLang="en-US" sz="2400" spc="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1F6E44-3DA2-ADD3-1360-D1F9B6235B7F}"/>
              </a:ext>
            </a:extLst>
          </p:cNvPr>
          <p:cNvSpPr txBox="1"/>
          <p:nvPr/>
        </p:nvSpPr>
        <p:spPr>
          <a:xfrm>
            <a:off x="928688" y="2197153"/>
            <a:ext cx="6315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微软雅黑"/>
              </a:rPr>
              <a:t>4.6</a:t>
            </a:r>
            <a:r>
              <a:rPr kumimoji="0" lang="zh-CN" altLang="en-US" sz="2800" b="1" i="0" u="none" strike="noStrike" kern="1200" cap="none" spc="-5" normalizeH="0" baseline="0" noProof="0" dirty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微软雅黑"/>
              </a:rPr>
              <a:t> 文本属性总结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2021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3086" y="1263143"/>
            <a:ext cx="3422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制作一个</a:t>
            </a:r>
            <a:r>
              <a:rPr lang="en-US" altLang="zh-CN" sz="2400" dirty="0"/>
              <a:t>div</a:t>
            </a:r>
            <a:r>
              <a:rPr lang="zh-CN" altLang="en-US" sz="2400" dirty="0"/>
              <a:t>盒子如下</a:t>
            </a:r>
            <a:r>
              <a:rPr lang="en-US" altLang="zh-CN" sz="2400" dirty="0"/>
              <a:t>: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32840" y="2027078"/>
            <a:ext cx="8767148" cy="2803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1.</a:t>
            </a:r>
            <a:r>
              <a:rPr lang="zh-CN" altLang="en-US" sz="2400" dirty="0"/>
              <a:t>高为</a:t>
            </a:r>
            <a:r>
              <a:rPr lang="en-US" altLang="zh-CN" sz="2400" dirty="0"/>
              <a:t>100px</a:t>
            </a:r>
            <a:r>
              <a:rPr lang="zh-CN" altLang="en-US" sz="2400" dirty="0"/>
              <a:t>，宽为</a:t>
            </a:r>
            <a:r>
              <a:rPr lang="en-US" altLang="zh-CN" sz="2400" dirty="0"/>
              <a:t>200px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2.</a:t>
            </a:r>
            <a:r>
              <a:rPr lang="zh-CN" altLang="en-US" sz="2400" dirty="0"/>
              <a:t>背景颜色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为粉色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pink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边框粗细为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10px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、边框样式为实线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(solid)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、边框颜色为灰色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文字对齐方式为居中对齐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文字颜色为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</a:p>
        </p:txBody>
      </p:sp>
      <p:sp>
        <p:nvSpPr>
          <p:cNvPr id="3" name="标题 1"/>
          <p:cNvSpPr txBox="1"/>
          <p:nvPr/>
        </p:nvSpPr>
        <p:spPr>
          <a:xfrm>
            <a:off x="517458" y="136524"/>
            <a:ext cx="8613041" cy="740169"/>
          </a:xfrm>
          <a:prstGeom prst="rect">
            <a:avLst/>
          </a:prstGeom>
        </p:spPr>
        <p:txBody>
          <a:bodyPr>
            <a:normAutofit fontScale="95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练习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5" y="2110740"/>
            <a:ext cx="3623310" cy="2023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99117" y="1449706"/>
            <a:ext cx="10886916" cy="3409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200000"/>
              </a:lnSpc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标签中，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标签用于定义超链接，作用是从一个页面链接到另一个页面。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200000"/>
              </a:lnSpc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链接的语法格式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200000"/>
              </a:lnSpc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链接的分类</a:t>
            </a:r>
          </a:p>
        </p:txBody>
      </p:sp>
      <p:sp>
        <p:nvSpPr>
          <p:cNvPr id="3" name="标题 1"/>
          <p:cNvSpPr txBox="1"/>
          <p:nvPr/>
        </p:nvSpPr>
        <p:spPr>
          <a:xfrm>
            <a:off x="517458" y="136524"/>
            <a:ext cx="8498525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超链接标签（重点）</a:t>
            </a:r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6E5A196-926E-DB2F-BAE9-8C73F4359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47885" y="1450175"/>
            <a:ext cx="10048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链接的语法格式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77902" y="3081529"/>
            <a:ext cx="95669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单词</a:t>
            </a:r>
            <a:r>
              <a:rPr lang="en-US" altLang="zh-CN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anchor</a:t>
            </a: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的缩写，意为：锚。</a:t>
            </a:r>
            <a:endParaRPr lang="en-US" altLang="zh-CN" sz="2400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defRPr/>
            </a:pPr>
            <a:endParaRPr lang="en-US" altLang="zh-CN" sz="2400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defRPr/>
            </a:pP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两个属性的作用如下：</a:t>
            </a:r>
            <a:endParaRPr lang="en-US" altLang="zh-CN" sz="2400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defRPr/>
            </a:pPr>
            <a:endParaRPr lang="zh-CN" altLang="en-US" sz="2400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2" y="4550560"/>
            <a:ext cx="11280293" cy="1714530"/>
          </a:xfrm>
          <a:prstGeom prst="rect">
            <a:avLst/>
          </a:prstGeom>
        </p:spPr>
      </p:pic>
      <p:sp>
        <p:nvSpPr>
          <p:cNvPr id="7" name="标题 1"/>
          <p:cNvSpPr txBox="1"/>
          <p:nvPr/>
        </p:nvSpPr>
        <p:spPr>
          <a:xfrm>
            <a:off x="517458" y="136524"/>
            <a:ext cx="8498525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超链接标签（重点）</a:t>
            </a:r>
          </a:p>
          <a:p>
            <a:endParaRPr lang="zh-CN" altLang="en-US" dirty="0"/>
          </a:p>
        </p:txBody>
      </p:sp>
      <p:sp>
        <p:nvSpPr>
          <p:cNvPr id="8" name="object 3"/>
          <p:cNvSpPr/>
          <p:nvPr/>
        </p:nvSpPr>
        <p:spPr>
          <a:xfrm>
            <a:off x="977902" y="2186025"/>
            <a:ext cx="9566930" cy="593751"/>
          </a:xfrm>
          <a:custGeom>
            <a:avLst/>
            <a:gdLst/>
            <a:ahLst/>
            <a:cxnLst/>
            <a:rect l="l" t="t" r="r" b="b"/>
            <a:pathLst>
              <a:path w="6456045" h="532764">
                <a:moveTo>
                  <a:pt x="0" y="532764"/>
                </a:moveTo>
                <a:lnTo>
                  <a:pt x="6456045" y="532764"/>
                </a:lnTo>
                <a:lnTo>
                  <a:pt x="6456045" y="0"/>
                </a:lnTo>
                <a:lnTo>
                  <a:pt x="0" y="0"/>
                </a:lnTo>
                <a:lnTo>
                  <a:pt x="0" y="532764"/>
                </a:lnTo>
                <a:close/>
              </a:path>
            </a:pathLst>
          </a:custGeom>
          <a:solidFill>
            <a:srgbClr val="E6EFFF"/>
          </a:solidFill>
        </p:spPr>
        <p:txBody>
          <a:bodyPr wrap="square" lIns="0" tIns="0" rIns="0" bIns="0" rtlCol="0" anchor="ctr"/>
          <a:lstStyle/>
          <a:p>
            <a:pPr marL="170815">
              <a:lnSpc>
                <a:spcPct val="100000"/>
              </a:lnSpc>
              <a:spcBef>
                <a:spcPts val="105"/>
              </a:spcBef>
            </a:pPr>
            <a:r>
              <a:rPr lang="en-US" altLang="zh-CN" sz="1800">
                <a:latin typeface="Courier New" panose="02070309020205020404"/>
                <a:cs typeface="Courier New" panose="02070309020205020404"/>
              </a:rPr>
              <a:t>&lt;a</a:t>
            </a:r>
            <a:r>
              <a:rPr lang="en-US" altLang="zh-CN" sz="1800" spc="-35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1800" spc="-5">
                <a:latin typeface="Courier New" panose="02070309020205020404"/>
                <a:cs typeface="Courier New" panose="02070309020205020404"/>
              </a:rPr>
              <a:t>href="</a:t>
            </a:r>
            <a:r>
              <a:rPr lang="zh-CN" altLang="en-US" sz="1800" spc="-10">
                <a:latin typeface="宋体" panose="02010600030101010101" pitchFamily="2" charset="-122"/>
                <a:cs typeface="宋体" panose="02010600030101010101" pitchFamily="2" charset="-122"/>
              </a:rPr>
              <a:t>跳</a:t>
            </a:r>
            <a:r>
              <a:rPr lang="zh-CN" altLang="en-US" sz="1800" spc="5">
                <a:latin typeface="宋体" panose="02010600030101010101" pitchFamily="2" charset="-122"/>
                <a:cs typeface="宋体" panose="02010600030101010101" pitchFamily="2" charset="-122"/>
              </a:rPr>
              <a:t>转</a:t>
            </a:r>
            <a:r>
              <a:rPr lang="zh-CN" altLang="en-US" sz="1800" spc="-10">
                <a:latin typeface="宋体" panose="02010600030101010101" pitchFamily="2" charset="-122"/>
                <a:cs typeface="宋体" panose="02010600030101010101" pitchFamily="2" charset="-122"/>
              </a:rPr>
              <a:t>目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标</a:t>
            </a:r>
            <a:r>
              <a:rPr lang="en-US" altLang="zh-CN" sz="1800">
                <a:latin typeface="Courier New" panose="02070309020205020404"/>
                <a:cs typeface="Courier New" panose="02070309020205020404"/>
              </a:rPr>
              <a:t>"</a:t>
            </a:r>
            <a:r>
              <a:rPr lang="zh-CN" altLang="en-US" sz="1800" spc="-55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1800" spc="-5">
                <a:latin typeface="Courier New" panose="02070309020205020404"/>
                <a:cs typeface="Courier New" panose="02070309020205020404"/>
              </a:rPr>
              <a:t>target="</a:t>
            </a:r>
            <a:r>
              <a:rPr lang="zh-CN" altLang="en-US" sz="1800" spc="-10">
                <a:latin typeface="宋体" panose="02010600030101010101" pitchFamily="2" charset="-122"/>
                <a:cs typeface="宋体" panose="02010600030101010101" pitchFamily="2" charset="-122"/>
              </a:rPr>
              <a:t>目</a:t>
            </a:r>
            <a:r>
              <a:rPr lang="zh-CN" altLang="en-US" sz="1800" spc="5">
                <a:latin typeface="宋体" panose="02010600030101010101" pitchFamily="2" charset="-122"/>
                <a:cs typeface="宋体" panose="02010600030101010101" pitchFamily="2" charset="-122"/>
              </a:rPr>
              <a:t>标</a:t>
            </a:r>
            <a:r>
              <a:rPr lang="zh-CN" altLang="en-US" sz="1800" spc="-10">
                <a:latin typeface="宋体" panose="02010600030101010101" pitchFamily="2" charset="-122"/>
                <a:cs typeface="宋体" panose="02010600030101010101" pitchFamily="2" charset="-122"/>
              </a:rPr>
              <a:t>窗</a:t>
            </a:r>
            <a:r>
              <a:rPr lang="zh-CN" altLang="en-US" sz="1800" spc="5">
                <a:latin typeface="宋体" panose="02010600030101010101" pitchFamily="2" charset="-122"/>
                <a:cs typeface="宋体" panose="02010600030101010101" pitchFamily="2" charset="-122"/>
              </a:rPr>
              <a:t>口</a:t>
            </a:r>
            <a:r>
              <a:rPr lang="zh-CN" altLang="en-US" sz="1800" spc="-1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1800" spc="5">
                <a:latin typeface="宋体" panose="02010600030101010101" pitchFamily="2" charset="-122"/>
                <a:cs typeface="宋体" panose="02010600030101010101" pitchFamily="2" charset="-122"/>
              </a:rPr>
              <a:t>弹</a:t>
            </a:r>
            <a:r>
              <a:rPr lang="zh-CN" altLang="en-US" sz="1800" spc="-10">
                <a:latin typeface="宋体" panose="02010600030101010101" pitchFamily="2" charset="-122"/>
                <a:cs typeface="宋体" panose="02010600030101010101" pitchFamily="2" charset="-122"/>
              </a:rPr>
              <a:t>出</a:t>
            </a:r>
            <a:r>
              <a:rPr lang="zh-CN" altLang="en-US" sz="1800" spc="5">
                <a:latin typeface="宋体" panose="02010600030101010101" pitchFamily="2" charset="-122"/>
                <a:cs typeface="宋体" panose="02010600030101010101" pitchFamily="2" charset="-122"/>
              </a:rPr>
              <a:t>方</a:t>
            </a:r>
            <a:r>
              <a:rPr lang="zh-CN" altLang="en-US" sz="1800" spc="-10">
                <a:latin typeface="宋体" panose="02010600030101010101" pitchFamily="2" charset="-122"/>
                <a:cs typeface="宋体" panose="02010600030101010101" pitchFamily="2" charset="-122"/>
              </a:rPr>
              <a:t>式</a:t>
            </a:r>
            <a:r>
              <a:rPr lang="en-US" altLang="zh-CN" sz="1800" spc="-5">
                <a:latin typeface="Courier New" panose="02070309020205020404"/>
                <a:cs typeface="Courier New" panose="02070309020205020404"/>
              </a:rPr>
              <a:t>"&gt;</a:t>
            </a:r>
            <a:r>
              <a:rPr lang="zh-CN" altLang="en-US" sz="1800" spc="-55">
                <a:latin typeface="Courier New" panose="02070309020205020404"/>
                <a:cs typeface="Courier New" panose="02070309020205020404"/>
              </a:rPr>
              <a:t> </a:t>
            </a:r>
            <a:r>
              <a:rPr lang="zh-CN" altLang="en-US" sz="1800" spc="5">
                <a:latin typeface="宋体" panose="02010600030101010101" pitchFamily="2" charset="-122"/>
                <a:cs typeface="宋体" panose="02010600030101010101" pitchFamily="2" charset="-122"/>
              </a:rPr>
              <a:t>文本或图像</a:t>
            </a:r>
            <a:r>
              <a:rPr lang="zh-CN" altLang="en-US" sz="1800" spc="75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>
                <a:latin typeface="Courier New" panose="02070309020205020404"/>
                <a:cs typeface="Courier New" panose="02070309020205020404"/>
              </a:rPr>
              <a:t>&lt;/a&gt;</a:t>
            </a:r>
            <a:endParaRPr lang="en-US" altLang="zh-CN" sz="18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CDED0A-9D22-74B7-0A68-F6F857D97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374248" y="2380166"/>
            <a:ext cx="9451217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外部链接，例如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=“http://www.baidu.com”&gt;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&lt;/a&gt;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74248" y="3339967"/>
            <a:ext cx="975492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内部链接：网站内部页面之间的相互链接，直接链接内部页面名称即可，例如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=“index.html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&lt;/a&gt;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80295" y="1397597"/>
            <a:ext cx="10048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链接分类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517458" y="136524"/>
            <a:ext cx="8498525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超链接标签（重点）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387D2CE-08C7-6BC0-7DE3-5B016929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01626" y="2099356"/>
            <a:ext cx="995604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下载链接：如果</a:t>
            </a:r>
            <a:r>
              <a:rPr lang="en-US" altLang="zh-CN" sz="2400" dirty="0" err="1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里面地址是一个文件或者压缩包，会下载这个文件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1626" y="2861473"/>
            <a:ext cx="11794369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网页元素链接：在网页中的各种网页元素，如文本、图像、表格、音频、视频等都可以添加超链接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1626" y="1234475"/>
            <a:ext cx="980364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空链接：如果当时没有确定链接目标时，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=“#”&gt;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&lt;/a&gt;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1626" y="4177587"/>
            <a:ext cx="11794369" cy="1515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4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锚点链接：点击链接，可以快速定位到页面中的某个位置</a:t>
            </a:r>
            <a:endParaRPr lang="en-US" altLang="zh-CN" sz="2400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在链接文本的</a:t>
            </a:r>
            <a:r>
              <a:rPr lang="en-US" altLang="zh-CN" sz="2000" dirty="0" err="1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zh-CN" altLang="en-US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属性中，设置属性值为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名字 </a:t>
            </a:r>
            <a:r>
              <a:rPr lang="zh-CN" altLang="en-US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的形式，如</a:t>
            </a:r>
            <a:r>
              <a:rPr lang="en-US" altLang="zh-CN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 </a:t>
            </a:r>
            <a:r>
              <a:rPr lang="en-US" altLang="zh-CN" sz="2000" dirty="0" err="1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=“#two”&gt;</a:t>
            </a:r>
            <a:r>
              <a:rPr lang="zh-CN" altLang="en-US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第二集</a:t>
            </a:r>
            <a:r>
              <a:rPr lang="en-US" altLang="zh-CN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&lt;/a&gt;</a:t>
            </a:r>
          </a:p>
          <a:p>
            <a:pPr marL="342900" indent="-342900" defTabSz="9144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找到目标位置标签，里面添加一个</a:t>
            </a:r>
            <a:r>
              <a:rPr lang="en-US" altLang="zh-CN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 </a:t>
            </a:r>
            <a:r>
              <a:rPr lang="en-US" altLang="zh-CN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刚才的名字，如：</a:t>
            </a:r>
            <a:r>
              <a:rPr lang="en-US" altLang="zh-CN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&lt;h3 id =“two”&gt;</a:t>
            </a:r>
            <a:r>
              <a:rPr lang="zh-CN" altLang="en-US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第二集介绍</a:t>
            </a:r>
            <a:r>
              <a:rPr lang="en-US" altLang="zh-CN" sz="2000" dirty="0">
                <a:solidFill>
                  <a:srgbClr val="3F3F3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&lt;/h3&gt;</a:t>
            </a:r>
            <a:endParaRPr lang="zh-CN" altLang="en-US" sz="2000" dirty="0">
              <a:solidFill>
                <a:srgbClr val="3F3F3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517458" y="136524"/>
            <a:ext cx="8498525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超链接标签（重点）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60800" y="1482249"/>
            <a:ext cx="10932795" cy="3893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latinLnBrk="1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rgbClr val="333333"/>
                </a:solidFill>
                <a:latin typeface="Helvetica Neue"/>
                <a:ea typeface="微软雅黑" panose="020B0503020204020204" pitchFamily="34" charset="-122"/>
              </a:rPr>
              <a:t>默认情况下，链接将以以下形式出现在浏览器中：</a:t>
            </a:r>
            <a:endParaRPr lang="en-US" altLang="zh-CN" sz="2800" dirty="0">
              <a:solidFill>
                <a:srgbClr val="333333"/>
              </a:solidFill>
              <a:latin typeface="Helvetica Neue"/>
              <a:ea typeface="微软雅黑" panose="020B0503020204020204" pitchFamily="34" charset="-122"/>
            </a:endParaRPr>
          </a:p>
          <a:p>
            <a:pPr marL="457200" indent="-457200" defTabSz="914400" latinLnBrk="1">
              <a:lnSpc>
                <a:spcPct val="150000"/>
              </a:lnSpc>
              <a:buClr>
                <a:srgbClr val="3F3F3F">
                  <a:lumMod val="50000"/>
                </a:srgb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solidFill>
                  <a:srgbClr val="333333"/>
                </a:solidFill>
                <a:latin typeface="Helvetica Neue"/>
                <a:ea typeface="微软雅黑" panose="020B0503020204020204" pitchFamily="34" charset="-122"/>
              </a:rPr>
              <a:t>当您把鼠标指针移动到网页中的某个链接上时，箭头会变为一只小手。</a:t>
            </a:r>
          </a:p>
          <a:p>
            <a:pPr marL="457200" indent="-457200" defTabSz="914400" latinLnBrk="1">
              <a:lnSpc>
                <a:spcPct val="150000"/>
              </a:lnSpc>
              <a:buClr>
                <a:srgbClr val="3F3F3F">
                  <a:lumMod val="50000"/>
                </a:srgb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solidFill>
                  <a:srgbClr val="333333"/>
                </a:solidFill>
                <a:latin typeface="Helvetica Neue"/>
                <a:ea typeface="微软雅黑" panose="020B0503020204020204" pitchFamily="34" charset="-122"/>
              </a:rPr>
              <a:t>一个</a:t>
            </a:r>
            <a:r>
              <a:rPr lang="zh-CN" altLang="en-US" sz="2800" u="sng" dirty="0">
                <a:solidFill>
                  <a:srgbClr val="0070C0"/>
                </a:solidFill>
                <a:latin typeface="Helvetica Neue"/>
                <a:ea typeface="微软雅黑" panose="020B0503020204020204" pitchFamily="34" charset="-122"/>
              </a:rPr>
              <a:t>未访问过的链接</a:t>
            </a:r>
            <a:r>
              <a:rPr lang="zh-CN" altLang="en-US" sz="2800" dirty="0">
                <a:solidFill>
                  <a:srgbClr val="333333"/>
                </a:solidFill>
                <a:latin typeface="Helvetica Neue"/>
                <a:ea typeface="微软雅黑" panose="020B0503020204020204" pitchFamily="34" charset="-122"/>
              </a:rPr>
              <a:t>显示为蓝色字体并带有下划线。</a:t>
            </a:r>
          </a:p>
          <a:p>
            <a:pPr marL="457200" indent="-457200" defTabSz="914400" latinLnBrk="1">
              <a:lnSpc>
                <a:spcPct val="150000"/>
              </a:lnSpc>
              <a:buClr>
                <a:srgbClr val="3F3F3F">
                  <a:lumMod val="50000"/>
                </a:srgb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u="sng" dirty="0">
                <a:solidFill>
                  <a:srgbClr val="7030A0"/>
                </a:solidFill>
                <a:latin typeface="Helvetica Neue"/>
                <a:ea typeface="微软雅黑" panose="020B0503020204020204" pitchFamily="34" charset="-122"/>
              </a:rPr>
              <a:t>访问过的链接</a:t>
            </a:r>
            <a:r>
              <a:rPr lang="zh-CN" altLang="en-US" sz="2800" dirty="0">
                <a:solidFill>
                  <a:srgbClr val="333333"/>
                </a:solidFill>
                <a:latin typeface="Helvetica Neue"/>
                <a:ea typeface="微软雅黑" panose="020B0503020204020204" pitchFamily="34" charset="-122"/>
              </a:rPr>
              <a:t>显示为紫色并带有下划线。</a:t>
            </a:r>
          </a:p>
          <a:p>
            <a:pPr marL="457200" indent="-457200" defTabSz="914400" latinLnBrk="1">
              <a:lnSpc>
                <a:spcPct val="150000"/>
              </a:lnSpc>
              <a:buClr>
                <a:srgbClr val="3F3F3F">
                  <a:lumMod val="50000"/>
                </a:srgb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800" u="sng" dirty="0">
                <a:solidFill>
                  <a:srgbClr val="FF0000"/>
                </a:solidFill>
                <a:latin typeface="Helvetica Neue"/>
                <a:ea typeface="微软雅黑" panose="020B0503020204020204" pitchFamily="34" charset="-122"/>
              </a:rPr>
              <a:t>点击链接</a:t>
            </a:r>
            <a:r>
              <a:rPr lang="zh-CN" altLang="en-US" sz="2800" dirty="0">
                <a:solidFill>
                  <a:srgbClr val="333333"/>
                </a:solidFill>
                <a:latin typeface="Helvetica Neue"/>
                <a:ea typeface="微软雅黑" panose="020B0503020204020204" pitchFamily="34" charset="-122"/>
              </a:rPr>
              <a:t>时，链接显示为红色并带有下划线。</a:t>
            </a:r>
          </a:p>
        </p:txBody>
      </p:sp>
      <p:sp>
        <p:nvSpPr>
          <p:cNvPr id="3" name="标题 1"/>
          <p:cNvSpPr txBox="1"/>
          <p:nvPr/>
        </p:nvSpPr>
        <p:spPr>
          <a:xfrm>
            <a:off x="517458" y="136524"/>
            <a:ext cx="8498525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超链接标签（重点）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1AE5A14-2D59-549B-E07C-F0EDFA5E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517459" y="136524"/>
            <a:ext cx="7968174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HTML</a:t>
            </a:r>
            <a:r>
              <a:rPr lang="zh-CN" altLang="en-US" dirty="0"/>
              <a:t>音频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476" y="1489294"/>
            <a:ext cx="11267047" cy="130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&lt;audio&gt;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标签定义</a:t>
            </a:r>
            <a:r>
              <a:rPr lang="zh-CN" altLang="en-US" sz="2800" dirty="0">
                <a:solidFill>
                  <a:srgbClr val="333333"/>
                </a:solidFill>
                <a:latin typeface="Helvetica Neue"/>
                <a:ea typeface="微软雅黑" panose="020B0503020204020204" pitchFamily="34" charset="-122"/>
              </a:rPr>
              <a:t>音频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。目前，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 &lt;audio&gt;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元素支持三种视频格式：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MP3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Wav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、</a:t>
            </a:r>
            <a:r>
              <a:rPr lang="en-US" altLang="zh-CN" sz="2800" dirty="0">
                <a:solidFill>
                  <a:srgbClr val="333333"/>
                </a:solidFill>
                <a:latin typeface="Helvetica Neue"/>
                <a:ea typeface="微软雅黑" panose="020B0503020204020204" pitchFamily="34" charset="-122"/>
              </a:rPr>
              <a:t>Ogg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36591" y="3103266"/>
            <a:ext cx="11345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&lt;audio </a:t>
            </a:r>
            <a:r>
              <a:rPr lang="en-US" altLang="zh-CN" sz="2400" b="0" dirty="0" err="1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zh-CN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=“</a:t>
            </a:r>
            <a:r>
              <a:rPr lang="zh-CN" altLang="en-US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音频地址</a:t>
            </a:r>
            <a:r>
              <a:rPr lang="en-US" altLang="zh-CN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” controls=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“</a:t>
            </a:r>
            <a:r>
              <a:rPr lang="en-US" altLang="zh-CN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controls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”</a:t>
            </a:r>
            <a:r>
              <a:rPr lang="en-US" altLang="zh-CN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loop=“loop”&gt;&lt;/audio&gt;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05957" y="3728230"/>
            <a:ext cx="11345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&lt;audio </a:t>
            </a:r>
            <a:r>
              <a:rPr lang="en-US" altLang="zh-CN" sz="2400" b="0" dirty="0" err="1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zh-CN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=“</a:t>
            </a:r>
            <a:r>
              <a:rPr lang="zh-CN" altLang="en-US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音频地址</a:t>
            </a:r>
            <a:r>
              <a:rPr lang="en-US" altLang="zh-CN" sz="24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” controls loop&gt;&lt;/audio&gt;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517459" y="136524"/>
            <a:ext cx="7968174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HTML</a:t>
            </a:r>
            <a:r>
              <a:rPr lang="zh-CN" altLang="en-US" dirty="0"/>
              <a:t>视频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4172" y="1558599"/>
            <a:ext cx="11123655" cy="130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&lt;video&gt;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标签定义视频，比如电影片段或其他视频流。目前，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&lt;video&gt;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元素支持三种视频格式：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MP4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WebM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Ogg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Helvetica Neue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82249" y="4486146"/>
            <a:ext cx="92418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&lt;video </a:t>
            </a:r>
            <a:r>
              <a:rPr lang="en-US" altLang="zh-CN" sz="2800" b="0" dirty="0" err="1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zh-CN" sz="2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=“</a:t>
            </a:r>
            <a:r>
              <a:rPr lang="zh-CN" altLang="en-US" sz="2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视频地址</a:t>
            </a:r>
            <a:r>
              <a:rPr lang="en-US" altLang="zh-CN" sz="2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 controls&gt;&lt;/video&gt;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9206" y="3611080"/>
            <a:ext cx="115278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&lt;video </a:t>
            </a:r>
            <a:r>
              <a:rPr lang="en-US" altLang="zh-CN" sz="2800" b="0" dirty="0" err="1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altLang="zh-CN" sz="2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=“</a:t>
            </a:r>
            <a:r>
              <a:rPr lang="zh-CN" altLang="en-US" sz="2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视频地址</a:t>
            </a:r>
            <a:r>
              <a:rPr lang="en-US" altLang="zh-CN" sz="2800" b="0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 controls=“controls”&gt;&lt;/video&gt;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40312" y="1219658"/>
          <a:ext cx="10586722" cy="5052456"/>
        </p:xfrm>
        <a:graphic>
          <a:graphicData uri="http://schemas.openxmlformats.org/drawingml/2006/table">
            <a:tbl>
              <a:tblPr/>
              <a:tblGrid>
                <a:gridCol w="2143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2503"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</a:rPr>
                        <a:t>属性</a:t>
                      </a:r>
                    </a:p>
                  </a:txBody>
                  <a:tcPr marL="36788" marR="36788" marT="36788" marB="36788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</a:rPr>
                        <a:t>值</a:t>
                      </a:r>
                    </a:p>
                  </a:txBody>
                  <a:tcPr marL="36788" marR="36788" marT="36788" marB="36788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2400" dirty="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36788" marR="36788" marT="36788" marB="36788" anchor="ctr">
                    <a:lnL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98">
                <a:tc>
                  <a:txBody>
                    <a:bodyPr/>
                    <a:lstStyle/>
                    <a:p>
                      <a:pPr fontAlgn="t"/>
                      <a:r>
                        <a:rPr lang="en-US" sz="2400" u="none" strike="noStrike" dirty="0" err="1">
                          <a:solidFill>
                            <a:srgbClr val="900B09"/>
                          </a:solidFill>
                          <a:effectLst/>
                          <a:hlinkClick r:id="rId3" tooltip="HTML5 &lt;video&gt; autoplay 属性"/>
                        </a:rPr>
                        <a:t>autoplay</a:t>
                      </a:r>
                      <a:endParaRPr lang="en-US" sz="2400" dirty="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autoplay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</a:rPr>
                        <a:t>如果出现该属性，则视频在就绪后马上播放。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98">
                <a:tc>
                  <a:txBody>
                    <a:bodyPr/>
                    <a:lstStyle/>
                    <a:p>
                      <a:pPr fontAlgn="t"/>
                      <a:r>
                        <a:rPr lang="en-US" sz="2400" u="none" strike="noStrike" dirty="0">
                          <a:solidFill>
                            <a:srgbClr val="900B09"/>
                          </a:solidFill>
                          <a:effectLst/>
                          <a:hlinkClick r:id="rId4" tooltip="HTML5 &lt;video&gt; controls 属性"/>
                        </a:rPr>
                        <a:t>controls</a:t>
                      </a:r>
                      <a:endParaRPr lang="en-US" sz="2400" dirty="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controls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</a:rPr>
                        <a:t>如果出现该属性，则向用户显示控件，比如播放按钮。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71">
                <a:tc>
                  <a:txBody>
                    <a:bodyPr/>
                    <a:lstStyle/>
                    <a:p>
                      <a:pPr fontAlgn="t"/>
                      <a:r>
                        <a:rPr lang="en-US" sz="2400" u="none" strike="noStrike">
                          <a:solidFill>
                            <a:srgbClr val="900B09"/>
                          </a:solidFill>
                          <a:effectLst/>
                          <a:hlinkClick r:id="rId5" tooltip="HTML5 &lt;video&gt; height 属性"/>
                        </a:rPr>
                        <a:t>height</a:t>
                      </a:r>
                      <a:endParaRPr lang="en-US" sz="240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i="1">
                          <a:effectLst/>
                        </a:rPr>
                        <a:t>pixels</a:t>
                      </a:r>
                      <a:endParaRPr lang="en-US" sz="240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</a:rPr>
                        <a:t>设置视频播放器的高度。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924">
                <a:tc>
                  <a:txBody>
                    <a:bodyPr/>
                    <a:lstStyle/>
                    <a:p>
                      <a:pPr fontAlgn="t"/>
                      <a:r>
                        <a:rPr lang="en-US" sz="2400" u="none" strike="noStrike">
                          <a:solidFill>
                            <a:srgbClr val="900B09"/>
                          </a:solidFill>
                          <a:effectLst/>
                          <a:hlinkClick r:id="rId6" tooltip="HTML5 &lt;video&gt; loop 属性"/>
                        </a:rPr>
                        <a:t>loop</a:t>
                      </a:r>
                      <a:endParaRPr lang="en-US" sz="240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loop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</a:rPr>
                        <a:t>如果出现该属性，则当媒介文件完成播放后再次开始播放。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702">
                <a:tc>
                  <a:txBody>
                    <a:bodyPr/>
                    <a:lstStyle/>
                    <a:p>
                      <a:pPr fontAlgn="t"/>
                      <a:r>
                        <a:rPr lang="en-US" sz="2400" u="none" strike="noStrike" dirty="0">
                          <a:solidFill>
                            <a:srgbClr val="900B09"/>
                          </a:solidFill>
                          <a:effectLst/>
                          <a:hlinkClick r:id="rId7" tooltip="HTML5 &lt;video&gt; preload 属性"/>
                        </a:rPr>
                        <a:t>preload</a:t>
                      </a:r>
                      <a:endParaRPr lang="en-US" sz="2400" dirty="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preload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</a:rPr>
                        <a:t>如果出现该属性，则视频在页面加载时进行加载，并预备播放。</a:t>
                      </a:r>
                    </a:p>
                    <a:p>
                      <a:pPr fontAlgn="t"/>
                      <a:r>
                        <a:rPr lang="zh-CN" altLang="en-US" sz="2400" dirty="0">
                          <a:effectLst/>
                        </a:rPr>
                        <a:t>如果使用 </a:t>
                      </a:r>
                      <a:r>
                        <a:rPr lang="en-US" altLang="zh-CN" sz="2400" dirty="0">
                          <a:effectLst/>
                        </a:rPr>
                        <a:t>"</a:t>
                      </a:r>
                      <a:r>
                        <a:rPr lang="en-US" altLang="zh-CN" sz="2400" dirty="0" err="1">
                          <a:effectLst/>
                        </a:rPr>
                        <a:t>autoplay</a:t>
                      </a:r>
                      <a:r>
                        <a:rPr lang="en-US" altLang="zh-CN" sz="2400" dirty="0">
                          <a:effectLst/>
                        </a:rPr>
                        <a:t>"</a:t>
                      </a:r>
                      <a:r>
                        <a:rPr lang="zh-CN" altLang="en-US" sz="2400" dirty="0">
                          <a:effectLst/>
                        </a:rPr>
                        <a:t>，则忽略该属性。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71">
                <a:tc>
                  <a:txBody>
                    <a:bodyPr/>
                    <a:lstStyle/>
                    <a:p>
                      <a:pPr fontAlgn="t"/>
                      <a:r>
                        <a:rPr lang="en-US" sz="2400" u="none" strike="noStrike">
                          <a:solidFill>
                            <a:srgbClr val="900B09"/>
                          </a:solidFill>
                          <a:effectLst/>
                          <a:hlinkClick r:id="rId8" tooltip="HTML5 &lt;video&gt; src 属性"/>
                        </a:rPr>
                        <a:t>src</a:t>
                      </a:r>
                      <a:endParaRPr lang="en-US" sz="240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i="1">
                          <a:effectLst/>
                        </a:rPr>
                        <a:t>url</a:t>
                      </a:r>
                      <a:endParaRPr lang="en-US" sz="240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</a:rPr>
                        <a:t>要播放的视频的 </a:t>
                      </a:r>
                      <a:r>
                        <a:rPr lang="en-US" altLang="zh-CN" sz="2400" dirty="0">
                          <a:effectLst/>
                        </a:rPr>
                        <a:t>URL</a:t>
                      </a:r>
                      <a:r>
                        <a:rPr lang="zh-CN" altLang="en-US" sz="2400" dirty="0">
                          <a:effectLst/>
                        </a:rPr>
                        <a:t>。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71">
                <a:tc>
                  <a:txBody>
                    <a:bodyPr/>
                    <a:lstStyle/>
                    <a:p>
                      <a:pPr fontAlgn="t"/>
                      <a:r>
                        <a:rPr lang="en-US" sz="2400" u="none" strike="noStrike">
                          <a:solidFill>
                            <a:srgbClr val="900B09"/>
                          </a:solidFill>
                          <a:effectLst/>
                          <a:hlinkClick r:id="rId9" tooltip="HTML5 &lt;video&gt; width 属性"/>
                        </a:rPr>
                        <a:t>width</a:t>
                      </a:r>
                      <a:endParaRPr lang="en-US" sz="240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i="1">
                          <a:effectLst/>
                        </a:rPr>
                        <a:t>pixels</a:t>
                      </a:r>
                      <a:endParaRPr lang="en-US" sz="2400">
                        <a:effectLst/>
                      </a:endParaRP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</a:rPr>
                        <a:t>设置视频播放器的宽度。</a:t>
                      </a:r>
                    </a:p>
                  </a:txBody>
                  <a:tcPr marL="33110" marR="33110" marT="33110" marB="3311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标题 1"/>
          <p:cNvSpPr txBox="1"/>
          <p:nvPr/>
        </p:nvSpPr>
        <p:spPr>
          <a:xfrm>
            <a:off x="517459" y="136524"/>
            <a:ext cx="7968174" cy="7401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1" kern="12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HTML</a:t>
            </a:r>
            <a:r>
              <a:rPr lang="zh-CN" altLang="en-US" dirty="0"/>
              <a:t>视频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26086" y="372269"/>
            <a:ext cx="115114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课堂练习四</a:t>
            </a:r>
            <a:r>
              <a:rPr lang="en-US" altLang="zh-CN" sz="4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制作两个网页，分别播放视频和音乐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" y="1861185"/>
            <a:ext cx="5013960" cy="328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950" y="1346835"/>
            <a:ext cx="3758565" cy="4891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6575899"/>
            <a:ext cx="12599987" cy="2821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78788" y="2106930"/>
            <a:ext cx="8136904" cy="132207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大黑体_GBK" panose="02010600010101010101" charset="-122"/>
                <a:sym typeface="+mn-lt"/>
              </a:rPr>
              <a:t>Thanks</a:t>
            </a:r>
            <a:endParaRPr lang="zh-CN" altLang="en-US" sz="80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方正大黑体_GBK" panose="02010600010101010101" charset="-122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078935" y="3263596"/>
            <a:ext cx="4215161" cy="0"/>
          </a:xfrm>
          <a:prstGeom prst="line">
            <a:avLst/>
          </a:prstGeom>
          <a:ln>
            <a:solidFill>
              <a:srgbClr val="00D6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Q4MzNkZDYwODM4NzM1NzZlNGY0MGRmNjY0NzlhNT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758</TotalTime>
  <Words>5435</Words>
  <Application>Microsoft Office PowerPoint</Application>
  <PresentationFormat>自定义</PresentationFormat>
  <Paragraphs>585</Paragraphs>
  <Slides>79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98" baseType="lpstr">
      <vt:lpstr>΢</vt:lpstr>
      <vt:lpstr>-apple-system</vt:lpstr>
      <vt:lpstr>Helvetica Neue</vt:lpstr>
      <vt:lpstr>等线</vt:lpstr>
      <vt:lpstr>方正卡通简体</vt:lpstr>
      <vt:lpstr>华文仿宋</vt:lpstr>
      <vt:lpstr>华文新魏</vt:lpstr>
      <vt:lpstr>宋体</vt:lpstr>
      <vt:lpstr>微软雅黑</vt:lpstr>
      <vt:lpstr>Arial</vt:lpstr>
      <vt:lpstr>Calibri</vt:lpstr>
      <vt:lpstr>Consolas</vt:lpstr>
      <vt:lpstr>Courier New</vt:lpstr>
      <vt:lpstr>Lato</vt:lpstr>
      <vt:lpstr>Source Code Pro</vt:lpstr>
      <vt:lpstr>Times New Roman</vt:lpstr>
      <vt:lpstr>Verdana</vt:lpstr>
      <vt:lpstr>Wingdings</vt:lpstr>
      <vt:lpstr>Office 主题​​</vt:lpstr>
      <vt:lpstr>PowerPoint 演示文稿</vt:lpstr>
      <vt:lpstr>PowerPoint 演示文稿</vt:lpstr>
      <vt:lpstr>PowerPoint 演示文稿</vt:lpstr>
      <vt:lpstr>HTML语法规范</vt:lpstr>
      <vt:lpstr>HTML 语法规范</vt:lpstr>
      <vt:lpstr>PowerPoint 演示文稿</vt:lpstr>
      <vt:lpstr>HTML基本结构标签</vt:lpstr>
      <vt:lpstr>HTML基本结构标签</vt:lpstr>
      <vt:lpstr>HTML基本结构标签</vt:lpstr>
      <vt:lpstr>PowerPoint 演示文稿</vt:lpstr>
      <vt:lpstr>HTML 标签</vt:lpstr>
      <vt:lpstr>HTML 标签</vt:lpstr>
      <vt:lpstr>HTML 标签</vt:lpstr>
      <vt:lpstr>HTML标签语义</vt:lpstr>
      <vt:lpstr>标题标签</vt:lpstr>
      <vt:lpstr>标题标签&lt;h1&gt;-&lt;h6&gt;(重要）</vt:lpstr>
      <vt:lpstr>段落、换行标签和水平线（重要）</vt:lpstr>
      <vt:lpstr>PowerPoint 演示文稿</vt:lpstr>
      <vt:lpstr>PowerPoint 演示文稿</vt:lpstr>
      <vt:lpstr>段落、换行标签和水平线（重要）</vt:lpstr>
      <vt:lpstr>段落、换行标签和水平线（重要）</vt:lpstr>
      <vt:lpstr>PowerPoint 演示文稿</vt:lpstr>
      <vt:lpstr>文本格式化标签</vt:lpstr>
      <vt:lpstr>文本格式化标签</vt:lpstr>
      <vt:lpstr>文本格式化标签</vt:lpstr>
      <vt:lpstr>文本格式化标签</vt:lpstr>
      <vt:lpstr>PowerPoint 演示文稿</vt:lpstr>
      <vt:lpstr>图像标签</vt:lpstr>
      <vt:lpstr>图像标签</vt:lpstr>
      <vt:lpstr>图像标签</vt:lpstr>
      <vt:lpstr>图像标签</vt:lpstr>
      <vt:lpstr>PowerPoint 演示文稿</vt:lpstr>
      <vt:lpstr>PowerPoint 演示文稿</vt:lpstr>
      <vt:lpstr>PowerPoint 演示文稿</vt:lpstr>
      <vt:lpstr>PowerPoint 演示文稿</vt:lpstr>
      <vt:lpstr>div标签、span标签</vt:lpstr>
      <vt:lpstr>CSS的引入方式</vt:lpstr>
      <vt:lpstr>CSS的引入方式</vt:lpstr>
      <vt:lpstr>CSS的引入方式</vt:lpstr>
      <vt:lpstr>CSS的引入方式</vt:lpstr>
      <vt:lpstr>CSS的引入方式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CSS字体属性</vt:lpstr>
      <vt:lpstr>CSS字体属性</vt:lpstr>
      <vt:lpstr>课堂练习2</vt:lpstr>
      <vt:lpstr>CSS字体属性</vt:lpstr>
      <vt:lpstr>CSS字体属性</vt:lpstr>
      <vt:lpstr>想一想</vt:lpstr>
      <vt:lpstr>PowerPoint 演示文稿</vt:lpstr>
      <vt:lpstr>PowerPoint 演示文稿</vt:lpstr>
      <vt:lpstr>课堂练习3</vt:lpstr>
      <vt:lpstr>PowerPoint 演示文稿</vt:lpstr>
      <vt:lpstr>PowerPoint 演示文稿</vt:lpstr>
      <vt:lpstr>CSS文本属性</vt:lpstr>
      <vt:lpstr>CSS文本属性</vt:lpstr>
      <vt:lpstr>课堂练习1-（*拓展）  1、借助AI-不同内容用同一标签如何设置不同样式  2、内容与边框如何设置一定间距？</vt:lpstr>
      <vt:lpstr>CSS文本属性</vt:lpstr>
      <vt:lpstr>PowerPoint 演示文稿</vt:lpstr>
      <vt:lpstr>PowerPoint 演示文稿</vt:lpstr>
      <vt:lpstr>CSS文本属性</vt:lpstr>
      <vt:lpstr>CSS文本属性</vt:lpstr>
      <vt:lpstr>CSS文本属性</vt:lpstr>
      <vt:lpstr>CSS文本属性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mei guigui</dc:creator>
  <cp:lastModifiedBy>Administrator</cp:lastModifiedBy>
  <cp:revision>159</cp:revision>
  <dcterms:created xsi:type="dcterms:W3CDTF">2021-12-19T16:55:00Z</dcterms:created>
  <dcterms:modified xsi:type="dcterms:W3CDTF">2026-09-18T04:11:55Z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4C070B35872640059A41F79C06294F95_12</vt:lpwstr>
  </property>
  <property fmtid="{D5CDD505-2E9C-101B-9397-08002B2CF9AE}" pid="3" name="KSOProductBuildVer">
    <vt:lpwstr>2052-12.1.0.22529</vt:lpwstr>
  </property>
</Properties>
</file>
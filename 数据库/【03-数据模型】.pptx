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ppt/notesSlides/notesSlide19.xml" ContentType="application/vnd.openxmlformats-officedocument.presentationml.notesSlide+xml"/>
  <Override PartName="/ppt/tags/tag2.xml" ContentType="application/vnd.openxmlformats-officedocument.presentationml.tags+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tags/tag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5.xml" ContentType="application/vnd.openxmlformats-officedocument.presentationml.tags+xml"/>
  <Override PartName="/ppt/notesSlides/notesSlide24.xml" ContentType="application/vnd.openxmlformats-officedocument.presentationml.notesSlide+xml"/>
  <Override PartName="/ppt/tags/tag6.xml" ContentType="application/vnd.openxmlformats-officedocument.presentationml.tags+xml"/>
  <Override PartName="/ppt/notesSlides/notesSlide25.xml" ContentType="application/vnd.openxmlformats-officedocument.presentationml.notesSlide+xml"/>
  <Override PartName="/ppt/tags/tag7.xml" ContentType="application/vnd.openxmlformats-officedocument.presentationml.tags+xml"/>
  <Override PartName="/ppt/notesSlides/notesSlide26.xml" ContentType="application/vnd.openxmlformats-officedocument.presentationml.notesSlide+xml"/>
  <Override PartName="/ppt/tags/tag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9.xml" ContentType="application/vnd.openxmlformats-officedocument.presentationml.tags+xml"/>
  <Override PartName="/ppt/notesSlides/notesSlide29.xml" ContentType="application/vnd.openxmlformats-officedocument.presentationml.notesSlide+xml"/>
  <Override PartName="/ppt/tags/tag10.xml" ContentType="application/vnd.openxmlformats-officedocument.presentationml.tags+xml"/>
  <Override PartName="/ppt/notesSlides/notesSlide30.xml" ContentType="application/vnd.openxmlformats-officedocument.presentationml.notesSlide+xml"/>
  <Override PartName="/ppt/tags/tag11.xml" ContentType="application/vnd.openxmlformats-officedocument.presentationml.tags+xml"/>
  <Override PartName="/ppt/notesSlides/notesSlide31.xml" ContentType="application/vnd.openxmlformats-officedocument.presentationml.notesSlide+xml"/>
  <Override PartName="/ppt/tags/tag12.xml" ContentType="application/vnd.openxmlformats-officedocument.presentationml.tags+xml"/>
  <Override PartName="/ppt/notesSlides/notesSlide32.xml" ContentType="application/vnd.openxmlformats-officedocument.presentationml.notesSlide+xml"/>
  <Override PartName="/ppt/tags/tag13.xml" ContentType="application/vnd.openxmlformats-officedocument.presentationml.tags+xml"/>
  <Override PartName="/ppt/notesSlides/notesSlide33.xml" ContentType="application/vnd.openxmlformats-officedocument.presentationml.notesSlide+xml"/>
  <Override PartName="/ppt/tags/tag14.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54"/>
  </p:notesMasterIdLst>
  <p:handoutMasterIdLst>
    <p:handoutMasterId r:id="rId55"/>
  </p:handoutMasterIdLst>
  <p:sldIdLst>
    <p:sldId id="256" r:id="rId2"/>
    <p:sldId id="257" r:id="rId3"/>
    <p:sldId id="280" r:id="rId4"/>
    <p:sldId id="477" r:id="rId5"/>
    <p:sldId id="261" r:id="rId6"/>
    <p:sldId id="273" r:id="rId7"/>
    <p:sldId id="425" r:id="rId8"/>
    <p:sldId id="430" r:id="rId9"/>
    <p:sldId id="426" r:id="rId10"/>
    <p:sldId id="427" r:id="rId11"/>
    <p:sldId id="431" r:id="rId12"/>
    <p:sldId id="263" r:id="rId13"/>
    <p:sldId id="272" r:id="rId14"/>
    <p:sldId id="565" r:id="rId15"/>
    <p:sldId id="274" r:id="rId16"/>
    <p:sldId id="432" r:id="rId17"/>
    <p:sldId id="433" r:id="rId18"/>
    <p:sldId id="434" r:id="rId19"/>
    <p:sldId id="275" r:id="rId20"/>
    <p:sldId id="276" r:id="rId21"/>
    <p:sldId id="278" r:id="rId22"/>
    <p:sldId id="281" r:id="rId23"/>
    <p:sldId id="284" r:id="rId24"/>
    <p:sldId id="282" r:id="rId25"/>
    <p:sldId id="435" r:id="rId26"/>
    <p:sldId id="566" r:id="rId27"/>
    <p:sldId id="283" r:id="rId28"/>
    <p:sldId id="428" r:id="rId29"/>
    <p:sldId id="567" r:id="rId30"/>
    <p:sldId id="550" r:id="rId31"/>
    <p:sldId id="551" r:id="rId32"/>
    <p:sldId id="552" r:id="rId33"/>
    <p:sldId id="553" r:id="rId34"/>
    <p:sldId id="437" r:id="rId35"/>
    <p:sldId id="436" r:id="rId36"/>
    <p:sldId id="568" r:id="rId37"/>
    <p:sldId id="554" r:id="rId38"/>
    <p:sldId id="556" r:id="rId39"/>
    <p:sldId id="557" r:id="rId40"/>
    <p:sldId id="558" r:id="rId41"/>
    <p:sldId id="569" r:id="rId42"/>
    <p:sldId id="559" r:id="rId43"/>
    <p:sldId id="560" r:id="rId44"/>
    <p:sldId id="438" r:id="rId45"/>
    <p:sldId id="561" r:id="rId46"/>
    <p:sldId id="562" r:id="rId47"/>
    <p:sldId id="563" r:id="rId48"/>
    <p:sldId id="564" r:id="rId49"/>
    <p:sldId id="429" r:id="rId50"/>
    <p:sldId id="393" r:id="rId51"/>
    <p:sldId id="394" r:id="rId52"/>
    <p:sldId id="570"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数据模型" id="{1BF38625-FEEA-4CCE-AE82-A7E116A79B49}">
          <p14:sldIdLst>
            <p14:sldId id="256"/>
            <p14:sldId id="257"/>
            <p14:sldId id="280"/>
            <p14:sldId id="477"/>
            <p14:sldId id="261"/>
            <p14:sldId id="273"/>
            <p14:sldId id="425"/>
            <p14:sldId id="430"/>
            <p14:sldId id="426"/>
            <p14:sldId id="427"/>
            <p14:sldId id="431"/>
            <p14:sldId id="263"/>
            <p14:sldId id="272"/>
            <p14:sldId id="565"/>
            <p14:sldId id="274"/>
            <p14:sldId id="432"/>
            <p14:sldId id="433"/>
            <p14:sldId id="434"/>
            <p14:sldId id="275"/>
            <p14:sldId id="276"/>
            <p14:sldId id="278"/>
            <p14:sldId id="281"/>
            <p14:sldId id="284"/>
            <p14:sldId id="282"/>
            <p14:sldId id="435"/>
            <p14:sldId id="566"/>
            <p14:sldId id="283"/>
            <p14:sldId id="428"/>
            <p14:sldId id="567"/>
            <p14:sldId id="550"/>
            <p14:sldId id="551"/>
            <p14:sldId id="552"/>
            <p14:sldId id="553"/>
            <p14:sldId id="437"/>
            <p14:sldId id="436"/>
            <p14:sldId id="568"/>
            <p14:sldId id="554"/>
            <p14:sldId id="556"/>
            <p14:sldId id="557"/>
            <p14:sldId id="558"/>
            <p14:sldId id="569"/>
            <p14:sldId id="559"/>
            <p14:sldId id="560"/>
            <p14:sldId id="438"/>
            <p14:sldId id="561"/>
            <p14:sldId id="562"/>
            <p14:sldId id="563"/>
            <p14:sldId id="564"/>
            <p14:sldId id="429"/>
            <p14:sldId id="393"/>
            <p14:sldId id="394"/>
            <p14:sldId id="57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5D6"/>
    <a:srgbClr val="F5D7D9"/>
    <a:srgbClr val="025CC6"/>
    <a:srgbClr val="0268E4"/>
    <a:srgbClr val="867470"/>
    <a:srgbClr val="FFB3D0"/>
    <a:srgbClr val="46D4DB"/>
    <a:srgbClr val="FFE86F"/>
    <a:srgbClr val="8AE7DF"/>
    <a:srgbClr val="61B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866" autoAdjust="0"/>
  </p:normalViewPr>
  <p:slideViewPr>
    <p:cSldViewPr snapToGrid="0">
      <p:cViewPr varScale="1">
        <p:scale>
          <a:sx n="58" d="100"/>
          <a:sy n="58" d="100"/>
        </p:scale>
        <p:origin x="776" y="40"/>
      </p:cViewPr>
      <p:guideLst/>
    </p:cSldViewPr>
  </p:slideViewPr>
  <p:notesTextViewPr>
    <p:cViewPr>
      <p:scale>
        <a:sx n="1" d="1"/>
        <a:sy n="1" d="1"/>
      </p:scale>
      <p:origin x="0" y="0"/>
    </p:cViewPr>
  </p:notesTextViewPr>
  <p:notesViewPr>
    <p:cSldViewPr snapToGrid="0">
      <p:cViewPr varScale="1">
        <p:scale>
          <a:sx n="83" d="100"/>
          <a:sy n="83" d="100"/>
        </p:scale>
        <p:origin x="275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52B6512-DDC8-407A-9336-68A4912174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FA8FD94-8C94-4AEF-8F43-BB715321D7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9AAE79-3AD5-4A89-A4B9-7BD978C413E7}" type="datetimeFigureOut">
              <a:rPr lang="zh-CN" altLang="en-US" smtClean="0"/>
              <a:t>2026/9/16</a:t>
            </a:fld>
            <a:endParaRPr lang="zh-CN" altLang="en-US"/>
          </a:p>
        </p:txBody>
      </p:sp>
      <p:sp>
        <p:nvSpPr>
          <p:cNvPr id="4" name="页脚占位符 3">
            <a:extLst>
              <a:ext uri="{FF2B5EF4-FFF2-40B4-BE49-F238E27FC236}">
                <a16:creationId xmlns:a16="http://schemas.microsoft.com/office/drawing/2014/main" id="{411D15F4-DD0F-4172-AEF2-F8F80F9747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22FAAF7A-2A21-413B-BEA1-6A0E34E0DC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C9434A-52E1-456F-96EE-6EAA81F3B7CC}" type="slidenum">
              <a:rPr lang="zh-CN" altLang="en-US" smtClean="0"/>
              <a:t>‹#›</a:t>
            </a:fld>
            <a:endParaRPr lang="zh-CN" altLang="en-US"/>
          </a:p>
        </p:txBody>
      </p:sp>
    </p:spTree>
    <p:extLst>
      <p:ext uri="{BB962C8B-B14F-4D97-AF65-F5344CB8AC3E}">
        <p14:creationId xmlns:p14="http://schemas.microsoft.com/office/powerpoint/2010/main" val="11336447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03E411-157D-42E9-A801-201C738732E7}" type="datetimeFigureOut">
              <a:rPr lang="zh-CN" altLang="en-US" smtClean="0"/>
              <a:t>2026/9/16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CA819-7865-4BB0-B601-74C0CCDC3050}" type="slidenum">
              <a:rPr lang="zh-CN" altLang="en-US" smtClean="0"/>
              <a:t>‹#›</a:t>
            </a:fld>
            <a:endParaRPr lang="zh-CN" altLang="en-US"/>
          </a:p>
        </p:txBody>
      </p:sp>
    </p:spTree>
    <p:extLst>
      <p:ext uri="{BB962C8B-B14F-4D97-AF65-F5344CB8AC3E}">
        <p14:creationId xmlns:p14="http://schemas.microsoft.com/office/powerpoint/2010/main" val="331865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大家好！本节课我们学习“概念设计工具</a:t>
            </a:r>
            <a:r>
              <a:rPr lang="en-US" altLang="zh-CN" dirty="0"/>
              <a:t>E-R</a:t>
            </a:r>
            <a:r>
              <a:rPr lang="zh-CN" altLang="en-US" dirty="0"/>
              <a:t>图的画法”。</a:t>
            </a:r>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本节课的</a:t>
            </a:r>
            <a:r>
              <a:rPr lang="zh-CN" altLang="en-US" sz="1200" kern="1200" dirty="0">
                <a:solidFill>
                  <a:schemeClr val="tx1"/>
                </a:solidFill>
                <a:latin typeface="+mn-lt"/>
                <a:ea typeface="+mn-ea"/>
                <a:cs typeface="+mn-cs"/>
              </a:rPr>
              <a:t>主要目标是</a:t>
            </a:r>
            <a:r>
              <a:rPr lang="zh-CN" altLang="en-US" dirty="0">
                <a:latin typeface="Arial" panose="020B0604020202020204" pitchFamily="34" charset="0"/>
                <a:ea typeface="Microsoft YaHei" panose="020B0503020204020204" pitchFamily="34" charset="-122"/>
                <a:sym typeface="Arial" panose="020B0604020202020204" pitchFamily="34" charset="0"/>
              </a:rPr>
              <a:t>能根据用户需求分析，画概念结构模型：</a:t>
            </a:r>
            <a:r>
              <a:rPr lang="en-US" altLang="zh-CN" dirty="0">
                <a:latin typeface="Arial" panose="020B0604020202020204" pitchFamily="34" charset="0"/>
                <a:ea typeface="Microsoft YaHei" panose="020B0503020204020204" pitchFamily="34" charset="-122"/>
                <a:sym typeface="Arial" panose="020B0604020202020204" pitchFamily="34" charset="0"/>
              </a:rPr>
              <a:t>E-R</a:t>
            </a:r>
            <a:r>
              <a:rPr lang="zh-CN" altLang="en-US" dirty="0">
                <a:latin typeface="Arial" panose="020B0604020202020204" pitchFamily="34" charset="0"/>
                <a:ea typeface="Microsoft YaHei" panose="020B0503020204020204" pitchFamily="34" charset="-122"/>
                <a:sym typeface="Arial" panose="020B0604020202020204" pitchFamily="34" charset="0"/>
              </a:rPr>
              <a:t>图。</a:t>
            </a:r>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大家好！本节课我们学习“概念设计工具</a:t>
            </a:r>
            <a:r>
              <a:rPr lang="en-US" altLang="zh-CN" dirty="0"/>
              <a:t>E-R</a:t>
            </a:r>
            <a:r>
              <a:rPr lang="zh-CN" altLang="en-US" dirty="0"/>
              <a:t>图的画法”。</a:t>
            </a:r>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3</a:t>
            </a:fld>
            <a:endParaRPr lang="zh-CN" altLang="en-US"/>
          </a:p>
        </p:txBody>
      </p:sp>
    </p:spTree>
    <p:extLst>
      <p:ext uri="{BB962C8B-B14F-4D97-AF65-F5344CB8AC3E}">
        <p14:creationId xmlns:p14="http://schemas.microsoft.com/office/powerpoint/2010/main" val="367929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F6540-6897-5355-EE97-9938DE111B35}"/>
            </a:ext>
          </a:extLst>
        </p:cNvPr>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CFCF9611-A5DC-5B3E-71F9-B0E8113CDB1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64AF8E60-4CA1-C013-96CA-97D553F3C2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a:extLst>
              <a:ext uri="{FF2B5EF4-FFF2-40B4-BE49-F238E27FC236}">
                <a16:creationId xmlns:a16="http://schemas.microsoft.com/office/drawing/2014/main" id="{4EB07D06-5A86-0A0B-07B4-D93BA7CBD8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4</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519600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首先我们来了解什么是</a:t>
            </a:r>
            <a:r>
              <a:rPr lang="en-US" altLang="zh-CN" dirty="0"/>
              <a:t>E-R</a:t>
            </a:r>
            <a:r>
              <a:rPr lang="zh-CN" altLang="en-US" dirty="0"/>
              <a:t>图</a:t>
            </a:r>
            <a:endParaRPr lang="en-US" altLang="zh-CN" dirty="0"/>
          </a:p>
          <a:p>
            <a:pPr>
              <a:lnSpc>
                <a:spcPct val="200000"/>
              </a:lnSpc>
            </a:pPr>
            <a:r>
              <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E-R</a:t>
            </a: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图是描述概念数据模型的主要工具，</a:t>
            </a:r>
            <a:r>
              <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E-R</a:t>
            </a: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图也称为实体</a:t>
            </a:r>
            <a:r>
              <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a:t>
            </a: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联系图（</a:t>
            </a:r>
            <a:r>
              <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E-</a:t>
            </a:r>
            <a:r>
              <a:rPr lang="en-US" altLang="zh-CN" sz="1200" kern="1200" dirty="0" err="1">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Entity,R</a:t>
            </a:r>
            <a:r>
              <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-Relationship</a:t>
            </a: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），由实体，属性，联   系三个要素构成。</a:t>
            </a:r>
            <a:endPar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endParaRPr>
          </a:p>
          <a:p>
            <a:pPr>
              <a:lnSpc>
                <a:spcPct val="200000"/>
              </a:lnSpc>
            </a:pP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图形符号为：</a:t>
            </a:r>
            <a:endPar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endParaRPr>
          </a:p>
          <a:p>
            <a:pPr>
              <a:lnSpc>
                <a:spcPct val="200000"/>
              </a:lnSpc>
            </a:pPr>
            <a:r>
              <a:rPr lang="en-US" altLang="zh-CN" sz="1200" b="1"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      </a:t>
            </a:r>
            <a:r>
              <a:rPr lang="zh-CN" altLang="en-US" sz="1200" b="1" kern="1200" dirty="0">
                <a:solidFill>
                  <a:schemeClr val="tx2"/>
                </a:solidFill>
                <a:latin typeface="Arial" panose="020B0604020202020204" pitchFamily="34" charset="0"/>
                <a:ea typeface="Microsoft YaHei" panose="020B0503020204020204" pitchFamily="34" charset="-122"/>
                <a:cs typeface="+mn-cs"/>
                <a:sym typeface="Arial" panose="020B0604020202020204" pitchFamily="34" charset="0"/>
              </a:rPr>
              <a:t>实体：用矩形表示，</a:t>
            </a: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矩形内写明实体名；</a:t>
            </a:r>
            <a:endPar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endParaRPr>
          </a:p>
          <a:p>
            <a:pPr>
              <a:lnSpc>
                <a:spcPct val="200000"/>
              </a:lnSpc>
            </a:pPr>
            <a:r>
              <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      </a:t>
            </a:r>
            <a:r>
              <a:rPr lang="zh-CN" altLang="en-US" sz="1200" b="1" kern="1200" dirty="0">
                <a:solidFill>
                  <a:schemeClr val="tx2"/>
                </a:solidFill>
                <a:latin typeface="Arial" panose="020B0604020202020204" pitchFamily="34" charset="0"/>
                <a:ea typeface="Microsoft YaHei" panose="020B0503020204020204" pitchFamily="34" charset="-122"/>
                <a:cs typeface="+mn-cs"/>
                <a:sym typeface="Arial" panose="020B0604020202020204" pitchFamily="34" charset="0"/>
              </a:rPr>
              <a:t>属性</a:t>
            </a:r>
            <a:r>
              <a:rPr lang="zh-CN" altLang="en-US" sz="1200" b="1"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a:t>
            </a:r>
            <a:r>
              <a:rPr lang="zh-CN" altLang="en-US" sz="1200" b="1" kern="1200" dirty="0">
                <a:solidFill>
                  <a:schemeClr val="tx2"/>
                </a:solidFill>
                <a:latin typeface="Arial" panose="020B0604020202020204" pitchFamily="34" charset="0"/>
                <a:ea typeface="Microsoft YaHei" panose="020B0503020204020204" pitchFamily="34" charset="-122"/>
                <a:cs typeface="+mn-cs"/>
                <a:sym typeface="Arial" panose="020B0604020202020204" pitchFamily="34" charset="0"/>
              </a:rPr>
              <a:t>用椭圆表示，</a:t>
            </a: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椭圆内写明属性名，用无向边将实体和属性连接起来；</a:t>
            </a:r>
            <a:endParaRPr lang="en-US" altLang="zh-CN"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endParaRPr>
          </a:p>
          <a:p>
            <a:pPr>
              <a:lnSpc>
                <a:spcPct val="200000"/>
              </a:lnSpc>
            </a:pP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      </a:t>
            </a:r>
            <a:r>
              <a:rPr lang="zh-CN" altLang="en-US" sz="1200" b="1" kern="1200" dirty="0">
                <a:solidFill>
                  <a:schemeClr val="tx2"/>
                </a:solidFill>
                <a:latin typeface="Arial" panose="020B0604020202020204" pitchFamily="34" charset="0"/>
                <a:ea typeface="Microsoft YaHei" panose="020B0503020204020204" pitchFamily="34" charset="-122"/>
                <a:cs typeface="+mn-cs"/>
                <a:sym typeface="Arial" panose="020B0604020202020204" pitchFamily="34" charset="0"/>
              </a:rPr>
              <a:t>联系：用菱形表示，</a:t>
            </a:r>
            <a:r>
              <a:rPr lang="zh-CN" altLang="en-US" sz="12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菱形框内写联系名，</a:t>
            </a:r>
            <a:r>
              <a:rPr lang="zh-CN" altLang="en-US" sz="1200" dirty="0">
                <a:latin typeface="Arial" panose="020B0604020202020204" pitchFamily="34" charset="0"/>
                <a:ea typeface="Microsoft YaHei" panose="020B0503020204020204" pitchFamily="34" charset="-122"/>
                <a:sym typeface="Arial" panose="020B0604020202020204" pitchFamily="34" charset="0"/>
              </a:rPr>
              <a:t>用无向边与有关实体联系起来，同时在无向边上注明联系类型</a:t>
            </a:r>
            <a:endParaRPr lang="en-US" altLang="zh-CN" sz="1200" dirty="0">
              <a:latin typeface="Arial" panose="020B0604020202020204" pitchFamily="34" charset="0"/>
              <a:ea typeface="Microsoft YaHei" panose="020B0503020204020204" pitchFamily="34" charset="-122"/>
              <a:sym typeface="Arial" panose="020B0604020202020204" pitchFamily="34" charset="0"/>
            </a:endParaRPr>
          </a:p>
          <a:p>
            <a:pPr>
              <a:lnSpc>
                <a:spcPct val="200000"/>
              </a:lnSpc>
            </a:pPr>
            <a:r>
              <a:rPr lang="zh-CN" altLang="en-US" sz="1200" dirty="0">
                <a:latin typeface="Arial" panose="020B0604020202020204" pitchFamily="34" charset="0"/>
                <a:ea typeface="Microsoft YaHei" panose="020B0503020204020204" pitchFamily="34" charset="-122"/>
                <a:sym typeface="Arial" panose="020B0604020202020204" pitchFamily="34" charset="0"/>
              </a:rPr>
              <a:t>      下面用具体的图来说明</a:t>
            </a:r>
            <a:endParaRPr lang="zh-CN" altLang="en-US"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pPr lvl="0">
              <a:lnSpc>
                <a:spcPct val="120000"/>
              </a:lnSpc>
              <a:spcBef>
                <a:spcPts val="1000"/>
              </a:spcBef>
              <a:spcAft>
                <a:spcPts val="600"/>
              </a:spcAft>
              <a:defRPr/>
            </a:pP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a:t>
            </a:r>
            <a:r>
              <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rPr>
              <a:t>2</a:t>
            </a: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 标识实体之间的联系：</a:t>
            </a:r>
            <a:endPar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6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班级和学生：一对多的联系，一个班级可以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包含</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多个学生，一个学生只能在一个班级。</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代表班长</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和班级：一对一的联系，一个班长</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管理</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一个班级，一个班级只有一个班长。</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学生和课程：多对多的联系，一个学生可以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选修</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多门课程，一门课程也可以被多个学生选修。</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下面进行第三步，画</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E-R</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图</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endParaRPr lang="zh-CN" altLang="en-US" sz="1400"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2211-A814-6295-96CE-8CE64C5927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8AEDDC-6F16-F56B-D300-C1CEAEA9E9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9D8C5C-1D24-EFB2-9D97-048818DD41AC}"/>
              </a:ext>
            </a:extLst>
          </p:cNvPr>
          <p:cNvSpPr>
            <a:spLocks noGrp="1"/>
          </p:cNvSpPr>
          <p:nvPr>
            <p:ph type="body" idx="1"/>
          </p:nvPr>
        </p:nvSpPr>
        <p:spPr/>
        <p:txBody>
          <a:bodyPr>
            <a:normAutofit fontScale="77500" lnSpcReduction="20000"/>
          </a:bodyPr>
          <a:lstStyle/>
          <a:p>
            <a:pPr lvl="0">
              <a:lnSpc>
                <a:spcPct val="120000"/>
              </a:lnSpc>
              <a:spcBef>
                <a:spcPts val="1000"/>
              </a:spcBef>
              <a:spcAft>
                <a:spcPts val="600"/>
              </a:spcAft>
              <a:defRPr/>
            </a:pP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a:t>
            </a:r>
            <a:r>
              <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rPr>
              <a:t>2</a:t>
            </a: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 标识实体之间的联系：</a:t>
            </a:r>
            <a:endPar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6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班级和学生：一对多的联系，一个班级可以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包含</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多个学生，一个学生只能在一个班级。</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代表班长</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和班级：一对一的联系，一个班长</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管理</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一个班级，一个班级只有一个班长。</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学生和课程：多对多的联系，一个学生可以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选修</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多门课程，一门课程也可以被多个学生选修。</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下面进行第三步，画</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E-R</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图</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endParaRPr lang="zh-CN" altLang="en-US" sz="1400" dirty="0"/>
          </a:p>
        </p:txBody>
      </p:sp>
      <p:sp>
        <p:nvSpPr>
          <p:cNvPr id="4" name="灯片编号占位符 3">
            <a:extLst>
              <a:ext uri="{FF2B5EF4-FFF2-40B4-BE49-F238E27FC236}">
                <a16:creationId xmlns:a16="http://schemas.microsoft.com/office/drawing/2014/main" id="{50109370-1550-7BFA-96A4-60344BEE6E40}"/>
              </a:ext>
            </a:extLst>
          </p:cNvPr>
          <p:cNvSpPr>
            <a:spLocks noGrp="1"/>
          </p:cNvSpPr>
          <p:nvPr>
            <p:ph type="sldNum" sz="quarter" idx="10"/>
          </p:nvPr>
        </p:nvSpPr>
        <p:spPr/>
        <p:txBody>
          <a:bodyPr/>
          <a:lstStyle/>
          <a:p>
            <a:fld id="{C3D3CD21-6E89-4D1C-86B6-701A5588EB2A}" type="slidenum">
              <a:rPr lang="zh-CN" altLang="en-US" smtClean="0"/>
              <a:pPr/>
              <a:t>7</a:t>
            </a:fld>
            <a:endParaRPr lang="zh-CN" altLang="en-US"/>
          </a:p>
        </p:txBody>
      </p:sp>
    </p:spTree>
    <p:extLst>
      <p:ext uri="{BB962C8B-B14F-4D97-AF65-F5344CB8AC3E}">
        <p14:creationId xmlns:p14="http://schemas.microsoft.com/office/powerpoint/2010/main" val="3627000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A6A54-7FD7-1505-03D7-5F781AB480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C6A648-665D-CB6F-D369-5DD135B8D9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EF698A-FC8F-C69C-8FEC-386643F1EFED}"/>
              </a:ext>
            </a:extLst>
          </p:cNvPr>
          <p:cNvSpPr>
            <a:spLocks noGrp="1"/>
          </p:cNvSpPr>
          <p:nvPr>
            <p:ph type="body" idx="1"/>
          </p:nvPr>
        </p:nvSpPr>
        <p:spPr/>
        <p:txBody>
          <a:bodyPr>
            <a:normAutofit fontScale="77500" lnSpcReduction="20000"/>
          </a:bodyPr>
          <a:lstStyle/>
          <a:p>
            <a:pPr lvl="0">
              <a:lnSpc>
                <a:spcPct val="120000"/>
              </a:lnSpc>
              <a:spcBef>
                <a:spcPts val="1000"/>
              </a:spcBef>
              <a:spcAft>
                <a:spcPts val="600"/>
              </a:spcAft>
              <a:defRPr/>
            </a:pP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a:t>
            </a:r>
            <a:r>
              <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rPr>
              <a:t>2</a:t>
            </a: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 标识实体之间的联系：</a:t>
            </a:r>
            <a:endPar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6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班级和学生：一对多的联系，一个班级可以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包含</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多个学生，一个学生只能在一个班级。</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代表班长</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和班级：一对一的联系，一个班长</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管理</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一个班级，一个班级只有一个班长。</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学生和课程：多对多的联系，一个学生可以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选修</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多门课程，一门课程也可以被多个学生选修。</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下面进行第三步，画</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E-R</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图</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endParaRPr lang="zh-CN" altLang="en-US" sz="1400" dirty="0"/>
          </a:p>
        </p:txBody>
      </p:sp>
      <p:sp>
        <p:nvSpPr>
          <p:cNvPr id="4" name="灯片编号占位符 3">
            <a:extLst>
              <a:ext uri="{FF2B5EF4-FFF2-40B4-BE49-F238E27FC236}">
                <a16:creationId xmlns:a16="http://schemas.microsoft.com/office/drawing/2014/main" id="{E1249938-7EF9-4102-BB17-2499447ECFDC}"/>
              </a:ext>
            </a:extLst>
          </p:cNvPr>
          <p:cNvSpPr>
            <a:spLocks noGrp="1"/>
          </p:cNvSpPr>
          <p:nvPr>
            <p:ph type="sldNum" sz="quarter" idx="10"/>
          </p:nvPr>
        </p:nvSpPr>
        <p:spPr/>
        <p:txBody>
          <a:bodyPr/>
          <a:lstStyle/>
          <a:p>
            <a:fld id="{C3D3CD21-6E89-4D1C-86B6-701A5588EB2A}" type="slidenum">
              <a:rPr lang="zh-CN" altLang="en-US" smtClean="0"/>
              <a:pPr/>
              <a:t>9</a:t>
            </a:fld>
            <a:endParaRPr lang="zh-CN" altLang="en-US"/>
          </a:p>
        </p:txBody>
      </p:sp>
    </p:spTree>
    <p:extLst>
      <p:ext uri="{BB962C8B-B14F-4D97-AF65-F5344CB8AC3E}">
        <p14:creationId xmlns:p14="http://schemas.microsoft.com/office/powerpoint/2010/main" val="3096556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C4137-EC74-01F9-C454-9FA8053550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440214-8E86-15A9-38DD-79C7CEC40C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BD6F5C-73AD-A74A-9509-CF006BCBA9C4}"/>
              </a:ext>
            </a:extLst>
          </p:cNvPr>
          <p:cNvSpPr>
            <a:spLocks noGrp="1"/>
          </p:cNvSpPr>
          <p:nvPr>
            <p:ph type="body" idx="1"/>
          </p:nvPr>
        </p:nvSpPr>
        <p:spPr/>
        <p:txBody>
          <a:bodyPr>
            <a:normAutofit fontScale="77500" lnSpcReduction="20000"/>
          </a:bodyPr>
          <a:lstStyle/>
          <a:p>
            <a:pPr lvl="0">
              <a:lnSpc>
                <a:spcPct val="120000"/>
              </a:lnSpc>
              <a:spcBef>
                <a:spcPts val="1000"/>
              </a:spcBef>
              <a:spcAft>
                <a:spcPts val="600"/>
              </a:spcAft>
              <a:defRPr/>
            </a:pP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a:t>
            </a:r>
            <a:r>
              <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rPr>
              <a:t>2</a:t>
            </a:r>
            <a:r>
              <a:rPr lang="zh-CN" altLang="en-US" sz="1600" b="1" kern="1200" dirty="0">
                <a:solidFill>
                  <a:schemeClr val="tx2"/>
                </a:solidFill>
                <a:latin typeface="微软雅黑" pitchFamily="34" charset="-122"/>
                <a:ea typeface="微软雅黑" pitchFamily="34" charset="-122"/>
                <a:cs typeface="+mn-cs"/>
                <a:sym typeface="Arial" panose="020B0604020202020204" pitchFamily="34" charset="0"/>
              </a:rPr>
              <a:t>） 标识实体之间的联系：</a:t>
            </a:r>
            <a:endParaRPr lang="en-US" altLang="zh-CN" sz="1600" b="1" kern="1200" dirty="0">
              <a:solidFill>
                <a:schemeClr val="tx2"/>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6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班级和学生：一对多的联系，一个班级可以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包含</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多个学生，一个学生只能在一个班级。</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代表班长</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和班级：一对一的联系，一个班长</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管理</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一个班级，一个班级只有一个班长。</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学生和课程：多对多的联系，一个学生可以</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选修</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多门课程，一门课程也可以被多个学生选修。</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2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下面进行第三步，画</a:t>
            </a: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E-R</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图</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endParaRPr lang="zh-CN" altLang="en-US" sz="1400" dirty="0"/>
          </a:p>
        </p:txBody>
      </p:sp>
      <p:sp>
        <p:nvSpPr>
          <p:cNvPr id="4" name="灯片编号占位符 3">
            <a:extLst>
              <a:ext uri="{FF2B5EF4-FFF2-40B4-BE49-F238E27FC236}">
                <a16:creationId xmlns:a16="http://schemas.microsoft.com/office/drawing/2014/main" id="{9AD72244-4F3D-1805-D164-FB1324336CE1}"/>
              </a:ext>
            </a:extLst>
          </p:cNvPr>
          <p:cNvSpPr>
            <a:spLocks noGrp="1"/>
          </p:cNvSpPr>
          <p:nvPr>
            <p:ph type="sldNum" sz="quarter" idx="10"/>
          </p:nvPr>
        </p:nvSpPr>
        <p:spPr/>
        <p:txBody>
          <a:bodyPr/>
          <a:lstStyle/>
          <a:p>
            <a:fld id="{C3D3CD21-6E89-4D1C-86B6-701A5588EB2A}" type="slidenum">
              <a:rPr lang="zh-CN" altLang="en-US" smtClean="0"/>
              <a:pPr/>
              <a:t>10</a:t>
            </a:fld>
            <a:endParaRPr lang="zh-CN" altLang="en-US"/>
          </a:p>
        </p:txBody>
      </p:sp>
    </p:spTree>
    <p:extLst>
      <p:ext uri="{BB962C8B-B14F-4D97-AF65-F5344CB8AC3E}">
        <p14:creationId xmlns:p14="http://schemas.microsoft.com/office/powerpoint/2010/main" val="723489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实体表示法，把实体名写在矩形框内</a:t>
            </a:r>
            <a:endParaRPr lang="en-US" altLang="zh-CN" dirty="0"/>
          </a:p>
          <a:p>
            <a:r>
              <a:rPr lang="zh-CN" altLang="en-US" dirty="0"/>
              <a:t>属性表示法：把属性名写在椭圆框内</a:t>
            </a:r>
            <a:endParaRPr lang="en-US" altLang="zh-CN" dirty="0"/>
          </a:p>
          <a:p>
            <a:r>
              <a:rPr lang="zh-CN" altLang="en-US" dirty="0"/>
              <a:t>联系表示法：把联系名写在菱形框内</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12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47500" lnSpcReduction="20000"/>
          </a:bodyPr>
          <a:lstStyle/>
          <a:p>
            <a:pPr>
              <a:lnSpc>
                <a:spcPct val="200000"/>
              </a:lnSpc>
            </a:pPr>
            <a:r>
              <a:rPr lang="zh-CN" altLang="en-US" sz="1400" dirty="0"/>
              <a:t>    我们以具体的案例来讲解</a:t>
            </a:r>
            <a:r>
              <a:rPr lang="en-US" altLang="zh-CN" sz="14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E-R</a:t>
            </a:r>
            <a:r>
              <a:rPr lang="zh-CN" altLang="en-US" sz="14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rPr>
              <a:t>图的画法。</a:t>
            </a:r>
            <a:endParaRPr lang="en-US" altLang="zh-CN" sz="14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endParaRPr>
          </a:p>
          <a:p>
            <a:pPr lvl="0">
              <a:lnSpc>
                <a:spcPct val="120000"/>
              </a:lnSpc>
              <a:spcBef>
                <a:spcPts val="1000"/>
              </a:spcBef>
              <a:spcAft>
                <a:spcPts val="600"/>
              </a:spcAft>
              <a:defRPr/>
            </a:pP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    案例说明：在一个学生成绩管理系统中，一个班级有多个学生，每个班级有一个正班长管理班级，每个学生可以选修多门课，每门课也可以被多个学生选修。</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en-US" altLang="zh-CN" sz="1400" kern="1200" baseline="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baseline="0" dirty="0">
                <a:solidFill>
                  <a:schemeClr val="tx1"/>
                </a:solidFill>
                <a:latin typeface="微软雅黑" pitchFamily="34" charset="-122"/>
                <a:ea typeface="微软雅黑" pitchFamily="34" charset="-122"/>
                <a:cs typeface="+mn-cs"/>
                <a:sym typeface="Arial" panose="020B0604020202020204" pitchFamily="34" charset="0"/>
              </a:rPr>
              <a:t>根据概念结构模型设计的步骤，我们先来标识实体及实体属性：</a:t>
            </a:r>
            <a:endParaRPr lang="en-US" altLang="zh-CN" sz="1400" kern="1200" baseline="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en-US" altLang="zh-CN" sz="1400" kern="1200" baseline="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a:t>
            </a:r>
            <a:r>
              <a:rPr lang="en-US" altLang="zh-CN" sz="1400" b="1" kern="1200" dirty="0">
                <a:solidFill>
                  <a:schemeClr val="tx2"/>
                </a:solidFill>
                <a:latin typeface="微软雅黑" pitchFamily="34" charset="-122"/>
                <a:ea typeface="微软雅黑" pitchFamily="34" charset="-122"/>
                <a:cs typeface="+mn-cs"/>
                <a:sym typeface="Arial" panose="020B0604020202020204" pitchFamily="34" charset="0"/>
              </a:rPr>
              <a:t>1</a:t>
            </a:r>
            <a:r>
              <a:rPr lang="zh-CN" altLang="en-US" sz="1400" b="1" kern="1200" dirty="0">
                <a:solidFill>
                  <a:schemeClr val="tx2"/>
                </a:solidFill>
                <a:latin typeface="微软雅黑" pitchFamily="34" charset="-122"/>
                <a:ea typeface="微软雅黑" pitchFamily="34" charset="-122"/>
                <a:cs typeface="+mn-cs"/>
                <a:sym typeface="Arial" panose="020B0604020202020204" pitchFamily="34" charset="0"/>
              </a:rPr>
              <a:t>） 标识实体及实体属性</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r>
              <a:rPr lang="zh-CN" altLang="en-US" sz="1200" b="1" kern="1200" dirty="0">
                <a:solidFill>
                  <a:schemeClr val="tx1"/>
                </a:solidFill>
                <a:latin typeface="+mn-lt"/>
                <a:ea typeface="+mn-ea"/>
                <a:cs typeface="+mn-cs"/>
              </a:rPr>
              <a:t>    属性可被分为两类：</a:t>
            </a:r>
            <a:endParaRPr lang="zh-CN" alt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baseline="0" dirty="0">
                <a:solidFill>
                  <a:schemeClr val="tx1"/>
                </a:solidFill>
                <a:latin typeface="+mn-lt"/>
                <a:ea typeface="+mn-ea"/>
                <a:cs typeface="+mn-cs"/>
              </a:rPr>
              <a:t> a</a:t>
            </a:r>
            <a:r>
              <a:rPr lang="en-US"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标识符（</a:t>
            </a:r>
            <a:r>
              <a:rPr lang="en-US" sz="1200" kern="1200" dirty="0">
                <a:solidFill>
                  <a:schemeClr val="tx1"/>
                </a:solidFill>
                <a:latin typeface="+mn-lt"/>
                <a:ea typeface="+mn-ea"/>
                <a:cs typeface="+mn-cs"/>
              </a:rPr>
              <a:t>identifiers</a:t>
            </a:r>
            <a:r>
              <a:rPr lang="zh-CN" altLang="en-US" sz="1200" kern="1200" dirty="0">
                <a:solidFill>
                  <a:schemeClr val="tx1"/>
                </a:solidFill>
                <a:latin typeface="+mn-lt"/>
                <a:ea typeface="+mn-ea"/>
                <a:cs typeface="+mn-cs"/>
              </a:rPr>
              <a:t>）：可以唯一标识实体的一个实例（</a:t>
            </a:r>
            <a:r>
              <a:rPr lang="en-US" sz="1200" kern="1200" dirty="0">
                <a:solidFill>
                  <a:schemeClr val="tx1"/>
                </a:solidFill>
                <a:latin typeface="+mn-lt"/>
                <a:ea typeface="+mn-ea"/>
                <a:cs typeface="+mn-cs"/>
              </a:rPr>
              <a:t>key</a:t>
            </a:r>
            <a:r>
              <a:rPr lang="zh-CN" altLang="en-US" sz="1200" kern="1200" dirty="0">
                <a:solidFill>
                  <a:schemeClr val="tx1"/>
                </a:solidFill>
                <a:latin typeface="+mn-lt"/>
                <a:ea typeface="+mn-ea"/>
                <a:cs typeface="+mn-cs"/>
              </a:rPr>
              <a:t>），可以由多个属性组成。</a:t>
            </a:r>
            <a:r>
              <a:rPr lang="en-US" sz="1200" kern="1200" dirty="0">
                <a:solidFill>
                  <a:schemeClr val="tx1"/>
                </a:solidFill>
                <a:latin typeface="+mn-lt"/>
                <a:ea typeface="+mn-ea"/>
                <a:cs typeface="+mn-cs"/>
              </a:rPr>
              <a:t>E</a:t>
            </a:r>
            <a:r>
              <a:rPr lang="en-US" altLang="zh-CN" sz="1200" kern="1200" dirty="0">
                <a:solidFill>
                  <a:schemeClr val="tx1"/>
                </a:solidFill>
                <a:latin typeface="+mn-lt"/>
                <a:ea typeface="+mn-ea"/>
                <a:cs typeface="+mn-cs"/>
              </a:rPr>
              <a:t>-</a:t>
            </a:r>
            <a:r>
              <a:rPr lang="en-US" sz="1200" kern="1200" dirty="0">
                <a:solidFill>
                  <a:schemeClr val="tx1"/>
                </a:solidFill>
                <a:latin typeface="+mn-lt"/>
                <a:ea typeface="+mn-ea"/>
                <a:cs typeface="+mn-cs"/>
              </a:rPr>
              <a:t>R</a:t>
            </a:r>
            <a:r>
              <a:rPr lang="zh-CN" altLang="en-US" sz="1200" kern="1200" dirty="0">
                <a:solidFill>
                  <a:schemeClr val="tx1"/>
                </a:solidFill>
                <a:latin typeface="+mn-lt"/>
                <a:ea typeface="+mn-ea"/>
                <a:cs typeface="+mn-cs"/>
              </a:rPr>
              <a:t>图              中通过在属性名下加上下划线来标识。</a:t>
            </a:r>
          </a:p>
          <a:p>
            <a:r>
              <a:rPr lang="en-US" sz="1200" kern="1200" dirty="0">
                <a:solidFill>
                  <a:schemeClr val="tx1"/>
                </a:solidFill>
                <a:latin typeface="+mn-lt"/>
                <a:ea typeface="+mn-ea"/>
                <a:cs typeface="+mn-cs"/>
              </a:rPr>
              <a:t>    </a:t>
            </a:r>
            <a:r>
              <a:rPr lang="en-US" sz="1200" kern="1200" baseline="0" dirty="0">
                <a:solidFill>
                  <a:schemeClr val="tx1"/>
                </a:solidFill>
                <a:latin typeface="+mn-lt"/>
                <a:ea typeface="+mn-ea"/>
                <a:cs typeface="+mn-cs"/>
              </a:rPr>
              <a:t> b</a:t>
            </a:r>
            <a:r>
              <a:rPr lang="en-US"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描述符（</a:t>
            </a:r>
            <a:r>
              <a:rPr lang="en-US" sz="1200" kern="1200" dirty="0">
                <a:solidFill>
                  <a:schemeClr val="tx1"/>
                </a:solidFill>
                <a:latin typeface="+mn-lt"/>
                <a:ea typeface="+mn-ea"/>
                <a:cs typeface="+mn-cs"/>
              </a:rPr>
              <a:t>descriptors</a:t>
            </a:r>
            <a:r>
              <a:rPr lang="zh-CN" altLang="en-US" sz="1200" kern="1200" dirty="0">
                <a:solidFill>
                  <a:schemeClr val="tx1"/>
                </a:solidFill>
                <a:latin typeface="+mn-lt"/>
                <a:ea typeface="+mn-ea"/>
                <a:cs typeface="+mn-cs"/>
              </a:rPr>
              <a:t>）：普通的属性。</a:t>
            </a:r>
          </a:p>
          <a:p>
            <a:pPr lvl="0">
              <a:lnSpc>
                <a:spcPct val="1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在班级实体的属性中，班级编号可以唯一标识一个实体的实例，所以为标识符，加下划线</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p>
          <a:p>
            <a:pPr lvl="0">
              <a:lnSpc>
                <a:spcPct val="1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在学生实体中，学号可以唯一标识一个实体的实例，所以为标识符，加下划线。身份证号虽然也可以唯一标识一个实体的实例，但在学生管理系统中不是最常用，最恰当的，所以选学号为标识符。</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在课程实体中，课程编号可以唯一标识一个实体的实例，所以为标识符。</a:t>
            </a:r>
            <a:endParaRPr lang="en-US" altLang="zh-CN" sz="1400" kern="1200" dirty="0">
              <a:solidFill>
                <a:schemeClr val="tx1"/>
              </a:solidFill>
              <a:latin typeface="微软雅黑" pitchFamily="34" charset="-122"/>
              <a:ea typeface="微软雅黑" pitchFamily="34" charset="-122"/>
              <a:cs typeface="+mn-cs"/>
              <a:sym typeface="Arial" panose="020B0604020202020204" pitchFamily="34" charset="0"/>
            </a:endParaRPr>
          </a:p>
          <a:p>
            <a:pPr lvl="0">
              <a:lnSpc>
                <a:spcPct val="120000"/>
              </a:lnSpc>
              <a:spcBef>
                <a:spcPts val="1000"/>
              </a:spcBef>
              <a:spcAft>
                <a:spcPts val="600"/>
              </a:spcAft>
              <a:defRPr/>
            </a:pPr>
            <a:r>
              <a:rPr lang="en-US" altLang="zh-CN" sz="1400" kern="1200" dirty="0">
                <a:solidFill>
                  <a:schemeClr val="tx1"/>
                </a:solidFill>
                <a:latin typeface="微软雅黑" pitchFamily="34" charset="-122"/>
                <a:ea typeface="微软雅黑" pitchFamily="34" charset="-122"/>
                <a:cs typeface="+mn-cs"/>
                <a:sym typeface="Arial" panose="020B0604020202020204" pitchFamily="34" charset="0"/>
              </a:rPr>
              <a:t>    </a:t>
            </a:r>
            <a:r>
              <a:rPr lang="zh-CN" altLang="en-US" sz="1400" kern="1200" dirty="0">
                <a:solidFill>
                  <a:schemeClr val="tx1"/>
                </a:solidFill>
                <a:latin typeface="微软雅黑" pitchFamily="34" charset="-122"/>
                <a:ea typeface="微软雅黑" pitchFamily="34" charset="-122"/>
                <a:cs typeface="+mn-cs"/>
                <a:sym typeface="Arial" panose="020B0604020202020204" pitchFamily="34" charset="0"/>
              </a:rPr>
              <a:t>为什么没有班长实体呢？因为班长属于学生，再写就出现了重复。</a:t>
            </a:r>
            <a:endParaRPr lang="en-US" altLang="zh-CN" sz="1400" kern="1200" dirty="0">
              <a:solidFill>
                <a:schemeClr val="tx1"/>
              </a:solidFill>
              <a:latin typeface="Arial" panose="020B0604020202020204" pitchFamily="34" charset="0"/>
              <a:ea typeface="Microsoft YaHei" panose="020B0503020204020204" pitchFamily="34" charset="-122"/>
              <a:cs typeface="+mn-cs"/>
              <a:sym typeface="Arial" panose="020B0604020202020204" pitchFamily="34" charset="0"/>
            </a:endParaRPr>
          </a:p>
          <a:p>
            <a:pPr>
              <a:lnSpc>
                <a:spcPct val="200000"/>
              </a:lnSpc>
            </a:pPr>
            <a:endParaRPr lang="zh-CN" altLang="en-US" sz="1400"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F6540-6897-5355-EE97-9938DE111B35}"/>
            </a:ext>
          </a:extLst>
        </p:cNvPr>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CFCF9611-A5DC-5B3E-71F9-B0E8113CDB1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64AF8E60-4CA1-C013-96CA-97D553F3C2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a:extLst>
              <a:ext uri="{FF2B5EF4-FFF2-40B4-BE49-F238E27FC236}">
                <a16:creationId xmlns:a16="http://schemas.microsoft.com/office/drawing/2014/main" id="{4EB07D06-5A86-0A0B-07B4-D93BA7CBD8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14</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519600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lnSpc>
                <a:spcPct val="120000"/>
              </a:lnSpc>
              <a:spcBef>
                <a:spcPts val="1000"/>
              </a:spcBef>
              <a:spcAft>
                <a:spcPts val="600"/>
              </a:spcAft>
              <a:defRPr/>
            </a:pPr>
            <a:r>
              <a:rPr lang="zh-CN" altLang="en-US" sz="1600" dirty="0"/>
              <a:t>要将现实世界中客观存在的事物或联系以数据的形式存储到计算机的数据库中显示为一条记录，要经过以下两个抽象的过程。</a:t>
            </a:r>
            <a:endParaRPr lang="en-US" altLang="zh-CN" sz="1600" dirty="0"/>
          </a:p>
          <a:p>
            <a:pPr lvl="0">
              <a:lnSpc>
                <a:spcPct val="120000"/>
              </a:lnSpc>
              <a:spcBef>
                <a:spcPts val="1000"/>
              </a:spcBef>
              <a:spcAft>
                <a:spcPts val="600"/>
              </a:spcAft>
              <a:defRPr/>
            </a:pPr>
            <a:r>
              <a:rPr lang="zh-CN" altLang="en-US" sz="1600" dirty="0"/>
              <a:t>首先是将现实世界中的客观事物或联系抽象为信息世界中的概念模型，再转换为机器世界或数据世界中的数据模型。也就是在信息世界中是用概念模型来表示对现实世界的抽象与模拟。而在机器世界中用数据库管理系统所支持的数据模型来表示</a:t>
            </a:r>
            <a:endParaRPr lang="zh-CN" altLang="en-US" sz="1100"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lnSpc>
                <a:spcPct val="120000"/>
              </a:lnSpc>
              <a:spcBef>
                <a:spcPts val="1000"/>
              </a:spcBef>
              <a:spcAft>
                <a:spcPts val="600"/>
              </a:spcAft>
              <a:defRPr/>
            </a:pPr>
            <a:endParaRPr lang="zh-CN" altLang="en-US" sz="1400"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lnSpc>
                <a:spcPct val="120000"/>
              </a:lnSpc>
              <a:spcBef>
                <a:spcPts val="1000"/>
              </a:spcBef>
              <a:spcAft>
                <a:spcPts val="600"/>
              </a:spcAft>
              <a:defRPr/>
            </a:pPr>
            <a:r>
              <a:rPr lang="zh-CN" altLang="en-US" sz="1400" dirty="0">
                <a:solidFill>
                  <a:srgbClr val="ED89F7"/>
                </a:solidFill>
                <a:latin typeface="Arial" panose="020B0604020202020204" pitchFamily="34" charset="0"/>
                <a:ea typeface="Microsoft YaHei" panose="020B0503020204020204" pitchFamily="34" charset="-122"/>
                <a:sym typeface="Arial" panose="020B0604020202020204" pitchFamily="34" charset="0"/>
              </a:rPr>
              <a:t>   第三种是多对多联系下</a:t>
            </a:r>
            <a:r>
              <a:rPr lang="en-US" altLang="zh-CN" sz="1400" dirty="0">
                <a:solidFill>
                  <a:srgbClr val="ED89F7"/>
                </a:solidFill>
                <a:latin typeface="Arial" panose="020B0604020202020204" pitchFamily="34" charset="0"/>
                <a:ea typeface="Microsoft YaHei" panose="020B0503020204020204" pitchFamily="34" charset="-122"/>
                <a:sym typeface="Arial" panose="020B0604020202020204" pitchFamily="34" charset="0"/>
              </a:rPr>
              <a:t>E-R</a:t>
            </a:r>
            <a:r>
              <a:rPr lang="zh-CN" altLang="en-US" sz="1400" dirty="0">
                <a:solidFill>
                  <a:srgbClr val="ED89F7"/>
                </a:solidFill>
                <a:latin typeface="Arial" panose="020B0604020202020204" pitchFamily="34" charset="0"/>
                <a:ea typeface="Microsoft YaHei" panose="020B0503020204020204" pitchFamily="34" charset="-122"/>
                <a:sym typeface="Arial" panose="020B0604020202020204" pitchFamily="34" charset="0"/>
              </a:rPr>
              <a:t>图画法：也就是学生和课程实体之间的</a:t>
            </a:r>
            <a:r>
              <a:rPr lang="en-US" altLang="zh-CN" sz="1400" dirty="0">
                <a:solidFill>
                  <a:srgbClr val="ED89F7"/>
                </a:solidFill>
                <a:latin typeface="Arial" panose="020B0604020202020204" pitchFamily="34" charset="0"/>
                <a:ea typeface="Microsoft YaHei" panose="020B0503020204020204" pitchFamily="34" charset="-122"/>
                <a:sym typeface="Arial" panose="020B0604020202020204" pitchFamily="34" charset="0"/>
              </a:rPr>
              <a:t>E-R</a:t>
            </a:r>
            <a:r>
              <a:rPr lang="zh-CN" altLang="en-US" sz="1400" dirty="0">
                <a:solidFill>
                  <a:srgbClr val="ED89F7"/>
                </a:solidFill>
                <a:latin typeface="Arial" panose="020B0604020202020204" pitchFamily="34" charset="0"/>
                <a:ea typeface="Microsoft YaHei" panose="020B0503020204020204" pitchFamily="34" charset="-122"/>
                <a:sym typeface="Arial" panose="020B0604020202020204" pitchFamily="34" charset="0"/>
              </a:rPr>
              <a:t>图。</a:t>
            </a:r>
            <a:endParaRPr lang="en-US" altLang="zh-CN" sz="1400" dirty="0">
              <a:solidFill>
                <a:srgbClr val="ED89F7"/>
              </a:solidFill>
              <a:latin typeface="Arial" panose="020B0604020202020204" pitchFamily="34" charset="0"/>
              <a:ea typeface="Microsoft YaHei" panose="020B0503020204020204" pitchFamily="34" charset="-122"/>
              <a:sym typeface="Arial" panose="020B0604020202020204" pitchFamily="34" charset="0"/>
            </a:endParaRPr>
          </a:p>
          <a:p>
            <a:pPr lvl="0">
              <a:lnSpc>
                <a:spcPct val="120000"/>
              </a:lnSpc>
              <a:spcBef>
                <a:spcPts val="1000"/>
              </a:spcBef>
              <a:spcAft>
                <a:spcPts val="600"/>
              </a:spcAft>
              <a:defRPr/>
            </a:pPr>
            <a:r>
              <a:rPr lang="zh-CN" altLang="en-US" sz="1400" dirty="0">
                <a:solidFill>
                  <a:srgbClr val="ED89F7"/>
                </a:solidFill>
                <a:latin typeface="Arial" panose="020B0604020202020204" pitchFamily="34" charset="0"/>
                <a:ea typeface="Microsoft YaHei" panose="020B0503020204020204" pitchFamily="34" charset="-122"/>
                <a:sym typeface="Arial" panose="020B0604020202020204" pitchFamily="34" charset="0"/>
              </a:rPr>
              <a:t>学生选修课程会有对应的学期属性，会产生成绩属性，提交成绩时有提交时间的属性。所以，也要把“选修”这个联系的属性画出来。</a:t>
            </a:r>
            <a:endParaRPr lang="en-US" altLang="zh-CN" sz="1400" dirty="0">
              <a:solidFill>
                <a:srgbClr val="ED89F7"/>
              </a:solidFill>
              <a:latin typeface="Arial" panose="020B0604020202020204" pitchFamily="34" charset="0"/>
              <a:ea typeface="Microsoft YaHei" panose="020B0503020204020204" pitchFamily="34" charset="-122"/>
              <a:sym typeface="Arial" panose="020B0604020202020204" pitchFamily="34" charset="0"/>
            </a:endParaRPr>
          </a:p>
          <a:p>
            <a:pPr lvl="0">
              <a:lnSpc>
                <a:spcPct val="120000"/>
              </a:lnSpc>
              <a:spcBef>
                <a:spcPts val="1000"/>
              </a:spcBef>
              <a:spcAft>
                <a:spcPts val="600"/>
              </a:spcAft>
              <a:defRPr/>
            </a:pPr>
            <a:r>
              <a:rPr lang="zh-CN" altLang="en-US" sz="1400" dirty="0">
                <a:solidFill>
                  <a:srgbClr val="ED89F7"/>
                </a:solidFill>
                <a:latin typeface="Arial" panose="020B0604020202020204" pitchFamily="34" charset="0"/>
                <a:ea typeface="Microsoft YaHei" panose="020B0503020204020204" pitchFamily="34" charset="-122"/>
                <a:sym typeface="Arial" panose="020B0604020202020204" pitchFamily="34" charset="0"/>
              </a:rPr>
              <a:t>这里需要注意的是</a:t>
            </a:r>
            <a:r>
              <a:rPr lang="zh-CN" altLang="en-US" sz="1400" dirty="0">
                <a:latin typeface="Arial" panose="020B0604020202020204" pitchFamily="34" charset="0"/>
                <a:ea typeface="Microsoft YaHei" panose="020B0503020204020204" pitchFamily="34" charset="-122"/>
                <a:sym typeface="Arial" panose="020B0604020202020204" pitchFamily="34" charset="0"/>
              </a:rPr>
              <a:t>联系也可以有属性，且联系一般为动词。</a:t>
            </a:r>
            <a:endParaRPr lang="en-US" altLang="zh-CN" sz="1400" dirty="0">
              <a:latin typeface="Arial" panose="020B0604020202020204" pitchFamily="34" charset="0"/>
              <a:ea typeface="Microsoft YaHei" panose="020B0503020204020204" pitchFamily="34" charset="-122"/>
              <a:sym typeface="Arial" panose="020B0604020202020204" pitchFamily="34" charset="0"/>
            </a:endParaRPr>
          </a:p>
          <a:p>
            <a:pPr lvl="0">
              <a:lnSpc>
                <a:spcPct val="120000"/>
              </a:lnSpc>
              <a:spcBef>
                <a:spcPts val="1000"/>
              </a:spcBef>
              <a:spcAft>
                <a:spcPts val="600"/>
              </a:spcAft>
              <a:defRPr/>
            </a:pPr>
            <a:r>
              <a:rPr lang="en-US" altLang="zh-CN" sz="1400" dirty="0">
                <a:latin typeface="Arial" panose="020B0604020202020204" pitchFamily="34" charset="0"/>
                <a:ea typeface="Microsoft YaHei" panose="020B0503020204020204" pitchFamily="34" charset="-122"/>
                <a:sym typeface="Arial" panose="020B0604020202020204" pitchFamily="34" charset="0"/>
              </a:rPr>
              <a:t>   </a:t>
            </a:r>
            <a:r>
              <a:rPr lang="zh-CN" altLang="en-US" sz="1400" dirty="0">
                <a:latin typeface="Arial" panose="020B0604020202020204" pitchFamily="34" charset="0"/>
                <a:ea typeface="Microsoft YaHei" panose="020B0503020204020204" pitchFamily="34" charset="-122"/>
                <a:sym typeface="Arial" panose="020B0604020202020204" pitchFamily="34" charset="0"/>
              </a:rPr>
              <a:t>到这里局部的</a:t>
            </a:r>
            <a:r>
              <a:rPr lang="en-US" altLang="zh-CN" sz="1400" dirty="0">
                <a:latin typeface="Arial" panose="020B0604020202020204" pitchFamily="34" charset="0"/>
                <a:ea typeface="Microsoft YaHei" panose="020B0503020204020204" pitchFamily="34" charset="-122"/>
                <a:sym typeface="Arial" panose="020B0604020202020204" pitchFamily="34" charset="0"/>
              </a:rPr>
              <a:t>E-R</a:t>
            </a:r>
            <a:r>
              <a:rPr lang="zh-CN" altLang="en-US" sz="1400" dirty="0">
                <a:latin typeface="Arial" panose="020B0604020202020204" pitchFamily="34" charset="0"/>
                <a:ea typeface="Microsoft YaHei" panose="020B0503020204020204" pitchFamily="34" charset="-122"/>
                <a:sym typeface="Arial" panose="020B0604020202020204" pitchFamily="34" charset="0"/>
              </a:rPr>
              <a:t>图就画完了，下面我们综合局部</a:t>
            </a:r>
            <a:r>
              <a:rPr lang="en-US" altLang="zh-CN" sz="1400" dirty="0">
                <a:latin typeface="Arial" panose="020B0604020202020204" pitchFamily="34" charset="0"/>
                <a:ea typeface="Microsoft YaHei" panose="020B0503020204020204" pitchFamily="34" charset="-122"/>
                <a:sym typeface="Arial" panose="020B0604020202020204" pitchFamily="34" charset="0"/>
              </a:rPr>
              <a:t>E-R</a:t>
            </a:r>
            <a:r>
              <a:rPr lang="zh-CN" altLang="en-US" sz="1400" dirty="0">
                <a:latin typeface="Arial" panose="020B0604020202020204" pitchFamily="34" charset="0"/>
                <a:ea typeface="Microsoft YaHei" panose="020B0503020204020204" pitchFamily="34" charset="-122"/>
                <a:sym typeface="Arial" panose="020B0604020202020204" pitchFamily="34" charset="0"/>
              </a:rPr>
              <a:t>图，画出总体</a:t>
            </a:r>
            <a:r>
              <a:rPr lang="en-US" altLang="zh-CN" sz="1400" dirty="0">
                <a:latin typeface="Arial" panose="020B0604020202020204" pitchFamily="34" charset="0"/>
                <a:ea typeface="Microsoft YaHei" panose="020B0503020204020204" pitchFamily="34" charset="-122"/>
                <a:sym typeface="Arial" panose="020B0604020202020204" pitchFamily="34" charset="0"/>
              </a:rPr>
              <a:t>E-R</a:t>
            </a:r>
            <a:r>
              <a:rPr lang="zh-CN" altLang="en-US" sz="1400" dirty="0">
                <a:latin typeface="Arial" panose="020B0604020202020204" pitchFamily="34" charset="0"/>
                <a:ea typeface="Microsoft YaHei" panose="020B0503020204020204" pitchFamily="34" charset="-122"/>
                <a:sym typeface="Arial" panose="020B0604020202020204" pitchFamily="34" charset="0"/>
              </a:rPr>
              <a:t>图。</a:t>
            </a:r>
            <a:endParaRPr lang="en-US" altLang="zh-CN" sz="1400" dirty="0">
              <a:latin typeface="Arial" panose="020B0604020202020204" pitchFamily="34" charset="0"/>
              <a:ea typeface="Microsoft YaHei" panose="020B0503020204020204" pitchFamily="34" charset="-122"/>
              <a:sym typeface="Arial" panose="020B0604020202020204" pitchFamily="34" charset="0"/>
            </a:endParaRPr>
          </a:p>
          <a:p>
            <a:pPr lvl="0">
              <a:lnSpc>
                <a:spcPct val="120000"/>
              </a:lnSpc>
              <a:spcBef>
                <a:spcPts val="1000"/>
              </a:spcBef>
              <a:spcAft>
                <a:spcPts val="600"/>
              </a:spcAft>
              <a:defRPr/>
            </a:pPr>
            <a:endParaRPr lang="zh-CN" altLang="en-US" sz="1400" dirty="0"/>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20</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lnSpc>
                <a:spcPct val="120000"/>
              </a:lnSpc>
              <a:spcBef>
                <a:spcPts val="1000"/>
              </a:spcBef>
              <a:spcAft>
                <a:spcPts val="600"/>
              </a:spcAft>
              <a:defRPr/>
            </a:pPr>
            <a:r>
              <a:rPr lang="zh-CN" altLang="en-US" sz="1400" dirty="0"/>
              <a:t>综合局部</a:t>
            </a:r>
            <a:r>
              <a:rPr lang="en-US" altLang="zh-CN" sz="1400" dirty="0"/>
              <a:t>E-R</a:t>
            </a:r>
            <a:r>
              <a:rPr lang="zh-CN" altLang="en-US" sz="1400" dirty="0"/>
              <a:t>图，画出总体</a:t>
            </a:r>
            <a:r>
              <a:rPr lang="en-US" altLang="zh-CN" sz="1400" dirty="0"/>
              <a:t>E-R</a:t>
            </a:r>
            <a:r>
              <a:rPr lang="zh-CN" altLang="en-US" sz="1400" dirty="0"/>
              <a:t>图。因为班长也是学生，所以在这里把“班长”也用“学生”表示。</a:t>
            </a:r>
          </a:p>
        </p:txBody>
      </p:sp>
      <p:sp>
        <p:nvSpPr>
          <p:cNvPr id="4" name="灯片编号占位符 3"/>
          <p:cNvSpPr>
            <a:spLocks noGrp="1"/>
          </p:cNvSpPr>
          <p:nvPr>
            <p:ph type="sldNum" sz="quarter" idx="10"/>
          </p:nvPr>
        </p:nvSpPr>
        <p:spPr/>
        <p:txBody>
          <a:bodyPr/>
          <a:lstStyle/>
          <a:p>
            <a:fld id="{C3D3CD21-6E89-4D1C-86B6-701A5588EB2A}" type="slidenum">
              <a:rPr lang="zh-CN" altLang="en-US" smtClean="0"/>
              <a:pPr/>
              <a:t>21</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B48B2-D81B-6C94-3092-1435166386CE}"/>
            </a:ext>
          </a:extLst>
        </p:cNvPr>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4D50C7BB-B270-B301-25A3-42C4D024A6D2}"/>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4B06A988-1731-EC21-31B0-6CC5125BEE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a:extLst>
              <a:ext uri="{FF2B5EF4-FFF2-40B4-BE49-F238E27FC236}">
                <a16:creationId xmlns:a16="http://schemas.microsoft.com/office/drawing/2014/main" id="{C41D3C79-61A6-A711-1FBC-FB5834610F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26</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8140714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5DD57-4DA0-78CB-E1A1-16434A372DC5}"/>
            </a:ext>
          </a:extLst>
        </p:cNvPr>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B5494712-9CB8-85E7-15FB-421D579374C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855F6493-334C-240F-97C8-7B31C48D00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a:extLst>
              <a:ext uri="{FF2B5EF4-FFF2-40B4-BE49-F238E27FC236}">
                <a16:creationId xmlns:a16="http://schemas.microsoft.com/office/drawing/2014/main" id="{3489D4EB-24D8-7C06-0CCA-C3DA830E33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29</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637935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86196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8735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9869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51196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F2C76-EC9D-67E9-2F14-945C8486C37A}"/>
            </a:ext>
          </a:extLst>
        </p:cNvPr>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96054F8E-9D4D-7E81-7FCD-E6E1F2A3C21E}"/>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5750152D-DB53-4203-EE47-9C22D101C2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a:extLst>
              <a:ext uri="{FF2B5EF4-FFF2-40B4-BE49-F238E27FC236}">
                <a16:creationId xmlns:a16="http://schemas.microsoft.com/office/drawing/2014/main" id="{C0224ACC-1AC6-CD8D-898C-0CEBB60AA4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36</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2667503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205202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913483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93941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985370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6B1A-EC5C-43A6-80FA-CC5888DCD29A}"/>
            </a:ext>
          </a:extLst>
        </p:cNvPr>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E9130B6F-0FBB-0087-DA85-8EBA12821BE9}"/>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5C32F852-A11B-33EE-7433-66ECBB54D3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a:extLst>
              <a:ext uri="{FF2B5EF4-FFF2-40B4-BE49-F238E27FC236}">
                <a16:creationId xmlns:a16="http://schemas.microsoft.com/office/drawing/2014/main" id="{7E3E62DD-90E0-7286-9709-B4436DBF4E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41</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8742296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434759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93615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20502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669839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509833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3BDBDF-816D-4009-A417-1A77B56553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774682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355661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tabLst/>
              <a:defRPr/>
            </a:pPr>
            <a:fld id="{4EA6D530-88B3-468A-9042-0D43F32A3F0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835"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9038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5.png"/><Relationship Id="rId18" Type="http://schemas.openxmlformats.org/officeDocument/2006/relationships/image" Target="../media/image17.png"/><Relationship Id="rId3" Type="http://schemas.openxmlformats.org/officeDocument/2006/relationships/image" Target="../media/image19.png"/><Relationship Id="rId7" Type="http://schemas.openxmlformats.org/officeDocument/2006/relationships/image" Target="../media/image15.png"/><Relationship Id="rId12" Type="http://schemas.openxmlformats.org/officeDocument/2006/relationships/image" Target="../media/image4.png"/><Relationship Id="rId17" Type="http://schemas.openxmlformats.org/officeDocument/2006/relationships/image" Target="../media/image16.png"/><Relationship Id="rId2" Type="http://schemas.openxmlformats.org/officeDocument/2006/relationships/image" Target="../media/image3.png"/><Relationship Id="rId16"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1.png"/><Relationship Id="rId5" Type="http://schemas.openxmlformats.org/officeDocument/2006/relationships/image" Target="../media/image2.png"/><Relationship Id="rId15" Type="http://schemas.openxmlformats.org/officeDocument/2006/relationships/image" Target="../media/image13.png"/><Relationship Id="rId10" Type="http://schemas.openxmlformats.org/officeDocument/2006/relationships/image" Target="../media/image12.png"/><Relationship Id="rId19" Type="http://schemas.openxmlformats.org/officeDocument/2006/relationships/image" Target="../media/image18.png"/><Relationship Id="rId4" Type="http://schemas.openxmlformats.org/officeDocument/2006/relationships/image" Target="../media/image7.png"/><Relationship Id="rId9" Type="http://schemas.openxmlformats.org/officeDocument/2006/relationships/image" Target="../media/image21.png"/><Relationship Id="rId14" Type="http://schemas.openxmlformats.org/officeDocument/2006/relationships/image" Target="../media/image2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F4A82-1370-4F09-BEBF-0B8F8F80531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66B93C2-78FF-4A6B-B397-B118A6F446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FBAF93D-FD94-41A6-8C81-B4B9C2998975}"/>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5" name="页脚占位符 4">
            <a:extLst>
              <a:ext uri="{FF2B5EF4-FFF2-40B4-BE49-F238E27FC236}">
                <a16:creationId xmlns:a16="http://schemas.microsoft.com/office/drawing/2014/main" id="{C8B268F7-EBBA-468C-8C08-1BD3C2A073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F0D0DB-EF9A-4F23-A42A-7B10D0D47EFA}"/>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17896156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C43A4-550A-4961-8B25-D6425F7D8B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2B28F2-6F99-4579-A574-1F4A162F2D1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9B381E-3A3A-469B-AC26-784484F6A881}"/>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5" name="页脚占位符 4">
            <a:extLst>
              <a:ext uri="{FF2B5EF4-FFF2-40B4-BE49-F238E27FC236}">
                <a16:creationId xmlns:a16="http://schemas.microsoft.com/office/drawing/2014/main" id="{B5679DED-654E-4C3A-A0B5-5EDAACA0D7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48AB74-A335-4460-9591-C91782CE5DCC}"/>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42682228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A19CA8-7FFB-42AC-A5EA-EDD8EB9F0E8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6115164-7B7D-4275-92AD-5FFA2F8A66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C9BC2E9-E60C-490A-8070-5D798459DF8E}"/>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5" name="页脚占位符 4">
            <a:extLst>
              <a:ext uri="{FF2B5EF4-FFF2-40B4-BE49-F238E27FC236}">
                <a16:creationId xmlns:a16="http://schemas.microsoft.com/office/drawing/2014/main" id="{9124DC22-2E32-488D-92E0-2FE2AD8610D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3DBA95-550C-4430-B3FD-DF8CD90DEAD2}"/>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13388492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861799-209E-4000-BD76-EEF6FD07584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E0A7AFE-E5CE-4672-AD07-391485B6CB5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A2743DD-8752-4EE2-B2FF-8AA9C5298D2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566B86-2950-468F-93A6-DCC2E2D9D035}"/>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6" name="页脚占位符 5">
            <a:extLst>
              <a:ext uri="{FF2B5EF4-FFF2-40B4-BE49-F238E27FC236}">
                <a16:creationId xmlns:a16="http://schemas.microsoft.com/office/drawing/2014/main" id="{BD33FD26-DD9E-4951-A67C-425D2625EA8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4C4E705-811C-41BB-B88E-CFFACB6C1793}"/>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40779721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B11BED-383C-4B49-AFE9-73050874E7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B3BCB5-6022-42DB-ABF3-31BB8B7209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40B620E-A7ED-4C33-A9B6-F9082130DD3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6306033-71FD-493D-8F64-F8BCDE27AA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8CF4B2C-2AB2-4170-B82D-91F66CDEDA3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1116B56-F388-4994-AC5F-A2B3B080DDAA}"/>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8" name="页脚占位符 7">
            <a:extLst>
              <a:ext uri="{FF2B5EF4-FFF2-40B4-BE49-F238E27FC236}">
                <a16:creationId xmlns:a16="http://schemas.microsoft.com/office/drawing/2014/main" id="{BE44CFBC-2239-44CA-9F14-E491BEAB3D7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3E999E5-EC7C-4459-BED5-F13A4B936FB1}"/>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11738635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691B2B-1E88-4F66-B74F-0AE408AA24A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872F245-4CDC-4DD1-8F7B-D19E57248228}"/>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4" name="页脚占位符 3">
            <a:extLst>
              <a:ext uri="{FF2B5EF4-FFF2-40B4-BE49-F238E27FC236}">
                <a16:creationId xmlns:a16="http://schemas.microsoft.com/office/drawing/2014/main" id="{476D59F9-1151-45AB-B8E7-CA0C0AA33AA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647CF14-A2D4-4278-A50A-D53BBD10E89A}"/>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5217906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A9DE03-ECC3-4D25-8993-3F444D78F6F5}"/>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3" name="页脚占位符 2">
            <a:extLst>
              <a:ext uri="{FF2B5EF4-FFF2-40B4-BE49-F238E27FC236}">
                <a16:creationId xmlns:a16="http://schemas.microsoft.com/office/drawing/2014/main" id="{BB6A8EB6-2F12-497B-B506-A8C222B559D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F87DADD-D115-4EEA-B3E9-9DA82C396DF2}"/>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635481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B9FF0-7C2F-4BD1-A279-3CA814D0230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B66B451-E1D8-4A3E-8DE3-7CD2EC16D4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1B25F4D-120B-448C-B5DC-4886305D22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9B20289-C76E-442C-8070-C22369867B9C}"/>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6" name="页脚占位符 5">
            <a:extLst>
              <a:ext uri="{FF2B5EF4-FFF2-40B4-BE49-F238E27FC236}">
                <a16:creationId xmlns:a16="http://schemas.microsoft.com/office/drawing/2014/main" id="{FD365C79-20EC-4058-8450-A8E2F76463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12DD5B3-96B8-4530-A298-6AEFC6388168}"/>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20388084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CC8CA0-31F2-4C35-A035-B4448293A5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5DBA14-8EC4-42B8-919D-4C0806ED24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96A144C-63B6-4FC9-B4D1-30B2B279E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CC56F68-00B0-4B2F-B95D-DC07CB80A13C}"/>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6" name="页脚占位符 5">
            <a:extLst>
              <a:ext uri="{FF2B5EF4-FFF2-40B4-BE49-F238E27FC236}">
                <a16:creationId xmlns:a16="http://schemas.microsoft.com/office/drawing/2014/main" id="{DE94A3C0-BCE9-4316-A234-A9E844E4876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E43D1C3-D8D7-471C-8A17-1C60D0D125C4}"/>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30150907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0BE85A-EFFA-4157-ACA8-0B385A6D64D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2AE2382-613B-48CE-AD93-B0F0712669E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1160DB-460E-4D88-AA6F-792725D35B63}"/>
              </a:ext>
            </a:extLst>
          </p:cNvPr>
          <p:cNvSpPr>
            <a:spLocks noGrp="1"/>
          </p:cNvSpPr>
          <p:nvPr>
            <p:ph type="dt" sz="half" idx="10"/>
          </p:nvPr>
        </p:nvSpPr>
        <p:spPr/>
        <p:txBody>
          <a:bodyPr/>
          <a:lstStyle/>
          <a:p>
            <a:fld id="{4ED19352-EDEF-4CE6-A9AA-7F307EF05D9C}" type="datetimeFigureOut">
              <a:rPr lang="zh-CN" altLang="en-US" smtClean="0"/>
              <a:t>2026/9/16</a:t>
            </a:fld>
            <a:endParaRPr lang="zh-CN" altLang="en-US"/>
          </a:p>
        </p:txBody>
      </p:sp>
      <p:sp>
        <p:nvSpPr>
          <p:cNvPr id="5" name="页脚占位符 4">
            <a:extLst>
              <a:ext uri="{FF2B5EF4-FFF2-40B4-BE49-F238E27FC236}">
                <a16:creationId xmlns:a16="http://schemas.microsoft.com/office/drawing/2014/main" id="{942FEBC1-E8F7-4015-A949-CA8E68F17E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E30985-7AA8-4735-8776-E1FD5597E771}"/>
              </a:ext>
            </a:extLst>
          </p:cNvPr>
          <p:cNvSpPr>
            <a:spLocks noGrp="1"/>
          </p:cNvSpPr>
          <p:nvPr>
            <p:ph type="sldNum" sz="quarter" idx="12"/>
          </p:nvPr>
        </p:nvSpPr>
        <p:spPr/>
        <p:txBody>
          <a:body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5767476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EDF238CC-A541-48DC-AB43-439473B9E92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0855"/>
          <a:stretch/>
        </p:blipFill>
        <p:spPr>
          <a:xfrm rot="21412497">
            <a:off x="550208" y="5170701"/>
            <a:ext cx="6858000" cy="3370348"/>
          </a:xfrm>
          <a:prstGeom prst="rect">
            <a:avLst/>
          </a:prstGeom>
        </p:spPr>
      </p:pic>
      <p:pic>
        <p:nvPicPr>
          <p:cNvPr id="7" name="图片 6">
            <a:extLst>
              <a:ext uri="{FF2B5EF4-FFF2-40B4-BE49-F238E27FC236}">
                <a16:creationId xmlns:a16="http://schemas.microsoft.com/office/drawing/2014/main" id="{14240ED0-7BE0-49E3-A153-BE8D1180E96B}"/>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a:stretch/>
        </p:blipFill>
        <p:spPr>
          <a:xfrm>
            <a:off x="9513033" y="3014330"/>
            <a:ext cx="404336" cy="463057"/>
          </a:xfrm>
          <a:prstGeom prst="rect">
            <a:avLst/>
          </a:prstGeom>
        </p:spPr>
      </p:pic>
      <p:pic>
        <p:nvPicPr>
          <p:cNvPr id="21" name="图片 20">
            <a:extLst>
              <a:ext uri="{FF2B5EF4-FFF2-40B4-BE49-F238E27FC236}">
                <a16:creationId xmlns:a16="http://schemas.microsoft.com/office/drawing/2014/main" id="{732B7B05-201F-476A-BBA1-DA2EADFD2F7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53209" y="-372908"/>
            <a:ext cx="4022045" cy="4022045"/>
          </a:xfrm>
          <a:prstGeom prst="rect">
            <a:avLst/>
          </a:prstGeom>
        </p:spPr>
      </p:pic>
      <p:pic>
        <p:nvPicPr>
          <p:cNvPr id="22" name="图片 21">
            <a:extLst>
              <a:ext uri="{FF2B5EF4-FFF2-40B4-BE49-F238E27FC236}">
                <a16:creationId xmlns:a16="http://schemas.microsoft.com/office/drawing/2014/main" id="{927132A0-C21C-48E9-BA76-C35F46313020}"/>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rot="19296896">
            <a:off x="2721284" y="527638"/>
            <a:ext cx="2213811" cy="2213811"/>
          </a:xfrm>
          <a:prstGeom prst="rect">
            <a:avLst/>
          </a:prstGeom>
        </p:spPr>
      </p:pic>
      <p:pic>
        <p:nvPicPr>
          <p:cNvPr id="23" name="图片 22">
            <a:extLst>
              <a:ext uri="{FF2B5EF4-FFF2-40B4-BE49-F238E27FC236}">
                <a16:creationId xmlns:a16="http://schemas.microsoft.com/office/drawing/2014/main" id="{8F63EF8C-CE29-444B-B6A7-8742FC8744ED}"/>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2933026" y="1970268"/>
            <a:ext cx="1484492" cy="1484492"/>
          </a:xfrm>
          <a:prstGeom prst="rect">
            <a:avLst/>
          </a:prstGeom>
        </p:spPr>
      </p:pic>
      <p:pic>
        <p:nvPicPr>
          <p:cNvPr id="10" name="图片 9">
            <a:extLst>
              <a:ext uri="{FF2B5EF4-FFF2-40B4-BE49-F238E27FC236}">
                <a16:creationId xmlns:a16="http://schemas.microsoft.com/office/drawing/2014/main" id="{E6B1D24D-3F34-44E0-A49A-6C53684037EA}"/>
              </a:ext>
            </a:extLst>
          </p:cNvPr>
          <p:cNvPicPr>
            <a:picLocks noChangeAspect="1"/>
          </p:cNvPicPr>
          <p:nvPr userDrawn="1"/>
        </p:nvPicPr>
        <p:blipFill rotWithShape="1">
          <a:blip r:embed="rId7" cstate="hqprint">
            <a:extLst>
              <a:ext uri="{28A0092B-C50C-407E-A947-70E740481C1C}">
                <a14:useLocalDpi xmlns:a14="http://schemas.microsoft.com/office/drawing/2010/main" val="0"/>
              </a:ext>
            </a:extLst>
          </a:blip>
          <a:srcRect/>
          <a:stretch/>
        </p:blipFill>
        <p:spPr>
          <a:xfrm rot="11700000">
            <a:off x="11641880" y="5362974"/>
            <a:ext cx="404336" cy="463057"/>
          </a:xfrm>
          <a:prstGeom prst="rect">
            <a:avLst/>
          </a:prstGeom>
        </p:spPr>
      </p:pic>
      <p:pic>
        <p:nvPicPr>
          <p:cNvPr id="17" name="图片 16">
            <a:extLst>
              <a:ext uri="{FF2B5EF4-FFF2-40B4-BE49-F238E27FC236}">
                <a16:creationId xmlns:a16="http://schemas.microsoft.com/office/drawing/2014/main" id="{C1EEA55C-9B2D-49ED-884B-62743B81D9F9}"/>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3526883" y="1868798"/>
            <a:ext cx="1094089" cy="1094089"/>
          </a:xfrm>
          <a:prstGeom prst="rect">
            <a:avLst/>
          </a:prstGeom>
        </p:spPr>
      </p:pic>
      <p:pic>
        <p:nvPicPr>
          <p:cNvPr id="11" name="图片 10">
            <a:extLst>
              <a:ext uri="{FF2B5EF4-FFF2-40B4-BE49-F238E27FC236}">
                <a16:creationId xmlns:a16="http://schemas.microsoft.com/office/drawing/2014/main" id="{ACF066A8-11FA-4580-8679-10260E6E3E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0855"/>
          <a:stretch/>
        </p:blipFill>
        <p:spPr>
          <a:xfrm>
            <a:off x="6710629" y="5448780"/>
            <a:ext cx="6858000" cy="3370348"/>
          </a:xfrm>
          <a:prstGeom prst="rect">
            <a:avLst/>
          </a:prstGeom>
        </p:spPr>
      </p:pic>
      <p:pic>
        <p:nvPicPr>
          <p:cNvPr id="24" name="图片 23">
            <a:extLst>
              <a:ext uri="{FF2B5EF4-FFF2-40B4-BE49-F238E27FC236}">
                <a16:creationId xmlns:a16="http://schemas.microsoft.com/office/drawing/2014/main" id="{B92D2615-5F7D-4CA1-9C30-3B61BCDE79AA}"/>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rot="15050061">
            <a:off x="3208158" y="134736"/>
            <a:ext cx="1199611" cy="1199611"/>
          </a:xfrm>
          <a:prstGeom prst="rect">
            <a:avLst/>
          </a:prstGeom>
        </p:spPr>
      </p:pic>
      <p:pic>
        <p:nvPicPr>
          <p:cNvPr id="16" name="图片 15">
            <a:extLst>
              <a:ext uri="{FF2B5EF4-FFF2-40B4-BE49-F238E27FC236}">
                <a16:creationId xmlns:a16="http://schemas.microsoft.com/office/drawing/2014/main" id="{AB72CBFB-A28A-47ED-897F-3C2A3AEB9CB5}"/>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rot="20919072">
            <a:off x="8424292" y="3890855"/>
            <a:ext cx="1572392" cy="1572392"/>
          </a:xfrm>
          <a:prstGeom prst="rect">
            <a:avLst/>
          </a:prstGeom>
        </p:spPr>
      </p:pic>
      <p:pic>
        <p:nvPicPr>
          <p:cNvPr id="43" name="图片 42">
            <a:extLst>
              <a:ext uri="{FF2B5EF4-FFF2-40B4-BE49-F238E27FC236}">
                <a16:creationId xmlns:a16="http://schemas.microsoft.com/office/drawing/2014/main" id="{DF4E99C3-5FE7-4F01-8AFE-2E7718B655A6}"/>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15661037">
            <a:off x="1880771" y="1313079"/>
            <a:ext cx="2520229" cy="2520229"/>
          </a:xfrm>
          <a:prstGeom prst="rect">
            <a:avLst/>
          </a:prstGeom>
        </p:spPr>
      </p:pic>
      <p:pic>
        <p:nvPicPr>
          <p:cNvPr id="18" name="图片 17">
            <a:extLst>
              <a:ext uri="{FF2B5EF4-FFF2-40B4-BE49-F238E27FC236}">
                <a16:creationId xmlns:a16="http://schemas.microsoft.com/office/drawing/2014/main" id="{A5A304EC-E88B-4E12-9730-6FEDB5C3A96C}"/>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rot="17456896">
            <a:off x="2285806" y="2076098"/>
            <a:ext cx="2277279" cy="2277279"/>
          </a:xfrm>
          <a:prstGeom prst="rect">
            <a:avLst/>
          </a:prstGeom>
        </p:spPr>
      </p:pic>
      <p:pic>
        <p:nvPicPr>
          <p:cNvPr id="31" name="图片 30">
            <a:extLst>
              <a:ext uri="{FF2B5EF4-FFF2-40B4-BE49-F238E27FC236}">
                <a16:creationId xmlns:a16="http://schemas.microsoft.com/office/drawing/2014/main" id="{6827CD57-7F63-49B7-8C03-2BBBE54E0429}"/>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rot="2640524">
            <a:off x="8003164" y="4649018"/>
            <a:ext cx="1867692" cy="1867692"/>
          </a:xfrm>
          <a:prstGeom prst="rect">
            <a:avLst/>
          </a:prstGeom>
        </p:spPr>
      </p:pic>
      <p:pic>
        <p:nvPicPr>
          <p:cNvPr id="13" name="图片 12">
            <a:extLst>
              <a:ext uri="{FF2B5EF4-FFF2-40B4-BE49-F238E27FC236}">
                <a16:creationId xmlns:a16="http://schemas.microsoft.com/office/drawing/2014/main" id="{77096112-1209-443B-B19A-0D9DD3B14AB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22670"/>
          <a:stretch/>
        </p:blipFill>
        <p:spPr>
          <a:xfrm rot="495784">
            <a:off x="-649702" y="3104510"/>
            <a:ext cx="6383432" cy="4968292"/>
          </a:xfrm>
          <a:prstGeom prst="rect">
            <a:avLst/>
          </a:prstGeom>
        </p:spPr>
      </p:pic>
      <p:pic>
        <p:nvPicPr>
          <p:cNvPr id="20" name="图片 19">
            <a:extLst>
              <a:ext uri="{FF2B5EF4-FFF2-40B4-BE49-F238E27FC236}">
                <a16:creationId xmlns:a16="http://schemas.microsoft.com/office/drawing/2014/main" id="{8F98C993-71AC-421D-BCFA-697F7B8F6D29}"/>
              </a:ext>
            </a:extLst>
          </p:cNvPr>
          <p:cNvPicPr>
            <a:picLocks noChangeAspect="1"/>
          </p:cNvPicPr>
          <p:nvPr userDrawn="1"/>
        </p:nvPicPr>
        <p:blipFill rotWithShape="1">
          <a:blip r:embed="rId11" cstate="hqprint">
            <a:extLst>
              <a:ext uri="{28A0092B-C50C-407E-A947-70E740481C1C}">
                <a14:useLocalDpi xmlns:a14="http://schemas.microsoft.com/office/drawing/2010/main" val="0"/>
              </a:ext>
            </a:extLst>
          </a:blip>
          <a:srcRect r="14076"/>
          <a:stretch/>
        </p:blipFill>
        <p:spPr>
          <a:xfrm>
            <a:off x="7886110" y="4260381"/>
            <a:ext cx="1810236" cy="2106806"/>
          </a:xfrm>
          <a:prstGeom prst="rect">
            <a:avLst/>
          </a:prstGeom>
        </p:spPr>
      </p:pic>
      <p:pic>
        <p:nvPicPr>
          <p:cNvPr id="14" name="图片 13">
            <a:extLst>
              <a:ext uri="{FF2B5EF4-FFF2-40B4-BE49-F238E27FC236}">
                <a16:creationId xmlns:a16="http://schemas.microsoft.com/office/drawing/2014/main" id="{000B009C-EA5A-4082-BFB6-D4788DDCE4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8665"/>
          <a:stretch/>
        </p:blipFill>
        <p:spPr>
          <a:xfrm rot="832928">
            <a:off x="-1564731" y="5355830"/>
            <a:ext cx="6994284" cy="3590549"/>
          </a:xfrm>
          <a:prstGeom prst="rect">
            <a:avLst/>
          </a:prstGeom>
        </p:spPr>
      </p:pic>
      <p:pic>
        <p:nvPicPr>
          <p:cNvPr id="15" name="图片 14">
            <a:extLst>
              <a:ext uri="{FF2B5EF4-FFF2-40B4-BE49-F238E27FC236}">
                <a16:creationId xmlns:a16="http://schemas.microsoft.com/office/drawing/2014/main" id="{96609F93-407D-4062-BF59-D3B07CCCF059}"/>
              </a:ext>
            </a:extLst>
          </p:cNvPr>
          <p:cNvPicPr>
            <a:picLocks noChangeAspect="1"/>
          </p:cNvPicPr>
          <p:nvPr userDrawn="1"/>
        </p:nvPicPr>
        <p:blipFill rotWithShape="1">
          <a:blip r:embed="rId15"/>
          <a:srcRect l="1077" t="52715"/>
          <a:stretch/>
        </p:blipFill>
        <p:spPr>
          <a:xfrm>
            <a:off x="0" y="5416078"/>
            <a:ext cx="12192000" cy="1557774"/>
          </a:xfrm>
          <a:prstGeom prst="rect">
            <a:avLst/>
          </a:prstGeom>
        </p:spPr>
      </p:pic>
      <p:pic>
        <p:nvPicPr>
          <p:cNvPr id="27" name="图片 26">
            <a:extLst>
              <a:ext uri="{FF2B5EF4-FFF2-40B4-BE49-F238E27FC236}">
                <a16:creationId xmlns:a16="http://schemas.microsoft.com/office/drawing/2014/main" id="{ECFD1BB8-19C4-4654-89B0-6555818D5EC0}"/>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439532" y="4380005"/>
            <a:ext cx="3587502" cy="3587502"/>
          </a:xfrm>
          <a:prstGeom prst="rect">
            <a:avLst/>
          </a:prstGeom>
        </p:spPr>
      </p:pic>
      <p:pic>
        <p:nvPicPr>
          <p:cNvPr id="19" name="图片 18">
            <a:extLst>
              <a:ext uri="{FF2B5EF4-FFF2-40B4-BE49-F238E27FC236}">
                <a16:creationId xmlns:a16="http://schemas.microsoft.com/office/drawing/2014/main" id="{4627EF09-A3C2-4BB1-A463-A51090F4DB79}"/>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2294969">
            <a:off x="-124138" y="5174798"/>
            <a:ext cx="2520229" cy="2520229"/>
          </a:xfrm>
          <a:prstGeom prst="rect">
            <a:avLst/>
          </a:prstGeom>
        </p:spPr>
      </p:pic>
      <p:pic>
        <p:nvPicPr>
          <p:cNvPr id="28" name="图片 27">
            <a:extLst>
              <a:ext uri="{FF2B5EF4-FFF2-40B4-BE49-F238E27FC236}">
                <a16:creationId xmlns:a16="http://schemas.microsoft.com/office/drawing/2014/main" id="{C4155797-C75E-494F-884A-0656AA35F8AC}"/>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838535" y="6153796"/>
            <a:ext cx="256217" cy="293427"/>
          </a:xfrm>
          <a:prstGeom prst="rect">
            <a:avLst/>
          </a:prstGeom>
        </p:spPr>
      </p:pic>
      <p:pic>
        <p:nvPicPr>
          <p:cNvPr id="29" name="图片 28">
            <a:extLst>
              <a:ext uri="{FF2B5EF4-FFF2-40B4-BE49-F238E27FC236}">
                <a16:creationId xmlns:a16="http://schemas.microsoft.com/office/drawing/2014/main" id="{9F9BA5EA-51F0-4193-9ED2-AECAA5674BA1}"/>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3016230" y="6737253"/>
            <a:ext cx="256217" cy="293427"/>
          </a:xfrm>
          <a:prstGeom prst="rect">
            <a:avLst/>
          </a:prstGeom>
        </p:spPr>
      </p:pic>
      <p:pic>
        <p:nvPicPr>
          <p:cNvPr id="30" name="图片 29">
            <a:extLst>
              <a:ext uri="{FF2B5EF4-FFF2-40B4-BE49-F238E27FC236}">
                <a16:creationId xmlns:a16="http://schemas.microsoft.com/office/drawing/2014/main" id="{3DFB32AB-66A6-4FFC-B32D-988386F5ED48}"/>
              </a:ext>
            </a:extLst>
          </p:cNvPr>
          <p:cNvPicPr>
            <a:picLocks noChangeAspect="1"/>
          </p:cNvPicPr>
          <p:nvPr userDrawn="1"/>
        </p:nvPicPr>
        <p:blipFill>
          <a:blip r:embed="rId18" cstate="hqprint">
            <a:extLst>
              <a:ext uri="{28A0092B-C50C-407E-A947-70E740481C1C}">
                <a14:useLocalDpi xmlns:a14="http://schemas.microsoft.com/office/drawing/2010/main" val="0"/>
              </a:ext>
            </a:extLst>
          </a:blip>
          <a:stretch>
            <a:fillRect/>
          </a:stretch>
        </p:blipFill>
        <p:spPr>
          <a:xfrm rot="7145307">
            <a:off x="3311960" y="6360240"/>
            <a:ext cx="1227221" cy="1227221"/>
          </a:xfrm>
          <a:prstGeom prst="rect">
            <a:avLst/>
          </a:prstGeom>
        </p:spPr>
      </p:pic>
      <p:pic>
        <p:nvPicPr>
          <p:cNvPr id="32" name="图片 31">
            <a:extLst>
              <a:ext uri="{FF2B5EF4-FFF2-40B4-BE49-F238E27FC236}">
                <a16:creationId xmlns:a16="http://schemas.microsoft.com/office/drawing/2014/main" id="{077F3FA7-2B15-442C-874C-7D4699EC4048}"/>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rot="10800000">
            <a:off x="2537795" y="-1934738"/>
            <a:ext cx="3504587" cy="3504587"/>
          </a:xfrm>
          <a:prstGeom prst="rect">
            <a:avLst/>
          </a:prstGeom>
        </p:spPr>
      </p:pic>
      <p:pic>
        <p:nvPicPr>
          <p:cNvPr id="34" name="图片 33">
            <a:extLst>
              <a:ext uri="{FF2B5EF4-FFF2-40B4-BE49-F238E27FC236}">
                <a16:creationId xmlns:a16="http://schemas.microsoft.com/office/drawing/2014/main" id="{258E3EDD-7C76-44AF-A92B-2D0E3D65B9F4}"/>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rot="19449063">
            <a:off x="-4352124" y="9007488"/>
            <a:ext cx="1867692" cy="1867692"/>
          </a:xfrm>
          <a:prstGeom prst="rect">
            <a:avLst/>
          </a:prstGeom>
        </p:spPr>
      </p:pic>
      <p:pic>
        <p:nvPicPr>
          <p:cNvPr id="40" name="图片 39">
            <a:extLst>
              <a:ext uri="{FF2B5EF4-FFF2-40B4-BE49-F238E27FC236}">
                <a16:creationId xmlns:a16="http://schemas.microsoft.com/office/drawing/2014/main" id="{ADCDD936-865E-4CF4-8D3E-321D6E0691E1}"/>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3734579" y="2524878"/>
            <a:ext cx="256217" cy="293427"/>
          </a:xfrm>
          <a:prstGeom prst="rect">
            <a:avLst/>
          </a:prstGeom>
        </p:spPr>
      </p:pic>
      <p:pic>
        <p:nvPicPr>
          <p:cNvPr id="41" name="图片 40">
            <a:extLst>
              <a:ext uri="{FF2B5EF4-FFF2-40B4-BE49-F238E27FC236}">
                <a16:creationId xmlns:a16="http://schemas.microsoft.com/office/drawing/2014/main" id="{C9C610CF-CBAA-4894-A0F5-E236D4CF1F24}"/>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3446762" y="110382"/>
            <a:ext cx="256217" cy="293427"/>
          </a:xfrm>
          <a:prstGeom prst="rect">
            <a:avLst/>
          </a:prstGeom>
        </p:spPr>
      </p:pic>
      <p:pic>
        <p:nvPicPr>
          <p:cNvPr id="42" name="图片 41">
            <a:extLst>
              <a:ext uri="{FF2B5EF4-FFF2-40B4-BE49-F238E27FC236}">
                <a16:creationId xmlns:a16="http://schemas.microsoft.com/office/drawing/2014/main" id="{D608710F-DE21-4716-A121-A5AD172C6BA3}"/>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9715201" y="6379331"/>
            <a:ext cx="256217" cy="293427"/>
          </a:xfrm>
          <a:prstGeom prst="rect">
            <a:avLst/>
          </a:prstGeom>
        </p:spPr>
      </p:pic>
    </p:spTree>
    <p:extLst>
      <p:ext uri="{BB962C8B-B14F-4D97-AF65-F5344CB8AC3E}">
        <p14:creationId xmlns:p14="http://schemas.microsoft.com/office/powerpoint/2010/main" val="36449663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竖排标题与文本">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EDF238CC-A541-48DC-AB43-439473B9E92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0855"/>
          <a:stretch/>
        </p:blipFill>
        <p:spPr>
          <a:xfrm rot="21412497">
            <a:off x="550208" y="5170701"/>
            <a:ext cx="6858000" cy="3370348"/>
          </a:xfrm>
          <a:prstGeom prst="rect">
            <a:avLst/>
          </a:prstGeom>
        </p:spPr>
      </p:pic>
      <p:pic>
        <p:nvPicPr>
          <p:cNvPr id="7" name="图片 6">
            <a:extLst>
              <a:ext uri="{FF2B5EF4-FFF2-40B4-BE49-F238E27FC236}">
                <a16:creationId xmlns:a16="http://schemas.microsoft.com/office/drawing/2014/main" id="{14240ED0-7BE0-49E3-A153-BE8D1180E96B}"/>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a:stretch/>
        </p:blipFill>
        <p:spPr>
          <a:xfrm>
            <a:off x="9513033" y="3014330"/>
            <a:ext cx="404336" cy="463057"/>
          </a:xfrm>
          <a:prstGeom prst="rect">
            <a:avLst/>
          </a:prstGeom>
        </p:spPr>
      </p:pic>
      <p:pic>
        <p:nvPicPr>
          <p:cNvPr id="21" name="图片 20">
            <a:extLst>
              <a:ext uri="{FF2B5EF4-FFF2-40B4-BE49-F238E27FC236}">
                <a16:creationId xmlns:a16="http://schemas.microsoft.com/office/drawing/2014/main" id="{732B7B05-201F-476A-BBA1-DA2EADFD2F7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615391" y="-548783"/>
            <a:ext cx="4022045" cy="4022045"/>
          </a:xfrm>
          <a:prstGeom prst="rect">
            <a:avLst/>
          </a:prstGeom>
        </p:spPr>
      </p:pic>
      <p:pic>
        <p:nvPicPr>
          <p:cNvPr id="22" name="图片 21">
            <a:extLst>
              <a:ext uri="{FF2B5EF4-FFF2-40B4-BE49-F238E27FC236}">
                <a16:creationId xmlns:a16="http://schemas.microsoft.com/office/drawing/2014/main" id="{927132A0-C21C-48E9-BA76-C35F46313020}"/>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rot="19296896">
            <a:off x="1657591" y="510221"/>
            <a:ext cx="2213811" cy="2213811"/>
          </a:xfrm>
          <a:prstGeom prst="rect">
            <a:avLst/>
          </a:prstGeom>
        </p:spPr>
      </p:pic>
      <p:pic>
        <p:nvPicPr>
          <p:cNvPr id="23" name="图片 22">
            <a:extLst>
              <a:ext uri="{FF2B5EF4-FFF2-40B4-BE49-F238E27FC236}">
                <a16:creationId xmlns:a16="http://schemas.microsoft.com/office/drawing/2014/main" id="{8F63EF8C-CE29-444B-B6A7-8742FC8744ED}"/>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869333" y="1952851"/>
            <a:ext cx="1484492" cy="1484492"/>
          </a:xfrm>
          <a:prstGeom prst="rect">
            <a:avLst/>
          </a:prstGeom>
        </p:spPr>
      </p:pic>
      <p:pic>
        <p:nvPicPr>
          <p:cNvPr id="10" name="图片 9">
            <a:extLst>
              <a:ext uri="{FF2B5EF4-FFF2-40B4-BE49-F238E27FC236}">
                <a16:creationId xmlns:a16="http://schemas.microsoft.com/office/drawing/2014/main" id="{E6B1D24D-3F34-44E0-A49A-6C53684037EA}"/>
              </a:ext>
            </a:extLst>
          </p:cNvPr>
          <p:cNvPicPr>
            <a:picLocks noChangeAspect="1"/>
          </p:cNvPicPr>
          <p:nvPr userDrawn="1"/>
        </p:nvPicPr>
        <p:blipFill rotWithShape="1">
          <a:blip r:embed="rId7" cstate="hqprint">
            <a:extLst>
              <a:ext uri="{28A0092B-C50C-407E-A947-70E740481C1C}">
                <a14:useLocalDpi xmlns:a14="http://schemas.microsoft.com/office/drawing/2010/main" val="0"/>
              </a:ext>
            </a:extLst>
          </a:blip>
          <a:srcRect/>
          <a:stretch/>
        </p:blipFill>
        <p:spPr>
          <a:xfrm rot="11700000">
            <a:off x="11641880" y="5362974"/>
            <a:ext cx="404336" cy="463057"/>
          </a:xfrm>
          <a:prstGeom prst="rect">
            <a:avLst/>
          </a:prstGeom>
        </p:spPr>
      </p:pic>
      <p:pic>
        <p:nvPicPr>
          <p:cNvPr id="17" name="图片 16">
            <a:extLst>
              <a:ext uri="{FF2B5EF4-FFF2-40B4-BE49-F238E27FC236}">
                <a16:creationId xmlns:a16="http://schemas.microsoft.com/office/drawing/2014/main" id="{C1EEA55C-9B2D-49ED-884B-62743B81D9F9}"/>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1861122" y="1483850"/>
            <a:ext cx="1094089" cy="1094089"/>
          </a:xfrm>
          <a:prstGeom prst="rect">
            <a:avLst/>
          </a:prstGeom>
        </p:spPr>
      </p:pic>
      <p:pic>
        <p:nvPicPr>
          <p:cNvPr id="11" name="图片 10">
            <a:extLst>
              <a:ext uri="{FF2B5EF4-FFF2-40B4-BE49-F238E27FC236}">
                <a16:creationId xmlns:a16="http://schemas.microsoft.com/office/drawing/2014/main" id="{ACF066A8-11FA-4580-8679-10260E6E3E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0855"/>
          <a:stretch/>
        </p:blipFill>
        <p:spPr>
          <a:xfrm>
            <a:off x="6710629" y="5448780"/>
            <a:ext cx="6858000" cy="3370348"/>
          </a:xfrm>
          <a:prstGeom prst="rect">
            <a:avLst/>
          </a:prstGeom>
        </p:spPr>
      </p:pic>
      <p:pic>
        <p:nvPicPr>
          <p:cNvPr id="24" name="图片 23">
            <a:extLst>
              <a:ext uri="{FF2B5EF4-FFF2-40B4-BE49-F238E27FC236}">
                <a16:creationId xmlns:a16="http://schemas.microsoft.com/office/drawing/2014/main" id="{B92D2615-5F7D-4CA1-9C30-3B61BCDE79AA}"/>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rot="15050061">
            <a:off x="2144465" y="117319"/>
            <a:ext cx="1199611" cy="1199611"/>
          </a:xfrm>
          <a:prstGeom prst="rect">
            <a:avLst/>
          </a:prstGeom>
        </p:spPr>
      </p:pic>
      <p:pic>
        <p:nvPicPr>
          <p:cNvPr id="16" name="图片 15">
            <a:extLst>
              <a:ext uri="{FF2B5EF4-FFF2-40B4-BE49-F238E27FC236}">
                <a16:creationId xmlns:a16="http://schemas.microsoft.com/office/drawing/2014/main" id="{AB72CBFB-A28A-47ED-897F-3C2A3AEB9CB5}"/>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rot="20919072">
            <a:off x="8424292" y="3890855"/>
            <a:ext cx="1572392" cy="1572392"/>
          </a:xfrm>
          <a:prstGeom prst="rect">
            <a:avLst/>
          </a:prstGeom>
        </p:spPr>
      </p:pic>
      <p:pic>
        <p:nvPicPr>
          <p:cNvPr id="43" name="图片 42">
            <a:extLst>
              <a:ext uri="{FF2B5EF4-FFF2-40B4-BE49-F238E27FC236}">
                <a16:creationId xmlns:a16="http://schemas.microsoft.com/office/drawing/2014/main" id="{DF4E99C3-5FE7-4F01-8AFE-2E7718B655A6}"/>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15661037">
            <a:off x="440877" y="1057477"/>
            <a:ext cx="2520229" cy="2520229"/>
          </a:xfrm>
          <a:prstGeom prst="rect">
            <a:avLst/>
          </a:prstGeom>
        </p:spPr>
      </p:pic>
      <p:pic>
        <p:nvPicPr>
          <p:cNvPr id="18" name="图片 17">
            <a:extLst>
              <a:ext uri="{FF2B5EF4-FFF2-40B4-BE49-F238E27FC236}">
                <a16:creationId xmlns:a16="http://schemas.microsoft.com/office/drawing/2014/main" id="{A5A304EC-E88B-4E12-9730-6FEDB5C3A96C}"/>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rot="17456896">
            <a:off x="862479" y="2168632"/>
            <a:ext cx="2277279" cy="2277279"/>
          </a:xfrm>
          <a:prstGeom prst="rect">
            <a:avLst/>
          </a:prstGeom>
        </p:spPr>
      </p:pic>
      <p:pic>
        <p:nvPicPr>
          <p:cNvPr id="31" name="图片 30">
            <a:extLst>
              <a:ext uri="{FF2B5EF4-FFF2-40B4-BE49-F238E27FC236}">
                <a16:creationId xmlns:a16="http://schemas.microsoft.com/office/drawing/2014/main" id="{6827CD57-7F63-49B7-8C03-2BBBE54E0429}"/>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rot="2640524">
            <a:off x="8003164" y="4649018"/>
            <a:ext cx="1867692" cy="1867692"/>
          </a:xfrm>
          <a:prstGeom prst="rect">
            <a:avLst/>
          </a:prstGeom>
        </p:spPr>
      </p:pic>
      <p:pic>
        <p:nvPicPr>
          <p:cNvPr id="13" name="图片 12">
            <a:extLst>
              <a:ext uri="{FF2B5EF4-FFF2-40B4-BE49-F238E27FC236}">
                <a16:creationId xmlns:a16="http://schemas.microsoft.com/office/drawing/2014/main" id="{77096112-1209-443B-B19A-0D9DD3B14AB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22670"/>
          <a:stretch/>
        </p:blipFill>
        <p:spPr>
          <a:xfrm rot="495784">
            <a:off x="-649702" y="3104510"/>
            <a:ext cx="6383432" cy="4968292"/>
          </a:xfrm>
          <a:prstGeom prst="rect">
            <a:avLst/>
          </a:prstGeom>
        </p:spPr>
      </p:pic>
      <p:pic>
        <p:nvPicPr>
          <p:cNvPr id="20" name="图片 19">
            <a:extLst>
              <a:ext uri="{FF2B5EF4-FFF2-40B4-BE49-F238E27FC236}">
                <a16:creationId xmlns:a16="http://schemas.microsoft.com/office/drawing/2014/main" id="{8F98C993-71AC-421D-BCFA-697F7B8F6D29}"/>
              </a:ext>
            </a:extLst>
          </p:cNvPr>
          <p:cNvPicPr>
            <a:picLocks noChangeAspect="1"/>
          </p:cNvPicPr>
          <p:nvPr userDrawn="1"/>
        </p:nvPicPr>
        <p:blipFill rotWithShape="1">
          <a:blip r:embed="rId11" cstate="hqprint">
            <a:extLst>
              <a:ext uri="{28A0092B-C50C-407E-A947-70E740481C1C}">
                <a14:useLocalDpi xmlns:a14="http://schemas.microsoft.com/office/drawing/2010/main" val="0"/>
              </a:ext>
            </a:extLst>
          </a:blip>
          <a:srcRect r="14076"/>
          <a:stretch/>
        </p:blipFill>
        <p:spPr>
          <a:xfrm>
            <a:off x="7886110" y="4260381"/>
            <a:ext cx="1810236" cy="2106806"/>
          </a:xfrm>
          <a:prstGeom prst="rect">
            <a:avLst/>
          </a:prstGeom>
        </p:spPr>
      </p:pic>
      <p:pic>
        <p:nvPicPr>
          <p:cNvPr id="14" name="图片 13">
            <a:extLst>
              <a:ext uri="{FF2B5EF4-FFF2-40B4-BE49-F238E27FC236}">
                <a16:creationId xmlns:a16="http://schemas.microsoft.com/office/drawing/2014/main" id="{000B009C-EA5A-4082-BFB6-D4788DDCE4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8665"/>
          <a:stretch/>
        </p:blipFill>
        <p:spPr>
          <a:xfrm rot="832928">
            <a:off x="-1564731" y="5355830"/>
            <a:ext cx="6994284" cy="3590549"/>
          </a:xfrm>
          <a:prstGeom prst="rect">
            <a:avLst/>
          </a:prstGeom>
        </p:spPr>
      </p:pic>
      <p:pic>
        <p:nvPicPr>
          <p:cNvPr id="15" name="图片 14">
            <a:extLst>
              <a:ext uri="{FF2B5EF4-FFF2-40B4-BE49-F238E27FC236}">
                <a16:creationId xmlns:a16="http://schemas.microsoft.com/office/drawing/2014/main" id="{96609F93-407D-4062-BF59-D3B07CCCF059}"/>
              </a:ext>
            </a:extLst>
          </p:cNvPr>
          <p:cNvPicPr>
            <a:picLocks noChangeAspect="1"/>
          </p:cNvPicPr>
          <p:nvPr userDrawn="1"/>
        </p:nvPicPr>
        <p:blipFill rotWithShape="1">
          <a:blip r:embed="rId15"/>
          <a:srcRect l="1077" t="52715"/>
          <a:stretch/>
        </p:blipFill>
        <p:spPr>
          <a:xfrm>
            <a:off x="0" y="5416078"/>
            <a:ext cx="12192000" cy="1557774"/>
          </a:xfrm>
          <a:prstGeom prst="rect">
            <a:avLst/>
          </a:prstGeom>
        </p:spPr>
      </p:pic>
      <p:pic>
        <p:nvPicPr>
          <p:cNvPr id="27" name="图片 26">
            <a:extLst>
              <a:ext uri="{FF2B5EF4-FFF2-40B4-BE49-F238E27FC236}">
                <a16:creationId xmlns:a16="http://schemas.microsoft.com/office/drawing/2014/main" id="{ECFD1BB8-19C4-4654-89B0-6555818D5EC0}"/>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439532" y="4380005"/>
            <a:ext cx="3587502" cy="3587502"/>
          </a:xfrm>
          <a:prstGeom prst="rect">
            <a:avLst/>
          </a:prstGeom>
        </p:spPr>
      </p:pic>
      <p:pic>
        <p:nvPicPr>
          <p:cNvPr id="19" name="图片 18">
            <a:extLst>
              <a:ext uri="{FF2B5EF4-FFF2-40B4-BE49-F238E27FC236}">
                <a16:creationId xmlns:a16="http://schemas.microsoft.com/office/drawing/2014/main" id="{4627EF09-A3C2-4BB1-A463-A51090F4DB79}"/>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2294969">
            <a:off x="-124138" y="5174798"/>
            <a:ext cx="2520229" cy="2520229"/>
          </a:xfrm>
          <a:prstGeom prst="rect">
            <a:avLst/>
          </a:prstGeom>
        </p:spPr>
      </p:pic>
      <p:pic>
        <p:nvPicPr>
          <p:cNvPr id="28" name="图片 27">
            <a:extLst>
              <a:ext uri="{FF2B5EF4-FFF2-40B4-BE49-F238E27FC236}">
                <a16:creationId xmlns:a16="http://schemas.microsoft.com/office/drawing/2014/main" id="{C4155797-C75E-494F-884A-0656AA35F8AC}"/>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838535" y="6153796"/>
            <a:ext cx="256217" cy="293427"/>
          </a:xfrm>
          <a:prstGeom prst="rect">
            <a:avLst/>
          </a:prstGeom>
        </p:spPr>
      </p:pic>
      <p:pic>
        <p:nvPicPr>
          <p:cNvPr id="29" name="图片 28">
            <a:extLst>
              <a:ext uri="{FF2B5EF4-FFF2-40B4-BE49-F238E27FC236}">
                <a16:creationId xmlns:a16="http://schemas.microsoft.com/office/drawing/2014/main" id="{9F9BA5EA-51F0-4193-9ED2-AECAA5674BA1}"/>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3016230" y="6737253"/>
            <a:ext cx="256217" cy="293427"/>
          </a:xfrm>
          <a:prstGeom prst="rect">
            <a:avLst/>
          </a:prstGeom>
        </p:spPr>
      </p:pic>
      <p:pic>
        <p:nvPicPr>
          <p:cNvPr id="30" name="图片 29">
            <a:extLst>
              <a:ext uri="{FF2B5EF4-FFF2-40B4-BE49-F238E27FC236}">
                <a16:creationId xmlns:a16="http://schemas.microsoft.com/office/drawing/2014/main" id="{3DFB32AB-66A6-4FFC-B32D-988386F5ED48}"/>
              </a:ext>
            </a:extLst>
          </p:cNvPr>
          <p:cNvPicPr>
            <a:picLocks noChangeAspect="1"/>
          </p:cNvPicPr>
          <p:nvPr userDrawn="1"/>
        </p:nvPicPr>
        <p:blipFill>
          <a:blip r:embed="rId18" cstate="hqprint">
            <a:extLst>
              <a:ext uri="{28A0092B-C50C-407E-A947-70E740481C1C}">
                <a14:useLocalDpi xmlns:a14="http://schemas.microsoft.com/office/drawing/2010/main" val="0"/>
              </a:ext>
            </a:extLst>
          </a:blip>
          <a:stretch>
            <a:fillRect/>
          </a:stretch>
        </p:blipFill>
        <p:spPr>
          <a:xfrm rot="7145307">
            <a:off x="3311960" y="6360240"/>
            <a:ext cx="1227221" cy="1227221"/>
          </a:xfrm>
          <a:prstGeom prst="rect">
            <a:avLst/>
          </a:prstGeom>
        </p:spPr>
      </p:pic>
      <p:pic>
        <p:nvPicPr>
          <p:cNvPr id="32" name="图片 31">
            <a:extLst>
              <a:ext uri="{FF2B5EF4-FFF2-40B4-BE49-F238E27FC236}">
                <a16:creationId xmlns:a16="http://schemas.microsoft.com/office/drawing/2014/main" id="{077F3FA7-2B15-442C-874C-7D4699EC4048}"/>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rot="10800000">
            <a:off x="660284" y="-1538987"/>
            <a:ext cx="3504587" cy="3504587"/>
          </a:xfrm>
          <a:prstGeom prst="rect">
            <a:avLst/>
          </a:prstGeom>
        </p:spPr>
      </p:pic>
      <p:pic>
        <p:nvPicPr>
          <p:cNvPr id="34" name="图片 33">
            <a:extLst>
              <a:ext uri="{FF2B5EF4-FFF2-40B4-BE49-F238E27FC236}">
                <a16:creationId xmlns:a16="http://schemas.microsoft.com/office/drawing/2014/main" id="{258E3EDD-7C76-44AF-A92B-2D0E3D65B9F4}"/>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rot="19449063">
            <a:off x="-4352124" y="9007488"/>
            <a:ext cx="1867692" cy="1867692"/>
          </a:xfrm>
          <a:prstGeom prst="rect">
            <a:avLst/>
          </a:prstGeom>
        </p:spPr>
      </p:pic>
      <p:pic>
        <p:nvPicPr>
          <p:cNvPr id="40" name="图片 39">
            <a:extLst>
              <a:ext uri="{FF2B5EF4-FFF2-40B4-BE49-F238E27FC236}">
                <a16:creationId xmlns:a16="http://schemas.microsoft.com/office/drawing/2014/main" id="{ADCDD936-865E-4CF4-8D3E-321D6E0691E1}"/>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2670886" y="2507461"/>
            <a:ext cx="256217" cy="293427"/>
          </a:xfrm>
          <a:prstGeom prst="rect">
            <a:avLst/>
          </a:prstGeom>
        </p:spPr>
      </p:pic>
      <p:pic>
        <p:nvPicPr>
          <p:cNvPr id="41" name="图片 40">
            <a:extLst>
              <a:ext uri="{FF2B5EF4-FFF2-40B4-BE49-F238E27FC236}">
                <a16:creationId xmlns:a16="http://schemas.microsoft.com/office/drawing/2014/main" id="{C9C610CF-CBAA-4894-A0F5-E236D4CF1F24}"/>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1007867" y="139436"/>
            <a:ext cx="256217" cy="293427"/>
          </a:xfrm>
          <a:prstGeom prst="rect">
            <a:avLst/>
          </a:prstGeom>
        </p:spPr>
      </p:pic>
      <p:pic>
        <p:nvPicPr>
          <p:cNvPr id="42" name="图片 41">
            <a:extLst>
              <a:ext uri="{FF2B5EF4-FFF2-40B4-BE49-F238E27FC236}">
                <a16:creationId xmlns:a16="http://schemas.microsoft.com/office/drawing/2014/main" id="{D608710F-DE21-4716-A121-A5AD172C6BA3}"/>
              </a:ext>
            </a:extLst>
          </p:cNvPr>
          <p:cNvPicPr>
            <a:picLocks noChangeAspect="1"/>
          </p:cNvPicPr>
          <p:nvPr userDrawn="1"/>
        </p:nvPicPr>
        <p:blipFill rotWithShape="1">
          <a:blip r:embed="rId17" cstate="hqprint">
            <a:extLst>
              <a:ext uri="{28A0092B-C50C-407E-A947-70E740481C1C}">
                <a14:useLocalDpi xmlns:a14="http://schemas.microsoft.com/office/drawing/2010/main" val="0"/>
              </a:ext>
            </a:extLst>
          </a:blip>
          <a:srcRect r="-5788"/>
          <a:stretch/>
        </p:blipFill>
        <p:spPr>
          <a:xfrm>
            <a:off x="9715201" y="6379331"/>
            <a:ext cx="256217" cy="293427"/>
          </a:xfrm>
          <a:prstGeom prst="rect">
            <a:avLst/>
          </a:prstGeom>
        </p:spPr>
      </p:pic>
    </p:spTree>
    <p:extLst>
      <p:ext uri="{BB962C8B-B14F-4D97-AF65-F5344CB8AC3E}">
        <p14:creationId xmlns:p14="http://schemas.microsoft.com/office/powerpoint/2010/main" val="23529827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竖排标题与文本">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4240ED0-7BE0-49E3-A153-BE8D1180E96B}"/>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370463" y="-127142"/>
            <a:ext cx="404336" cy="463057"/>
          </a:xfrm>
          <a:prstGeom prst="rect">
            <a:avLst/>
          </a:prstGeom>
        </p:spPr>
      </p:pic>
      <p:pic>
        <p:nvPicPr>
          <p:cNvPr id="8" name="图片 7">
            <a:extLst>
              <a:ext uri="{FF2B5EF4-FFF2-40B4-BE49-F238E27FC236}">
                <a16:creationId xmlns:a16="http://schemas.microsoft.com/office/drawing/2014/main" id="{2704E37A-FA21-4D1A-98C9-DE37ABE2E992}"/>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r="-5788"/>
          <a:stretch/>
        </p:blipFill>
        <p:spPr>
          <a:xfrm>
            <a:off x="7603347" y="173835"/>
            <a:ext cx="404336" cy="463057"/>
          </a:xfrm>
          <a:prstGeom prst="rect">
            <a:avLst/>
          </a:prstGeom>
        </p:spPr>
      </p:pic>
      <p:pic>
        <p:nvPicPr>
          <p:cNvPr id="9" name="图片 8">
            <a:extLst>
              <a:ext uri="{FF2B5EF4-FFF2-40B4-BE49-F238E27FC236}">
                <a16:creationId xmlns:a16="http://schemas.microsoft.com/office/drawing/2014/main" id="{6B1A1F0E-B380-4C95-8264-63EA9D49F65E}"/>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4695411" y="173836"/>
            <a:ext cx="404336" cy="463057"/>
          </a:xfrm>
          <a:prstGeom prst="rect">
            <a:avLst/>
          </a:prstGeom>
        </p:spPr>
      </p:pic>
      <p:pic>
        <p:nvPicPr>
          <p:cNvPr id="10" name="图片 9">
            <a:extLst>
              <a:ext uri="{FF2B5EF4-FFF2-40B4-BE49-F238E27FC236}">
                <a16:creationId xmlns:a16="http://schemas.microsoft.com/office/drawing/2014/main" id="{E6B1D24D-3F34-44E0-A49A-6C53684037EA}"/>
              </a:ext>
            </a:extLst>
          </p:cNvPr>
          <p:cNvPicPr>
            <a:picLocks noChangeAspect="1"/>
          </p:cNvPicPr>
          <p:nvPr userDrawn="1"/>
        </p:nvPicPr>
        <p:blipFill rotWithShape="1">
          <a:blip r:embed="rId4" cstate="hqprint">
            <a:extLst>
              <a:ext uri="{28A0092B-C50C-407E-A947-70E740481C1C}">
                <a14:useLocalDpi xmlns:a14="http://schemas.microsoft.com/office/drawing/2010/main" val="0"/>
              </a:ext>
            </a:extLst>
          </a:blip>
          <a:srcRect/>
          <a:stretch/>
        </p:blipFill>
        <p:spPr>
          <a:xfrm rot="11700000">
            <a:off x="11641880" y="5362974"/>
            <a:ext cx="404336" cy="463057"/>
          </a:xfrm>
          <a:prstGeom prst="rect">
            <a:avLst/>
          </a:prstGeom>
        </p:spPr>
      </p:pic>
      <p:pic>
        <p:nvPicPr>
          <p:cNvPr id="11" name="图片 10">
            <a:extLst>
              <a:ext uri="{FF2B5EF4-FFF2-40B4-BE49-F238E27FC236}">
                <a16:creationId xmlns:a16="http://schemas.microsoft.com/office/drawing/2014/main" id="{ACF066A8-11FA-4580-8679-10260E6E3EB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50855"/>
          <a:stretch/>
        </p:blipFill>
        <p:spPr>
          <a:xfrm>
            <a:off x="6651041" y="5630779"/>
            <a:ext cx="6858000" cy="3370348"/>
          </a:xfrm>
          <a:prstGeom prst="rect">
            <a:avLst/>
          </a:prstGeom>
        </p:spPr>
      </p:pic>
      <p:sp>
        <p:nvSpPr>
          <p:cNvPr id="12" name="矩形 11">
            <a:extLst>
              <a:ext uri="{FF2B5EF4-FFF2-40B4-BE49-F238E27FC236}">
                <a16:creationId xmlns:a16="http://schemas.microsoft.com/office/drawing/2014/main" id="{44D987F4-6D0D-444F-8AE1-710C6EFA9622}"/>
              </a:ext>
            </a:extLst>
          </p:cNvPr>
          <p:cNvSpPr/>
          <p:nvPr userDrawn="1"/>
        </p:nvSpPr>
        <p:spPr>
          <a:xfrm>
            <a:off x="444522" y="409073"/>
            <a:ext cx="11302955" cy="6125075"/>
          </a:xfrm>
          <a:prstGeom prst="rect">
            <a:avLst/>
          </a:prstGeom>
          <a:solidFill>
            <a:schemeClr val="bg1"/>
          </a:solidFill>
          <a:ln>
            <a:noFill/>
          </a:ln>
          <a:effectLst>
            <a:outerShdw blurRad="50800" dist="508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77096112-1209-443B-B19A-0D9DD3B14AB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rot="495784">
            <a:off x="-110046" y="4720902"/>
            <a:ext cx="2312918" cy="2327889"/>
          </a:xfrm>
          <a:prstGeom prst="rect">
            <a:avLst/>
          </a:prstGeom>
        </p:spPr>
      </p:pic>
      <p:pic>
        <p:nvPicPr>
          <p:cNvPr id="14" name="图片 13">
            <a:extLst>
              <a:ext uri="{FF2B5EF4-FFF2-40B4-BE49-F238E27FC236}">
                <a16:creationId xmlns:a16="http://schemas.microsoft.com/office/drawing/2014/main" id="{000B009C-EA5A-4082-BFB6-D4788DDCE4B3}"/>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48665"/>
          <a:stretch/>
        </p:blipFill>
        <p:spPr>
          <a:xfrm rot="478330">
            <a:off x="-1189223" y="5840789"/>
            <a:ext cx="6994284" cy="3590549"/>
          </a:xfrm>
          <a:prstGeom prst="rect">
            <a:avLst/>
          </a:prstGeom>
        </p:spPr>
      </p:pic>
      <p:pic>
        <p:nvPicPr>
          <p:cNvPr id="15" name="图片 14">
            <a:extLst>
              <a:ext uri="{FF2B5EF4-FFF2-40B4-BE49-F238E27FC236}">
                <a16:creationId xmlns:a16="http://schemas.microsoft.com/office/drawing/2014/main" id="{96609F93-407D-4062-BF59-D3B07CCCF059}"/>
              </a:ext>
            </a:extLst>
          </p:cNvPr>
          <p:cNvPicPr>
            <a:picLocks noChangeAspect="1"/>
          </p:cNvPicPr>
          <p:nvPr userDrawn="1"/>
        </p:nvPicPr>
        <p:blipFill rotWithShape="1">
          <a:blip r:embed="rId7"/>
          <a:srcRect l="1077" t="52715"/>
          <a:stretch/>
        </p:blipFill>
        <p:spPr>
          <a:xfrm>
            <a:off x="0" y="5875263"/>
            <a:ext cx="12192000" cy="1181100"/>
          </a:xfrm>
          <a:prstGeom prst="rect">
            <a:avLst/>
          </a:prstGeom>
        </p:spPr>
      </p:pic>
      <p:pic>
        <p:nvPicPr>
          <p:cNvPr id="16" name="图片 15">
            <a:extLst>
              <a:ext uri="{FF2B5EF4-FFF2-40B4-BE49-F238E27FC236}">
                <a16:creationId xmlns:a16="http://schemas.microsoft.com/office/drawing/2014/main" id="{AB72CBFB-A28A-47ED-897F-3C2A3AEB9CB5}"/>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rot="1142953">
            <a:off x="-1132990" y="-522016"/>
            <a:ext cx="2057400" cy="2057400"/>
          </a:xfrm>
          <a:prstGeom prst="rect">
            <a:avLst/>
          </a:prstGeom>
        </p:spPr>
      </p:pic>
      <p:pic>
        <p:nvPicPr>
          <p:cNvPr id="17" name="图片 16">
            <a:extLst>
              <a:ext uri="{FF2B5EF4-FFF2-40B4-BE49-F238E27FC236}">
                <a16:creationId xmlns:a16="http://schemas.microsoft.com/office/drawing/2014/main" id="{C1EEA55C-9B2D-49ED-884B-62743B81D9F9}"/>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1185888" y="734092"/>
            <a:ext cx="2099970" cy="2099970"/>
          </a:xfrm>
          <a:prstGeom prst="rect">
            <a:avLst/>
          </a:prstGeom>
        </p:spPr>
      </p:pic>
      <p:pic>
        <p:nvPicPr>
          <p:cNvPr id="18" name="图片 17">
            <a:extLst>
              <a:ext uri="{FF2B5EF4-FFF2-40B4-BE49-F238E27FC236}">
                <a16:creationId xmlns:a16="http://schemas.microsoft.com/office/drawing/2014/main" id="{A5A304EC-E88B-4E12-9730-6FEDB5C3A96C}"/>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780052" y="-410425"/>
            <a:ext cx="2911642" cy="2911642"/>
          </a:xfrm>
          <a:prstGeom prst="rect">
            <a:avLst/>
          </a:prstGeom>
        </p:spPr>
      </p:pic>
      <p:pic>
        <p:nvPicPr>
          <p:cNvPr id="19" name="图片 18">
            <a:extLst>
              <a:ext uri="{FF2B5EF4-FFF2-40B4-BE49-F238E27FC236}">
                <a16:creationId xmlns:a16="http://schemas.microsoft.com/office/drawing/2014/main" id="{4627EF09-A3C2-4BB1-A463-A51090F4DB79}"/>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rot="2294969">
            <a:off x="-147370" y="5630393"/>
            <a:ext cx="2106806" cy="2106806"/>
          </a:xfrm>
          <a:prstGeom prst="rect">
            <a:avLst/>
          </a:prstGeom>
        </p:spPr>
      </p:pic>
      <p:pic>
        <p:nvPicPr>
          <p:cNvPr id="20" name="图片 19">
            <a:extLst>
              <a:ext uri="{FF2B5EF4-FFF2-40B4-BE49-F238E27FC236}">
                <a16:creationId xmlns:a16="http://schemas.microsoft.com/office/drawing/2014/main" id="{8F98C993-71AC-421D-BCFA-697F7B8F6D29}"/>
              </a:ext>
            </a:extLst>
          </p:cNvPr>
          <p:cNvPicPr>
            <a:picLocks noChangeAspect="1"/>
          </p:cNvPicPr>
          <p:nvPr userDrawn="1"/>
        </p:nvPicPr>
        <p:blipFill rotWithShape="1">
          <a:blip r:embed="rId11" cstate="hqprint">
            <a:extLst>
              <a:ext uri="{28A0092B-C50C-407E-A947-70E740481C1C}">
                <a14:useLocalDpi xmlns:a14="http://schemas.microsoft.com/office/drawing/2010/main" val="0"/>
              </a:ext>
            </a:extLst>
          </a:blip>
          <a:srcRect r="14076"/>
          <a:stretch/>
        </p:blipFill>
        <p:spPr>
          <a:xfrm>
            <a:off x="10220906" y="5100393"/>
            <a:ext cx="1810236" cy="2106806"/>
          </a:xfrm>
          <a:prstGeom prst="rect">
            <a:avLst/>
          </a:prstGeom>
        </p:spPr>
      </p:pic>
      <p:pic>
        <p:nvPicPr>
          <p:cNvPr id="21" name="图片 20">
            <a:extLst>
              <a:ext uri="{FF2B5EF4-FFF2-40B4-BE49-F238E27FC236}">
                <a16:creationId xmlns:a16="http://schemas.microsoft.com/office/drawing/2014/main" id="{732B7B05-201F-476A-BBA1-DA2EADFD2F7C}"/>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053553" y="5911670"/>
            <a:ext cx="2037488" cy="2037488"/>
          </a:xfrm>
          <a:prstGeom prst="rect">
            <a:avLst/>
          </a:prstGeom>
        </p:spPr>
      </p:pic>
      <p:pic>
        <p:nvPicPr>
          <p:cNvPr id="22" name="图片 21">
            <a:extLst>
              <a:ext uri="{FF2B5EF4-FFF2-40B4-BE49-F238E27FC236}">
                <a16:creationId xmlns:a16="http://schemas.microsoft.com/office/drawing/2014/main" id="{927132A0-C21C-48E9-BA76-C35F4631302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3425056" y="6365846"/>
            <a:ext cx="2213811" cy="2213811"/>
          </a:xfrm>
          <a:prstGeom prst="rect">
            <a:avLst/>
          </a:prstGeom>
        </p:spPr>
      </p:pic>
      <p:pic>
        <p:nvPicPr>
          <p:cNvPr id="23" name="图片 22">
            <a:extLst>
              <a:ext uri="{FF2B5EF4-FFF2-40B4-BE49-F238E27FC236}">
                <a16:creationId xmlns:a16="http://schemas.microsoft.com/office/drawing/2014/main" id="{8F63EF8C-CE29-444B-B6A7-8742FC8744ED}"/>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11364458" y="2192979"/>
            <a:ext cx="1932204" cy="1932204"/>
          </a:xfrm>
          <a:prstGeom prst="rect">
            <a:avLst/>
          </a:prstGeom>
        </p:spPr>
      </p:pic>
      <p:pic>
        <p:nvPicPr>
          <p:cNvPr id="24" name="图片 23">
            <a:extLst>
              <a:ext uri="{FF2B5EF4-FFF2-40B4-BE49-F238E27FC236}">
                <a16:creationId xmlns:a16="http://schemas.microsoft.com/office/drawing/2014/main" id="{B92D2615-5F7D-4CA1-9C30-3B61BCDE79AA}"/>
              </a:ext>
            </a:extLst>
          </p:cNvPr>
          <p:cNvPicPr>
            <a:picLocks noChangeAspect="1"/>
          </p:cNvPicPr>
          <p:nvPr userDrawn="1"/>
        </p:nvPicPr>
        <p:blipFill>
          <a:blip r:embed="rId15" cstate="hqprint">
            <a:extLst>
              <a:ext uri="{28A0092B-C50C-407E-A947-70E740481C1C}">
                <a14:useLocalDpi xmlns:a14="http://schemas.microsoft.com/office/drawing/2010/main" val="0"/>
              </a:ext>
            </a:extLst>
          </a:blip>
          <a:stretch>
            <a:fillRect/>
          </a:stretch>
        </p:blipFill>
        <p:spPr>
          <a:xfrm>
            <a:off x="-871643" y="2009118"/>
            <a:ext cx="1734938" cy="1734938"/>
          </a:xfrm>
          <a:prstGeom prst="rect">
            <a:avLst/>
          </a:prstGeom>
        </p:spPr>
      </p:pic>
      <p:pic>
        <p:nvPicPr>
          <p:cNvPr id="25" name="图片 24">
            <a:extLst>
              <a:ext uri="{FF2B5EF4-FFF2-40B4-BE49-F238E27FC236}">
                <a16:creationId xmlns:a16="http://schemas.microsoft.com/office/drawing/2014/main" id="{2C1798D6-229F-4AA9-9F05-A266B33EF162}"/>
              </a:ext>
            </a:extLst>
          </p:cNvPr>
          <p:cNvPicPr>
            <a:picLocks noChangeAspect="1"/>
          </p:cNvPicPr>
          <p:nvPr userDrawn="1"/>
        </p:nvPicPr>
        <p:blipFill>
          <a:blip r:embed="rId16" cstate="hqprint">
            <a:extLst>
              <a:ext uri="{28A0092B-C50C-407E-A947-70E740481C1C}">
                <a14:useLocalDpi xmlns:a14="http://schemas.microsoft.com/office/drawing/2010/main" val="0"/>
              </a:ext>
            </a:extLst>
          </a:blip>
          <a:stretch>
            <a:fillRect/>
          </a:stretch>
        </p:blipFill>
        <p:spPr>
          <a:xfrm rot="3147629">
            <a:off x="-474658" y="2743523"/>
            <a:ext cx="1370954" cy="1370954"/>
          </a:xfrm>
          <a:prstGeom prst="rect">
            <a:avLst/>
          </a:prstGeom>
        </p:spPr>
      </p:pic>
      <p:pic>
        <p:nvPicPr>
          <p:cNvPr id="26" name="图片 25">
            <a:extLst>
              <a:ext uri="{FF2B5EF4-FFF2-40B4-BE49-F238E27FC236}">
                <a16:creationId xmlns:a16="http://schemas.microsoft.com/office/drawing/2014/main" id="{4213BAF1-A4A4-45F8-AC2E-FF0F504860A4}"/>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9270847" y="-30630"/>
            <a:ext cx="404336" cy="463057"/>
          </a:xfrm>
          <a:prstGeom prst="rect">
            <a:avLst/>
          </a:prstGeom>
        </p:spPr>
      </p:pic>
      <p:pic>
        <p:nvPicPr>
          <p:cNvPr id="27" name="图片 26">
            <a:extLst>
              <a:ext uri="{FF2B5EF4-FFF2-40B4-BE49-F238E27FC236}">
                <a16:creationId xmlns:a16="http://schemas.microsoft.com/office/drawing/2014/main" id="{ECFD1BB8-19C4-4654-89B0-6555818D5EC0}"/>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10849726" y="5791398"/>
            <a:ext cx="2028527" cy="2028527"/>
          </a:xfrm>
          <a:prstGeom prst="rect">
            <a:avLst/>
          </a:prstGeom>
        </p:spPr>
      </p:pic>
      <p:pic>
        <p:nvPicPr>
          <p:cNvPr id="28" name="图片 27">
            <a:extLst>
              <a:ext uri="{FF2B5EF4-FFF2-40B4-BE49-F238E27FC236}">
                <a16:creationId xmlns:a16="http://schemas.microsoft.com/office/drawing/2014/main" id="{C4155797-C75E-494F-884A-0656AA35F8AC}"/>
              </a:ext>
            </a:extLst>
          </p:cNvPr>
          <p:cNvPicPr>
            <a:picLocks noChangeAspect="1"/>
          </p:cNvPicPr>
          <p:nvPr userDrawn="1"/>
        </p:nvPicPr>
        <p:blipFill rotWithShape="1">
          <a:blip r:embed="rId18" cstate="hqprint">
            <a:extLst>
              <a:ext uri="{28A0092B-C50C-407E-A947-70E740481C1C}">
                <a14:useLocalDpi xmlns:a14="http://schemas.microsoft.com/office/drawing/2010/main" val="0"/>
              </a:ext>
            </a:extLst>
          </a:blip>
          <a:srcRect r="-5788"/>
          <a:stretch/>
        </p:blipFill>
        <p:spPr>
          <a:xfrm>
            <a:off x="444523" y="6009689"/>
            <a:ext cx="256217" cy="293427"/>
          </a:xfrm>
          <a:prstGeom prst="rect">
            <a:avLst/>
          </a:prstGeom>
        </p:spPr>
      </p:pic>
      <p:pic>
        <p:nvPicPr>
          <p:cNvPr id="29" name="图片 28">
            <a:extLst>
              <a:ext uri="{FF2B5EF4-FFF2-40B4-BE49-F238E27FC236}">
                <a16:creationId xmlns:a16="http://schemas.microsoft.com/office/drawing/2014/main" id="{9F9BA5EA-51F0-4193-9ED2-AECAA5674BA1}"/>
              </a:ext>
            </a:extLst>
          </p:cNvPr>
          <p:cNvPicPr>
            <a:picLocks noChangeAspect="1"/>
          </p:cNvPicPr>
          <p:nvPr userDrawn="1"/>
        </p:nvPicPr>
        <p:blipFill rotWithShape="1">
          <a:blip r:embed="rId18" cstate="hqprint">
            <a:extLst>
              <a:ext uri="{28A0092B-C50C-407E-A947-70E740481C1C}">
                <a14:useLocalDpi xmlns:a14="http://schemas.microsoft.com/office/drawing/2010/main" val="0"/>
              </a:ext>
            </a:extLst>
          </a:blip>
          <a:srcRect r="-5788"/>
          <a:stretch/>
        </p:blipFill>
        <p:spPr>
          <a:xfrm>
            <a:off x="3016230" y="6737253"/>
            <a:ext cx="256217" cy="293427"/>
          </a:xfrm>
          <a:prstGeom prst="rect">
            <a:avLst/>
          </a:prstGeom>
        </p:spPr>
      </p:pic>
      <p:pic>
        <p:nvPicPr>
          <p:cNvPr id="30" name="图片 29">
            <a:extLst>
              <a:ext uri="{FF2B5EF4-FFF2-40B4-BE49-F238E27FC236}">
                <a16:creationId xmlns:a16="http://schemas.microsoft.com/office/drawing/2014/main" id="{3DFB32AB-66A6-4FFC-B32D-988386F5ED48}"/>
              </a:ext>
            </a:extLst>
          </p:cNvPr>
          <p:cNvPicPr>
            <a:picLocks noChangeAspect="1"/>
          </p:cNvPicPr>
          <p:nvPr userDrawn="1"/>
        </p:nvPicPr>
        <p:blipFill>
          <a:blip r:embed="rId19" cstate="hqprint">
            <a:extLst>
              <a:ext uri="{28A0092B-C50C-407E-A947-70E740481C1C}">
                <a14:useLocalDpi xmlns:a14="http://schemas.microsoft.com/office/drawing/2010/main" val="0"/>
              </a:ext>
            </a:extLst>
          </a:blip>
          <a:stretch>
            <a:fillRect/>
          </a:stretch>
        </p:blipFill>
        <p:spPr>
          <a:xfrm rot="7145307">
            <a:off x="3311960" y="6360240"/>
            <a:ext cx="1227221" cy="1227221"/>
          </a:xfrm>
          <a:prstGeom prst="rect">
            <a:avLst/>
          </a:prstGeom>
        </p:spPr>
      </p:pic>
    </p:spTree>
    <p:extLst>
      <p:ext uri="{BB962C8B-B14F-4D97-AF65-F5344CB8AC3E}">
        <p14:creationId xmlns:p14="http://schemas.microsoft.com/office/powerpoint/2010/main" val="3613240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840568"/>
            <a:ext cx="10363200" cy="1960033"/>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8801" y="5181601"/>
            <a:ext cx="8534400" cy="2336800"/>
          </a:xfrm>
          <a:prstGeom prst="rect">
            <a:avLst/>
          </a:prstGeom>
        </p:spPr>
        <p:txBody>
          <a:bodyPr/>
          <a:lstStyle>
            <a:lvl1pPr marL="0" indent="0" algn="ctr">
              <a:buNone/>
              <a:defRPr>
                <a:solidFill>
                  <a:schemeClr val="tx1">
                    <a:tint val="75000"/>
                  </a:schemeClr>
                </a:solidFill>
              </a:defRPr>
            </a:lvl1pPr>
            <a:lvl2pPr marL="609295" indent="0" algn="ctr">
              <a:buNone/>
              <a:defRPr>
                <a:solidFill>
                  <a:schemeClr val="tx1">
                    <a:tint val="75000"/>
                  </a:schemeClr>
                </a:solidFill>
              </a:defRPr>
            </a:lvl2pPr>
            <a:lvl3pPr marL="1219225" indent="0" algn="ctr">
              <a:buNone/>
              <a:defRPr>
                <a:solidFill>
                  <a:schemeClr val="tx1">
                    <a:tint val="75000"/>
                  </a:schemeClr>
                </a:solidFill>
              </a:defRPr>
            </a:lvl3pPr>
            <a:lvl4pPr marL="1828520" indent="0" algn="ctr">
              <a:buNone/>
              <a:defRPr>
                <a:solidFill>
                  <a:schemeClr val="tx1">
                    <a:tint val="75000"/>
                  </a:schemeClr>
                </a:solidFill>
              </a:defRPr>
            </a:lvl4pPr>
            <a:lvl5pPr marL="2437815" indent="0" algn="ctr">
              <a:buNone/>
              <a:defRPr>
                <a:solidFill>
                  <a:schemeClr val="tx1">
                    <a:tint val="75000"/>
                  </a:schemeClr>
                </a:solidFill>
              </a:defRPr>
            </a:lvl5pPr>
            <a:lvl6pPr marL="3047745" indent="0" algn="ctr">
              <a:buNone/>
              <a:defRPr>
                <a:solidFill>
                  <a:schemeClr val="tx1">
                    <a:tint val="75000"/>
                  </a:schemeClr>
                </a:solidFill>
              </a:defRPr>
            </a:lvl6pPr>
            <a:lvl7pPr marL="3657041" indent="0" algn="ctr">
              <a:buNone/>
              <a:defRPr>
                <a:solidFill>
                  <a:schemeClr val="tx1">
                    <a:tint val="75000"/>
                  </a:schemeClr>
                </a:solidFill>
              </a:defRPr>
            </a:lvl7pPr>
            <a:lvl8pPr marL="4266336" indent="0" algn="ctr">
              <a:buNone/>
              <a:defRPr>
                <a:solidFill>
                  <a:schemeClr val="tx1">
                    <a:tint val="75000"/>
                  </a:schemeClr>
                </a:solidFill>
              </a:defRPr>
            </a:lvl8pPr>
            <a:lvl9pPr marL="487626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21804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838201" y="1209823"/>
            <a:ext cx="10781714" cy="524724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Content Placeholder 2"/>
          <p:cNvSpPr>
            <a:spLocks noGrp="1"/>
          </p:cNvSpPr>
          <p:nvPr>
            <p:ph idx="13"/>
          </p:nvPr>
        </p:nvSpPr>
        <p:spPr>
          <a:xfrm>
            <a:off x="841375" y="739180"/>
            <a:ext cx="10747058" cy="464458"/>
          </a:xfrm>
          <a:prstGeom prst="rect">
            <a:avLst/>
          </a:prstGeom>
        </p:spPr>
        <p:txBody>
          <a:bodyPr/>
          <a:lstStyle>
            <a:lvl1pPr marL="0" indent="0">
              <a:lnSpc>
                <a:spcPct val="120000"/>
              </a:lnSpc>
              <a:buSzPct val="80000"/>
              <a:buFont typeface="Wingdings" panose="05000000000000000000" pitchFamily="2" charset="2"/>
              <a:buNone/>
              <a:defRPr b="0">
                <a:solidFill>
                  <a:srgbClr val="07836E"/>
                </a:solidFill>
              </a:defRPr>
            </a:lvl1pPr>
          </a:lstStyle>
          <a:p>
            <a:pPr lvl="0"/>
            <a:r>
              <a:rPr lang="en-US" dirty="0"/>
              <a:t>Click to edit Master text styles</a:t>
            </a:r>
          </a:p>
        </p:txBody>
      </p:sp>
    </p:spTree>
    <p:extLst>
      <p:ext uri="{BB962C8B-B14F-4D97-AF65-F5344CB8AC3E}">
        <p14:creationId xmlns:p14="http://schemas.microsoft.com/office/powerpoint/2010/main" val="1922672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2473921A-A3D0-4C8F-9EEB-EC28002D91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文本框 28">
            <a:extLst>
              <a:ext uri="{FF2B5EF4-FFF2-40B4-BE49-F238E27FC236}">
                <a16:creationId xmlns:a16="http://schemas.microsoft.com/office/drawing/2014/main" id="{C4F38A52-46AB-4DF0-8AEE-FCDF676F05D2}"/>
              </a:ext>
            </a:extLst>
          </p:cNvPr>
          <p:cNvSpPr txBox="1"/>
          <p:nvPr userDrawn="1"/>
        </p:nvSpPr>
        <p:spPr>
          <a:xfrm>
            <a:off x="8366323" y="1670903"/>
            <a:ext cx="3590925" cy="2800767"/>
          </a:xfrm>
          <a:prstGeom prst="rect">
            <a:avLst/>
          </a:prstGeom>
          <a:noFill/>
        </p:spPr>
        <p:txBody>
          <a:bodyPr wrap="square" rtlCol="0">
            <a:spAutoFit/>
          </a:bodyPr>
          <a:lstStyle/>
          <a:p>
            <a:r>
              <a:rPr lang="en-US" altLang="zh-CN" sz="8800" b="1" dirty="0">
                <a:solidFill>
                  <a:srgbClr val="1A82BC"/>
                </a:solidFill>
                <a:latin typeface="Arial Black" panose="020B0A04020102020204" pitchFamily="34" charset="0"/>
                <a:ea typeface="Adobe 黑体 Std R" panose="020B0400000000000000" pitchFamily="34" charset="-122"/>
              </a:rPr>
              <a:t>BIG   DATA</a:t>
            </a:r>
            <a:endParaRPr lang="zh-CN" altLang="en-US" sz="8800" b="1" dirty="0">
              <a:solidFill>
                <a:srgbClr val="1A82BC"/>
              </a:solidFill>
              <a:latin typeface="Arial Black" panose="020B0A04020102020204" pitchFamily="34" charset="0"/>
              <a:ea typeface="Adobe 黑体 Std R" panose="020B0400000000000000" pitchFamily="34" charset="-122"/>
            </a:endParaRPr>
          </a:p>
        </p:txBody>
      </p:sp>
      <p:sp>
        <p:nvSpPr>
          <p:cNvPr id="32" name="等腰三角形 31">
            <a:extLst>
              <a:ext uri="{FF2B5EF4-FFF2-40B4-BE49-F238E27FC236}">
                <a16:creationId xmlns:a16="http://schemas.microsoft.com/office/drawing/2014/main" id="{7A8C0BF1-CA6B-4A4F-80C6-663F90F54959}"/>
              </a:ext>
            </a:extLst>
          </p:cNvPr>
          <p:cNvSpPr/>
          <p:nvPr userDrawn="1"/>
        </p:nvSpPr>
        <p:spPr>
          <a:xfrm rot="7184658">
            <a:off x="6452665" y="4631028"/>
            <a:ext cx="2081536" cy="2029550"/>
          </a:xfrm>
          <a:prstGeom prst="triangle">
            <a:avLst/>
          </a:prstGeom>
          <a:solidFill>
            <a:srgbClr val="33E3FD">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a:extLst>
              <a:ext uri="{FF2B5EF4-FFF2-40B4-BE49-F238E27FC236}">
                <a16:creationId xmlns:a16="http://schemas.microsoft.com/office/drawing/2014/main" id="{7D295918-938A-4894-BEA5-096BC2E0E418}"/>
              </a:ext>
            </a:extLst>
          </p:cNvPr>
          <p:cNvSpPr/>
          <p:nvPr userDrawn="1"/>
        </p:nvSpPr>
        <p:spPr>
          <a:xfrm rot="9214016">
            <a:off x="7736725" y="5213075"/>
            <a:ext cx="1259196" cy="1010484"/>
          </a:xfrm>
          <a:prstGeom prst="triangle">
            <a:avLst/>
          </a:prstGeom>
          <a:solidFill>
            <a:srgbClr val="D9AEFC">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85533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教学目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1B56EC48-F47B-4F66-9511-092D689541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2303" y="172716"/>
            <a:ext cx="11827394" cy="6512567"/>
          </a:xfrm>
          <a:prstGeom prst="rect">
            <a:avLst/>
          </a:prstGeom>
        </p:spPr>
      </p:pic>
      <p:sp>
        <p:nvSpPr>
          <p:cNvPr id="2" name="标题 1">
            <a:extLst>
              <a:ext uri="{FF2B5EF4-FFF2-40B4-BE49-F238E27FC236}">
                <a16:creationId xmlns:a16="http://schemas.microsoft.com/office/drawing/2014/main" id="{58B21BA7-BB07-4EEF-A3EB-E2A90AD199BD}"/>
              </a:ext>
            </a:extLst>
          </p:cNvPr>
          <p:cNvSpPr>
            <a:spLocks noGrp="1"/>
          </p:cNvSpPr>
          <p:nvPr>
            <p:ph type="title" hasCustomPrompt="1"/>
          </p:nvPr>
        </p:nvSpPr>
        <p:spPr>
          <a:xfrm>
            <a:off x="2575271" y="2981685"/>
            <a:ext cx="7041458" cy="2387239"/>
          </a:xfrm>
        </p:spPr>
        <p:txBody>
          <a:bodyPr>
            <a:normAutofit/>
          </a:bodyPr>
          <a:lstStyle>
            <a:lvl1pPr>
              <a:lnSpc>
                <a:spcPct val="130000"/>
              </a:lnSpc>
              <a:spcBef>
                <a:spcPts val="0"/>
              </a:spcBef>
              <a:spcAft>
                <a:spcPts val="600"/>
              </a:spcAft>
              <a:defRPr sz="2400">
                <a:solidFill>
                  <a:schemeClr val="bg1"/>
                </a:solidFill>
                <a:latin typeface="微软雅黑" panose="020B0503020204020204" pitchFamily="34" charset="-122"/>
                <a:ea typeface="微软雅黑" panose="020B0503020204020204" pitchFamily="34" charset="-122"/>
              </a:defRPr>
            </a:lvl1pPr>
          </a:lstStyle>
          <a:p>
            <a:r>
              <a:rPr lang="en-US" altLang="zh-CN" dirty="0"/>
              <a:t>1. </a:t>
            </a:r>
            <a:r>
              <a:rPr lang="zh-CN" altLang="en-US" dirty="0"/>
              <a:t>请在此处输入教学目标，请在此处输入教学目标</a:t>
            </a:r>
            <a:br>
              <a:rPr lang="en-US" altLang="zh-CN" dirty="0"/>
            </a:br>
            <a:r>
              <a:rPr lang="en-US" altLang="zh-CN" dirty="0"/>
              <a:t>2. </a:t>
            </a:r>
            <a:r>
              <a:rPr lang="zh-CN" altLang="en-US" dirty="0"/>
              <a:t>请在此处输入教学目标，请在此处输入教学目标</a:t>
            </a:r>
            <a:br>
              <a:rPr lang="en-US" altLang="zh-CN" dirty="0"/>
            </a:br>
            <a:r>
              <a:rPr lang="en-US" altLang="zh-CN" dirty="0"/>
              <a:t>3. </a:t>
            </a:r>
            <a:r>
              <a:rPr lang="zh-CN" altLang="en-US" dirty="0"/>
              <a:t>请在此处输入教学目标，请在此处输入教学目标</a:t>
            </a:r>
          </a:p>
        </p:txBody>
      </p:sp>
      <p:grpSp>
        <p:nvGrpSpPr>
          <p:cNvPr id="4" name="组合 3">
            <a:extLst>
              <a:ext uri="{FF2B5EF4-FFF2-40B4-BE49-F238E27FC236}">
                <a16:creationId xmlns:a16="http://schemas.microsoft.com/office/drawing/2014/main" id="{991A460A-8567-4B43-B1D3-EA1A1986A3B3}"/>
              </a:ext>
            </a:extLst>
          </p:cNvPr>
          <p:cNvGrpSpPr/>
          <p:nvPr userDrawn="1"/>
        </p:nvGrpSpPr>
        <p:grpSpPr>
          <a:xfrm>
            <a:off x="5151511" y="1644070"/>
            <a:ext cx="2354605" cy="647700"/>
            <a:chOff x="2247159" y="745513"/>
            <a:chExt cx="2354605" cy="647700"/>
          </a:xfrm>
        </p:grpSpPr>
        <p:sp>
          <p:nvSpPr>
            <p:cNvPr id="9" name="文本框 18">
              <a:extLst>
                <a:ext uri="{FF2B5EF4-FFF2-40B4-BE49-F238E27FC236}">
                  <a16:creationId xmlns:a16="http://schemas.microsoft.com/office/drawing/2014/main" id="{296C7CBC-BAD6-45EC-9503-6FD2E2E08A12}"/>
                </a:ext>
              </a:extLst>
            </p:cNvPr>
            <p:cNvSpPr txBox="1"/>
            <p:nvPr userDrawn="1"/>
          </p:nvSpPr>
          <p:spPr>
            <a:xfrm>
              <a:off x="2782489" y="823340"/>
              <a:ext cx="1819275" cy="523220"/>
            </a:xfrm>
            <a:prstGeom prst="rect">
              <a:avLst/>
            </a:prstGeom>
            <a:noFill/>
          </p:spPr>
          <p:txBody>
            <a:bodyPr wrap="square" rtlCol="0">
              <a:spAutoFit/>
            </a:bodyPr>
            <a:lstStyle/>
            <a:p>
              <a:pPr algn="ctr"/>
              <a:r>
                <a:rPr lang="zh-CN" altLang="en-US" sz="2800" b="1" dirty="0">
                  <a:solidFill>
                    <a:schemeClr val="bg1"/>
                  </a:solidFill>
                  <a:latin typeface="微软雅黑" pitchFamily="34" charset="-122"/>
                  <a:ea typeface="微软雅黑" pitchFamily="34" charset="-122"/>
                </a:rPr>
                <a:t>教学目标</a:t>
              </a:r>
            </a:p>
          </p:txBody>
        </p:sp>
        <p:pic>
          <p:nvPicPr>
            <p:cNvPr id="10" name="图片 9">
              <a:extLst>
                <a:ext uri="{FF2B5EF4-FFF2-40B4-BE49-F238E27FC236}">
                  <a16:creationId xmlns:a16="http://schemas.microsoft.com/office/drawing/2014/main" id="{1D157FD2-CF88-4ECB-B004-4F0FD28DD2B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47159" y="745513"/>
              <a:ext cx="647700" cy="647700"/>
            </a:xfrm>
            <a:prstGeom prst="rect">
              <a:avLst/>
            </a:prstGeom>
          </p:spPr>
        </p:pic>
      </p:grpSp>
      <p:sp>
        <p:nvSpPr>
          <p:cNvPr id="21" name="等腰三角形 20">
            <a:extLst>
              <a:ext uri="{FF2B5EF4-FFF2-40B4-BE49-F238E27FC236}">
                <a16:creationId xmlns:a16="http://schemas.microsoft.com/office/drawing/2014/main" id="{45F80485-48E5-4707-A058-59FFFB42381D}"/>
              </a:ext>
            </a:extLst>
          </p:cNvPr>
          <p:cNvSpPr/>
          <p:nvPr userDrawn="1"/>
        </p:nvSpPr>
        <p:spPr>
          <a:xfrm rot="7184658">
            <a:off x="9744205" y="4981691"/>
            <a:ext cx="1934091" cy="1885787"/>
          </a:xfrm>
          <a:prstGeom prst="triangle">
            <a:avLst/>
          </a:prstGeom>
          <a:solidFill>
            <a:srgbClr val="33E3FD">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a:extLst>
              <a:ext uri="{FF2B5EF4-FFF2-40B4-BE49-F238E27FC236}">
                <a16:creationId xmlns:a16="http://schemas.microsoft.com/office/drawing/2014/main" id="{73986816-2807-468E-88E2-C46B59723AC2}"/>
              </a:ext>
            </a:extLst>
          </p:cNvPr>
          <p:cNvSpPr/>
          <p:nvPr userDrawn="1"/>
        </p:nvSpPr>
        <p:spPr>
          <a:xfrm rot="9214016">
            <a:off x="3175292" y="1602828"/>
            <a:ext cx="1495006" cy="1199718"/>
          </a:xfrm>
          <a:prstGeom prst="triangle">
            <a:avLst/>
          </a:prstGeom>
          <a:solidFill>
            <a:srgbClr val="D9AEFC">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34748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70B0B79-C3CF-4125-82B7-4936F71F6F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ACE523E-5A35-4FCD-B81B-0809C21AEE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DD2808-2C8F-4F14-84D5-28C4CC7460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19352-EDEF-4CE6-A9AA-7F307EF05D9C}" type="datetimeFigureOut">
              <a:rPr lang="zh-CN" altLang="en-US" smtClean="0"/>
              <a:t>2026/9/16</a:t>
            </a:fld>
            <a:endParaRPr lang="zh-CN" altLang="en-US"/>
          </a:p>
        </p:txBody>
      </p:sp>
      <p:sp>
        <p:nvSpPr>
          <p:cNvPr id="5" name="页脚占位符 4">
            <a:extLst>
              <a:ext uri="{FF2B5EF4-FFF2-40B4-BE49-F238E27FC236}">
                <a16:creationId xmlns:a16="http://schemas.microsoft.com/office/drawing/2014/main" id="{D18AB9A6-F346-4484-BA6E-F999D8C61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C7D7757-23C2-435A-A0E8-96D44EACA6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A5E86-34E6-4D16-BD90-2AC9D58D6D0E}" type="slidenum">
              <a:rPr lang="zh-CN" altLang="en-US" smtClean="0"/>
              <a:t>‹#›</a:t>
            </a:fld>
            <a:endParaRPr lang="zh-CN" altLang="en-US"/>
          </a:p>
        </p:txBody>
      </p:sp>
    </p:spTree>
    <p:extLst>
      <p:ext uri="{BB962C8B-B14F-4D97-AF65-F5344CB8AC3E}">
        <p14:creationId xmlns:p14="http://schemas.microsoft.com/office/powerpoint/2010/main" val="3769146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0" r:id="rId13"/>
    <p:sldLayoutId id="2147483661" r:id="rId14"/>
    <p:sldLayoutId id="2147483662" r:id="rId15"/>
    <p:sldLayoutId id="2147483663" r:id="rId16"/>
    <p:sldLayoutId id="2147483664" r:id="rId17"/>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5.xml"/><Relationship Id="rId5" Type="http://schemas.microsoft.com/office/2007/relationships/hdphoto" Target="../media/hdphoto1.wdp"/><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6.xml"/><Relationship Id="rId5" Type="http://schemas.microsoft.com/office/2007/relationships/hdphoto" Target="../media/hdphoto1.wdp"/><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4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30.xml"/><Relationship Id="rId7" Type="http://schemas.openxmlformats.org/officeDocument/2006/relationships/image" Target="../media/image41.png"/><Relationship Id="rId2" Type="http://schemas.openxmlformats.org/officeDocument/2006/relationships/slideLayout" Target="../slideLayouts/slideLayout13.xml"/><Relationship Id="rId1" Type="http://schemas.openxmlformats.org/officeDocument/2006/relationships/tags" Target="../tags/tag10.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3000"/>
            <a:lum/>
          </a:blip>
          <a:srcRect/>
          <a:stretch>
            <a:fillRect/>
          </a:stretch>
        </a:blipFill>
        <a:effectLst/>
      </p:bgPr>
    </p:bg>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388D62-6711-4B1E-A226-021CEA39A0CA}"/>
              </a:ext>
            </a:extLst>
          </p:cNvPr>
          <p:cNvSpPr txBox="1"/>
          <p:nvPr/>
        </p:nvSpPr>
        <p:spPr>
          <a:xfrm>
            <a:off x="2761488" y="1697016"/>
            <a:ext cx="7142031" cy="2708434"/>
          </a:xfrm>
          <a:prstGeom prst="rect">
            <a:avLst/>
          </a:prstGeom>
          <a:noFill/>
        </p:spPr>
        <p:txBody>
          <a:bodyPr wrap="square" rtlCol="0">
            <a:spAutoFit/>
          </a:bodyPr>
          <a:lstStyle/>
          <a:p>
            <a:pPr algn="ctr"/>
            <a:r>
              <a:rPr lang="en-US" altLang="zh-CN" sz="5400" b="1" dirty="0">
                <a:solidFill>
                  <a:schemeClr val="accent6">
                    <a:lumMod val="75000"/>
                  </a:schemeClr>
                </a:solidFill>
                <a:latin typeface="Arial" panose="020B0604020202020204" pitchFamily="34" charset="0"/>
                <a:ea typeface="Microsoft YaHei" panose="020B0503020204020204" pitchFamily="34" charset="-122"/>
                <a:sym typeface="Arial" panose="020B0604020202020204" pitchFamily="34" charset="0"/>
              </a:rPr>
              <a:t>《</a:t>
            </a:r>
            <a:r>
              <a:rPr lang="zh-CN" altLang="en-US" sz="5400" b="1" dirty="0">
                <a:solidFill>
                  <a:schemeClr val="accent6">
                    <a:lumMod val="75000"/>
                  </a:schemeClr>
                </a:solidFill>
                <a:latin typeface="Arial" panose="020B0604020202020204" pitchFamily="34" charset="0"/>
                <a:ea typeface="Microsoft YaHei" panose="020B0503020204020204" pitchFamily="34" charset="-122"/>
                <a:sym typeface="Arial" panose="020B0604020202020204" pitchFamily="34" charset="0"/>
              </a:rPr>
              <a:t>数据库原理与应用</a:t>
            </a:r>
            <a:r>
              <a:rPr lang="en-US" altLang="zh-CN" sz="5400" b="1" dirty="0">
                <a:solidFill>
                  <a:schemeClr val="accent6">
                    <a:lumMod val="75000"/>
                  </a:schemeClr>
                </a:solidFill>
                <a:latin typeface="Arial" panose="020B0604020202020204" pitchFamily="34" charset="0"/>
                <a:ea typeface="Microsoft YaHei" panose="020B0503020204020204" pitchFamily="34" charset="-122"/>
                <a:sym typeface="Arial" panose="020B0604020202020204" pitchFamily="34" charset="0"/>
              </a:rPr>
              <a:t>》</a:t>
            </a:r>
          </a:p>
          <a:p>
            <a:pPr algn="ctr"/>
            <a:endParaRPr lang="en-US" altLang="zh-CN" sz="5400" b="1" dirty="0">
              <a:solidFill>
                <a:schemeClr val="accent6">
                  <a:lumMod val="75000"/>
                </a:schemeClr>
              </a:solidFill>
              <a:latin typeface="Arial" panose="020B0604020202020204" pitchFamily="34" charset="0"/>
              <a:ea typeface="Microsoft YaHei" panose="020B0503020204020204" pitchFamily="34" charset="-122"/>
              <a:sym typeface="Arial" panose="020B0604020202020204" pitchFamily="34" charset="0"/>
            </a:endParaRPr>
          </a:p>
          <a:p>
            <a:pPr algn="ctr"/>
            <a:endParaRPr lang="en-US" altLang="zh-CN" sz="1400" b="1" dirty="0">
              <a:solidFill>
                <a:schemeClr val="accent6">
                  <a:lumMod val="75000"/>
                </a:schemeClr>
              </a:solidFill>
              <a:latin typeface="Arial" panose="020B0604020202020204" pitchFamily="34" charset="0"/>
              <a:ea typeface="Microsoft YaHei" panose="020B0503020204020204" pitchFamily="34" charset="-122"/>
              <a:sym typeface="Arial" panose="020B0604020202020204" pitchFamily="34" charset="0"/>
            </a:endParaRPr>
          </a:p>
          <a:p>
            <a:pPr algn="ctr"/>
            <a:r>
              <a:rPr lang="zh-CN" altLang="en-US" sz="4800" b="1" dirty="0">
                <a:solidFill>
                  <a:schemeClr val="accent6">
                    <a:lumMod val="75000"/>
                  </a:schemeClr>
                </a:solidFill>
                <a:latin typeface="华文仿宋" panose="02010600040101010101" pitchFamily="2" charset="-122"/>
                <a:ea typeface="华文仿宋" panose="02010600040101010101" pitchFamily="2" charset="-122"/>
                <a:sym typeface="Arial" panose="020B0604020202020204" pitchFamily="34" charset="0"/>
              </a:rPr>
              <a:t>数据模型</a:t>
            </a:r>
          </a:p>
        </p:txBody>
      </p:sp>
    </p:spTree>
    <p:extLst>
      <p:ext uri="{BB962C8B-B14F-4D97-AF65-F5344CB8AC3E}">
        <p14:creationId xmlns:p14="http://schemas.microsoft.com/office/powerpoint/2010/main" val="21544929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a:extLst>
              <a:ext uri="{FF2B5EF4-FFF2-40B4-BE49-F238E27FC236}">
                <a16:creationId xmlns:a16="http://schemas.microsoft.com/office/drawing/2014/main" id="{21B070A4-771C-4A20-8592-6511697A2323}"/>
              </a:ext>
            </a:extLst>
          </p:cNvPr>
          <p:cNvSpPr>
            <a:spLocks noGrp="1"/>
          </p:cNvSpPr>
          <p:nvPr>
            <p:ph type="title" idx="4294967295"/>
          </p:nvPr>
        </p:nvSpPr>
        <p:spPr>
          <a:xfrm>
            <a:off x="2673250" y="1832778"/>
            <a:ext cx="7680325" cy="2387600"/>
          </a:xfrm>
        </p:spPr>
        <p:txBody>
          <a:bodyPr>
            <a:normAutofit/>
          </a:bodyPr>
          <a:lstStyle/>
          <a:p>
            <a:pPr>
              <a:lnSpc>
                <a:spcPct val="150000"/>
              </a:lnSpc>
            </a:pPr>
            <a:r>
              <a:rPr lang="zh-CN" altLang="en-US" sz="2800" dirty="0">
                <a:latin typeface="Arial" panose="020B0604020202020204" pitchFamily="34" charset="0"/>
                <a:ea typeface="Microsoft YaHei" panose="020B0503020204020204" pitchFamily="34" charset="-122"/>
                <a:sym typeface="Arial" panose="020B0604020202020204" pitchFamily="34" charset="0"/>
              </a:rPr>
              <a:t>了解数据模型的概念及分类；</a:t>
            </a:r>
            <a:br>
              <a:rPr lang="en-US" altLang="zh-CN" sz="2800" dirty="0">
                <a:latin typeface="Arial" panose="020B0604020202020204" pitchFamily="34" charset="0"/>
                <a:ea typeface="Microsoft YaHei" panose="020B0503020204020204" pitchFamily="34" charset="-122"/>
                <a:sym typeface="Arial" panose="020B0604020202020204" pitchFamily="34" charset="0"/>
              </a:rPr>
            </a:br>
            <a:r>
              <a:rPr lang="zh-CN" altLang="en-US" sz="2800" dirty="0">
                <a:latin typeface="Arial" panose="020B0604020202020204" pitchFamily="34" charset="0"/>
                <a:ea typeface="Microsoft YaHei" panose="020B0503020204020204" pitchFamily="34" charset="-122"/>
                <a:sym typeface="Arial" panose="020B0604020202020204" pitchFamily="34" charset="0"/>
              </a:rPr>
              <a:t>了解概念模型和逻辑模型。</a:t>
            </a:r>
          </a:p>
        </p:txBody>
      </p:sp>
      <p:sp>
        <p:nvSpPr>
          <p:cNvPr id="2" name="标题 3">
            <a:extLst>
              <a:ext uri="{FF2B5EF4-FFF2-40B4-BE49-F238E27FC236}">
                <a16:creationId xmlns:a16="http://schemas.microsoft.com/office/drawing/2014/main" id="{75044749-5DCE-5CFA-BE8F-38CF38EBF9A2}"/>
              </a:ext>
            </a:extLst>
          </p:cNvPr>
          <p:cNvSpPr txBox="1">
            <a:spLocks/>
          </p:cNvSpPr>
          <p:nvPr/>
        </p:nvSpPr>
        <p:spPr>
          <a:xfrm>
            <a:off x="1549892" y="1695960"/>
            <a:ext cx="2741613" cy="428625"/>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教学目标</a:t>
            </a:r>
          </a:p>
        </p:txBody>
      </p:sp>
    </p:spTree>
    <p:extLst>
      <p:ext uri="{BB962C8B-B14F-4D97-AF65-F5344CB8AC3E}">
        <p14:creationId xmlns:p14="http://schemas.microsoft.com/office/powerpoint/2010/main" val="35740759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388D62-6711-4B1E-A226-021CEA39A0CA}"/>
              </a:ext>
            </a:extLst>
          </p:cNvPr>
          <p:cNvSpPr txBox="1"/>
          <p:nvPr/>
        </p:nvSpPr>
        <p:spPr>
          <a:xfrm>
            <a:off x="358707" y="1061694"/>
            <a:ext cx="3329716" cy="646331"/>
          </a:xfrm>
          <a:prstGeom prst="rect">
            <a:avLst/>
          </a:prstGeom>
          <a:noFill/>
        </p:spPr>
        <p:txBody>
          <a:bodyPr wrap="square" rtlCol="0">
            <a:spAutoFit/>
          </a:bodyPr>
          <a:lstStyle/>
          <a:p>
            <a:pPr algn="ctr"/>
            <a:r>
              <a:rPr lang="zh-CN" altLang="en-US" sz="3600" b="1" dirty="0">
                <a:latin typeface="Arial" panose="020B0604020202020204" pitchFamily="34" charset="0"/>
                <a:ea typeface="Microsoft YaHei" panose="020B0503020204020204" pitchFamily="34" charset="-122"/>
                <a:sym typeface="Arial" panose="020B0604020202020204" pitchFamily="34" charset="0"/>
              </a:rPr>
              <a:t>重点：</a:t>
            </a:r>
          </a:p>
        </p:txBody>
      </p:sp>
      <p:sp>
        <p:nvSpPr>
          <p:cNvPr id="4" name="标题 15">
            <a:extLst>
              <a:ext uri="{FF2B5EF4-FFF2-40B4-BE49-F238E27FC236}">
                <a16:creationId xmlns:a16="http://schemas.microsoft.com/office/drawing/2014/main" id="{94EC394A-C014-4A2F-A302-94F7A5176FE2}"/>
              </a:ext>
            </a:extLst>
          </p:cNvPr>
          <p:cNvSpPr txBox="1">
            <a:spLocks/>
          </p:cNvSpPr>
          <p:nvPr/>
        </p:nvSpPr>
        <p:spPr>
          <a:xfrm>
            <a:off x="2945343" y="1901373"/>
            <a:ext cx="7680257" cy="128175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400" dirty="0">
                <a:latin typeface="Arial" panose="020B0604020202020204" pitchFamily="34" charset="0"/>
                <a:ea typeface="Microsoft YaHei" panose="020B0503020204020204" pitchFamily="34" charset="-122"/>
                <a:sym typeface="Arial" panose="020B0604020202020204" pitchFamily="34" charset="0"/>
              </a:rPr>
              <a:t>数据模型的概念及分类；</a:t>
            </a:r>
            <a:br>
              <a:rPr lang="en-US" altLang="zh-CN" sz="2400" dirty="0">
                <a:latin typeface="Arial" panose="020B0604020202020204" pitchFamily="34" charset="0"/>
                <a:ea typeface="Microsoft YaHei" panose="020B0503020204020204" pitchFamily="34" charset="-122"/>
                <a:sym typeface="Arial" panose="020B0604020202020204" pitchFamily="34" charset="0"/>
              </a:rPr>
            </a:br>
            <a:r>
              <a:rPr lang="zh-CN" altLang="en-US" sz="2400" dirty="0">
                <a:latin typeface="Arial" panose="020B0604020202020204" pitchFamily="34" charset="0"/>
                <a:ea typeface="Microsoft YaHei" panose="020B0503020204020204" pitchFamily="34" charset="-122"/>
                <a:sym typeface="Arial" panose="020B0604020202020204" pitchFamily="34" charset="0"/>
              </a:rPr>
              <a:t>概念模型和逻辑模型。</a:t>
            </a:r>
          </a:p>
        </p:txBody>
      </p:sp>
      <p:sp>
        <p:nvSpPr>
          <p:cNvPr id="5" name="文本框 4">
            <a:extLst>
              <a:ext uri="{FF2B5EF4-FFF2-40B4-BE49-F238E27FC236}">
                <a16:creationId xmlns:a16="http://schemas.microsoft.com/office/drawing/2014/main" id="{133FED8E-1F57-46AB-A8B1-AD85A2107A3E}"/>
              </a:ext>
            </a:extLst>
          </p:cNvPr>
          <p:cNvSpPr txBox="1"/>
          <p:nvPr/>
        </p:nvSpPr>
        <p:spPr>
          <a:xfrm>
            <a:off x="358707" y="3315162"/>
            <a:ext cx="3329716" cy="646331"/>
          </a:xfrm>
          <a:prstGeom prst="rect">
            <a:avLst/>
          </a:prstGeom>
          <a:noFill/>
        </p:spPr>
        <p:txBody>
          <a:bodyPr wrap="square" rtlCol="0">
            <a:spAutoFit/>
          </a:bodyPr>
          <a:lstStyle/>
          <a:p>
            <a:pPr algn="ctr"/>
            <a:r>
              <a:rPr lang="zh-CN" altLang="en-US" sz="3600" b="1" dirty="0">
                <a:latin typeface="Arial" panose="020B0604020202020204" pitchFamily="34" charset="0"/>
                <a:ea typeface="Microsoft YaHei" panose="020B0503020204020204" pitchFamily="34" charset="-122"/>
                <a:sym typeface="Arial" panose="020B0604020202020204" pitchFamily="34" charset="0"/>
              </a:rPr>
              <a:t>难点：</a:t>
            </a:r>
          </a:p>
        </p:txBody>
      </p:sp>
      <p:sp>
        <p:nvSpPr>
          <p:cNvPr id="7" name="标题 15">
            <a:extLst>
              <a:ext uri="{FF2B5EF4-FFF2-40B4-BE49-F238E27FC236}">
                <a16:creationId xmlns:a16="http://schemas.microsoft.com/office/drawing/2014/main" id="{1D53254A-39EE-4E0F-8EE4-DC835779E21F}"/>
              </a:ext>
            </a:extLst>
          </p:cNvPr>
          <p:cNvSpPr txBox="1">
            <a:spLocks/>
          </p:cNvSpPr>
          <p:nvPr/>
        </p:nvSpPr>
        <p:spPr>
          <a:xfrm>
            <a:off x="2832088" y="4402374"/>
            <a:ext cx="7680257" cy="95637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dirty="0">
                <a:latin typeface="Arial" panose="020B0604020202020204" pitchFamily="34" charset="0"/>
                <a:ea typeface="Microsoft YaHei" panose="020B0503020204020204" pitchFamily="34" charset="-122"/>
                <a:sym typeface="Arial" panose="020B0604020202020204" pitchFamily="34" charset="0"/>
              </a:rPr>
              <a:t>层次、网状、关系模型的含义、特点和主要区别。</a:t>
            </a:r>
          </a:p>
        </p:txBody>
      </p:sp>
    </p:spTree>
    <p:extLst>
      <p:ext uri="{BB962C8B-B14F-4D97-AF65-F5344CB8AC3E}">
        <p14:creationId xmlns:p14="http://schemas.microsoft.com/office/powerpoint/2010/main" val="42864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4C428-C18B-EED7-3A75-DB89D6D7B228}"/>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D51F7C98-5722-EF94-C636-BC6CBEC72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62509"/>
            <a:ext cx="6406547" cy="2880933"/>
          </a:xfrm>
          <a:prstGeom prst="rect">
            <a:avLst/>
          </a:prstGeom>
        </p:spPr>
      </p:pic>
      <p:sp>
        <p:nvSpPr>
          <p:cNvPr id="31" name="矩形 69">
            <a:extLst>
              <a:ext uri="{FF2B5EF4-FFF2-40B4-BE49-F238E27FC236}">
                <a16:creationId xmlns:a16="http://schemas.microsoft.com/office/drawing/2014/main" id="{D92D9D60-217E-ACEC-1CFE-020D088D0214}"/>
              </a:ext>
            </a:extLst>
          </p:cNvPr>
          <p:cNvSpPr>
            <a:spLocks noChangeArrowheads="1"/>
          </p:cNvSpPr>
          <p:nvPr/>
        </p:nvSpPr>
        <p:spPr bwMode="auto">
          <a:xfrm>
            <a:off x="1809002" y="1473664"/>
            <a:ext cx="8957610" cy="152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defTabSz="1179669"/>
            <a:r>
              <a:rPr lang="en-US" altLang="zh-CN" sz="9289" b="1" dirty="0">
                <a:solidFill>
                  <a:srgbClr val="FC6E5B"/>
                </a:solidFill>
                <a:latin typeface="方正卡通简体" panose="03000509000000000000" pitchFamily="65" charset="-122"/>
                <a:ea typeface="方正卡通简体" panose="03000509000000000000" pitchFamily="65" charset="-122"/>
                <a:sym typeface="微软雅黑" pitchFamily="34" charset="-122"/>
              </a:rPr>
              <a:t>01 </a:t>
            </a:r>
            <a:r>
              <a:rPr lang="zh-CN" altLang="en-US" sz="5806" b="1" dirty="0">
                <a:solidFill>
                  <a:srgbClr val="FC6E5B"/>
                </a:solidFill>
                <a:latin typeface="方正卡通简体" panose="03000509000000000000" pitchFamily="65" charset="-122"/>
                <a:ea typeface="方正卡通简体" panose="03000509000000000000" pitchFamily="65" charset="-122"/>
                <a:sym typeface="微软雅黑" pitchFamily="34" charset="-122"/>
              </a:rPr>
              <a:t>数据模型的组成元素</a:t>
            </a:r>
            <a:endParaRPr lang="en-US" altLang="zh-CN" sz="5806" b="1" dirty="0">
              <a:solidFill>
                <a:srgbClr val="66BFBC"/>
              </a:solidFill>
              <a:latin typeface="方正卡通简体" panose="03000509000000000000" pitchFamily="65" charset="-122"/>
              <a:ea typeface="方正卡通简体" panose="03000509000000000000" pitchFamily="65" charset="-122"/>
              <a:sym typeface="微软雅黑" pitchFamily="34" charset="-122"/>
            </a:endParaRPr>
          </a:p>
        </p:txBody>
      </p:sp>
      <p:pic>
        <p:nvPicPr>
          <p:cNvPr id="33" name="图片 32">
            <a:extLst>
              <a:ext uri="{FF2B5EF4-FFF2-40B4-BE49-F238E27FC236}">
                <a16:creationId xmlns:a16="http://schemas.microsoft.com/office/drawing/2014/main" id="{AC56AFDD-6CA0-B564-84A4-F029B9A1D6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9237" y="2694581"/>
            <a:ext cx="6972173" cy="1167928"/>
          </a:xfrm>
          <a:prstGeom prst="rect">
            <a:avLst/>
          </a:prstGeom>
        </p:spPr>
      </p:pic>
    </p:spTree>
    <p:extLst>
      <p:ext uri="{BB962C8B-B14F-4D97-AF65-F5344CB8AC3E}">
        <p14:creationId xmlns:p14="http://schemas.microsoft.com/office/powerpoint/2010/main" val="153729076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6470ABD-526F-417F-8A72-8CC890685224}"/>
              </a:ext>
            </a:extLst>
          </p:cNvPr>
          <p:cNvPicPr>
            <a:picLocks noChangeAspect="1"/>
          </p:cNvPicPr>
          <p:nvPr/>
        </p:nvPicPr>
        <p:blipFill>
          <a:blip r:embed="rId3"/>
          <a:stretch>
            <a:fillRect/>
          </a:stretch>
        </p:blipFill>
        <p:spPr>
          <a:xfrm>
            <a:off x="1140479" y="1584219"/>
            <a:ext cx="5417533" cy="3314496"/>
          </a:xfrm>
          <a:prstGeom prst="rect">
            <a:avLst/>
          </a:prstGeom>
        </p:spPr>
      </p:pic>
      <p:sp>
        <p:nvSpPr>
          <p:cNvPr id="7" name="文本框 6">
            <a:extLst>
              <a:ext uri="{FF2B5EF4-FFF2-40B4-BE49-F238E27FC236}">
                <a16:creationId xmlns:a16="http://schemas.microsoft.com/office/drawing/2014/main" id="{C667680C-8A67-4A72-994E-8965F27E32D7}"/>
              </a:ext>
            </a:extLst>
          </p:cNvPr>
          <p:cNvSpPr txBox="1"/>
          <p:nvPr/>
        </p:nvSpPr>
        <p:spPr>
          <a:xfrm>
            <a:off x="6886130" y="774353"/>
            <a:ext cx="4561231" cy="5116272"/>
          </a:xfrm>
          <a:prstGeom prst="rect">
            <a:avLst/>
          </a:prstGeom>
          <a:noFill/>
        </p:spPr>
        <p:txBody>
          <a:bodyPr wrap="square">
            <a:spAutoFit/>
          </a:bodyPr>
          <a:lstStyle/>
          <a:p>
            <a:pPr>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数据模型（</a:t>
            </a:r>
            <a:r>
              <a:rPr lang="en-US" altLang="zh-CN" sz="2400" dirty="0">
                <a:solidFill>
                  <a:srgbClr val="FF0000"/>
                </a:solidFill>
                <a:latin typeface="微软雅黑" panose="020B0503020204020204" pitchFamily="34" charset="-122"/>
                <a:ea typeface="微软雅黑" panose="020B0503020204020204" pitchFamily="34" charset="-122"/>
              </a:rPr>
              <a:t>Data Model</a:t>
            </a:r>
            <a:r>
              <a:rPr lang="zh-CN" altLang="en-US" sz="2400" dirty="0">
                <a:solidFill>
                  <a:srgbClr val="FF0000"/>
                </a:solidFill>
                <a:latin typeface="微软雅黑" panose="020B0503020204020204" pitchFamily="34" charset="-122"/>
                <a:ea typeface="微软雅黑" panose="020B0503020204020204" pitchFamily="34" charset="-122"/>
              </a:rPr>
              <a:t>）</a:t>
            </a: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是对现实世界数据的模拟和抽象，用来描述数据是如何组织、存储和操作的，即描述数据与数据的关系，是数据库的组织方式。</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数据模型应满足如下三个条件： </a:t>
            </a: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能比较真实地模拟现实世界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容易为人所理解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便于在计算机上实现</a:t>
            </a:r>
            <a:endParaRPr lang="zh-CN" altLang="en-US" sz="2400"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DFB76B04-D3FE-BEAF-DF61-47DA51879BAB}"/>
              </a:ext>
            </a:extLst>
          </p:cNvPr>
          <p:cNvGrpSpPr/>
          <p:nvPr/>
        </p:nvGrpSpPr>
        <p:grpSpPr>
          <a:xfrm>
            <a:off x="943868" y="463675"/>
            <a:ext cx="5614144" cy="879946"/>
            <a:chOff x="420387" y="472101"/>
            <a:chExt cx="5614144" cy="879946"/>
          </a:xfrm>
        </p:grpSpPr>
        <p:sp>
          <p:nvSpPr>
            <p:cNvPr id="5" name="内容占位符 2">
              <a:extLst>
                <a:ext uri="{FF2B5EF4-FFF2-40B4-BE49-F238E27FC236}">
                  <a16:creationId xmlns:a16="http://schemas.microsoft.com/office/drawing/2014/main" id="{8C5FB65F-C3F7-201D-CB1F-B7B1AA99A758}"/>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数据模型</a:t>
              </a:r>
            </a:p>
          </p:txBody>
        </p:sp>
        <p:sp>
          <p:nvSpPr>
            <p:cNvPr id="6" name="KSO_Shape">
              <a:extLst>
                <a:ext uri="{FF2B5EF4-FFF2-40B4-BE49-F238E27FC236}">
                  <a16:creationId xmlns:a16="http://schemas.microsoft.com/office/drawing/2014/main" id="{0313CC3E-947F-65A3-0C6B-73C83CBAFA3D}"/>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4724715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1000"/>
                                        <p:tgtEl>
                                          <p:spTgt spid="7">
                                            <p:txEl>
                                              <p:pRg st="4" end="4"/>
                                            </p:txEl>
                                          </p:spTgt>
                                        </p:tgtEl>
                                      </p:cBhvr>
                                    </p:animEffect>
                                    <p:anim calcmode="lin" valueType="num">
                                      <p:cBhvr>
                                        <p:cTn id="14"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xEl>
                                              <p:pRg st="5" end="5"/>
                                            </p:txEl>
                                          </p:spTgt>
                                        </p:tgtEl>
                                        <p:attrNameLst>
                                          <p:attrName>style.visibility</p:attrName>
                                        </p:attrNameLst>
                                      </p:cBhvr>
                                      <p:to>
                                        <p:strVal val="visible"/>
                                      </p:to>
                                    </p:set>
                                    <p:animEffect transition="in" filter="fade">
                                      <p:cBhvr>
                                        <p:cTn id="20" dur="1000"/>
                                        <p:tgtEl>
                                          <p:spTgt spid="7">
                                            <p:txEl>
                                              <p:pRg st="5" end="5"/>
                                            </p:txEl>
                                          </p:spTgt>
                                        </p:tgtEl>
                                      </p:cBhvr>
                                    </p:animEffect>
                                    <p:anim calcmode="lin" valueType="num">
                                      <p:cBhvr>
                                        <p:cTn id="21"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2"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17856B1-95E1-43AB-8603-8FB45C8D8A22}"/>
              </a:ext>
            </a:extLst>
          </p:cNvPr>
          <p:cNvPicPr>
            <a:picLocks noChangeAspect="1"/>
          </p:cNvPicPr>
          <p:nvPr/>
        </p:nvPicPr>
        <p:blipFill>
          <a:blip r:embed="rId3"/>
          <a:stretch>
            <a:fillRect/>
          </a:stretch>
        </p:blipFill>
        <p:spPr>
          <a:xfrm>
            <a:off x="873983" y="1720937"/>
            <a:ext cx="3765164" cy="3416125"/>
          </a:xfrm>
          <a:prstGeom prst="rect">
            <a:avLst/>
          </a:prstGeom>
        </p:spPr>
      </p:pic>
      <p:grpSp>
        <p:nvGrpSpPr>
          <p:cNvPr id="3" name="组合 2">
            <a:extLst>
              <a:ext uri="{FF2B5EF4-FFF2-40B4-BE49-F238E27FC236}">
                <a16:creationId xmlns:a16="http://schemas.microsoft.com/office/drawing/2014/main" id="{A1F70065-C052-AE4A-E314-6D28BBC5156C}"/>
              </a:ext>
            </a:extLst>
          </p:cNvPr>
          <p:cNvGrpSpPr/>
          <p:nvPr/>
        </p:nvGrpSpPr>
        <p:grpSpPr>
          <a:xfrm>
            <a:off x="704900" y="515878"/>
            <a:ext cx="3799558" cy="681192"/>
            <a:chOff x="1585798" y="2897760"/>
            <a:chExt cx="4055650" cy="727105"/>
          </a:xfrm>
        </p:grpSpPr>
        <p:grpSp>
          <p:nvGrpSpPr>
            <p:cNvPr id="5" name="组合 4">
              <a:extLst>
                <a:ext uri="{FF2B5EF4-FFF2-40B4-BE49-F238E27FC236}">
                  <a16:creationId xmlns:a16="http://schemas.microsoft.com/office/drawing/2014/main" id="{391EAAC8-1C84-AFD8-4E0F-C3ADE3949838}"/>
                </a:ext>
              </a:extLst>
            </p:cNvPr>
            <p:cNvGrpSpPr/>
            <p:nvPr/>
          </p:nvGrpSpPr>
          <p:grpSpPr>
            <a:xfrm>
              <a:off x="1585798" y="2956555"/>
              <a:ext cx="4018938" cy="668310"/>
              <a:chOff x="1693863" y="2835275"/>
              <a:chExt cx="3570417" cy="593726"/>
            </a:xfrm>
          </p:grpSpPr>
          <p:sp>
            <p:nvSpPr>
              <p:cNvPr id="8" name="AutoShape 3">
                <a:extLst>
                  <a:ext uri="{FF2B5EF4-FFF2-40B4-BE49-F238E27FC236}">
                    <a16:creationId xmlns:a16="http://schemas.microsoft.com/office/drawing/2014/main" id="{35304655-F48C-4C4A-819B-FA56E5122038}"/>
                  </a:ext>
                </a:extLst>
              </p:cNvPr>
              <p:cNvSpPr>
                <a:spLocks noChangeAspect="1" noChangeArrowheads="1" noTextEdit="1"/>
              </p:cNvSpPr>
              <p:nvPr/>
            </p:nvSpPr>
            <p:spPr bwMode="auto">
              <a:xfrm>
                <a:off x="1701800" y="2835275"/>
                <a:ext cx="3505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9" name="Freeform 5">
                <a:extLst>
                  <a:ext uri="{FF2B5EF4-FFF2-40B4-BE49-F238E27FC236}">
                    <a16:creationId xmlns:a16="http://schemas.microsoft.com/office/drawing/2014/main" id="{4B8FD488-6FB2-8070-2B9C-CA1B37B8379A}"/>
                  </a:ext>
                </a:extLst>
              </p:cNvPr>
              <p:cNvSpPr>
                <a:spLocks noEditPoints="1"/>
              </p:cNvSpPr>
              <p:nvPr/>
            </p:nvSpPr>
            <p:spPr bwMode="auto">
              <a:xfrm>
                <a:off x="1854200" y="3001963"/>
                <a:ext cx="249238" cy="260350"/>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0" name="Freeform 6">
                <a:extLst>
                  <a:ext uri="{FF2B5EF4-FFF2-40B4-BE49-F238E27FC236}">
                    <a16:creationId xmlns:a16="http://schemas.microsoft.com/office/drawing/2014/main" id="{BD4838C0-C73A-3517-B067-448CD213C1D4}"/>
                  </a:ext>
                </a:extLst>
              </p:cNvPr>
              <p:cNvSpPr>
                <a:spLocks noEditPoints="1"/>
              </p:cNvSpPr>
              <p:nvPr/>
            </p:nvSpPr>
            <p:spPr bwMode="auto">
              <a:xfrm>
                <a:off x="1693863" y="2835276"/>
                <a:ext cx="3570417" cy="593725"/>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grpSp>
        <p:sp>
          <p:nvSpPr>
            <p:cNvPr id="6" name="矩形 5">
              <a:extLst>
                <a:ext uri="{FF2B5EF4-FFF2-40B4-BE49-F238E27FC236}">
                  <a16:creationId xmlns:a16="http://schemas.microsoft.com/office/drawing/2014/main" id="{4B2967A5-DBF5-59D3-C9C7-BA024233A955}"/>
                </a:ext>
              </a:extLst>
            </p:cNvPr>
            <p:cNvSpPr/>
            <p:nvPr/>
          </p:nvSpPr>
          <p:spPr>
            <a:xfrm>
              <a:off x="2255523" y="2897760"/>
              <a:ext cx="3385925" cy="620017"/>
            </a:xfrm>
            <a:prstGeom prst="rect">
              <a:avLst/>
            </a:prstGeom>
          </p:spPr>
          <p:txBody>
            <a:bodyPr wrap="square" anchor="b">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数据模型的组成要素</a:t>
              </a:r>
            </a:p>
          </p:txBody>
        </p:sp>
      </p:grpSp>
      <p:sp>
        <p:nvSpPr>
          <p:cNvPr id="11" name="矩形 10">
            <a:extLst>
              <a:ext uri="{FF2B5EF4-FFF2-40B4-BE49-F238E27FC236}">
                <a16:creationId xmlns:a16="http://schemas.microsoft.com/office/drawing/2014/main" id="{72BAC963-3E7F-50EA-93D0-6BDDCD1B4D3F}"/>
              </a:ext>
            </a:extLst>
          </p:cNvPr>
          <p:cNvSpPr/>
          <p:nvPr/>
        </p:nvSpPr>
        <p:spPr>
          <a:xfrm>
            <a:off x="4872846" y="1439478"/>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）数据结构</a:t>
            </a:r>
          </a:p>
        </p:txBody>
      </p:sp>
      <p:sp>
        <p:nvSpPr>
          <p:cNvPr id="12" name="矩形 11">
            <a:extLst>
              <a:ext uri="{FF2B5EF4-FFF2-40B4-BE49-F238E27FC236}">
                <a16:creationId xmlns:a16="http://schemas.microsoft.com/office/drawing/2014/main" id="{FB005FFA-C2A5-5495-D32F-A97103B8EFDA}"/>
              </a:ext>
            </a:extLst>
          </p:cNvPr>
          <p:cNvSpPr/>
          <p:nvPr/>
        </p:nvSpPr>
        <p:spPr>
          <a:xfrm>
            <a:off x="4958571" y="1943080"/>
            <a:ext cx="6359446" cy="1485920"/>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即数据组织的结构，用于描述系统的静态特征，描述数据库的组成对象以及对象间的联系。</a:t>
            </a:r>
            <a:endPar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即：</a:t>
            </a:r>
          </a:p>
        </p:txBody>
      </p:sp>
      <p:grpSp>
        <p:nvGrpSpPr>
          <p:cNvPr id="13" name="组合 12">
            <a:extLst>
              <a:ext uri="{FF2B5EF4-FFF2-40B4-BE49-F238E27FC236}">
                <a16:creationId xmlns:a16="http://schemas.microsoft.com/office/drawing/2014/main" id="{8D7CDA0F-FFDF-1044-7813-3AEE746E895D}"/>
              </a:ext>
            </a:extLst>
          </p:cNvPr>
          <p:cNvGrpSpPr/>
          <p:nvPr/>
        </p:nvGrpSpPr>
        <p:grpSpPr>
          <a:xfrm>
            <a:off x="4999491" y="3668543"/>
            <a:ext cx="6147076" cy="914293"/>
            <a:chOff x="1501313" y="2855481"/>
            <a:chExt cx="4881573" cy="914293"/>
          </a:xfrm>
        </p:grpSpPr>
        <p:sp>
          <p:nvSpPr>
            <p:cNvPr id="14" name="矩形: 圆角 13">
              <a:extLst>
                <a:ext uri="{FF2B5EF4-FFF2-40B4-BE49-F238E27FC236}">
                  <a16:creationId xmlns:a16="http://schemas.microsoft.com/office/drawing/2014/main" id="{FD0C57FE-C4CD-EB3D-37E7-A9747B2A9F7D}"/>
                </a:ext>
              </a:extLst>
            </p:cNvPr>
            <p:cNvSpPr/>
            <p:nvPr/>
          </p:nvSpPr>
          <p:spPr>
            <a:xfrm>
              <a:off x="1501313" y="2855481"/>
              <a:ext cx="4881571"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5" name="矩形 14">
              <a:extLst>
                <a:ext uri="{FF2B5EF4-FFF2-40B4-BE49-F238E27FC236}">
                  <a16:creationId xmlns:a16="http://schemas.microsoft.com/office/drawing/2014/main" id="{455D9E01-567D-A3FC-261A-18CB30B01107}"/>
                </a:ext>
              </a:extLst>
            </p:cNvPr>
            <p:cNvSpPr/>
            <p:nvPr/>
          </p:nvSpPr>
          <p:spPr>
            <a:xfrm>
              <a:off x="1501314" y="2938777"/>
              <a:ext cx="4881572" cy="83099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  一是描述数据对象的类型、内容、性质等；</a:t>
              </a:r>
            </a:p>
          </p:txBody>
        </p:sp>
      </p:grpSp>
      <p:grpSp>
        <p:nvGrpSpPr>
          <p:cNvPr id="16" name="组合 15">
            <a:extLst>
              <a:ext uri="{FF2B5EF4-FFF2-40B4-BE49-F238E27FC236}">
                <a16:creationId xmlns:a16="http://schemas.microsoft.com/office/drawing/2014/main" id="{00EB7C66-E4D6-A901-0400-704106AC6B29}"/>
              </a:ext>
            </a:extLst>
          </p:cNvPr>
          <p:cNvGrpSpPr/>
          <p:nvPr/>
        </p:nvGrpSpPr>
        <p:grpSpPr>
          <a:xfrm>
            <a:off x="5011426" y="4522795"/>
            <a:ext cx="6133240" cy="590550"/>
            <a:chOff x="1501314" y="2846054"/>
            <a:chExt cx="4743450" cy="590550"/>
          </a:xfrm>
        </p:grpSpPr>
        <p:sp>
          <p:nvSpPr>
            <p:cNvPr id="17" name="矩形: 圆角 16">
              <a:extLst>
                <a:ext uri="{FF2B5EF4-FFF2-40B4-BE49-F238E27FC236}">
                  <a16:creationId xmlns:a16="http://schemas.microsoft.com/office/drawing/2014/main" id="{5B05083F-3750-5C32-DC73-875238F27A64}"/>
                </a:ext>
              </a:extLst>
            </p:cNvPr>
            <p:cNvSpPr/>
            <p:nvPr/>
          </p:nvSpPr>
          <p:spPr>
            <a:xfrm>
              <a:off x="1501314" y="2846054"/>
              <a:ext cx="4743450" cy="590550"/>
            </a:xfrm>
            <a:prstGeom prst="roundRect">
              <a:avLst/>
            </a:prstGeom>
            <a:solidFill>
              <a:schemeClr val="bg1">
                <a:alpha val="73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8" name="矩形 17">
              <a:extLst>
                <a:ext uri="{FF2B5EF4-FFF2-40B4-BE49-F238E27FC236}">
                  <a16:creationId xmlns:a16="http://schemas.microsoft.com/office/drawing/2014/main" id="{1853A20B-0730-4F94-8B2D-DC23437F73B8}"/>
                </a:ext>
              </a:extLst>
            </p:cNvPr>
            <p:cNvSpPr/>
            <p:nvPr/>
          </p:nvSpPr>
          <p:spPr>
            <a:xfrm>
              <a:off x="1501314" y="2938777"/>
              <a:ext cx="474345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二是描述数据对象间的联系。</a:t>
              </a:r>
            </a:p>
          </p:txBody>
        </p:sp>
      </p:grpSp>
    </p:spTree>
    <p:extLst>
      <p:ext uri="{BB962C8B-B14F-4D97-AF65-F5344CB8AC3E}">
        <p14:creationId xmlns:p14="http://schemas.microsoft.com/office/powerpoint/2010/main" val="20466390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anim calcmode="lin" valueType="num">
                                      <p:cBhvr>
                                        <p:cTn id="17" dur="1000" fill="hold"/>
                                        <p:tgtEl>
                                          <p:spTgt spid="13"/>
                                        </p:tgtEl>
                                        <p:attrNameLst>
                                          <p:attrName>ppt_x</p:attrName>
                                        </p:attrNameLst>
                                      </p:cBhvr>
                                      <p:tavLst>
                                        <p:tav tm="0">
                                          <p:val>
                                            <p:strVal val="#ppt_x"/>
                                          </p:val>
                                        </p:tav>
                                        <p:tav tm="100000">
                                          <p:val>
                                            <p:strVal val="#ppt_x"/>
                                          </p:val>
                                        </p:tav>
                                      </p:tavLst>
                                    </p:anim>
                                    <p:anim calcmode="lin" valueType="num">
                                      <p:cBhvr>
                                        <p:cTn id="1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78281-314C-FF89-EF18-DD0DF621D6BE}"/>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7ED77481-AFAF-B490-5542-43E9504C4120}"/>
              </a:ext>
            </a:extLst>
          </p:cNvPr>
          <p:cNvPicPr>
            <a:picLocks noChangeAspect="1"/>
          </p:cNvPicPr>
          <p:nvPr/>
        </p:nvPicPr>
        <p:blipFill>
          <a:blip r:embed="rId3"/>
          <a:stretch>
            <a:fillRect/>
          </a:stretch>
        </p:blipFill>
        <p:spPr>
          <a:xfrm>
            <a:off x="873983" y="1720937"/>
            <a:ext cx="3765164" cy="3416125"/>
          </a:xfrm>
          <a:prstGeom prst="rect">
            <a:avLst/>
          </a:prstGeom>
        </p:spPr>
      </p:pic>
      <p:grpSp>
        <p:nvGrpSpPr>
          <p:cNvPr id="3" name="组合 2">
            <a:extLst>
              <a:ext uri="{FF2B5EF4-FFF2-40B4-BE49-F238E27FC236}">
                <a16:creationId xmlns:a16="http://schemas.microsoft.com/office/drawing/2014/main" id="{40FE8DA7-EDC9-E473-AD5B-F489084A61C7}"/>
              </a:ext>
            </a:extLst>
          </p:cNvPr>
          <p:cNvGrpSpPr/>
          <p:nvPr/>
        </p:nvGrpSpPr>
        <p:grpSpPr>
          <a:xfrm>
            <a:off x="704900" y="515878"/>
            <a:ext cx="3799558" cy="681192"/>
            <a:chOff x="1585798" y="2897760"/>
            <a:chExt cx="4055650" cy="727105"/>
          </a:xfrm>
        </p:grpSpPr>
        <p:grpSp>
          <p:nvGrpSpPr>
            <p:cNvPr id="5" name="组合 4">
              <a:extLst>
                <a:ext uri="{FF2B5EF4-FFF2-40B4-BE49-F238E27FC236}">
                  <a16:creationId xmlns:a16="http://schemas.microsoft.com/office/drawing/2014/main" id="{6C9A9CB7-00C8-2CFF-8F1A-1C778E5705DF}"/>
                </a:ext>
              </a:extLst>
            </p:cNvPr>
            <p:cNvGrpSpPr/>
            <p:nvPr/>
          </p:nvGrpSpPr>
          <p:grpSpPr>
            <a:xfrm>
              <a:off x="1585798" y="2956555"/>
              <a:ext cx="4018938" cy="668310"/>
              <a:chOff x="1693863" y="2835275"/>
              <a:chExt cx="3570417" cy="593726"/>
            </a:xfrm>
          </p:grpSpPr>
          <p:sp>
            <p:nvSpPr>
              <p:cNvPr id="8" name="AutoShape 3">
                <a:extLst>
                  <a:ext uri="{FF2B5EF4-FFF2-40B4-BE49-F238E27FC236}">
                    <a16:creationId xmlns:a16="http://schemas.microsoft.com/office/drawing/2014/main" id="{ADCF1B9A-BAF2-C948-8047-E613362D7CBC}"/>
                  </a:ext>
                </a:extLst>
              </p:cNvPr>
              <p:cNvSpPr>
                <a:spLocks noChangeAspect="1" noChangeArrowheads="1" noTextEdit="1"/>
              </p:cNvSpPr>
              <p:nvPr/>
            </p:nvSpPr>
            <p:spPr bwMode="auto">
              <a:xfrm>
                <a:off x="1701800" y="2835275"/>
                <a:ext cx="3505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9" name="Freeform 5">
                <a:extLst>
                  <a:ext uri="{FF2B5EF4-FFF2-40B4-BE49-F238E27FC236}">
                    <a16:creationId xmlns:a16="http://schemas.microsoft.com/office/drawing/2014/main" id="{8DEFE5F1-58C4-8768-7DE8-7AAFEC31B0E8}"/>
                  </a:ext>
                </a:extLst>
              </p:cNvPr>
              <p:cNvSpPr>
                <a:spLocks noEditPoints="1"/>
              </p:cNvSpPr>
              <p:nvPr/>
            </p:nvSpPr>
            <p:spPr bwMode="auto">
              <a:xfrm>
                <a:off x="1854200" y="3001963"/>
                <a:ext cx="249238" cy="260350"/>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0" name="Freeform 6">
                <a:extLst>
                  <a:ext uri="{FF2B5EF4-FFF2-40B4-BE49-F238E27FC236}">
                    <a16:creationId xmlns:a16="http://schemas.microsoft.com/office/drawing/2014/main" id="{77175D6E-F4CA-ECC8-0BD2-C2BF5052DC5D}"/>
                  </a:ext>
                </a:extLst>
              </p:cNvPr>
              <p:cNvSpPr>
                <a:spLocks noEditPoints="1"/>
              </p:cNvSpPr>
              <p:nvPr/>
            </p:nvSpPr>
            <p:spPr bwMode="auto">
              <a:xfrm>
                <a:off x="1693863" y="2835276"/>
                <a:ext cx="3570417" cy="593725"/>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grpSp>
        <p:sp>
          <p:nvSpPr>
            <p:cNvPr id="6" name="矩形 5">
              <a:extLst>
                <a:ext uri="{FF2B5EF4-FFF2-40B4-BE49-F238E27FC236}">
                  <a16:creationId xmlns:a16="http://schemas.microsoft.com/office/drawing/2014/main" id="{93DC1141-C10E-3D86-FA55-46BF80E5B680}"/>
                </a:ext>
              </a:extLst>
            </p:cNvPr>
            <p:cNvSpPr/>
            <p:nvPr/>
          </p:nvSpPr>
          <p:spPr>
            <a:xfrm>
              <a:off x="2255523" y="2897760"/>
              <a:ext cx="3385925" cy="620017"/>
            </a:xfrm>
            <a:prstGeom prst="rect">
              <a:avLst/>
            </a:prstGeom>
          </p:spPr>
          <p:txBody>
            <a:bodyPr wrap="square" anchor="b">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数据模型的组成要素</a:t>
              </a:r>
            </a:p>
          </p:txBody>
        </p:sp>
      </p:grpSp>
      <p:sp>
        <p:nvSpPr>
          <p:cNvPr id="2" name="矩形 1">
            <a:extLst>
              <a:ext uri="{FF2B5EF4-FFF2-40B4-BE49-F238E27FC236}">
                <a16:creationId xmlns:a16="http://schemas.microsoft.com/office/drawing/2014/main" id="{8CB0EF0D-DB2B-8FB9-8812-D6A873C8DF27}"/>
              </a:ext>
            </a:extLst>
          </p:cNvPr>
          <p:cNvSpPr/>
          <p:nvPr/>
        </p:nvSpPr>
        <p:spPr>
          <a:xfrm>
            <a:off x="5457916" y="1720937"/>
            <a:ext cx="474345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常用的数据结构有：</a:t>
            </a:r>
          </a:p>
        </p:txBody>
      </p:sp>
      <p:grpSp>
        <p:nvGrpSpPr>
          <p:cNvPr id="7" name="组合 6">
            <a:extLst>
              <a:ext uri="{FF2B5EF4-FFF2-40B4-BE49-F238E27FC236}">
                <a16:creationId xmlns:a16="http://schemas.microsoft.com/office/drawing/2014/main" id="{D2588E81-E9F6-2A6C-D1DA-F03A25E274AD}"/>
              </a:ext>
            </a:extLst>
          </p:cNvPr>
          <p:cNvGrpSpPr/>
          <p:nvPr/>
        </p:nvGrpSpPr>
        <p:grpSpPr>
          <a:xfrm>
            <a:off x="5041473" y="2568374"/>
            <a:ext cx="5576338" cy="590550"/>
            <a:chOff x="1501313" y="2855481"/>
            <a:chExt cx="4743451" cy="590550"/>
          </a:xfrm>
        </p:grpSpPr>
        <p:sp>
          <p:nvSpPr>
            <p:cNvPr id="19" name="矩形: 圆角 18">
              <a:extLst>
                <a:ext uri="{FF2B5EF4-FFF2-40B4-BE49-F238E27FC236}">
                  <a16:creationId xmlns:a16="http://schemas.microsoft.com/office/drawing/2014/main" id="{9A0F6CEC-0B6D-846D-8D6E-0B36282BEF50}"/>
                </a:ext>
              </a:extLst>
            </p:cNvPr>
            <p:cNvSpPr/>
            <p:nvPr/>
          </p:nvSpPr>
          <p:spPr>
            <a:xfrm>
              <a:off x="1501314" y="2855481"/>
              <a:ext cx="4743450"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0" name="矩形 19">
              <a:extLst>
                <a:ext uri="{FF2B5EF4-FFF2-40B4-BE49-F238E27FC236}">
                  <a16:creationId xmlns:a16="http://schemas.microsoft.com/office/drawing/2014/main" id="{A170FB41-2218-C653-3A61-5945BA3BE6A3}"/>
                </a:ext>
              </a:extLst>
            </p:cNvPr>
            <p:cNvSpPr/>
            <p:nvPr/>
          </p:nvSpPr>
          <p:spPr>
            <a:xfrm>
              <a:off x="1501313" y="2919923"/>
              <a:ext cx="4743451"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层次结构</a:t>
              </a:r>
              <a:r>
                <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层次模型</a:t>
              </a:r>
              <a:r>
                <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层次数据库</a:t>
              </a:r>
            </a:p>
          </p:txBody>
        </p:sp>
      </p:grpSp>
      <p:grpSp>
        <p:nvGrpSpPr>
          <p:cNvPr id="21" name="组合 20">
            <a:extLst>
              <a:ext uri="{FF2B5EF4-FFF2-40B4-BE49-F238E27FC236}">
                <a16:creationId xmlns:a16="http://schemas.microsoft.com/office/drawing/2014/main" id="{98E38340-D94B-2104-26C6-761F350B7EB2}"/>
              </a:ext>
            </a:extLst>
          </p:cNvPr>
          <p:cNvGrpSpPr/>
          <p:nvPr/>
        </p:nvGrpSpPr>
        <p:grpSpPr>
          <a:xfrm>
            <a:off x="5041473" y="3482442"/>
            <a:ext cx="5576338" cy="590550"/>
            <a:chOff x="1501313" y="2855481"/>
            <a:chExt cx="4743451" cy="590550"/>
          </a:xfrm>
        </p:grpSpPr>
        <p:sp>
          <p:nvSpPr>
            <p:cNvPr id="22" name="矩形: 圆角 21">
              <a:extLst>
                <a:ext uri="{FF2B5EF4-FFF2-40B4-BE49-F238E27FC236}">
                  <a16:creationId xmlns:a16="http://schemas.microsoft.com/office/drawing/2014/main" id="{41B66C10-7D1B-5B74-A19E-2421A7CE902A}"/>
                </a:ext>
              </a:extLst>
            </p:cNvPr>
            <p:cNvSpPr/>
            <p:nvPr/>
          </p:nvSpPr>
          <p:spPr>
            <a:xfrm>
              <a:off x="1501314" y="2855481"/>
              <a:ext cx="4743450" cy="590550"/>
            </a:xfrm>
            <a:prstGeom prst="roundRect">
              <a:avLst/>
            </a:prstGeom>
            <a:solidFill>
              <a:schemeClr val="bg1">
                <a:alpha val="73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3" name="矩形 22">
              <a:extLst>
                <a:ext uri="{FF2B5EF4-FFF2-40B4-BE49-F238E27FC236}">
                  <a16:creationId xmlns:a16="http://schemas.microsoft.com/office/drawing/2014/main" id="{10803A03-AD03-6055-2E35-F6FBE64FEF0B}"/>
                </a:ext>
              </a:extLst>
            </p:cNvPr>
            <p:cNvSpPr/>
            <p:nvPr/>
          </p:nvSpPr>
          <p:spPr>
            <a:xfrm>
              <a:off x="1501313" y="2919923"/>
              <a:ext cx="474345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网状结构</a:t>
              </a:r>
              <a:r>
                <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a:t>
              </a:r>
              <a:r>
                <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网状数据库</a:t>
              </a:r>
            </a:p>
          </p:txBody>
        </p:sp>
      </p:grpSp>
      <p:grpSp>
        <p:nvGrpSpPr>
          <p:cNvPr id="24" name="组合 23">
            <a:extLst>
              <a:ext uri="{FF2B5EF4-FFF2-40B4-BE49-F238E27FC236}">
                <a16:creationId xmlns:a16="http://schemas.microsoft.com/office/drawing/2014/main" id="{A35EF22B-3EE9-72E0-776D-903312554EC5}"/>
              </a:ext>
            </a:extLst>
          </p:cNvPr>
          <p:cNvGrpSpPr/>
          <p:nvPr/>
        </p:nvGrpSpPr>
        <p:grpSpPr>
          <a:xfrm>
            <a:off x="5041473" y="4396510"/>
            <a:ext cx="5576338" cy="590550"/>
            <a:chOff x="1501313" y="2855481"/>
            <a:chExt cx="4743451" cy="590550"/>
          </a:xfrm>
        </p:grpSpPr>
        <p:sp>
          <p:nvSpPr>
            <p:cNvPr id="25" name="矩形: 圆角 24">
              <a:extLst>
                <a:ext uri="{FF2B5EF4-FFF2-40B4-BE49-F238E27FC236}">
                  <a16:creationId xmlns:a16="http://schemas.microsoft.com/office/drawing/2014/main" id="{3A5D9C7F-F4BF-C166-6241-2006061DA01A}"/>
                </a:ext>
              </a:extLst>
            </p:cNvPr>
            <p:cNvSpPr/>
            <p:nvPr/>
          </p:nvSpPr>
          <p:spPr>
            <a:xfrm>
              <a:off x="1501314" y="2855481"/>
              <a:ext cx="4743450" cy="590550"/>
            </a:xfrm>
            <a:prstGeom prst="roundRect">
              <a:avLst/>
            </a:prstGeom>
            <a:solidFill>
              <a:schemeClr val="bg1">
                <a:alpha val="73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6" name="矩形 25">
              <a:extLst>
                <a:ext uri="{FF2B5EF4-FFF2-40B4-BE49-F238E27FC236}">
                  <a16:creationId xmlns:a16="http://schemas.microsoft.com/office/drawing/2014/main" id="{DF3F2462-A37F-F5F8-1321-B9F5E761BCA4}"/>
                </a:ext>
              </a:extLst>
            </p:cNvPr>
            <p:cNvSpPr/>
            <p:nvPr/>
          </p:nvSpPr>
          <p:spPr>
            <a:xfrm>
              <a:off x="1501313" y="2919923"/>
              <a:ext cx="474345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关系结构</a:t>
              </a:r>
              <a:r>
                <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关系模型</a:t>
              </a:r>
              <a:r>
                <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关系数据库</a:t>
              </a:r>
            </a:p>
          </p:txBody>
        </p:sp>
      </p:grpSp>
    </p:spTree>
    <p:extLst>
      <p:ext uri="{BB962C8B-B14F-4D97-AF65-F5344CB8AC3E}">
        <p14:creationId xmlns:p14="http://schemas.microsoft.com/office/powerpoint/2010/main" val="29254952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E44B59E3-54E6-11A9-DCCD-505A02503114}"/>
              </a:ext>
            </a:extLst>
          </p:cNvPr>
          <p:cNvSpPr>
            <a:spLocks noChangeAspect="1" noChangeArrowheads="1" noTextEdit="1"/>
          </p:cNvSpPr>
          <p:nvPr/>
        </p:nvSpPr>
        <p:spPr bwMode="auto">
          <a:xfrm>
            <a:off x="1246425" y="1606639"/>
            <a:ext cx="5392793" cy="89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Freeform 5">
            <a:extLst>
              <a:ext uri="{FF2B5EF4-FFF2-40B4-BE49-F238E27FC236}">
                <a16:creationId xmlns:a16="http://schemas.microsoft.com/office/drawing/2014/main" id="{9E2BEFE3-B2F6-DDF8-9758-002EC3D17129}"/>
              </a:ext>
            </a:extLst>
          </p:cNvPr>
          <p:cNvSpPr>
            <a:spLocks noEditPoints="1"/>
          </p:cNvSpPr>
          <p:nvPr/>
        </p:nvSpPr>
        <p:spPr bwMode="auto">
          <a:xfrm>
            <a:off x="1570638" y="1744660"/>
            <a:ext cx="349100" cy="364663"/>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Freeform 6">
            <a:extLst>
              <a:ext uri="{FF2B5EF4-FFF2-40B4-BE49-F238E27FC236}">
                <a16:creationId xmlns:a16="http://schemas.microsoft.com/office/drawing/2014/main" id="{AB4632B8-DA9D-EA7D-7836-5EAE304A6E40}"/>
              </a:ext>
            </a:extLst>
          </p:cNvPr>
          <p:cNvSpPr>
            <a:spLocks noEditPoints="1"/>
          </p:cNvSpPr>
          <p:nvPr/>
        </p:nvSpPr>
        <p:spPr bwMode="auto">
          <a:xfrm>
            <a:off x="1431767" y="1604850"/>
            <a:ext cx="3659998" cy="643383"/>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 name="矩形 4">
            <a:extLst>
              <a:ext uri="{FF2B5EF4-FFF2-40B4-BE49-F238E27FC236}">
                <a16:creationId xmlns:a16="http://schemas.microsoft.com/office/drawing/2014/main" id="{B52FB81D-B9E0-B352-4755-BE1132D06C4A}"/>
              </a:ext>
            </a:extLst>
          </p:cNvPr>
          <p:cNvSpPr/>
          <p:nvPr/>
        </p:nvSpPr>
        <p:spPr>
          <a:xfrm>
            <a:off x="2860180" y="1626372"/>
            <a:ext cx="1348021" cy="499432"/>
          </a:xfrm>
          <a:prstGeom prst="rect">
            <a:avLst/>
          </a:prstGeom>
        </p:spPr>
        <p:txBody>
          <a:bodyPr wrap="square">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lang="zh-CN" altLang="en-US" sz="2000" b="1" dirty="0">
                <a:solidFill>
                  <a:prstClr val="white"/>
                </a:solidFill>
                <a:effectLst>
                  <a:outerShdw blurRad="38100" dist="38100" dir="2700000" algn="tl">
                    <a:srgbClr val="000000">
                      <a:alpha val="43137"/>
                    </a:srgbClr>
                  </a:outerShdw>
                </a:effectLst>
                <a:latin typeface="Times New Roman"/>
                <a:ea typeface="微软雅黑"/>
              </a:rPr>
              <a:t>想一想</a:t>
            </a:r>
            <a:endParaRPr kumimoji="0" lang="zh-CN" alt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endParaRPr>
          </a:p>
        </p:txBody>
      </p:sp>
      <p:grpSp>
        <p:nvGrpSpPr>
          <p:cNvPr id="6" name="组合 5">
            <a:extLst>
              <a:ext uri="{FF2B5EF4-FFF2-40B4-BE49-F238E27FC236}">
                <a16:creationId xmlns:a16="http://schemas.microsoft.com/office/drawing/2014/main" id="{6B20AD08-CEFA-EBD9-2EBD-BE3DE977CA18}"/>
              </a:ext>
            </a:extLst>
          </p:cNvPr>
          <p:cNvGrpSpPr/>
          <p:nvPr/>
        </p:nvGrpSpPr>
        <p:grpSpPr>
          <a:xfrm>
            <a:off x="1103648" y="527201"/>
            <a:ext cx="5614144" cy="879946"/>
            <a:chOff x="420387" y="472101"/>
            <a:chExt cx="5614144" cy="879946"/>
          </a:xfrm>
        </p:grpSpPr>
        <p:sp>
          <p:nvSpPr>
            <p:cNvPr id="7" name="内容占位符 2">
              <a:extLst>
                <a:ext uri="{FF2B5EF4-FFF2-40B4-BE49-F238E27FC236}">
                  <a16:creationId xmlns:a16="http://schemas.microsoft.com/office/drawing/2014/main" id="{37505229-445B-ED53-C8FC-CFD7D03E993D}"/>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数据模型 </a:t>
              </a:r>
            </a:p>
          </p:txBody>
        </p:sp>
        <p:sp>
          <p:nvSpPr>
            <p:cNvPr id="8" name="KSO_Shape">
              <a:extLst>
                <a:ext uri="{FF2B5EF4-FFF2-40B4-BE49-F238E27FC236}">
                  <a16:creationId xmlns:a16="http://schemas.microsoft.com/office/drawing/2014/main" id="{64B01CA3-CCB1-E42B-970F-03A03D27CF8E}"/>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 name="矩形 8">
            <a:extLst>
              <a:ext uri="{FF2B5EF4-FFF2-40B4-BE49-F238E27FC236}">
                <a16:creationId xmlns:a16="http://schemas.microsoft.com/office/drawing/2014/main" id="{46966416-D29D-9054-DA7D-B94A50E8F2C4}"/>
              </a:ext>
            </a:extLst>
          </p:cNvPr>
          <p:cNvSpPr/>
          <p:nvPr/>
        </p:nvSpPr>
        <p:spPr>
          <a:xfrm>
            <a:off x="1571096" y="2501526"/>
            <a:ext cx="963271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常见的</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MySQL</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O</a:t>
            </a:r>
            <a:r>
              <a:rPr lang="en-US" altLang="zh-CN" sz="2400" b="1" dirty="0">
                <a:solidFill>
                  <a:prstClr val="black">
                    <a:lumMod val="85000"/>
                    <a:lumOff val="15000"/>
                  </a:prstClr>
                </a:solidFill>
                <a:latin typeface="微软雅黑"/>
                <a:ea typeface="微软雅黑"/>
              </a:rPr>
              <a:t>r</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acle</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SQL Sever</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数据库是哪一种数据结构模型？</a:t>
            </a:r>
          </a:p>
        </p:txBody>
      </p:sp>
      <p:sp>
        <p:nvSpPr>
          <p:cNvPr id="11" name="文本框 10">
            <a:extLst>
              <a:ext uri="{FF2B5EF4-FFF2-40B4-BE49-F238E27FC236}">
                <a16:creationId xmlns:a16="http://schemas.microsoft.com/office/drawing/2014/main" id="{333F6792-185E-655F-92AF-FE33E926E8A2}"/>
              </a:ext>
            </a:extLst>
          </p:cNvPr>
          <p:cNvSpPr txBox="1"/>
          <p:nvPr/>
        </p:nvSpPr>
        <p:spPr>
          <a:xfrm>
            <a:off x="2491745" y="3493303"/>
            <a:ext cx="7551018" cy="461665"/>
          </a:xfrm>
          <a:prstGeom prst="rect">
            <a:avLst/>
          </a:prstGeom>
          <a:noFill/>
        </p:spPr>
        <p:txBody>
          <a:bodyPr wrap="square">
            <a:spAutoFit/>
          </a:bodyPr>
          <a:lstStyle/>
          <a:p>
            <a:r>
              <a:rPr lang="zh-CN" altLang="en-US" sz="2400" dirty="0">
                <a:solidFill>
                  <a:srgbClr val="FF0000"/>
                </a:solidFill>
              </a:rPr>
              <a:t>答：</a:t>
            </a:r>
            <a:r>
              <a:rPr lang="zh-CN" altLang="zh-CN" sz="2400" dirty="0">
                <a:solidFill>
                  <a:srgbClr val="FF0000"/>
                </a:solidFill>
              </a:rPr>
              <a:t>都属于</a:t>
            </a:r>
            <a:r>
              <a:rPr lang="zh-CN" altLang="zh-CN" sz="2400" b="1" dirty="0">
                <a:solidFill>
                  <a:srgbClr val="FF0000"/>
                </a:solidFill>
              </a:rPr>
              <a:t>关系模型</a:t>
            </a:r>
            <a:r>
              <a:rPr lang="zh-CN" altLang="zh-CN" sz="2400" dirty="0">
                <a:solidFill>
                  <a:srgbClr val="FF0000"/>
                </a:solidFill>
              </a:rPr>
              <a:t>，采用</a:t>
            </a:r>
            <a:r>
              <a:rPr lang="zh-CN" altLang="zh-CN" sz="2400" b="1" dirty="0">
                <a:solidFill>
                  <a:srgbClr val="FF0000"/>
                </a:solidFill>
              </a:rPr>
              <a:t>二维表（关系）</a:t>
            </a:r>
            <a:r>
              <a:rPr lang="zh-CN" altLang="zh-CN" sz="2400" dirty="0">
                <a:solidFill>
                  <a:srgbClr val="FF0000"/>
                </a:solidFill>
              </a:rPr>
              <a:t>的数据结构。</a:t>
            </a:r>
            <a:endParaRPr lang="zh-CN" altLang="en-US" sz="2400" dirty="0">
              <a:solidFill>
                <a:srgbClr val="FF0000"/>
              </a:solidFill>
            </a:endParaRPr>
          </a:p>
        </p:txBody>
      </p:sp>
    </p:spTree>
    <p:extLst>
      <p:ext uri="{BB962C8B-B14F-4D97-AF65-F5344CB8AC3E}">
        <p14:creationId xmlns:p14="http://schemas.microsoft.com/office/powerpoint/2010/main" val="36514384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14B1B-3CF7-23C2-0EC0-FE7F79D07B20}"/>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7E62BBBA-0DEC-D546-FD68-38A5E810F902}"/>
              </a:ext>
            </a:extLst>
          </p:cNvPr>
          <p:cNvPicPr>
            <a:picLocks noChangeAspect="1"/>
          </p:cNvPicPr>
          <p:nvPr/>
        </p:nvPicPr>
        <p:blipFill>
          <a:blip r:embed="rId3"/>
          <a:stretch>
            <a:fillRect/>
          </a:stretch>
        </p:blipFill>
        <p:spPr>
          <a:xfrm>
            <a:off x="873983" y="1720937"/>
            <a:ext cx="3765164" cy="3416125"/>
          </a:xfrm>
          <a:prstGeom prst="rect">
            <a:avLst/>
          </a:prstGeom>
        </p:spPr>
      </p:pic>
      <p:grpSp>
        <p:nvGrpSpPr>
          <p:cNvPr id="3" name="组合 2">
            <a:extLst>
              <a:ext uri="{FF2B5EF4-FFF2-40B4-BE49-F238E27FC236}">
                <a16:creationId xmlns:a16="http://schemas.microsoft.com/office/drawing/2014/main" id="{BA7F7F0C-FD6E-5EBA-09FE-993D4658AD3A}"/>
              </a:ext>
            </a:extLst>
          </p:cNvPr>
          <p:cNvGrpSpPr/>
          <p:nvPr/>
        </p:nvGrpSpPr>
        <p:grpSpPr>
          <a:xfrm>
            <a:off x="704900" y="515878"/>
            <a:ext cx="3799558" cy="681192"/>
            <a:chOff x="1585798" y="2897760"/>
            <a:chExt cx="4055650" cy="727105"/>
          </a:xfrm>
        </p:grpSpPr>
        <p:grpSp>
          <p:nvGrpSpPr>
            <p:cNvPr id="5" name="组合 4">
              <a:extLst>
                <a:ext uri="{FF2B5EF4-FFF2-40B4-BE49-F238E27FC236}">
                  <a16:creationId xmlns:a16="http://schemas.microsoft.com/office/drawing/2014/main" id="{0C7E48CA-B306-2534-EDF3-D6C3256FADEA}"/>
                </a:ext>
              </a:extLst>
            </p:cNvPr>
            <p:cNvGrpSpPr/>
            <p:nvPr/>
          </p:nvGrpSpPr>
          <p:grpSpPr>
            <a:xfrm>
              <a:off x="1585798" y="2956555"/>
              <a:ext cx="4018938" cy="668310"/>
              <a:chOff x="1693863" y="2835275"/>
              <a:chExt cx="3570417" cy="593726"/>
            </a:xfrm>
          </p:grpSpPr>
          <p:sp>
            <p:nvSpPr>
              <p:cNvPr id="8" name="AutoShape 3">
                <a:extLst>
                  <a:ext uri="{FF2B5EF4-FFF2-40B4-BE49-F238E27FC236}">
                    <a16:creationId xmlns:a16="http://schemas.microsoft.com/office/drawing/2014/main" id="{27D777A3-73FB-E1C8-0524-089B2EEAA7DE}"/>
                  </a:ext>
                </a:extLst>
              </p:cNvPr>
              <p:cNvSpPr>
                <a:spLocks noChangeAspect="1" noChangeArrowheads="1" noTextEdit="1"/>
              </p:cNvSpPr>
              <p:nvPr/>
            </p:nvSpPr>
            <p:spPr bwMode="auto">
              <a:xfrm>
                <a:off x="1701800" y="2835275"/>
                <a:ext cx="3505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9" name="Freeform 5">
                <a:extLst>
                  <a:ext uri="{FF2B5EF4-FFF2-40B4-BE49-F238E27FC236}">
                    <a16:creationId xmlns:a16="http://schemas.microsoft.com/office/drawing/2014/main" id="{891AE1D9-A4F5-319E-BEF7-8B0C1498DD44}"/>
                  </a:ext>
                </a:extLst>
              </p:cNvPr>
              <p:cNvSpPr>
                <a:spLocks noEditPoints="1"/>
              </p:cNvSpPr>
              <p:nvPr/>
            </p:nvSpPr>
            <p:spPr bwMode="auto">
              <a:xfrm>
                <a:off x="1854200" y="3001963"/>
                <a:ext cx="249238" cy="260350"/>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0" name="Freeform 6">
                <a:extLst>
                  <a:ext uri="{FF2B5EF4-FFF2-40B4-BE49-F238E27FC236}">
                    <a16:creationId xmlns:a16="http://schemas.microsoft.com/office/drawing/2014/main" id="{72C02A40-8822-03FD-2C46-2A685B457D55}"/>
                  </a:ext>
                </a:extLst>
              </p:cNvPr>
              <p:cNvSpPr>
                <a:spLocks noEditPoints="1"/>
              </p:cNvSpPr>
              <p:nvPr/>
            </p:nvSpPr>
            <p:spPr bwMode="auto">
              <a:xfrm>
                <a:off x="1693863" y="2835276"/>
                <a:ext cx="3570417" cy="593725"/>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grpSp>
        <p:sp>
          <p:nvSpPr>
            <p:cNvPr id="6" name="矩形 5">
              <a:extLst>
                <a:ext uri="{FF2B5EF4-FFF2-40B4-BE49-F238E27FC236}">
                  <a16:creationId xmlns:a16="http://schemas.microsoft.com/office/drawing/2014/main" id="{DB30DA8A-69BA-E642-D39E-5ABD9C939934}"/>
                </a:ext>
              </a:extLst>
            </p:cNvPr>
            <p:cNvSpPr/>
            <p:nvPr/>
          </p:nvSpPr>
          <p:spPr>
            <a:xfrm>
              <a:off x="2255523" y="2897760"/>
              <a:ext cx="3385925" cy="620017"/>
            </a:xfrm>
            <a:prstGeom prst="rect">
              <a:avLst/>
            </a:prstGeom>
          </p:spPr>
          <p:txBody>
            <a:bodyPr wrap="square" anchor="b">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数据模型的组成要素</a:t>
              </a:r>
            </a:p>
          </p:txBody>
        </p:sp>
      </p:grpSp>
      <p:sp>
        <p:nvSpPr>
          <p:cNvPr id="11" name="矩形 10">
            <a:extLst>
              <a:ext uri="{FF2B5EF4-FFF2-40B4-BE49-F238E27FC236}">
                <a16:creationId xmlns:a16="http://schemas.microsoft.com/office/drawing/2014/main" id="{B9DF3E54-14BA-58C1-5EBF-D0D372E41610}"/>
              </a:ext>
            </a:extLst>
          </p:cNvPr>
          <p:cNvSpPr/>
          <p:nvPr/>
        </p:nvSpPr>
        <p:spPr>
          <a:xfrm>
            <a:off x="5185584" y="1187024"/>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2</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）数据操作</a:t>
            </a:r>
          </a:p>
        </p:txBody>
      </p:sp>
      <p:sp>
        <p:nvSpPr>
          <p:cNvPr id="12" name="矩形 11">
            <a:extLst>
              <a:ext uri="{FF2B5EF4-FFF2-40B4-BE49-F238E27FC236}">
                <a16:creationId xmlns:a16="http://schemas.microsoft.com/office/drawing/2014/main" id="{699321BA-02D8-9D96-50F8-3A5A757AD262}"/>
              </a:ext>
            </a:extLst>
          </p:cNvPr>
          <p:cNvSpPr/>
          <p:nvPr/>
        </p:nvSpPr>
        <p:spPr>
          <a:xfrm>
            <a:off x="5290359" y="1690626"/>
            <a:ext cx="6027658" cy="1421928"/>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对数据库中的数据允许执行的操作的集合，包括操作及相应的操作规则（优先级）等，描述了数据库的动态特性。</a:t>
            </a:r>
          </a:p>
        </p:txBody>
      </p:sp>
      <p:grpSp>
        <p:nvGrpSpPr>
          <p:cNvPr id="13" name="组合 12">
            <a:extLst>
              <a:ext uri="{FF2B5EF4-FFF2-40B4-BE49-F238E27FC236}">
                <a16:creationId xmlns:a16="http://schemas.microsoft.com/office/drawing/2014/main" id="{3F10C629-A338-AB57-C0BD-BFB545D219AD}"/>
              </a:ext>
            </a:extLst>
          </p:cNvPr>
          <p:cNvGrpSpPr/>
          <p:nvPr/>
        </p:nvGrpSpPr>
        <p:grpSpPr>
          <a:xfrm>
            <a:off x="5982817" y="3314941"/>
            <a:ext cx="4230571" cy="703501"/>
            <a:chOff x="1585798" y="2956556"/>
            <a:chExt cx="4018938" cy="668309"/>
          </a:xfrm>
        </p:grpSpPr>
        <p:grpSp>
          <p:nvGrpSpPr>
            <p:cNvPr id="14" name="组合 13">
              <a:extLst>
                <a:ext uri="{FF2B5EF4-FFF2-40B4-BE49-F238E27FC236}">
                  <a16:creationId xmlns:a16="http://schemas.microsoft.com/office/drawing/2014/main" id="{524576CD-2807-53E8-BF15-E3003A416358}"/>
                </a:ext>
              </a:extLst>
            </p:cNvPr>
            <p:cNvGrpSpPr/>
            <p:nvPr/>
          </p:nvGrpSpPr>
          <p:grpSpPr>
            <a:xfrm>
              <a:off x="1585798" y="2956556"/>
              <a:ext cx="4018938" cy="668309"/>
              <a:chOff x="1693863" y="2835275"/>
              <a:chExt cx="3570417" cy="593725"/>
            </a:xfrm>
          </p:grpSpPr>
          <p:sp>
            <p:nvSpPr>
              <p:cNvPr id="16" name="AutoShape 3">
                <a:extLst>
                  <a:ext uri="{FF2B5EF4-FFF2-40B4-BE49-F238E27FC236}">
                    <a16:creationId xmlns:a16="http://schemas.microsoft.com/office/drawing/2014/main" id="{979D7774-D9C5-0D2E-4086-0913F906A149}"/>
                  </a:ext>
                </a:extLst>
              </p:cNvPr>
              <p:cNvSpPr>
                <a:spLocks noChangeAspect="1" noChangeArrowheads="1" noTextEdit="1"/>
              </p:cNvSpPr>
              <p:nvPr/>
            </p:nvSpPr>
            <p:spPr bwMode="auto">
              <a:xfrm>
                <a:off x="1701800" y="2835275"/>
                <a:ext cx="3505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7" name="Freeform 5">
                <a:extLst>
                  <a:ext uri="{FF2B5EF4-FFF2-40B4-BE49-F238E27FC236}">
                    <a16:creationId xmlns:a16="http://schemas.microsoft.com/office/drawing/2014/main" id="{1E1FB915-E3C6-9594-21BB-14FCBF38BFA0}"/>
                  </a:ext>
                </a:extLst>
              </p:cNvPr>
              <p:cNvSpPr>
                <a:spLocks noEditPoints="1"/>
              </p:cNvSpPr>
              <p:nvPr/>
            </p:nvSpPr>
            <p:spPr bwMode="auto">
              <a:xfrm>
                <a:off x="1859985" y="3001963"/>
                <a:ext cx="249238" cy="260350"/>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8" name="Freeform 6">
                <a:extLst>
                  <a:ext uri="{FF2B5EF4-FFF2-40B4-BE49-F238E27FC236}">
                    <a16:creationId xmlns:a16="http://schemas.microsoft.com/office/drawing/2014/main" id="{8E7CC644-A31C-5CF7-0788-7CCDA0235DCD}"/>
                  </a:ext>
                </a:extLst>
              </p:cNvPr>
              <p:cNvSpPr>
                <a:spLocks noEditPoints="1"/>
              </p:cNvSpPr>
              <p:nvPr/>
            </p:nvSpPr>
            <p:spPr bwMode="auto">
              <a:xfrm>
                <a:off x="1693863" y="2835275"/>
                <a:ext cx="3570417" cy="593725"/>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bg1"/>
              </a:solidFill>
              <a:ln>
                <a:solidFill>
                  <a:schemeClr val="tx1">
                    <a:lumMod val="85000"/>
                    <a:lumOff val="15000"/>
                  </a:schemeClr>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grpSp>
        <p:sp>
          <p:nvSpPr>
            <p:cNvPr id="15" name="矩形 14">
              <a:extLst>
                <a:ext uri="{FF2B5EF4-FFF2-40B4-BE49-F238E27FC236}">
                  <a16:creationId xmlns:a16="http://schemas.microsoft.com/office/drawing/2014/main" id="{0EDB40F5-2E98-5407-C883-7167A5C4617A}"/>
                </a:ext>
              </a:extLst>
            </p:cNvPr>
            <p:cNvSpPr/>
            <p:nvPr/>
          </p:nvSpPr>
          <p:spPr>
            <a:xfrm>
              <a:off x="2231392" y="3016488"/>
              <a:ext cx="3038472" cy="474448"/>
            </a:xfrm>
            <a:prstGeom prst="rect">
              <a:avLst/>
            </a:prstGeom>
          </p:spPr>
          <p:txBody>
            <a:bodyPr wrap="square" anchor="ctr">
              <a:spAutoFit/>
            </a:bodyPr>
            <a:lstStyle/>
            <a:p>
              <a:pPr marL="0" marR="0" lvl="1" indent="0" algn="ctr"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一类是查询操作</a:t>
              </a:r>
            </a:p>
          </p:txBody>
        </p:sp>
      </p:grpSp>
      <p:grpSp>
        <p:nvGrpSpPr>
          <p:cNvPr id="27" name="组合 26">
            <a:extLst>
              <a:ext uri="{FF2B5EF4-FFF2-40B4-BE49-F238E27FC236}">
                <a16:creationId xmlns:a16="http://schemas.microsoft.com/office/drawing/2014/main" id="{B5096576-8929-3D75-2585-97BEBCB0CEE4}"/>
              </a:ext>
            </a:extLst>
          </p:cNvPr>
          <p:cNvGrpSpPr/>
          <p:nvPr/>
        </p:nvGrpSpPr>
        <p:grpSpPr>
          <a:xfrm>
            <a:off x="5982820" y="4283749"/>
            <a:ext cx="4230572" cy="714973"/>
            <a:chOff x="862489" y="4160365"/>
            <a:chExt cx="5700236" cy="963347"/>
          </a:xfrm>
        </p:grpSpPr>
        <p:grpSp>
          <p:nvGrpSpPr>
            <p:cNvPr id="28" name="组合 27">
              <a:extLst>
                <a:ext uri="{FF2B5EF4-FFF2-40B4-BE49-F238E27FC236}">
                  <a16:creationId xmlns:a16="http://schemas.microsoft.com/office/drawing/2014/main" id="{EF8FEFFB-9AB4-1E4A-494B-1B5BD2A98D38}"/>
                </a:ext>
              </a:extLst>
            </p:cNvPr>
            <p:cNvGrpSpPr/>
            <p:nvPr/>
          </p:nvGrpSpPr>
          <p:grpSpPr>
            <a:xfrm>
              <a:off x="862489" y="4160365"/>
              <a:ext cx="5700236" cy="963347"/>
              <a:chOff x="1693863" y="2835275"/>
              <a:chExt cx="3513137" cy="593725"/>
            </a:xfrm>
          </p:grpSpPr>
          <p:sp>
            <p:nvSpPr>
              <p:cNvPr id="30" name="AutoShape 3">
                <a:extLst>
                  <a:ext uri="{FF2B5EF4-FFF2-40B4-BE49-F238E27FC236}">
                    <a16:creationId xmlns:a16="http://schemas.microsoft.com/office/drawing/2014/main" id="{1314900B-D123-E34B-B46F-76CD0E06401A}"/>
                  </a:ext>
                </a:extLst>
              </p:cNvPr>
              <p:cNvSpPr>
                <a:spLocks noChangeAspect="1" noChangeArrowheads="1" noTextEdit="1"/>
              </p:cNvSpPr>
              <p:nvPr/>
            </p:nvSpPr>
            <p:spPr bwMode="auto">
              <a:xfrm>
                <a:off x="1701800" y="2835275"/>
                <a:ext cx="3505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1" name="Freeform 5">
                <a:extLst>
                  <a:ext uri="{FF2B5EF4-FFF2-40B4-BE49-F238E27FC236}">
                    <a16:creationId xmlns:a16="http://schemas.microsoft.com/office/drawing/2014/main" id="{509C1F90-D320-BBBD-954E-98D37995031F}"/>
                  </a:ext>
                </a:extLst>
              </p:cNvPr>
              <p:cNvSpPr>
                <a:spLocks noEditPoints="1"/>
              </p:cNvSpPr>
              <p:nvPr/>
            </p:nvSpPr>
            <p:spPr bwMode="auto">
              <a:xfrm>
                <a:off x="1854200" y="3001963"/>
                <a:ext cx="249238" cy="260350"/>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2" name="Freeform 6">
                <a:extLst>
                  <a:ext uri="{FF2B5EF4-FFF2-40B4-BE49-F238E27FC236}">
                    <a16:creationId xmlns:a16="http://schemas.microsoft.com/office/drawing/2014/main" id="{DA8B7909-80C1-3186-A0AD-FBA7832C9987}"/>
                  </a:ext>
                </a:extLst>
              </p:cNvPr>
              <p:cNvSpPr>
                <a:spLocks noEditPoints="1"/>
              </p:cNvSpPr>
              <p:nvPr/>
            </p:nvSpPr>
            <p:spPr bwMode="auto">
              <a:xfrm>
                <a:off x="1693863" y="2835275"/>
                <a:ext cx="3505199" cy="593725"/>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bg1"/>
              </a:solidFill>
              <a:ln>
                <a:solidFill>
                  <a:schemeClr val="tx1">
                    <a:lumMod val="85000"/>
                    <a:lumOff val="15000"/>
                  </a:schemeClr>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微软雅黑"/>
                  <a:cs typeface="+mn-cs"/>
                </a:endParaRPr>
              </a:p>
            </p:txBody>
          </p:sp>
        </p:grpSp>
        <p:sp>
          <p:nvSpPr>
            <p:cNvPr id="29" name="矩形 28">
              <a:extLst>
                <a:ext uri="{FF2B5EF4-FFF2-40B4-BE49-F238E27FC236}">
                  <a16:creationId xmlns:a16="http://schemas.microsoft.com/office/drawing/2014/main" id="{E6B5B934-827A-576D-5A8B-FA8062FB0077}"/>
                </a:ext>
              </a:extLst>
            </p:cNvPr>
            <p:cNvSpPr/>
            <p:nvPr/>
          </p:nvSpPr>
          <p:spPr>
            <a:xfrm>
              <a:off x="1786106" y="4187185"/>
              <a:ext cx="4301651" cy="922894"/>
            </a:xfrm>
            <a:prstGeom prst="rect">
              <a:avLst/>
            </a:prstGeom>
          </p:spPr>
          <p:txBody>
            <a:bodyPr wrap="square" anchor="ctr">
              <a:sp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一类是更新操作</a:t>
              </a:r>
              <a:endParaRPr kumimoji="0" lang="en-US" altLang="zh-CN"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（含插入、删除和修改）</a:t>
              </a:r>
            </a:p>
          </p:txBody>
        </p:sp>
      </p:grpSp>
    </p:spTree>
    <p:extLst>
      <p:ext uri="{BB962C8B-B14F-4D97-AF65-F5344CB8AC3E}">
        <p14:creationId xmlns:p14="http://schemas.microsoft.com/office/powerpoint/2010/main" val="36207590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anim calcmode="lin" valueType="num">
                                      <p:cBhvr>
                                        <p:cTn id="25" dur="1000" fill="hold"/>
                                        <p:tgtEl>
                                          <p:spTgt spid="27"/>
                                        </p:tgtEl>
                                        <p:attrNameLst>
                                          <p:attrName>ppt_x</p:attrName>
                                        </p:attrNameLst>
                                      </p:cBhvr>
                                      <p:tavLst>
                                        <p:tav tm="0">
                                          <p:val>
                                            <p:strVal val="#ppt_x"/>
                                          </p:val>
                                        </p:tav>
                                        <p:tav tm="100000">
                                          <p:val>
                                            <p:strVal val="#ppt_x"/>
                                          </p:val>
                                        </p:tav>
                                      </p:tavLst>
                                    </p:anim>
                                    <p:anim calcmode="lin" valueType="num">
                                      <p:cBhvr>
                                        <p:cTn id="2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39886-01D4-5BF8-A89C-714475F647DA}"/>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73C61464-3C4A-43E5-B4CE-BB873FD95970}"/>
              </a:ext>
            </a:extLst>
          </p:cNvPr>
          <p:cNvPicPr>
            <a:picLocks noChangeAspect="1"/>
          </p:cNvPicPr>
          <p:nvPr/>
        </p:nvPicPr>
        <p:blipFill>
          <a:blip r:embed="rId3"/>
          <a:stretch>
            <a:fillRect/>
          </a:stretch>
        </p:blipFill>
        <p:spPr>
          <a:xfrm>
            <a:off x="873983" y="1720937"/>
            <a:ext cx="3765164" cy="3416125"/>
          </a:xfrm>
          <a:prstGeom prst="rect">
            <a:avLst/>
          </a:prstGeom>
        </p:spPr>
      </p:pic>
      <p:grpSp>
        <p:nvGrpSpPr>
          <p:cNvPr id="3" name="组合 2">
            <a:extLst>
              <a:ext uri="{FF2B5EF4-FFF2-40B4-BE49-F238E27FC236}">
                <a16:creationId xmlns:a16="http://schemas.microsoft.com/office/drawing/2014/main" id="{76CDCD3E-5951-3616-4AC8-256557C9D672}"/>
              </a:ext>
            </a:extLst>
          </p:cNvPr>
          <p:cNvGrpSpPr/>
          <p:nvPr/>
        </p:nvGrpSpPr>
        <p:grpSpPr>
          <a:xfrm>
            <a:off x="704900" y="515878"/>
            <a:ext cx="3799558" cy="681192"/>
            <a:chOff x="1585798" y="2897760"/>
            <a:chExt cx="4055650" cy="727105"/>
          </a:xfrm>
        </p:grpSpPr>
        <p:grpSp>
          <p:nvGrpSpPr>
            <p:cNvPr id="5" name="组合 4">
              <a:extLst>
                <a:ext uri="{FF2B5EF4-FFF2-40B4-BE49-F238E27FC236}">
                  <a16:creationId xmlns:a16="http://schemas.microsoft.com/office/drawing/2014/main" id="{1142F229-57CA-1BB1-F10C-93ABD08DD878}"/>
                </a:ext>
              </a:extLst>
            </p:cNvPr>
            <p:cNvGrpSpPr/>
            <p:nvPr/>
          </p:nvGrpSpPr>
          <p:grpSpPr>
            <a:xfrm>
              <a:off x="1585798" y="2956555"/>
              <a:ext cx="4018938" cy="668310"/>
              <a:chOff x="1693863" y="2835275"/>
              <a:chExt cx="3570417" cy="593726"/>
            </a:xfrm>
          </p:grpSpPr>
          <p:sp>
            <p:nvSpPr>
              <p:cNvPr id="8" name="AutoShape 3">
                <a:extLst>
                  <a:ext uri="{FF2B5EF4-FFF2-40B4-BE49-F238E27FC236}">
                    <a16:creationId xmlns:a16="http://schemas.microsoft.com/office/drawing/2014/main" id="{0E87E695-F7BD-79E9-7300-6249AA728E06}"/>
                  </a:ext>
                </a:extLst>
              </p:cNvPr>
              <p:cNvSpPr>
                <a:spLocks noChangeAspect="1" noChangeArrowheads="1" noTextEdit="1"/>
              </p:cNvSpPr>
              <p:nvPr/>
            </p:nvSpPr>
            <p:spPr bwMode="auto">
              <a:xfrm>
                <a:off x="1701800" y="2835275"/>
                <a:ext cx="3505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9" name="Freeform 5">
                <a:extLst>
                  <a:ext uri="{FF2B5EF4-FFF2-40B4-BE49-F238E27FC236}">
                    <a16:creationId xmlns:a16="http://schemas.microsoft.com/office/drawing/2014/main" id="{27F1D3C1-2ABB-C5B9-BC31-84CD1D691634}"/>
                  </a:ext>
                </a:extLst>
              </p:cNvPr>
              <p:cNvSpPr>
                <a:spLocks noEditPoints="1"/>
              </p:cNvSpPr>
              <p:nvPr/>
            </p:nvSpPr>
            <p:spPr bwMode="auto">
              <a:xfrm>
                <a:off x="1854200" y="3001963"/>
                <a:ext cx="249238" cy="260350"/>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0" name="Freeform 6">
                <a:extLst>
                  <a:ext uri="{FF2B5EF4-FFF2-40B4-BE49-F238E27FC236}">
                    <a16:creationId xmlns:a16="http://schemas.microsoft.com/office/drawing/2014/main" id="{0A7A1919-4905-288F-735A-C6032E7D37FF}"/>
                  </a:ext>
                </a:extLst>
              </p:cNvPr>
              <p:cNvSpPr>
                <a:spLocks noEditPoints="1"/>
              </p:cNvSpPr>
              <p:nvPr/>
            </p:nvSpPr>
            <p:spPr bwMode="auto">
              <a:xfrm>
                <a:off x="1693863" y="2835276"/>
                <a:ext cx="3570417" cy="593725"/>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grpSp>
        <p:sp>
          <p:nvSpPr>
            <p:cNvPr id="6" name="矩形 5">
              <a:extLst>
                <a:ext uri="{FF2B5EF4-FFF2-40B4-BE49-F238E27FC236}">
                  <a16:creationId xmlns:a16="http://schemas.microsoft.com/office/drawing/2014/main" id="{B129CF9B-8EFA-045E-FBB1-6A92123DFBD8}"/>
                </a:ext>
              </a:extLst>
            </p:cNvPr>
            <p:cNvSpPr/>
            <p:nvPr/>
          </p:nvSpPr>
          <p:spPr>
            <a:xfrm>
              <a:off x="2255523" y="2897760"/>
              <a:ext cx="3385925" cy="620017"/>
            </a:xfrm>
            <a:prstGeom prst="rect">
              <a:avLst/>
            </a:prstGeom>
          </p:spPr>
          <p:txBody>
            <a:bodyPr wrap="square" anchor="b">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数据模型的组成要素</a:t>
              </a:r>
            </a:p>
          </p:txBody>
        </p:sp>
      </p:grpSp>
      <p:sp>
        <p:nvSpPr>
          <p:cNvPr id="22" name="矩形 21">
            <a:extLst>
              <a:ext uri="{FF2B5EF4-FFF2-40B4-BE49-F238E27FC236}">
                <a16:creationId xmlns:a16="http://schemas.microsoft.com/office/drawing/2014/main" id="{E7A3E260-7053-ED63-7DCF-55B6DDD9C1B1}"/>
              </a:ext>
            </a:extLst>
          </p:cNvPr>
          <p:cNvSpPr/>
          <p:nvPr/>
        </p:nvSpPr>
        <p:spPr>
          <a:xfrm>
            <a:off x="4992716" y="1197070"/>
            <a:ext cx="3765164"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3</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）数据的完整性约束</a:t>
            </a:r>
          </a:p>
        </p:txBody>
      </p:sp>
      <p:sp>
        <p:nvSpPr>
          <p:cNvPr id="23" name="矩形 22">
            <a:extLst>
              <a:ext uri="{FF2B5EF4-FFF2-40B4-BE49-F238E27FC236}">
                <a16:creationId xmlns:a16="http://schemas.microsoft.com/office/drawing/2014/main" id="{22C07FD3-5319-0F71-0844-54555DCAEB50}"/>
              </a:ext>
            </a:extLst>
          </p:cNvPr>
          <p:cNvSpPr/>
          <p:nvPr/>
        </p:nvSpPr>
        <p:spPr>
          <a:xfrm>
            <a:off x="5161631" y="1846927"/>
            <a:ext cx="3465433" cy="497957"/>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一组完整性规则的集合。</a:t>
            </a:r>
          </a:p>
        </p:txBody>
      </p:sp>
      <p:grpSp>
        <p:nvGrpSpPr>
          <p:cNvPr id="24" name="组合 23">
            <a:extLst>
              <a:ext uri="{FF2B5EF4-FFF2-40B4-BE49-F238E27FC236}">
                <a16:creationId xmlns:a16="http://schemas.microsoft.com/office/drawing/2014/main" id="{B12F3401-BBEA-E454-31B1-2AC431D2B9D0}"/>
              </a:ext>
            </a:extLst>
          </p:cNvPr>
          <p:cNvGrpSpPr/>
          <p:nvPr/>
        </p:nvGrpSpPr>
        <p:grpSpPr>
          <a:xfrm>
            <a:off x="5070072" y="2497980"/>
            <a:ext cx="6417028" cy="1985439"/>
            <a:chOff x="1501314" y="2855480"/>
            <a:chExt cx="4743450" cy="1985439"/>
          </a:xfrm>
        </p:grpSpPr>
        <p:sp>
          <p:nvSpPr>
            <p:cNvPr id="25" name="矩形: 圆角 24">
              <a:extLst>
                <a:ext uri="{FF2B5EF4-FFF2-40B4-BE49-F238E27FC236}">
                  <a16:creationId xmlns:a16="http://schemas.microsoft.com/office/drawing/2014/main" id="{9422E332-9445-DB7D-C516-7BDB8C4BB3B8}"/>
                </a:ext>
              </a:extLst>
            </p:cNvPr>
            <p:cNvSpPr/>
            <p:nvPr/>
          </p:nvSpPr>
          <p:spPr>
            <a:xfrm>
              <a:off x="1501314" y="2855480"/>
              <a:ext cx="4743450" cy="1985439"/>
            </a:xfrm>
            <a:prstGeom prst="roundRect">
              <a:avLst>
                <a:gd name="adj" fmla="val 9951"/>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6" name="矩形 25">
              <a:extLst>
                <a:ext uri="{FF2B5EF4-FFF2-40B4-BE49-F238E27FC236}">
                  <a16:creationId xmlns:a16="http://schemas.microsoft.com/office/drawing/2014/main" id="{AD8DD0C7-EF5C-3374-FC1B-E502A11D33D2}"/>
                </a:ext>
              </a:extLst>
            </p:cNvPr>
            <p:cNvSpPr/>
            <p:nvPr/>
          </p:nvSpPr>
          <p:spPr>
            <a:xfrm>
              <a:off x="1622563" y="2986598"/>
              <a:ext cx="4488425" cy="1689052"/>
            </a:xfrm>
            <a:prstGeom prst="rect">
              <a:avLst/>
            </a:prstGeom>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完整性规则是数据模型中数据及其联系所具有的制约和依存规则。</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用以限定符合数据模型的数据库状态以及状态的变化，以保证数据的正确、有效、相容。</a:t>
              </a:r>
            </a:p>
          </p:txBody>
        </p:sp>
      </p:grpSp>
      <p:sp>
        <p:nvSpPr>
          <p:cNvPr id="34" name="文本框 33">
            <a:extLst>
              <a:ext uri="{FF2B5EF4-FFF2-40B4-BE49-F238E27FC236}">
                <a16:creationId xmlns:a16="http://schemas.microsoft.com/office/drawing/2014/main" id="{E34BDA56-5D77-879B-24F4-D8F31DCF18DC}"/>
              </a:ext>
            </a:extLst>
          </p:cNvPr>
          <p:cNvSpPr txBox="1"/>
          <p:nvPr/>
        </p:nvSpPr>
        <p:spPr>
          <a:xfrm>
            <a:off x="5161631" y="4699641"/>
            <a:ext cx="6282509" cy="961289"/>
          </a:xfrm>
          <a:prstGeom prst="rect">
            <a:avLst/>
          </a:prstGeom>
          <a:noFill/>
        </p:spPr>
        <p:txBody>
          <a:bodyPr wrap="square">
            <a:spAutoFit/>
          </a:bodyPr>
          <a:lstStyle/>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举例： 学生信息（</a:t>
            </a:r>
            <a:r>
              <a:rPr lang="en-US" altLang="zh-CN" sz="2000" dirty="0">
                <a:solidFill>
                  <a:srgbClr val="FF0000"/>
                </a:solidFill>
                <a:latin typeface="微软雅黑" panose="020B0503020204020204" pitchFamily="34" charset="-122"/>
                <a:ea typeface="微软雅黑" panose="020B0503020204020204" pitchFamily="34" charset="-122"/>
              </a:rPr>
              <a:t>2017010101</a:t>
            </a:r>
            <a:r>
              <a:rPr lang="zh-CN" altLang="en-US" sz="2000" dirty="0">
                <a:solidFill>
                  <a:srgbClr val="FF0000"/>
                </a:solidFill>
                <a:latin typeface="微软雅黑" panose="020B0503020204020204" pitchFamily="34" charset="-122"/>
                <a:ea typeface="微软雅黑" panose="020B0503020204020204" pitchFamily="34" charset="-122"/>
              </a:rPr>
              <a:t>，李光明，男，</a:t>
            </a:r>
            <a:r>
              <a:rPr lang="en-US" altLang="zh-CN" sz="2000" dirty="0">
                <a:solidFill>
                  <a:srgbClr val="FF0000"/>
                </a:solidFill>
                <a:latin typeface="微软雅黑" panose="020B0503020204020204" pitchFamily="34" charset="-122"/>
                <a:ea typeface="微软雅黑" panose="020B0503020204020204" pitchFamily="34" charset="-122"/>
              </a:rPr>
              <a:t>19</a:t>
            </a:r>
            <a:r>
              <a:rPr lang="zh-CN" altLang="en-US" sz="2000" dirty="0">
                <a:solidFill>
                  <a:srgbClr val="FF0000"/>
                </a:solidFill>
                <a:latin typeface="微软雅黑" panose="020B0503020204020204" pitchFamily="34" charset="-122"/>
                <a:ea typeface="微软雅黑" panose="020B0503020204020204" pitchFamily="34" charset="-122"/>
              </a:rPr>
              <a:t>，计算机科学学院，软件工程） </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186520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1000"/>
                                        <p:tgtEl>
                                          <p:spTgt spid="34"/>
                                        </p:tgtEl>
                                      </p:cBhvr>
                                    </p:animEffect>
                                    <p:anim calcmode="lin" valueType="num">
                                      <p:cBhvr>
                                        <p:cTn id="21" dur="1000" fill="hold"/>
                                        <p:tgtEl>
                                          <p:spTgt spid="34"/>
                                        </p:tgtEl>
                                        <p:attrNameLst>
                                          <p:attrName>ppt_x</p:attrName>
                                        </p:attrNameLst>
                                      </p:cBhvr>
                                      <p:tavLst>
                                        <p:tav tm="0">
                                          <p:val>
                                            <p:strVal val="#ppt_x"/>
                                          </p:val>
                                        </p:tav>
                                        <p:tav tm="100000">
                                          <p:val>
                                            <p:strVal val="#ppt_x"/>
                                          </p:val>
                                        </p:tav>
                                      </p:tavLst>
                                    </p:anim>
                                    <p:anim calcmode="lin" valueType="num">
                                      <p:cBhvr>
                                        <p:cTn id="2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A389B-6D4D-D513-F423-C4618DE88685}"/>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56E3EF0A-9D99-6C9B-88D6-22D6F7A47917}"/>
              </a:ext>
            </a:extLst>
          </p:cNvPr>
          <p:cNvSpPr>
            <a:spLocks noChangeAspect="1" noChangeArrowheads="1" noTextEdit="1"/>
          </p:cNvSpPr>
          <p:nvPr/>
        </p:nvSpPr>
        <p:spPr bwMode="auto">
          <a:xfrm>
            <a:off x="1246425" y="1606639"/>
            <a:ext cx="5392793" cy="89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Freeform 5">
            <a:extLst>
              <a:ext uri="{FF2B5EF4-FFF2-40B4-BE49-F238E27FC236}">
                <a16:creationId xmlns:a16="http://schemas.microsoft.com/office/drawing/2014/main" id="{F95AF90F-3624-9F30-5362-90B376521442}"/>
              </a:ext>
            </a:extLst>
          </p:cNvPr>
          <p:cNvSpPr>
            <a:spLocks noEditPoints="1"/>
          </p:cNvSpPr>
          <p:nvPr/>
        </p:nvSpPr>
        <p:spPr bwMode="auto">
          <a:xfrm>
            <a:off x="1570638" y="1744660"/>
            <a:ext cx="349100" cy="364663"/>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Freeform 6">
            <a:extLst>
              <a:ext uri="{FF2B5EF4-FFF2-40B4-BE49-F238E27FC236}">
                <a16:creationId xmlns:a16="http://schemas.microsoft.com/office/drawing/2014/main" id="{D5E5B3A9-B501-70FD-C056-8AF04EDC2812}"/>
              </a:ext>
            </a:extLst>
          </p:cNvPr>
          <p:cNvSpPr>
            <a:spLocks noEditPoints="1"/>
          </p:cNvSpPr>
          <p:nvPr/>
        </p:nvSpPr>
        <p:spPr bwMode="auto">
          <a:xfrm>
            <a:off x="1431767" y="1604850"/>
            <a:ext cx="3659998" cy="643383"/>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 name="矩形 4">
            <a:extLst>
              <a:ext uri="{FF2B5EF4-FFF2-40B4-BE49-F238E27FC236}">
                <a16:creationId xmlns:a16="http://schemas.microsoft.com/office/drawing/2014/main" id="{E47AE55D-0374-84DA-6863-9F1C98632FDD}"/>
              </a:ext>
            </a:extLst>
          </p:cNvPr>
          <p:cNvSpPr/>
          <p:nvPr/>
        </p:nvSpPr>
        <p:spPr>
          <a:xfrm>
            <a:off x="2860180" y="1626372"/>
            <a:ext cx="1348021" cy="499432"/>
          </a:xfrm>
          <a:prstGeom prst="rect">
            <a:avLst/>
          </a:prstGeom>
        </p:spPr>
        <p:txBody>
          <a:bodyPr wrap="square">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练一练</a:t>
            </a:r>
          </a:p>
        </p:txBody>
      </p:sp>
      <p:grpSp>
        <p:nvGrpSpPr>
          <p:cNvPr id="6" name="组合 5">
            <a:extLst>
              <a:ext uri="{FF2B5EF4-FFF2-40B4-BE49-F238E27FC236}">
                <a16:creationId xmlns:a16="http://schemas.microsoft.com/office/drawing/2014/main" id="{FB67F54E-6C06-2C33-185F-FB36B669C2F6}"/>
              </a:ext>
            </a:extLst>
          </p:cNvPr>
          <p:cNvGrpSpPr/>
          <p:nvPr/>
        </p:nvGrpSpPr>
        <p:grpSpPr>
          <a:xfrm>
            <a:off x="1103648" y="527201"/>
            <a:ext cx="5614144" cy="879946"/>
            <a:chOff x="420387" y="472101"/>
            <a:chExt cx="5614144" cy="879946"/>
          </a:xfrm>
        </p:grpSpPr>
        <p:sp>
          <p:nvSpPr>
            <p:cNvPr id="7" name="内容占位符 2">
              <a:extLst>
                <a:ext uri="{FF2B5EF4-FFF2-40B4-BE49-F238E27FC236}">
                  <a16:creationId xmlns:a16="http://schemas.microsoft.com/office/drawing/2014/main" id="{2FCE5888-DC69-41CB-F8FA-5F5B8E132A3D}"/>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数据模型 </a:t>
              </a:r>
            </a:p>
          </p:txBody>
        </p:sp>
        <p:sp>
          <p:nvSpPr>
            <p:cNvPr id="8" name="KSO_Shape">
              <a:extLst>
                <a:ext uri="{FF2B5EF4-FFF2-40B4-BE49-F238E27FC236}">
                  <a16:creationId xmlns:a16="http://schemas.microsoft.com/office/drawing/2014/main" id="{483F266F-4C3C-519B-A7CA-C642E3B9EA77}"/>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 name="矩形 8">
            <a:extLst>
              <a:ext uri="{FF2B5EF4-FFF2-40B4-BE49-F238E27FC236}">
                <a16:creationId xmlns:a16="http://schemas.microsoft.com/office/drawing/2014/main" id="{686CB209-D2F2-68C9-A316-99D20684CE62}"/>
              </a:ext>
            </a:extLst>
          </p:cNvPr>
          <p:cNvSpPr/>
          <p:nvPr/>
        </p:nvSpPr>
        <p:spPr>
          <a:xfrm>
            <a:off x="1571096" y="2501526"/>
            <a:ext cx="963271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prstClr val="black">
                    <a:lumMod val="85000"/>
                    <a:lumOff val="15000"/>
                  </a:prstClr>
                </a:solidFill>
                <a:latin typeface="微软雅黑"/>
                <a:ea typeface="微软雅黑"/>
              </a:rPr>
              <a:t>数据模型的三大组成要素是</a:t>
            </a:r>
            <a:r>
              <a:rPr lang="en-US" altLang="zh-CN" sz="2400" b="1" dirty="0">
                <a:solidFill>
                  <a:prstClr val="black">
                    <a:lumMod val="85000"/>
                    <a:lumOff val="15000"/>
                  </a:prstClr>
                </a:solidFill>
                <a:latin typeface="微软雅黑"/>
                <a:ea typeface="微软雅黑"/>
              </a:rPr>
              <a:t>________</a:t>
            </a:r>
            <a:r>
              <a:rPr lang="zh-CN" altLang="en-US" sz="2400" b="1" dirty="0">
                <a:solidFill>
                  <a:prstClr val="black">
                    <a:lumMod val="85000"/>
                    <a:lumOff val="15000"/>
                  </a:prstClr>
                </a:solidFill>
                <a:latin typeface="微软雅黑"/>
                <a:ea typeface="微软雅黑"/>
              </a:rPr>
              <a:t>、</a:t>
            </a:r>
            <a:r>
              <a:rPr lang="en-US" altLang="zh-CN" sz="2400" b="1" dirty="0">
                <a:solidFill>
                  <a:prstClr val="black">
                    <a:lumMod val="85000"/>
                    <a:lumOff val="15000"/>
                  </a:prstClr>
                </a:solidFill>
                <a:latin typeface="微软雅黑"/>
                <a:ea typeface="微软雅黑"/>
              </a:rPr>
              <a:t>_______</a:t>
            </a:r>
            <a:r>
              <a:rPr lang="zh-CN" altLang="en-US" sz="2400" b="1" dirty="0">
                <a:solidFill>
                  <a:prstClr val="black">
                    <a:lumMod val="85000"/>
                    <a:lumOff val="15000"/>
                  </a:prstClr>
                </a:solidFill>
                <a:latin typeface="微软雅黑"/>
                <a:ea typeface="微软雅黑"/>
              </a:rPr>
              <a:t>、</a:t>
            </a:r>
            <a:r>
              <a:rPr lang="en-US" altLang="zh-CN" sz="2400" b="1" dirty="0">
                <a:solidFill>
                  <a:prstClr val="black">
                    <a:lumMod val="85000"/>
                    <a:lumOff val="15000"/>
                  </a:prstClr>
                </a:solidFill>
                <a:latin typeface="微软雅黑"/>
                <a:ea typeface="微软雅黑"/>
              </a:rPr>
              <a:t>_____________</a:t>
            </a:r>
            <a:endPar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9480C3C3-AD51-5C3F-FD59-BF52C9645D29}"/>
              </a:ext>
            </a:extLst>
          </p:cNvPr>
          <p:cNvSpPr txBox="1"/>
          <p:nvPr/>
        </p:nvSpPr>
        <p:spPr>
          <a:xfrm>
            <a:off x="5971235" y="2501526"/>
            <a:ext cx="1493114" cy="400110"/>
          </a:xfrm>
          <a:prstGeom prst="rect">
            <a:avLst/>
          </a:prstGeom>
          <a:noFill/>
        </p:spPr>
        <p:txBody>
          <a:bodyPr wrap="square">
            <a:spAutoFit/>
          </a:bodyPr>
          <a:lstStyle/>
          <a:p>
            <a:r>
              <a:rPr lang="zh-CN" altLang="en-US" sz="2000" b="1" dirty="0">
                <a:solidFill>
                  <a:srgbClr val="FF0000"/>
                </a:solidFill>
              </a:rPr>
              <a:t>数据结构</a:t>
            </a:r>
          </a:p>
        </p:txBody>
      </p:sp>
      <p:sp>
        <p:nvSpPr>
          <p:cNvPr id="10" name="文本框 9">
            <a:extLst>
              <a:ext uri="{FF2B5EF4-FFF2-40B4-BE49-F238E27FC236}">
                <a16:creationId xmlns:a16="http://schemas.microsoft.com/office/drawing/2014/main" id="{DCCC8378-DA2E-5B24-E901-741A3E38EEF3}"/>
              </a:ext>
            </a:extLst>
          </p:cNvPr>
          <p:cNvSpPr txBox="1"/>
          <p:nvPr/>
        </p:nvSpPr>
        <p:spPr>
          <a:xfrm>
            <a:off x="7247833" y="2532303"/>
            <a:ext cx="1493114" cy="400110"/>
          </a:xfrm>
          <a:prstGeom prst="rect">
            <a:avLst/>
          </a:prstGeom>
          <a:noFill/>
        </p:spPr>
        <p:txBody>
          <a:bodyPr wrap="square">
            <a:spAutoFit/>
          </a:bodyPr>
          <a:lstStyle/>
          <a:p>
            <a:r>
              <a:rPr lang="zh-CN" altLang="en-US" sz="2000" b="1" dirty="0">
                <a:solidFill>
                  <a:srgbClr val="FF0000"/>
                </a:solidFill>
              </a:rPr>
              <a:t>数据操作</a:t>
            </a:r>
          </a:p>
        </p:txBody>
      </p:sp>
      <p:sp>
        <p:nvSpPr>
          <p:cNvPr id="12" name="文本框 11">
            <a:extLst>
              <a:ext uri="{FF2B5EF4-FFF2-40B4-BE49-F238E27FC236}">
                <a16:creationId xmlns:a16="http://schemas.microsoft.com/office/drawing/2014/main" id="{7625B88D-B49A-6E8B-23C2-F145BCD3DE24}"/>
              </a:ext>
            </a:extLst>
          </p:cNvPr>
          <p:cNvSpPr txBox="1"/>
          <p:nvPr/>
        </p:nvSpPr>
        <p:spPr>
          <a:xfrm>
            <a:off x="8518379" y="2532303"/>
            <a:ext cx="2002033" cy="400110"/>
          </a:xfrm>
          <a:prstGeom prst="rect">
            <a:avLst/>
          </a:prstGeom>
          <a:noFill/>
        </p:spPr>
        <p:txBody>
          <a:bodyPr wrap="square">
            <a:spAutoFit/>
          </a:bodyPr>
          <a:lstStyle/>
          <a:p>
            <a:r>
              <a:rPr lang="zh-CN" altLang="en-US" sz="2000" b="1" dirty="0">
                <a:solidFill>
                  <a:srgbClr val="FF0000"/>
                </a:solidFill>
              </a:rPr>
              <a:t>数据完整性约束</a:t>
            </a:r>
          </a:p>
        </p:txBody>
      </p:sp>
    </p:spTree>
    <p:extLst>
      <p:ext uri="{BB962C8B-B14F-4D97-AF65-F5344CB8AC3E}">
        <p14:creationId xmlns:p14="http://schemas.microsoft.com/office/powerpoint/2010/main" val="23075408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0"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9DE05E8-7754-40E5-8FA3-A67416E4967A}"/>
              </a:ext>
            </a:extLst>
          </p:cNvPr>
          <p:cNvPicPr>
            <a:picLocks noChangeAspect="1"/>
          </p:cNvPicPr>
          <p:nvPr/>
        </p:nvPicPr>
        <p:blipFill>
          <a:blip r:embed="rId3"/>
          <a:stretch>
            <a:fillRect/>
          </a:stretch>
        </p:blipFill>
        <p:spPr>
          <a:xfrm>
            <a:off x="2753816" y="1576359"/>
            <a:ext cx="6472556" cy="4343178"/>
          </a:xfrm>
          <a:prstGeom prst="rect">
            <a:avLst/>
          </a:prstGeom>
        </p:spPr>
      </p:pic>
      <p:grpSp>
        <p:nvGrpSpPr>
          <p:cNvPr id="3" name="组合 2">
            <a:extLst>
              <a:ext uri="{FF2B5EF4-FFF2-40B4-BE49-F238E27FC236}">
                <a16:creationId xmlns:a16="http://schemas.microsoft.com/office/drawing/2014/main" id="{17BA0C7E-D070-EFF1-A714-E460293E512B}"/>
              </a:ext>
            </a:extLst>
          </p:cNvPr>
          <p:cNvGrpSpPr/>
          <p:nvPr/>
        </p:nvGrpSpPr>
        <p:grpSpPr>
          <a:xfrm>
            <a:off x="789969" y="593197"/>
            <a:ext cx="5614144" cy="879946"/>
            <a:chOff x="420387" y="472101"/>
            <a:chExt cx="5614144" cy="879946"/>
          </a:xfrm>
        </p:grpSpPr>
        <p:sp>
          <p:nvSpPr>
            <p:cNvPr id="5" name="内容占位符 2">
              <a:extLst>
                <a:ext uri="{FF2B5EF4-FFF2-40B4-BE49-F238E27FC236}">
                  <a16:creationId xmlns:a16="http://schemas.microsoft.com/office/drawing/2014/main" id="{1D823BC1-D931-1FCB-E980-01362071D6BA}"/>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数据模型</a:t>
              </a:r>
            </a:p>
          </p:txBody>
        </p:sp>
        <p:sp>
          <p:nvSpPr>
            <p:cNvPr id="6" name="KSO_Shape">
              <a:extLst>
                <a:ext uri="{FF2B5EF4-FFF2-40B4-BE49-F238E27FC236}">
                  <a16:creationId xmlns:a16="http://schemas.microsoft.com/office/drawing/2014/main" id="{C9742D86-BF83-0850-8521-6F555D2A6E7E}"/>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15387313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4C1CFF4-3D4C-4DD2-AAD5-805C8290BADB}"/>
              </a:ext>
            </a:extLst>
          </p:cNvPr>
          <p:cNvPicPr>
            <a:picLocks noChangeAspect="1"/>
          </p:cNvPicPr>
          <p:nvPr/>
        </p:nvPicPr>
        <p:blipFill>
          <a:blip r:embed="rId3"/>
          <a:stretch>
            <a:fillRect/>
          </a:stretch>
        </p:blipFill>
        <p:spPr>
          <a:xfrm>
            <a:off x="2047998" y="1473143"/>
            <a:ext cx="7841438" cy="4500304"/>
          </a:xfrm>
          <a:prstGeom prst="rect">
            <a:avLst/>
          </a:prstGeom>
        </p:spPr>
      </p:pic>
      <p:grpSp>
        <p:nvGrpSpPr>
          <p:cNvPr id="3" name="组合 2">
            <a:extLst>
              <a:ext uri="{FF2B5EF4-FFF2-40B4-BE49-F238E27FC236}">
                <a16:creationId xmlns:a16="http://schemas.microsoft.com/office/drawing/2014/main" id="{385B069F-76AA-0DE3-F08B-77014003BCEB}"/>
              </a:ext>
            </a:extLst>
          </p:cNvPr>
          <p:cNvGrpSpPr/>
          <p:nvPr/>
        </p:nvGrpSpPr>
        <p:grpSpPr>
          <a:xfrm>
            <a:off x="829725" y="593197"/>
            <a:ext cx="5614144" cy="879946"/>
            <a:chOff x="420387" y="472101"/>
            <a:chExt cx="5614144" cy="879946"/>
          </a:xfrm>
        </p:grpSpPr>
        <p:sp>
          <p:nvSpPr>
            <p:cNvPr id="5" name="内容占位符 2">
              <a:extLst>
                <a:ext uri="{FF2B5EF4-FFF2-40B4-BE49-F238E27FC236}">
                  <a16:creationId xmlns:a16="http://schemas.microsoft.com/office/drawing/2014/main" id="{3BDEA852-16AA-CC5D-B351-75785B6CAC8C}"/>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数据模型</a:t>
              </a:r>
              <a:r>
                <a:rPr lang="zh-CN" altLang="en-US" sz="2800" dirty="0">
                  <a:solidFill>
                    <a:prstClr val="black">
                      <a:lumMod val="85000"/>
                      <a:lumOff val="15000"/>
                    </a:prstClr>
                  </a:solidFill>
                  <a:latin typeface="Times New Roman"/>
                  <a:ea typeface="微软雅黑"/>
                </a:rPr>
                <a:t>分类</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6" name="KSO_Shape">
              <a:extLst>
                <a:ext uri="{FF2B5EF4-FFF2-40B4-BE49-F238E27FC236}">
                  <a16:creationId xmlns:a16="http://schemas.microsoft.com/office/drawing/2014/main" id="{3EB13236-BC20-FA27-4F84-705D70421561}"/>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25880212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4C428-C18B-EED7-3A75-DB89D6D7B228}"/>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D51F7C98-5722-EF94-C636-BC6CBEC72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62509"/>
            <a:ext cx="6406547" cy="2880933"/>
          </a:xfrm>
          <a:prstGeom prst="rect">
            <a:avLst/>
          </a:prstGeom>
        </p:spPr>
      </p:pic>
      <p:sp>
        <p:nvSpPr>
          <p:cNvPr id="31" name="矩形 69">
            <a:extLst>
              <a:ext uri="{FF2B5EF4-FFF2-40B4-BE49-F238E27FC236}">
                <a16:creationId xmlns:a16="http://schemas.microsoft.com/office/drawing/2014/main" id="{D92D9D60-217E-ACEC-1CFE-020D088D0214}"/>
              </a:ext>
            </a:extLst>
          </p:cNvPr>
          <p:cNvSpPr>
            <a:spLocks noChangeArrowheads="1"/>
          </p:cNvSpPr>
          <p:nvPr/>
        </p:nvSpPr>
        <p:spPr bwMode="auto">
          <a:xfrm>
            <a:off x="1809002" y="1473664"/>
            <a:ext cx="8957610" cy="152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defTabSz="1179669"/>
            <a:r>
              <a:rPr lang="en-US" altLang="zh-CN" sz="9289" b="1" dirty="0">
                <a:solidFill>
                  <a:srgbClr val="FC6E5B"/>
                </a:solidFill>
                <a:latin typeface="方正卡通简体" panose="03000509000000000000" pitchFamily="65" charset="-122"/>
                <a:ea typeface="方正卡通简体" panose="03000509000000000000" pitchFamily="65" charset="-122"/>
                <a:sym typeface="微软雅黑" pitchFamily="34" charset="-122"/>
              </a:rPr>
              <a:t>02   </a:t>
            </a:r>
            <a:r>
              <a:rPr lang="zh-CN" altLang="en-US" sz="5806" b="1" dirty="0">
                <a:solidFill>
                  <a:srgbClr val="FC6E5B"/>
                </a:solidFill>
                <a:latin typeface="方正卡通简体" panose="03000509000000000000" pitchFamily="65" charset="-122"/>
                <a:ea typeface="方正卡通简体" panose="03000509000000000000" pitchFamily="65" charset="-122"/>
                <a:sym typeface="微软雅黑" pitchFamily="34" charset="-122"/>
              </a:rPr>
              <a:t>概念模型</a:t>
            </a:r>
            <a:endParaRPr lang="en-US" altLang="zh-CN" sz="5806" b="1" dirty="0">
              <a:solidFill>
                <a:srgbClr val="66BFBC"/>
              </a:solidFill>
              <a:latin typeface="方正卡通简体" panose="03000509000000000000" pitchFamily="65" charset="-122"/>
              <a:ea typeface="方正卡通简体" panose="03000509000000000000" pitchFamily="65" charset="-122"/>
              <a:sym typeface="微软雅黑" pitchFamily="34" charset="-122"/>
            </a:endParaRPr>
          </a:p>
        </p:txBody>
      </p:sp>
      <p:pic>
        <p:nvPicPr>
          <p:cNvPr id="33" name="图片 32">
            <a:extLst>
              <a:ext uri="{FF2B5EF4-FFF2-40B4-BE49-F238E27FC236}">
                <a16:creationId xmlns:a16="http://schemas.microsoft.com/office/drawing/2014/main" id="{AC56AFDD-6CA0-B564-84A4-F029B9A1D6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9237" y="2694581"/>
            <a:ext cx="6972173" cy="1167928"/>
          </a:xfrm>
          <a:prstGeom prst="rect">
            <a:avLst/>
          </a:prstGeom>
        </p:spPr>
      </p:pic>
    </p:spTree>
    <p:extLst>
      <p:ext uri="{BB962C8B-B14F-4D97-AF65-F5344CB8AC3E}">
        <p14:creationId xmlns:p14="http://schemas.microsoft.com/office/powerpoint/2010/main" val="62284030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8650108-D3B6-415D-9C72-907338B4D83D}"/>
              </a:ext>
            </a:extLst>
          </p:cNvPr>
          <p:cNvPicPr>
            <a:picLocks noChangeAspect="1"/>
          </p:cNvPicPr>
          <p:nvPr/>
        </p:nvPicPr>
        <p:blipFill>
          <a:blip r:embed="rId3"/>
          <a:stretch>
            <a:fillRect/>
          </a:stretch>
        </p:blipFill>
        <p:spPr>
          <a:xfrm>
            <a:off x="7103823" y="1197653"/>
            <a:ext cx="3771172" cy="4347424"/>
          </a:xfrm>
          <a:prstGeom prst="rect">
            <a:avLst/>
          </a:prstGeom>
        </p:spPr>
      </p:pic>
      <p:sp>
        <p:nvSpPr>
          <p:cNvPr id="9" name="文本框 8">
            <a:extLst>
              <a:ext uri="{FF2B5EF4-FFF2-40B4-BE49-F238E27FC236}">
                <a16:creationId xmlns:a16="http://schemas.microsoft.com/office/drawing/2014/main" id="{635DF842-B365-494F-87D3-22D003B27FD1}"/>
              </a:ext>
            </a:extLst>
          </p:cNvPr>
          <p:cNvSpPr txBox="1"/>
          <p:nvPr/>
        </p:nvSpPr>
        <p:spPr>
          <a:xfrm>
            <a:off x="664783" y="1314373"/>
            <a:ext cx="6272145" cy="2807948"/>
          </a:xfrm>
          <a:prstGeom prst="rect">
            <a:avLst/>
          </a:prstGeom>
          <a:noFill/>
        </p:spPr>
        <p:txBody>
          <a:bodyPr wrap="square">
            <a:spAutoFit/>
          </a:bodyPr>
          <a:lstStyle/>
          <a:p>
            <a:pPr>
              <a:lnSpc>
                <a:spcPct val="150000"/>
              </a:lnSpc>
            </a:pPr>
            <a:endParaRPr lang="en-US" altLang="zh-CN" sz="2000"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概念模型是从现实世界中抽取出对于一个目标应用系统来说最有用的事物、事物的特征以及事物之间的联系，通过各种概念精确地加以描述。</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概念模型可采用实体联系模型用</a:t>
            </a:r>
            <a:r>
              <a:rPr lang="en-US" altLang="zh-CN" sz="2000" dirty="0">
                <a:highlight>
                  <a:srgbClr val="FFFF00"/>
                </a:highlight>
                <a:latin typeface="微软雅黑" panose="020B0503020204020204" pitchFamily="34" charset="-122"/>
                <a:ea typeface="微软雅黑" panose="020B0503020204020204" pitchFamily="34" charset="-122"/>
              </a:rPr>
              <a:t>E-R</a:t>
            </a:r>
            <a:r>
              <a:rPr lang="zh-CN" altLang="en-US" sz="2000" dirty="0">
                <a:highlight>
                  <a:srgbClr val="FFFF00"/>
                </a:highlight>
                <a:latin typeface="微软雅黑" panose="020B0503020204020204" pitchFamily="34" charset="-122"/>
                <a:ea typeface="微软雅黑" panose="020B0503020204020204" pitchFamily="34" charset="-122"/>
              </a:rPr>
              <a:t>图</a:t>
            </a:r>
            <a:r>
              <a:rPr lang="zh-CN" altLang="en-US" sz="2000" dirty="0">
                <a:latin typeface="微软雅黑" panose="020B0503020204020204" pitchFamily="34" charset="-122"/>
                <a:ea typeface="微软雅黑" panose="020B0503020204020204" pitchFamily="34" charset="-122"/>
              </a:rPr>
              <a:t>来描述。</a:t>
            </a:r>
            <a:endParaRPr lang="en-US" altLang="zh-CN" sz="2000" dirty="0">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97AF64F6-DF04-424B-AF54-C3FCD28E8896}"/>
              </a:ext>
            </a:extLst>
          </p:cNvPr>
          <p:cNvGrpSpPr/>
          <p:nvPr/>
        </p:nvGrpSpPr>
        <p:grpSpPr>
          <a:xfrm>
            <a:off x="829725" y="593197"/>
            <a:ext cx="5614144" cy="879946"/>
            <a:chOff x="420387" y="472101"/>
            <a:chExt cx="5614144" cy="879946"/>
          </a:xfrm>
        </p:grpSpPr>
        <p:sp>
          <p:nvSpPr>
            <p:cNvPr id="12" name="内容占位符 2">
              <a:extLst>
                <a:ext uri="{FF2B5EF4-FFF2-40B4-BE49-F238E27FC236}">
                  <a16:creationId xmlns:a16="http://schemas.microsoft.com/office/drawing/2014/main" id="{76B61440-D5FB-5A6E-E0C2-84A337134255}"/>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概念模型</a:t>
              </a:r>
            </a:p>
          </p:txBody>
        </p:sp>
        <p:sp>
          <p:nvSpPr>
            <p:cNvPr id="13" name="KSO_Shape">
              <a:extLst>
                <a:ext uri="{FF2B5EF4-FFF2-40B4-BE49-F238E27FC236}">
                  <a16:creationId xmlns:a16="http://schemas.microsoft.com/office/drawing/2014/main" id="{70254B8F-8287-AE5A-DEE3-40D16AA2766C}"/>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39930310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1000"/>
                                        <p:tgtEl>
                                          <p:spTgt spid="9">
                                            <p:txEl>
                                              <p:pRg st="3" end="3"/>
                                            </p:txEl>
                                          </p:spTgt>
                                        </p:tgtEl>
                                      </p:cBhvr>
                                    </p:animEffect>
                                    <p:anim calcmode="lin" valueType="num">
                                      <p:cBhvr>
                                        <p:cTn id="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6159808-2938-C8B8-62A2-2FD54E209664}"/>
              </a:ext>
            </a:extLst>
          </p:cNvPr>
          <p:cNvGrpSpPr/>
          <p:nvPr/>
        </p:nvGrpSpPr>
        <p:grpSpPr>
          <a:xfrm>
            <a:off x="839664" y="533563"/>
            <a:ext cx="6058092" cy="879946"/>
            <a:chOff x="420387" y="472101"/>
            <a:chExt cx="6058092" cy="879946"/>
          </a:xfrm>
        </p:grpSpPr>
        <p:sp>
          <p:nvSpPr>
            <p:cNvPr id="3" name="内容占位符 2">
              <a:extLst>
                <a:ext uri="{FF2B5EF4-FFF2-40B4-BE49-F238E27FC236}">
                  <a16:creationId xmlns:a16="http://schemas.microsoft.com/office/drawing/2014/main" id="{D3B028C6-E7BE-D0E7-5148-79275CBCF234}"/>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概念模型（理解，用于</a:t>
              </a:r>
              <a:r>
                <a:rPr lang="en-US" altLang="zh-CN" sz="2800" dirty="0">
                  <a:solidFill>
                    <a:prstClr val="black">
                      <a:lumMod val="85000"/>
                      <a:lumOff val="15000"/>
                    </a:prstClr>
                  </a:solidFill>
                  <a:latin typeface="Times New Roman"/>
                  <a:ea typeface="微软雅黑"/>
                </a:rPr>
                <a:t>ER</a:t>
              </a:r>
              <a:r>
                <a:rPr lang="zh-CN" altLang="en-US" sz="2800" dirty="0">
                  <a:solidFill>
                    <a:prstClr val="black">
                      <a:lumMod val="85000"/>
                      <a:lumOff val="15000"/>
                    </a:prstClr>
                  </a:solidFill>
                  <a:latin typeface="Times New Roman"/>
                  <a:ea typeface="微软雅黑"/>
                </a:rPr>
                <a:t>图绘制）</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4" name="KSO_Shape">
              <a:extLst>
                <a:ext uri="{FF2B5EF4-FFF2-40B4-BE49-F238E27FC236}">
                  <a16:creationId xmlns:a16="http://schemas.microsoft.com/office/drawing/2014/main" id="{DC9732F3-DF28-B842-09E1-0A31446BA49F}"/>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6" name="文本框 5">
            <a:extLst>
              <a:ext uri="{FF2B5EF4-FFF2-40B4-BE49-F238E27FC236}">
                <a16:creationId xmlns:a16="http://schemas.microsoft.com/office/drawing/2014/main" id="{2F949706-3E4A-EFE7-2A6A-13909A2A5840}"/>
              </a:ext>
            </a:extLst>
          </p:cNvPr>
          <p:cNvSpPr txBox="1"/>
          <p:nvPr/>
        </p:nvSpPr>
        <p:spPr>
          <a:xfrm>
            <a:off x="1482852" y="2073116"/>
            <a:ext cx="9226296" cy="2461700"/>
          </a:xfrm>
          <a:prstGeom prst="rect">
            <a:avLst/>
          </a:prstGeom>
          <a:noFill/>
        </p:spPr>
        <p:txBody>
          <a:bodyPr wrap="square">
            <a:spAutoFit/>
          </a:bodyPr>
          <a:lstStyle/>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现实世界中客观存在并能相互区分的事物经过加工</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抽象成为信息世界的实体。</a:t>
            </a:r>
          </a:p>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实体是信息世界的基本单位。</a:t>
            </a:r>
          </a:p>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可以是具体的，也可以是抽象的。如：张三、汽车、运动</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实体需要命名。</a:t>
            </a:r>
          </a:p>
        </p:txBody>
      </p:sp>
      <p:sp>
        <p:nvSpPr>
          <p:cNvPr id="8" name="文本框 7">
            <a:extLst>
              <a:ext uri="{FF2B5EF4-FFF2-40B4-BE49-F238E27FC236}">
                <a16:creationId xmlns:a16="http://schemas.microsoft.com/office/drawing/2014/main" id="{1BC93E44-7A24-7241-1944-BF47D07007DF}"/>
              </a:ext>
            </a:extLst>
          </p:cNvPr>
          <p:cNvSpPr txBox="1"/>
          <p:nvPr/>
        </p:nvSpPr>
        <p:spPr>
          <a:xfrm>
            <a:off x="1600200" y="1493500"/>
            <a:ext cx="7552944" cy="499624"/>
          </a:xfrm>
          <a:prstGeom prst="rect">
            <a:avLst/>
          </a:prstGeom>
          <a:noFill/>
        </p:spPr>
        <p:txBody>
          <a:bodyPr wrap="square">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实体（</a:t>
            </a:r>
            <a:r>
              <a:rPr lang="en-US" altLang="zh-CN" sz="2000" b="1" dirty="0">
                <a:solidFill>
                  <a:srgbClr val="FF0000"/>
                </a:solidFill>
                <a:latin typeface="微软雅黑" panose="020B0503020204020204" pitchFamily="34" charset="-122"/>
                <a:ea typeface="微软雅黑" panose="020B0503020204020204" pitchFamily="34" charset="-122"/>
              </a:rPr>
              <a:t>Entity</a:t>
            </a:r>
            <a:r>
              <a:rPr lang="zh-CN" altLang="en-US" sz="2000" b="1" dirty="0">
                <a:solidFill>
                  <a:srgbClr val="FF0000"/>
                </a:solidFill>
                <a:latin typeface="微软雅黑" panose="020B0503020204020204" pitchFamily="34" charset="-122"/>
                <a:ea typeface="微软雅黑" panose="020B0503020204020204" pitchFamily="34" charset="-122"/>
              </a:rPr>
              <a:t>） ：</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13832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wipe(down)">
                                      <p:cBhvr>
                                        <p:cTn id="14" dur="500"/>
                                        <p:tgtEl>
                                          <p:spTgt spid="6">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down)">
                                      <p:cBhvr>
                                        <p:cTn id="19"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FCEBB-745E-2C4C-6AD3-5D1D3049CDBA}"/>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0852B59-F148-5861-EA45-6958446B3389}"/>
              </a:ext>
            </a:extLst>
          </p:cNvPr>
          <p:cNvGrpSpPr/>
          <p:nvPr/>
        </p:nvGrpSpPr>
        <p:grpSpPr>
          <a:xfrm>
            <a:off x="839664" y="533563"/>
            <a:ext cx="6058092" cy="879946"/>
            <a:chOff x="420387" y="472101"/>
            <a:chExt cx="6058092" cy="879946"/>
          </a:xfrm>
        </p:grpSpPr>
        <p:sp>
          <p:nvSpPr>
            <p:cNvPr id="3" name="内容占位符 2">
              <a:extLst>
                <a:ext uri="{FF2B5EF4-FFF2-40B4-BE49-F238E27FC236}">
                  <a16:creationId xmlns:a16="http://schemas.microsoft.com/office/drawing/2014/main" id="{C4CAD65B-1B5C-2749-8DD6-3353C5BC7FC8}"/>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概念模型</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4" name="KSO_Shape">
              <a:extLst>
                <a:ext uri="{FF2B5EF4-FFF2-40B4-BE49-F238E27FC236}">
                  <a16:creationId xmlns:a16="http://schemas.microsoft.com/office/drawing/2014/main" id="{944825D1-F1CD-5FA9-F95C-4BDD3AEEA9CF}"/>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6" name="文本框 5">
            <a:extLst>
              <a:ext uri="{FF2B5EF4-FFF2-40B4-BE49-F238E27FC236}">
                <a16:creationId xmlns:a16="http://schemas.microsoft.com/office/drawing/2014/main" id="{12414907-CC04-4FBF-F4DD-02B9932A8D2F}"/>
              </a:ext>
            </a:extLst>
          </p:cNvPr>
          <p:cNvSpPr txBox="1"/>
          <p:nvPr/>
        </p:nvSpPr>
        <p:spPr>
          <a:xfrm>
            <a:off x="1482852" y="2073116"/>
            <a:ext cx="9226296" cy="1846146"/>
          </a:xfrm>
          <a:prstGeom prst="rect">
            <a:avLst/>
          </a:prstGeom>
          <a:noFill/>
        </p:spPr>
        <p:txBody>
          <a:bodyPr wrap="square">
            <a:spAutoFit/>
          </a:bodyPr>
          <a:lstStyle/>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现实世界的事物所具有的特征反映在其对应的实体上，称之为属性。</a:t>
            </a:r>
            <a:endParaRPr lang="en-US" altLang="zh-CN" sz="2000" dirty="0">
              <a:latin typeface="微软雅黑" panose="020B0503020204020204" pitchFamily="34" charset="-122"/>
              <a:ea typeface="微软雅黑" panose="020B0503020204020204" pitchFamily="34" charset="-122"/>
            </a:endParaRPr>
          </a:p>
          <a:p>
            <a:pPr>
              <a:lnSpc>
                <a:spcPct val="200000"/>
              </a:lnSpc>
            </a:pPr>
            <a:r>
              <a:rPr lang="zh-CN" altLang="en-US" sz="2000" dirty="0">
                <a:latin typeface="微软雅黑" panose="020B0503020204020204" pitchFamily="34" charset="-122"/>
                <a:ea typeface="微软雅黑" panose="020B0503020204020204" pitchFamily="34" charset="-122"/>
              </a:rPr>
              <a:t>例如：学生（</a:t>
            </a:r>
            <a:r>
              <a:rPr lang="zh-CN" altLang="en-US" sz="2000" dirty="0">
                <a:solidFill>
                  <a:srgbClr val="FF0000"/>
                </a:solidFill>
                <a:latin typeface="微软雅黑" panose="020B0503020204020204" pitchFamily="34" charset="-122"/>
                <a:ea typeface="微软雅黑" panose="020B0503020204020204" pitchFamily="34" charset="-122"/>
              </a:rPr>
              <a:t>学号、姓名、身份证号</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一个实体可以由若干属性来刻画，用属性名表示。</a:t>
            </a:r>
          </a:p>
        </p:txBody>
      </p:sp>
      <p:sp>
        <p:nvSpPr>
          <p:cNvPr id="8" name="文本框 7">
            <a:extLst>
              <a:ext uri="{FF2B5EF4-FFF2-40B4-BE49-F238E27FC236}">
                <a16:creationId xmlns:a16="http://schemas.microsoft.com/office/drawing/2014/main" id="{4B7D36C9-C042-A987-80FD-579985C07601}"/>
              </a:ext>
            </a:extLst>
          </p:cNvPr>
          <p:cNvSpPr txBox="1"/>
          <p:nvPr/>
        </p:nvSpPr>
        <p:spPr>
          <a:xfrm>
            <a:off x="1600200" y="1493500"/>
            <a:ext cx="7552944" cy="499624"/>
          </a:xfrm>
          <a:prstGeom prst="rect">
            <a:avLst/>
          </a:prstGeom>
          <a:noFill/>
        </p:spPr>
        <p:txBody>
          <a:bodyPr wrap="square">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属性（</a:t>
            </a:r>
            <a:r>
              <a:rPr lang="en-US" altLang="zh-CN" sz="2000" b="1" dirty="0">
                <a:solidFill>
                  <a:srgbClr val="FF0000"/>
                </a:solidFill>
                <a:latin typeface="微软雅黑" panose="020B0503020204020204" pitchFamily="34" charset="-122"/>
                <a:ea typeface="微软雅黑" panose="020B0503020204020204" pitchFamily="34" charset="-122"/>
              </a:rPr>
              <a:t>Attribute</a:t>
            </a:r>
            <a:r>
              <a:rPr lang="zh-CN" altLang="en-US" sz="2000" b="1" dirty="0">
                <a:solidFill>
                  <a:srgbClr val="FF0000"/>
                </a:solidFill>
                <a:latin typeface="微软雅黑" panose="020B0503020204020204" pitchFamily="34" charset="-122"/>
                <a:ea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6788853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wipe(down)">
                                      <p:cBhvr>
                                        <p:cTn id="14" dur="500"/>
                                        <p:tgtEl>
                                          <p:spTgt spid="6">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wipe(down)">
                                      <p:cBhvr>
                                        <p:cTn id="19"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379BF-2E61-BD3A-D8D4-2E6FB3A4F34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552B261-C778-AC93-B321-BE28BB8DE27E}"/>
              </a:ext>
            </a:extLst>
          </p:cNvPr>
          <p:cNvGrpSpPr/>
          <p:nvPr/>
        </p:nvGrpSpPr>
        <p:grpSpPr>
          <a:xfrm>
            <a:off x="839664" y="533563"/>
            <a:ext cx="6058092" cy="879946"/>
            <a:chOff x="420387" y="472101"/>
            <a:chExt cx="6058092" cy="879946"/>
          </a:xfrm>
        </p:grpSpPr>
        <p:sp>
          <p:nvSpPr>
            <p:cNvPr id="3" name="内容占位符 2">
              <a:extLst>
                <a:ext uri="{FF2B5EF4-FFF2-40B4-BE49-F238E27FC236}">
                  <a16:creationId xmlns:a16="http://schemas.microsoft.com/office/drawing/2014/main" id="{8BC681EB-EE15-D781-C8CC-D0C3E1554A27}"/>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概念模型</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4" name="KSO_Shape">
              <a:extLst>
                <a:ext uri="{FF2B5EF4-FFF2-40B4-BE49-F238E27FC236}">
                  <a16:creationId xmlns:a16="http://schemas.microsoft.com/office/drawing/2014/main" id="{B0BA2E2D-9F30-F46E-CDE6-BD735E2C6C78}"/>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6" name="文本框 5">
            <a:extLst>
              <a:ext uri="{FF2B5EF4-FFF2-40B4-BE49-F238E27FC236}">
                <a16:creationId xmlns:a16="http://schemas.microsoft.com/office/drawing/2014/main" id="{5BC73170-C037-86F9-440A-05748000329C}"/>
              </a:ext>
            </a:extLst>
          </p:cNvPr>
          <p:cNvSpPr txBox="1"/>
          <p:nvPr/>
        </p:nvSpPr>
        <p:spPr>
          <a:xfrm>
            <a:off x="1482852" y="2073116"/>
            <a:ext cx="9226296" cy="1230593"/>
          </a:xfrm>
          <a:prstGeom prst="rect">
            <a:avLst/>
          </a:prstGeom>
          <a:noFill/>
        </p:spPr>
        <p:txBody>
          <a:bodyPr wrap="square">
            <a:spAutoFit/>
          </a:bodyPr>
          <a:lstStyle/>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用属性名集合来抽象和刻画同类实体</a:t>
            </a:r>
            <a:endParaRPr lang="en-US" altLang="zh-CN" sz="2000" dirty="0">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学生（学号，姓名，性别，出生日期，所在院系）</a:t>
            </a:r>
          </a:p>
        </p:txBody>
      </p:sp>
      <p:sp>
        <p:nvSpPr>
          <p:cNvPr id="8" name="文本框 7">
            <a:extLst>
              <a:ext uri="{FF2B5EF4-FFF2-40B4-BE49-F238E27FC236}">
                <a16:creationId xmlns:a16="http://schemas.microsoft.com/office/drawing/2014/main" id="{F90DF328-6F2E-6A28-0B07-434238137B7C}"/>
              </a:ext>
            </a:extLst>
          </p:cNvPr>
          <p:cNvSpPr txBox="1"/>
          <p:nvPr/>
        </p:nvSpPr>
        <p:spPr>
          <a:xfrm>
            <a:off x="1600200" y="1493500"/>
            <a:ext cx="7552944" cy="499624"/>
          </a:xfrm>
          <a:prstGeom prst="rect">
            <a:avLst/>
          </a:prstGeom>
          <a:noFill/>
        </p:spPr>
        <p:txBody>
          <a:bodyPr wrap="square">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实体型</a:t>
            </a:r>
            <a:r>
              <a:rPr lang="en-US" altLang="zh-CN" sz="2000" b="1" dirty="0">
                <a:solidFill>
                  <a:srgbClr val="FF0000"/>
                </a:solidFill>
                <a:latin typeface="微软雅黑" panose="020B0503020204020204" pitchFamily="34" charset="-122"/>
                <a:ea typeface="微软雅黑" panose="020B0503020204020204" pitchFamily="34" charset="-122"/>
              </a:rPr>
              <a:t>(Entity Type</a:t>
            </a:r>
            <a:r>
              <a:rPr lang="zh-CN" altLang="en-US" sz="2000" b="1" dirty="0">
                <a:solidFill>
                  <a:srgbClr val="FF0000"/>
                </a:solidFill>
                <a:latin typeface="微软雅黑" panose="020B0503020204020204" pitchFamily="34" charset="-122"/>
                <a:ea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805C3F3B-2ECE-D253-D802-233FFC5B55D0}"/>
              </a:ext>
            </a:extLst>
          </p:cNvPr>
          <p:cNvSpPr txBox="1"/>
          <p:nvPr/>
        </p:nvSpPr>
        <p:spPr>
          <a:xfrm>
            <a:off x="1690110" y="3554292"/>
            <a:ext cx="7552944" cy="499624"/>
          </a:xfrm>
          <a:prstGeom prst="rect">
            <a:avLst/>
          </a:prstGeom>
          <a:noFill/>
        </p:spPr>
        <p:txBody>
          <a:bodyPr wrap="square">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实体集</a:t>
            </a:r>
            <a:r>
              <a:rPr lang="en-US" altLang="zh-CN" sz="2000" b="1" dirty="0">
                <a:solidFill>
                  <a:srgbClr val="FF0000"/>
                </a:solidFill>
                <a:latin typeface="微软雅黑" panose="020B0503020204020204" pitchFamily="34" charset="-122"/>
                <a:ea typeface="微软雅黑" panose="020B0503020204020204" pitchFamily="34" charset="-122"/>
              </a:rPr>
              <a:t>(Entity Set</a:t>
            </a:r>
            <a:r>
              <a:rPr lang="zh-CN" altLang="en-US" sz="2000" b="1" dirty="0">
                <a:solidFill>
                  <a:srgbClr val="FF0000"/>
                </a:solidFill>
                <a:latin typeface="微软雅黑" panose="020B0503020204020204" pitchFamily="34" charset="-122"/>
                <a:ea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2C81838F-FB26-3380-BCD6-DF55C296FEAB}"/>
              </a:ext>
            </a:extLst>
          </p:cNvPr>
          <p:cNvSpPr txBox="1"/>
          <p:nvPr/>
        </p:nvSpPr>
        <p:spPr>
          <a:xfrm>
            <a:off x="1600200" y="4133907"/>
            <a:ext cx="9226296" cy="1230593"/>
          </a:xfrm>
          <a:prstGeom prst="rect">
            <a:avLst/>
          </a:prstGeom>
          <a:noFill/>
        </p:spPr>
        <p:txBody>
          <a:bodyPr wrap="square">
            <a:spAutoFit/>
          </a:bodyPr>
          <a:lstStyle/>
          <a:p>
            <a:pPr marL="342900" indent="-342900">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同一类型实体的集合</a:t>
            </a:r>
          </a:p>
          <a:p>
            <a:pPr marL="342900" indent="-342900">
              <a:lnSpc>
                <a:spcPct val="200000"/>
              </a:lnSpc>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2017307201</a:t>
            </a:r>
            <a:r>
              <a:rPr lang="zh-CN" altLang="en-US" sz="2000" b="1" dirty="0">
                <a:latin typeface="微软雅黑" panose="020B0503020204020204" pitchFamily="34" charset="-122"/>
                <a:ea typeface="微软雅黑" panose="020B0503020204020204" pitchFamily="34" charset="-122"/>
              </a:rPr>
              <a:t>，郑伟，男，</a:t>
            </a:r>
            <a:r>
              <a:rPr lang="en-US" altLang="zh-CN" sz="2000" b="1" dirty="0">
                <a:latin typeface="微软雅黑" panose="020B0503020204020204" pitchFamily="34" charset="-122"/>
                <a:ea typeface="微软雅黑" panose="020B0503020204020204" pitchFamily="34" charset="-122"/>
              </a:rPr>
              <a:t>1998-04-01</a:t>
            </a:r>
            <a:r>
              <a:rPr lang="zh-CN" altLang="en-US" sz="2000" b="1" dirty="0">
                <a:latin typeface="微软雅黑" panose="020B0503020204020204" pitchFamily="34" charset="-122"/>
                <a:ea typeface="微软雅黑" panose="020B0503020204020204" pitchFamily="34" charset="-122"/>
              </a:rPr>
              <a:t>，数据工程）</a:t>
            </a:r>
          </a:p>
        </p:txBody>
      </p:sp>
    </p:spTree>
    <p:extLst>
      <p:ext uri="{BB962C8B-B14F-4D97-AF65-F5344CB8AC3E}">
        <p14:creationId xmlns:p14="http://schemas.microsoft.com/office/powerpoint/2010/main" val="36299697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fade">
                                      <p:cBhvr>
                                        <p:cTn id="21" dur="1000"/>
                                        <p:tgtEl>
                                          <p:spTgt spid="9">
                                            <p:txEl>
                                              <p:pRg st="0" end="0"/>
                                            </p:txEl>
                                          </p:spTgt>
                                        </p:tgtEl>
                                      </p:cBhvr>
                                    </p:animEffect>
                                    <p:anim calcmode="lin" valueType="num">
                                      <p:cBhvr>
                                        <p:cTn id="22"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fade">
                                      <p:cBhvr>
                                        <p:cTn id="28" dur="1000"/>
                                        <p:tgtEl>
                                          <p:spTgt spid="9">
                                            <p:txEl>
                                              <p:pRg st="1" end="1"/>
                                            </p:txEl>
                                          </p:spTgt>
                                        </p:tgtEl>
                                      </p:cBhvr>
                                    </p:animEffect>
                                    <p:anim calcmode="lin" valueType="num">
                                      <p:cBhvr>
                                        <p:cTn id="29"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6ABE00D-0343-4613-9060-2E6B0F97DBD8}"/>
              </a:ext>
            </a:extLst>
          </p:cNvPr>
          <p:cNvSpPr txBox="1"/>
          <p:nvPr/>
        </p:nvSpPr>
        <p:spPr>
          <a:xfrm>
            <a:off x="1690110" y="2034500"/>
            <a:ext cx="9439336" cy="1846146"/>
          </a:xfrm>
          <a:prstGeom prst="rect">
            <a:avLst/>
          </a:prstGeom>
          <a:noFill/>
        </p:spPr>
        <p:txBody>
          <a:bodyPr wrap="square">
            <a:spAutoFit/>
          </a:bodyPr>
          <a:lstStyle/>
          <a:p>
            <a:pPr>
              <a:lnSpc>
                <a:spcPct val="200000"/>
              </a:lnSpc>
            </a:pPr>
            <a:r>
              <a:rPr lang="zh-CN" altLang="en-US" sz="2000" b="1" dirty="0">
                <a:solidFill>
                  <a:schemeClr val="tx2"/>
                </a:solidFill>
                <a:latin typeface="微软雅黑" panose="020B0503020204020204" pitchFamily="34" charset="-122"/>
                <a:ea typeface="微软雅黑" panose="020B0503020204020204" pitchFamily="34" charset="-122"/>
              </a:rPr>
              <a:t>码（</a:t>
            </a:r>
            <a:r>
              <a:rPr lang="en-US" altLang="zh-CN" sz="2000" b="1" dirty="0">
                <a:solidFill>
                  <a:schemeClr val="tx2"/>
                </a:solidFill>
                <a:latin typeface="微软雅黑" panose="020B0503020204020204" pitchFamily="34" charset="-122"/>
                <a:ea typeface="微软雅黑" panose="020B0503020204020204" pitchFamily="34" charset="-122"/>
              </a:rPr>
              <a:t>Key</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唯一标识实体的属性集称为码。</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sz="2000" b="1" dirty="0">
                <a:solidFill>
                  <a:srgbClr val="FF0000"/>
                </a:solidFill>
                <a:latin typeface="微软雅黑" panose="020B0503020204020204" pitchFamily="34" charset="-122"/>
                <a:ea typeface="微软雅黑" panose="020B0503020204020204" pitchFamily="34" charset="-122"/>
              </a:rPr>
              <a:t>域：</a:t>
            </a:r>
            <a:r>
              <a:rPr lang="zh-CN" altLang="en-US" sz="2000" b="1" dirty="0">
                <a:solidFill>
                  <a:schemeClr val="tx2"/>
                </a:solidFill>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属性的取值范围称为该属性的域</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sz="2000" b="1" dirty="0">
                <a:solidFill>
                  <a:srgbClr val="FF0000"/>
                </a:solidFill>
                <a:latin typeface="微软雅黑" panose="020B0503020204020204" pitchFamily="34" charset="-122"/>
                <a:ea typeface="微软雅黑" panose="020B0503020204020204" pitchFamily="34" charset="-122"/>
              </a:rPr>
              <a:t>联系：</a:t>
            </a:r>
            <a:r>
              <a:rPr lang="zh-CN" altLang="en-US" dirty="0">
                <a:latin typeface="微软雅黑" panose="020B0503020204020204" pitchFamily="34" charset="-122"/>
                <a:ea typeface="微软雅黑" panose="020B0503020204020204" pitchFamily="34" charset="-122"/>
              </a:rPr>
              <a:t>实体内部或实体间的对应关系</a:t>
            </a:r>
          </a:p>
        </p:txBody>
      </p:sp>
      <p:grpSp>
        <p:nvGrpSpPr>
          <p:cNvPr id="10" name="组合 9">
            <a:extLst>
              <a:ext uri="{FF2B5EF4-FFF2-40B4-BE49-F238E27FC236}">
                <a16:creationId xmlns:a16="http://schemas.microsoft.com/office/drawing/2014/main" id="{F26B9FD1-DAB8-404F-72AF-A09593BAB2F5}"/>
              </a:ext>
            </a:extLst>
          </p:cNvPr>
          <p:cNvGrpSpPr/>
          <p:nvPr/>
        </p:nvGrpSpPr>
        <p:grpSpPr>
          <a:xfrm>
            <a:off x="839664" y="533563"/>
            <a:ext cx="6058092" cy="879946"/>
            <a:chOff x="420387" y="472101"/>
            <a:chExt cx="6058092" cy="879946"/>
          </a:xfrm>
        </p:grpSpPr>
        <p:sp>
          <p:nvSpPr>
            <p:cNvPr id="11" name="内容占位符 2">
              <a:extLst>
                <a:ext uri="{FF2B5EF4-FFF2-40B4-BE49-F238E27FC236}">
                  <a16:creationId xmlns:a16="http://schemas.microsoft.com/office/drawing/2014/main" id="{32B15048-0ADB-8852-6B5C-2AA030B5AA38}"/>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概念模型</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12" name="KSO_Shape">
              <a:extLst>
                <a:ext uri="{FF2B5EF4-FFF2-40B4-BE49-F238E27FC236}">
                  <a16:creationId xmlns:a16="http://schemas.microsoft.com/office/drawing/2014/main" id="{51F3FB10-8A35-9453-F709-99D3FAE7F93B}"/>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26403555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56076453-E969-446A-8D3C-46894AA57D9F}"/>
              </a:ext>
            </a:extLst>
          </p:cNvPr>
          <p:cNvSpPr txBox="1"/>
          <p:nvPr/>
        </p:nvSpPr>
        <p:spPr>
          <a:xfrm>
            <a:off x="1690110" y="1413509"/>
            <a:ext cx="7088242" cy="4828373"/>
          </a:xfrm>
          <a:prstGeom prst="rect">
            <a:avLst/>
          </a:prstGeom>
          <a:noFill/>
        </p:spPr>
        <p:txBody>
          <a:bodyPr wrap="square">
            <a:spAutoFit/>
          </a:bodyPr>
          <a:lstStyle/>
          <a:p>
            <a:pPr marL="342900" indent="-342900">
              <a:lnSpc>
                <a:spcPct val="150000"/>
              </a:lnSpc>
              <a:buFont typeface="Wingdings" panose="05000000000000000000" pitchFamily="2" charset="2"/>
              <a:buChar char="p"/>
            </a:pPr>
            <a:r>
              <a:rPr lang="zh-CN" altLang="en-US" sz="2000" b="1" dirty="0">
                <a:solidFill>
                  <a:srgbClr val="057EC3"/>
                </a:solidFill>
                <a:latin typeface="微软雅黑" panose="020B0503020204020204" pitchFamily="34" charset="-122"/>
                <a:ea typeface="微软雅黑" panose="020B0503020204020204" pitchFamily="34" charset="-122"/>
              </a:rPr>
              <a:t>实体：学生 </a:t>
            </a:r>
            <a:endParaRPr lang="en-US" altLang="zh-CN" sz="2000" b="1" dirty="0">
              <a:solidFill>
                <a:srgbClr val="057EC3"/>
              </a:solidFill>
              <a:latin typeface="微软雅黑" panose="020B0503020204020204" pitchFamily="34" charset="-122"/>
              <a:ea typeface="微软雅黑" panose="020B0503020204020204" pitchFamily="34" charset="-122"/>
            </a:endParaRPr>
          </a:p>
          <a:p>
            <a:pPr marL="540000">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属性：学号、姓名、性别、年龄、系； </a:t>
            </a:r>
            <a:endParaRPr lang="en-US" altLang="zh-CN" dirty="0">
              <a:latin typeface="微软雅黑" panose="020B0503020204020204" pitchFamily="34" charset="-122"/>
              <a:ea typeface="微软雅黑" panose="020B0503020204020204" pitchFamily="34" charset="-122"/>
            </a:endParaRPr>
          </a:p>
          <a:p>
            <a:pPr marL="540000">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码：学号 </a:t>
            </a:r>
            <a:endParaRPr lang="en-US" altLang="zh-CN" dirty="0">
              <a:latin typeface="微软雅黑" panose="020B0503020204020204" pitchFamily="34" charset="-122"/>
              <a:ea typeface="微软雅黑" panose="020B0503020204020204" pitchFamily="34" charset="-122"/>
            </a:endParaRPr>
          </a:p>
          <a:p>
            <a:pPr marL="540000">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性别的域： 男，女 </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学生（学号，姓名，性别，年龄，系）</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p"/>
            </a:pPr>
            <a:r>
              <a:rPr lang="zh-CN" altLang="en-US" sz="2000" b="1" dirty="0">
                <a:solidFill>
                  <a:srgbClr val="057EC3"/>
                </a:solidFill>
                <a:latin typeface="微软雅黑" panose="020B0503020204020204" pitchFamily="34" charset="-122"/>
                <a:ea typeface="微软雅黑" panose="020B0503020204020204" pitchFamily="34" charset="-122"/>
              </a:rPr>
              <a:t>实体：教师</a:t>
            </a:r>
            <a:endParaRPr lang="en-US" altLang="zh-CN" sz="2000" b="1" dirty="0">
              <a:solidFill>
                <a:srgbClr val="057EC3"/>
              </a:solidFill>
              <a:latin typeface="微软雅黑" panose="020B0503020204020204" pitchFamily="34" charset="-122"/>
              <a:ea typeface="微软雅黑" panose="020B0503020204020204" pitchFamily="34" charset="-122"/>
            </a:endParaRPr>
          </a:p>
          <a:p>
            <a:pPr marL="540000">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属性：工号、姓名、性别、院系 </a:t>
            </a:r>
            <a:endParaRPr lang="en-US" altLang="zh-CN" dirty="0">
              <a:latin typeface="微软雅黑" panose="020B0503020204020204" pitchFamily="34" charset="-122"/>
              <a:ea typeface="微软雅黑" panose="020B0503020204020204" pitchFamily="34" charset="-122"/>
            </a:endParaRPr>
          </a:p>
          <a:p>
            <a:pPr marL="540000">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码：工号 </a:t>
            </a:r>
            <a:endParaRPr lang="en-US" altLang="zh-CN" dirty="0">
              <a:latin typeface="微软雅黑" panose="020B0503020204020204" pitchFamily="34" charset="-122"/>
              <a:ea typeface="微软雅黑" panose="020B0503020204020204" pitchFamily="34" charset="-122"/>
            </a:endParaRPr>
          </a:p>
          <a:p>
            <a:pPr marL="540000">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性别的域： 男，女 </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教师（工号，姓名，性别，院系）</a:t>
            </a:r>
            <a:endParaRPr lang="en-US" altLang="zh-CN"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p"/>
            </a:pPr>
            <a:r>
              <a:rPr lang="zh-CN" altLang="en-US" sz="2000" b="1" dirty="0">
                <a:solidFill>
                  <a:srgbClr val="057EC3"/>
                </a:solidFill>
                <a:latin typeface="微软雅黑" panose="020B0503020204020204" pitchFamily="34" charset="-122"/>
                <a:ea typeface="微软雅黑" panose="020B0503020204020204" pitchFamily="34" charset="-122"/>
              </a:rPr>
              <a:t>学生和教师之间的联系：选课</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BCAB78DC-7AEC-E8AD-D937-C49E9800CB2F}"/>
              </a:ext>
            </a:extLst>
          </p:cNvPr>
          <p:cNvGrpSpPr/>
          <p:nvPr/>
        </p:nvGrpSpPr>
        <p:grpSpPr>
          <a:xfrm>
            <a:off x="839664" y="533563"/>
            <a:ext cx="6058092" cy="879946"/>
            <a:chOff x="420387" y="472101"/>
            <a:chExt cx="6058092" cy="879946"/>
          </a:xfrm>
        </p:grpSpPr>
        <p:sp>
          <p:nvSpPr>
            <p:cNvPr id="3" name="内容占位符 2">
              <a:extLst>
                <a:ext uri="{FF2B5EF4-FFF2-40B4-BE49-F238E27FC236}">
                  <a16:creationId xmlns:a16="http://schemas.microsoft.com/office/drawing/2014/main" id="{657ADCA3-6893-B926-69FB-9A8E638EC0C0}"/>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概念模型中的基本概念</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4" name="KSO_Shape">
              <a:extLst>
                <a:ext uri="{FF2B5EF4-FFF2-40B4-BE49-F238E27FC236}">
                  <a16:creationId xmlns:a16="http://schemas.microsoft.com/office/drawing/2014/main" id="{59D748A6-23EF-E340-F4DA-E48E8E494777}"/>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grpSp>
        <p:nvGrpSpPr>
          <p:cNvPr id="5" name="组合 4">
            <a:extLst>
              <a:ext uri="{FF2B5EF4-FFF2-40B4-BE49-F238E27FC236}">
                <a16:creationId xmlns:a16="http://schemas.microsoft.com/office/drawing/2014/main" id="{3E62FE73-7DC0-4790-CECF-1DC2E61C77C0}"/>
              </a:ext>
            </a:extLst>
          </p:cNvPr>
          <p:cNvGrpSpPr/>
          <p:nvPr/>
        </p:nvGrpSpPr>
        <p:grpSpPr>
          <a:xfrm>
            <a:off x="6605829" y="1588841"/>
            <a:ext cx="4528896" cy="1363909"/>
            <a:chOff x="6251575" y="4702039"/>
            <a:chExt cx="5308604" cy="1506539"/>
          </a:xfrm>
          <a:solidFill>
            <a:srgbClr val="C55A11"/>
          </a:solidFill>
        </p:grpSpPr>
        <p:grpSp>
          <p:nvGrpSpPr>
            <p:cNvPr id="6" name="Group 4">
              <a:extLst>
                <a:ext uri="{FF2B5EF4-FFF2-40B4-BE49-F238E27FC236}">
                  <a16:creationId xmlns:a16="http://schemas.microsoft.com/office/drawing/2014/main" id="{1C256E0F-1918-4956-6A0B-A143098CAEEB}"/>
                </a:ext>
              </a:extLst>
            </p:cNvPr>
            <p:cNvGrpSpPr>
              <a:grpSpLocks/>
            </p:cNvGrpSpPr>
            <p:nvPr/>
          </p:nvGrpSpPr>
          <p:grpSpPr bwMode="auto">
            <a:xfrm>
              <a:off x="6251575" y="4702039"/>
              <a:ext cx="4295353" cy="1506539"/>
              <a:chOff x="1104" y="2268"/>
              <a:chExt cx="3872" cy="949"/>
            </a:xfrm>
            <a:grpFill/>
          </p:grpSpPr>
          <p:sp>
            <p:nvSpPr>
              <p:cNvPr id="9" name="Text Box 5">
                <a:extLst>
                  <a:ext uri="{FF2B5EF4-FFF2-40B4-BE49-F238E27FC236}">
                    <a16:creationId xmlns:a16="http://schemas.microsoft.com/office/drawing/2014/main" id="{9EA08859-767F-DE97-8DC0-94FD8180E46F}"/>
                  </a:ext>
                </a:extLst>
              </p:cNvPr>
              <p:cNvSpPr txBox="1">
                <a:spLocks noChangeArrowheads="1"/>
              </p:cNvSpPr>
              <p:nvPr/>
            </p:nvSpPr>
            <p:spPr bwMode="auto">
              <a:xfrm>
                <a:off x="2359" y="2268"/>
                <a:ext cx="1150" cy="271"/>
              </a:xfrm>
              <a:prstGeom prst="rect">
                <a:avLst/>
              </a:prstGeom>
              <a:grpFill/>
              <a:ln w="9525">
                <a:solidFill>
                  <a:schemeClr val="tx1"/>
                </a:solidFill>
                <a:miter lim="800000"/>
                <a:headEnd/>
                <a:tailEnd/>
              </a:ln>
            </p:spPr>
            <p:txBody>
              <a:bodyPr wrap="square">
                <a:spAutoFit/>
              </a:bodyP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50000"/>
                  </a:spcBef>
                  <a:spcAft>
                    <a:spcPts val="0"/>
                  </a:spcAft>
                  <a:buClr>
                    <a:srgbClr val="44546A"/>
                  </a:buClr>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white"/>
                    </a:solidFill>
                    <a:effectLst/>
                    <a:uLnTx/>
                    <a:uFillTx/>
                    <a:latin typeface="微软雅黑"/>
                    <a:ea typeface="微软雅黑"/>
                    <a:cs typeface="+mn-cs"/>
                  </a:rPr>
                  <a:t>学生</a:t>
                </a:r>
              </a:p>
            </p:txBody>
          </p:sp>
          <p:sp>
            <p:nvSpPr>
              <p:cNvPr id="10" name="Oval 6">
                <a:extLst>
                  <a:ext uri="{FF2B5EF4-FFF2-40B4-BE49-F238E27FC236}">
                    <a16:creationId xmlns:a16="http://schemas.microsoft.com/office/drawing/2014/main" id="{BD5D6749-BA0D-464A-4A53-2ED9729F8B2D}"/>
                  </a:ext>
                </a:extLst>
              </p:cNvPr>
              <p:cNvSpPr>
                <a:spLocks noChangeArrowheads="1"/>
              </p:cNvSpPr>
              <p:nvPr/>
            </p:nvSpPr>
            <p:spPr bwMode="auto">
              <a:xfrm>
                <a:off x="1104" y="2928"/>
                <a:ext cx="720" cy="288"/>
              </a:xfrm>
              <a:prstGeom prst="ellipse">
                <a:avLst/>
              </a:prstGeom>
              <a:grpFill/>
              <a:ln w="9525">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kumimoji="1" lang="zh-CN" altLang="en-US" sz="2000" b="0" i="0" u="none" strike="noStrike" kern="1200" cap="none" spc="0" normalizeH="0" baseline="0" noProof="0">
                    <a:ln>
                      <a:noFill/>
                    </a:ln>
                    <a:solidFill>
                      <a:prstClr val="white"/>
                    </a:solidFill>
                    <a:effectLst/>
                    <a:uLnTx/>
                    <a:uFillTx/>
                    <a:latin typeface="微软雅黑"/>
                    <a:ea typeface="微软雅黑"/>
                    <a:cs typeface="+mn-cs"/>
                  </a:rPr>
                  <a:t>学号</a:t>
                </a:r>
              </a:p>
            </p:txBody>
          </p:sp>
          <p:sp>
            <p:nvSpPr>
              <p:cNvPr id="13" name="Oval 7">
                <a:extLst>
                  <a:ext uri="{FF2B5EF4-FFF2-40B4-BE49-F238E27FC236}">
                    <a16:creationId xmlns:a16="http://schemas.microsoft.com/office/drawing/2014/main" id="{7BF64948-E496-DD8C-71C0-F207A346915E}"/>
                  </a:ext>
                </a:extLst>
              </p:cNvPr>
              <p:cNvSpPr>
                <a:spLocks noChangeArrowheads="1"/>
              </p:cNvSpPr>
              <p:nvPr/>
            </p:nvSpPr>
            <p:spPr bwMode="auto">
              <a:xfrm>
                <a:off x="4256" y="2929"/>
                <a:ext cx="720" cy="288"/>
              </a:xfrm>
              <a:prstGeom prst="ellipse">
                <a:avLst/>
              </a:prstGeom>
              <a:grpFill/>
              <a:ln w="9525">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white"/>
                    </a:solidFill>
                    <a:effectLst/>
                    <a:uLnTx/>
                    <a:uFillTx/>
                    <a:latin typeface="微软雅黑"/>
                    <a:ea typeface="微软雅黑"/>
                    <a:cs typeface="+mn-cs"/>
                  </a:rPr>
                  <a:t>年龄</a:t>
                </a:r>
              </a:p>
            </p:txBody>
          </p:sp>
          <p:sp>
            <p:nvSpPr>
              <p:cNvPr id="14" name="Oval 8">
                <a:extLst>
                  <a:ext uri="{FF2B5EF4-FFF2-40B4-BE49-F238E27FC236}">
                    <a16:creationId xmlns:a16="http://schemas.microsoft.com/office/drawing/2014/main" id="{CAB832CB-65AD-2509-A31F-82044BA16A82}"/>
                  </a:ext>
                </a:extLst>
              </p:cNvPr>
              <p:cNvSpPr>
                <a:spLocks noChangeArrowheads="1"/>
              </p:cNvSpPr>
              <p:nvPr/>
            </p:nvSpPr>
            <p:spPr bwMode="auto">
              <a:xfrm>
                <a:off x="3216" y="2928"/>
                <a:ext cx="720" cy="288"/>
              </a:xfrm>
              <a:prstGeom prst="ellipse">
                <a:avLst/>
              </a:prstGeom>
              <a:grpFill/>
              <a:ln w="9525">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white"/>
                    </a:solidFill>
                    <a:effectLst/>
                    <a:uLnTx/>
                    <a:uFillTx/>
                    <a:latin typeface="微软雅黑"/>
                    <a:ea typeface="微软雅黑"/>
                    <a:cs typeface="+mn-cs"/>
                  </a:rPr>
                  <a:t>性别</a:t>
                </a:r>
              </a:p>
            </p:txBody>
          </p:sp>
          <p:sp>
            <p:nvSpPr>
              <p:cNvPr id="15" name="Oval 9">
                <a:extLst>
                  <a:ext uri="{FF2B5EF4-FFF2-40B4-BE49-F238E27FC236}">
                    <a16:creationId xmlns:a16="http://schemas.microsoft.com/office/drawing/2014/main" id="{CB1E317A-4A51-8709-06CC-56061590A2DE}"/>
                  </a:ext>
                </a:extLst>
              </p:cNvPr>
              <p:cNvSpPr>
                <a:spLocks noChangeArrowheads="1"/>
              </p:cNvSpPr>
              <p:nvPr/>
            </p:nvSpPr>
            <p:spPr bwMode="auto">
              <a:xfrm>
                <a:off x="2160" y="2928"/>
                <a:ext cx="720" cy="288"/>
              </a:xfrm>
              <a:prstGeom prst="ellipse">
                <a:avLst/>
              </a:prstGeom>
              <a:grpFill/>
              <a:ln w="9525">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kumimoji="1" lang="zh-CN" altLang="en-US" sz="2000" b="0" i="0" u="none" strike="noStrike" kern="1200" cap="none" spc="0" normalizeH="0" baseline="0" noProof="0">
                    <a:ln>
                      <a:noFill/>
                    </a:ln>
                    <a:solidFill>
                      <a:prstClr val="white"/>
                    </a:solidFill>
                    <a:effectLst/>
                    <a:uLnTx/>
                    <a:uFillTx/>
                    <a:latin typeface="微软雅黑"/>
                    <a:ea typeface="微软雅黑"/>
                    <a:cs typeface="+mn-cs"/>
                  </a:rPr>
                  <a:t>姓名</a:t>
                </a:r>
              </a:p>
            </p:txBody>
          </p:sp>
          <p:sp>
            <p:nvSpPr>
              <p:cNvPr id="16" name="Line 10">
                <a:extLst>
                  <a:ext uri="{FF2B5EF4-FFF2-40B4-BE49-F238E27FC236}">
                    <a16:creationId xmlns:a16="http://schemas.microsoft.com/office/drawing/2014/main" id="{9855E29C-6854-27B4-BB5D-C232F8F57278}"/>
                  </a:ext>
                </a:extLst>
              </p:cNvPr>
              <p:cNvSpPr>
                <a:spLocks noChangeShapeType="1"/>
              </p:cNvSpPr>
              <p:nvPr/>
            </p:nvSpPr>
            <p:spPr bwMode="auto">
              <a:xfrm flipH="1">
                <a:off x="1536" y="2552"/>
                <a:ext cx="1381" cy="376"/>
              </a:xfrm>
              <a:prstGeom prst="line">
                <a:avLst/>
              </a:prstGeom>
              <a:grp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7" name="Line 11">
                <a:extLst>
                  <a:ext uri="{FF2B5EF4-FFF2-40B4-BE49-F238E27FC236}">
                    <a16:creationId xmlns:a16="http://schemas.microsoft.com/office/drawing/2014/main" id="{BF2AE1F4-E5EE-98C4-171A-63A90E727A4C}"/>
                  </a:ext>
                </a:extLst>
              </p:cNvPr>
              <p:cNvSpPr>
                <a:spLocks noChangeShapeType="1"/>
              </p:cNvSpPr>
              <p:nvPr/>
            </p:nvSpPr>
            <p:spPr bwMode="auto">
              <a:xfrm flipH="1">
                <a:off x="2592" y="2544"/>
                <a:ext cx="336" cy="384"/>
              </a:xfrm>
              <a:prstGeom prst="line">
                <a:avLst/>
              </a:prstGeom>
              <a:grp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8" name="Line 12">
                <a:extLst>
                  <a:ext uri="{FF2B5EF4-FFF2-40B4-BE49-F238E27FC236}">
                    <a16:creationId xmlns:a16="http://schemas.microsoft.com/office/drawing/2014/main" id="{75E96B5B-0ADD-7F30-9854-02962FB9DFCC}"/>
                  </a:ext>
                </a:extLst>
              </p:cNvPr>
              <p:cNvSpPr>
                <a:spLocks noChangeShapeType="1"/>
              </p:cNvSpPr>
              <p:nvPr/>
            </p:nvSpPr>
            <p:spPr bwMode="auto">
              <a:xfrm>
                <a:off x="2928" y="2544"/>
                <a:ext cx="624" cy="384"/>
              </a:xfrm>
              <a:prstGeom prst="line">
                <a:avLst/>
              </a:prstGeom>
              <a:grp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9" name="Line 13">
                <a:extLst>
                  <a:ext uri="{FF2B5EF4-FFF2-40B4-BE49-F238E27FC236}">
                    <a16:creationId xmlns:a16="http://schemas.microsoft.com/office/drawing/2014/main" id="{578C2A50-21C7-6700-F01D-B877349A1E08}"/>
                  </a:ext>
                </a:extLst>
              </p:cNvPr>
              <p:cNvSpPr>
                <a:spLocks noChangeShapeType="1"/>
              </p:cNvSpPr>
              <p:nvPr/>
            </p:nvSpPr>
            <p:spPr bwMode="auto">
              <a:xfrm>
                <a:off x="2928" y="2544"/>
                <a:ext cx="1616" cy="380"/>
              </a:xfrm>
              <a:prstGeom prst="line">
                <a:avLst/>
              </a:prstGeom>
              <a:grp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微软雅黑"/>
                  <a:ea typeface="微软雅黑"/>
                  <a:cs typeface="+mn-cs"/>
                </a:endParaRPr>
              </a:p>
            </p:txBody>
          </p:sp>
        </p:grpSp>
        <p:sp>
          <p:nvSpPr>
            <p:cNvPr id="7" name="Oval 7">
              <a:extLst>
                <a:ext uri="{FF2B5EF4-FFF2-40B4-BE49-F238E27FC236}">
                  <a16:creationId xmlns:a16="http://schemas.microsoft.com/office/drawing/2014/main" id="{6EAA7F08-D605-3C72-92E5-50ED7EE42511}"/>
                </a:ext>
              </a:extLst>
            </p:cNvPr>
            <p:cNvSpPr>
              <a:spLocks noChangeArrowheads="1"/>
            </p:cNvSpPr>
            <p:nvPr/>
          </p:nvSpPr>
          <p:spPr bwMode="auto">
            <a:xfrm>
              <a:off x="10761456" y="5743022"/>
              <a:ext cx="798723" cy="457200"/>
            </a:xfrm>
            <a:prstGeom prst="ellipse">
              <a:avLst/>
            </a:prstGeom>
            <a:grpFill/>
            <a:ln w="9525">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white"/>
                  </a:solidFill>
                  <a:effectLst/>
                  <a:uLnTx/>
                  <a:uFillTx/>
                  <a:latin typeface="微软雅黑"/>
                  <a:ea typeface="微软雅黑"/>
                  <a:cs typeface="+mn-cs"/>
                </a:rPr>
                <a:t>系</a:t>
              </a:r>
            </a:p>
          </p:txBody>
        </p:sp>
        <p:sp>
          <p:nvSpPr>
            <p:cNvPr id="8" name="Line 13">
              <a:extLst>
                <a:ext uri="{FF2B5EF4-FFF2-40B4-BE49-F238E27FC236}">
                  <a16:creationId xmlns:a16="http://schemas.microsoft.com/office/drawing/2014/main" id="{A98B9078-F1A1-E2BF-3E05-EF3E8535146B}"/>
                </a:ext>
              </a:extLst>
            </p:cNvPr>
            <p:cNvSpPr>
              <a:spLocks noChangeShapeType="1"/>
            </p:cNvSpPr>
            <p:nvPr/>
          </p:nvSpPr>
          <p:spPr bwMode="auto">
            <a:xfrm>
              <a:off x="8328255" y="5153152"/>
              <a:ext cx="2779204" cy="589870"/>
            </a:xfrm>
            <a:prstGeom prst="line">
              <a:avLst/>
            </a:prstGeom>
            <a:grp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微软雅黑"/>
                <a:ea typeface="微软雅黑"/>
                <a:cs typeface="+mn-cs"/>
              </a:endParaRPr>
            </a:p>
          </p:txBody>
        </p:sp>
      </p:grpSp>
      <p:grpSp>
        <p:nvGrpSpPr>
          <p:cNvPr id="20" name="组 553">
            <a:extLst>
              <a:ext uri="{FF2B5EF4-FFF2-40B4-BE49-F238E27FC236}">
                <a16:creationId xmlns:a16="http://schemas.microsoft.com/office/drawing/2014/main" id="{2CEFE51F-1190-1D75-AE9E-3A3F001AE76C}"/>
              </a:ext>
            </a:extLst>
          </p:cNvPr>
          <p:cNvGrpSpPr>
            <a:grpSpLocks/>
          </p:cNvGrpSpPr>
          <p:nvPr/>
        </p:nvGrpSpPr>
        <p:grpSpPr bwMode="auto">
          <a:xfrm>
            <a:off x="7147604" y="4015935"/>
            <a:ext cx="3311281" cy="1490193"/>
            <a:chOff x="0" y="40640"/>
            <a:chExt cx="2738755" cy="652615"/>
          </a:xfrm>
        </p:grpSpPr>
        <p:grpSp>
          <p:nvGrpSpPr>
            <p:cNvPr id="21" name="组 554">
              <a:extLst>
                <a:ext uri="{FF2B5EF4-FFF2-40B4-BE49-F238E27FC236}">
                  <a16:creationId xmlns:a16="http://schemas.microsoft.com/office/drawing/2014/main" id="{7DFBD971-6534-8302-122F-AD2013626D04}"/>
                </a:ext>
              </a:extLst>
            </p:cNvPr>
            <p:cNvGrpSpPr>
              <a:grpSpLocks/>
            </p:cNvGrpSpPr>
            <p:nvPr/>
          </p:nvGrpSpPr>
          <p:grpSpPr bwMode="auto">
            <a:xfrm>
              <a:off x="0" y="40640"/>
              <a:ext cx="2738755" cy="652615"/>
              <a:chOff x="0" y="0"/>
              <a:chExt cx="2738755" cy="652615"/>
            </a:xfrm>
          </p:grpSpPr>
          <p:sp>
            <p:nvSpPr>
              <p:cNvPr id="30" name="Freeform 150">
                <a:extLst>
                  <a:ext uri="{FF2B5EF4-FFF2-40B4-BE49-F238E27FC236}">
                    <a16:creationId xmlns:a16="http://schemas.microsoft.com/office/drawing/2014/main" id="{8528998E-2BAD-71C0-DB6D-B8F481F2FED4}"/>
                  </a:ext>
                </a:extLst>
              </p:cNvPr>
              <p:cNvSpPr>
                <a:spLocks/>
              </p:cNvSpPr>
              <p:nvPr/>
            </p:nvSpPr>
            <p:spPr bwMode="auto">
              <a:xfrm>
                <a:off x="630555" y="7620"/>
                <a:ext cx="635000" cy="207645"/>
              </a:xfrm>
              <a:custGeom>
                <a:avLst/>
                <a:gdLst>
                  <a:gd name="T0" fmla="*/ 2147483646 w 1254"/>
                  <a:gd name="T1" fmla="*/ 2147483646 h 628"/>
                  <a:gd name="T2" fmla="*/ 2147483646 w 1254"/>
                  <a:gd name="T3" fmla="*/ 2147483646 h 628"/>
                  <a:gd name="T4" fmla="*/ 2147483646 w 1254"/>
                  <a:gd name="T5" fmla="*/ 2147483646 h 628"/>
                  <a:gd name="T6" fmla="*/ 2147483646 w 1254"/>
                  <a:gd name="T7" fmla="*/ 2147483646 h 628"/>
                  <a:gd name="T8" fmla="*/ 2147483646 w 1254"/>
                  <a:gd name="T9" fmla="*/ 2147483646 h 628"/>
                  <a:gd name="T10" fmla="*/ 2147483646 w 1254"/>
                  <a:gd name="T11" fmla="*/ 2147483646 h 628"/>
                  <a:gd name="T12" fmla="*/ 2147483646 w 1254"/>
                  <a:gd name="T13" fmla="*/ 2147483646 h 628"/>
                  <a:gd name="T14" fmla="*/ 2147483646 w 1254"/>
                  <a:gd name="T15" fmla="*/ 2147483646 h 628"/>
                  <a:gd name="T16" fmla="*/ 2147483646 w 1254"/>
                  <a:gd name="T17" fmla="*/ 0 h 628"/>
                  <a:gd name="T18" fmla="*/ 2147483646 w 1254"/>
                  <a:gd name="T19" fmla="*/ 2147483646 h 628"/>
                  <a:gd name="T20" fmla="*/ 2147483646 w 1254"/>
                  <a:gd name="T21" fmla="*/ 2147483646 h 628"/>
                  <a:gd name="T22" fmla="*/ 2147483646 w 1254"/>
                  <a:gd name="T23" fmla="*/ 2147483646 h 628"/>
                  <a:gd name="T24" fmla="*/ 2147483646 w 1254"/>
                  <a:gd name="T25" fmla="*/ 2147483646 h 628"/>
                  <a:gd name="T26" fmla="*/ 2147483646 w 1254"/>
                  <a:gd name="T27" fmla="*/ 2147483646 h 628"/>
                  <a:gd name="T28" fmla="*/ 2147483646 w 1254"/>
                  <a:gd name="T29" fmla="*/ 2147483646 h 628"/>
                  <a:gd name="T30" fmla="*/ 2147483646 w 1254"/>
                  <a:gd name="T31" fmla="*/ 2147483646 h 628"/>
                  <a:gd name="T32" fmla="*/ 2147483646 w 1254"/>
                  <a:gd name="T33" fmla="*/ 2147483646 h 628"/>
                  <a:gd name="T34" fmla="*/ 2147483646 w 1254"/>
                  <a:gd name="T35" fmla="*/ 2147483646 h 628"/>
                  <a:gd name="T36" fmla="*/ 2147483646 w 1254"/>
                  <a:gd name="T37" fmla="*/ 2147483646 h 628"/>
                  <a:gd name="T38" fmla="*/ 2147483646 w 1254"/>
                  <a:gd name="T39" fmla="*/ 2147483646 h 628"/>
                  <a:gd name="T40" fmla="*/ 2147483646 w 1254"/>
                  <a:gd name="T41" fmla="*/ 2147483646 h 628"/>
                  <a:gd name="T42" fmla="*/ 2147483646 w 1254"/>
                  <a:gd name="T43" fmla="*/ 2147483646 h 628"/>
                  <a:gd name="T44" fmla="*/ 2147483646 w 1254"/>
                  <a:gd name="T45" fmla="*/ 2147483646 h 628"/>
                  <a:gd name="T46" fmla="*/ 2147483646 w 1254"/>
                  <a:gd name="T47" fmla="*/ 2147483646 h 628"/>
                  <a:gd name="T48" fmla="*/ 2147483646 w 1254"/>
                  <a:gd name="T49" fmla="*/ 2147483646 h 628"/>
                  <a:gd name="T50" fmla="*/ 2147483646 w 1254"/>
                  <a:gd name="T51" fmla="*/ 2147483646 h 628"/>
                  <a:gd name="T52" fmla="*/ 2147483646 w 1254"/>
                  <a:gd name="T53" fmla="*/ 2147483646 h 628"/>
                  <a:gd name="T54" fmla="*/ 2147483646 w 1254"/>
                  <a:gd name="T55" fmla="*/ 2147483646 h 628"/>
                  <a:gd name="T56" fmla="*/ 2147483646 w 1254"/>
                  <a:gd name="T57" fmla="*/ 2147483646 h 628"/>
                  <a:gd name="T58" fmla="*/ 2147483646 w 1254"/>
                  <a:gd name="T59" fmla="*/ 2147483646 h 628"/>
                  <a:gd name="T60" fmla="*/ 2147483646 w 1254"/>
                  <a:gd name="T61" fmla="*/ 2147483646 h 628"/>
                  <a:gd name="T62" fmla="*/ 2147483646 w 1254"/>
                  <a:gd name="T63" fmla="*/ 2147483646 h 628"/>
                  <a:gd name="T64" fmla="*/ 2147483646 w 1254"/>
                  <a:gd name="T65" fmla="*/ 2147483646 h 628"/>
                  <a:gd name="T66" fmla="*/ 2147483646 w 1254"/>
                  <a:gd name="T67" fmla="*/ 2147483646 h 628"/>
                  <a:gd name="T68" fmla="*/ 2147483646 w 1254"/>
                  <a:gd name="T69" fmla="*/ 2147483646 h 6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254" h="628">
                    <a:moveTo>
                      <a:pt x="0" y="314"/>
                    </a:moveTo>
                    <a:lnTo>
                      <a:pt x="2" y="285"/>
                    </a:lnTo>
                    <a:lnTo>
                      <a:pt x="10" y="258"/>
                    </a:lnTo>
                    <a:lnTo>
                      <a:pt x="23" y="230"/>
                    </a:lnTo>
                    <a:lnTo>
                      <a:pt x="40" y="203"/>
                    </a:lnTo>
                    <a:lnTo>
                      <a:pt x="63" y="178"/>
                    </a:lnTo>
                    <a:lnTo>
                      <a:pt x="89" y="153"/>
                    </a:lnTo>
                    <a:lnTo>
                      <a:pt x="120" y="129"/>
                    </a:lnTo>
                    <a:lnTo>
                      <a:pt x="155" y="107"/>
                    </a:lnTo>
                    <a:lnTo>
                      <a:pt x="195" y="86"/>
                    </a:lnTo>
                    <a:lnTo>
                      <a:pt x="236" y="68"/>
                    </a:lnTo>
                    <a:lnTo>
                      <a:pt x="282" y="52"/>
                    </a:lnTo>
                    <a:lnTo>
                      <a:pt x="330" y="38"/>
                    </a:lnTo>
                    <a:lnTo>
                      <a:pt x="381" y="25"/>
                    </a:lnTo>
                    <a:lnTo>
                      <a:pt x="434" y="16"/>
                    </a:lnTo>
                    <a:lnTo>
                      <a:pt x="489" y="8"/>
                    </a:lnTo>
                    <a:lnTo>
                      <a:pt x="543" y="2"/>
                    </a:lnTo>
                    <a:lnTo>
                      <a:pt x="600" y="0"/>
                    </a:lnTo>
                    <a:lnTo>
                      <a:pt x="656" y="0"/>
                    </a:lnTo>
                    <a:lnTo>
                      <a:pt x="712" y="2"/>
                    </a:lnTo>
                    <a:lnTo>
                      <a:pt x="767" y="8"/>
                    </a:lnTo>
                    <a:lnTo>
                      <a:pt x="822" y="16"/>
                    </a:lnTo>
                    <a:lnTo>
                      <a:pt x="874" y="25"/>
                    </a:lnTo>
                    <a:lnTo>
                      <a:pt x="925" y="38"/>
                    </a:lnTo>
                    <a:lnTo>
                      <a:pt x="973" y="52"/>
                    </a:lnTo>
                    <a:lnTo>
                      <a:pt x="1019" y="68"/>
                    </a:lnTo>
                    <a:lnTo>
                      <a:pt x="1061" y="86"/>
                    </a:lnTo>
                    <a:lnTo>
                      <a:pt x="1100" y="107"/>
                    </a:lnTo>
                    <a:lnTo>
                      <a:pt x="1135" y="129"/>
                    </a:lnTo>
                    <a:lnTo>
                      <a:pt x="1165" y="153"/>
                    </a:lnTo>
                    <a:lnTo>
                      <a:pt x="1193" y="178"/>
                    </a:lnTo>
                    <a:lnTo>
                      <a:pt x="1215" y="203"/>
                    </a:lnTo>
                    <a:lnTo>
                      <a:pt x="1232" y="230"/>
                    </a:lnTo>
                    <a:lnTo>
                      <a:pt x="1245" y="258"/>
                    </a:lnTo>
                    <a:lnTo>
                      <a:pt x="1252" y="285"/>
                    </a:lnTo>
                    <a:lnTo>
                      <a:pt x="1254" y="314"/>
                    </a:lnTo>
                    <a:lnTo>
                      <a:pt x="1252" y="342"/>
                    </a:lnTo>
                    <a:lnTo>
                      <a:pt x="1245" y="370"/>
                    </a:lnTo>
                    <a:lnTo>
                      <a:pt x="1232" y="398"/>
                    </a:lnTo>
                    <a:lnTo>
                      <a:pt x="1215" y="424"/>
                    </a:lnTo>
                    <a:lnTo>
                      <a:pt x="1193" y="450"/>
                    </a:lnTo>
                    <a:lnTo>
                      <a:pt x="1165" y="475"/>
                    </a:lnTo>
                    <a:lnTo>
                      <a:pt x="1135" y="499"/>
                    </a:lnTo>
                    <a:lnTo>
                      <a:pt x="1100" y="521"/>
                    </a:lnTo>
                    <a:lnTo>
                      <a:pt x="1061" y="540"/>
                    </a:lnTo>
                    <a:lnTo>
                      <a:pt x="1019" y="559"/>
                    </a:lnTo>
                    <a:lnTo>
                      <a:pt x="973" y="576"/>
                    </a:lnTo>
                    <a:lnTo>
                      <a:pt x="925" y="590"/>
                    </a:lnTo>
                    <a:lnTo>
                      <a:pt x="874" y="602"/>
                    </a:lnTo>
                    <a:lnTo>
                      <a:pt x="822" y="612"/>
                    </a:lnTo>
                    <a:lnTo>
                      <a:pt x="767" y="620"/>
                    </a:lnTo>
                    <a:lnTo>
                      <a:pt x="712" y="626"/>
                    </a:lnTo>
                    <a:lnTo>
                      <a:pt x="656" y="628"/>
                    </a:lnTo>
                    <a:lnTo>
                      <a:pt x="600" y="628"/>
                    </a:lnTo>
                    <a:lnTo>
                      <a:pt x="543" y="626"/>
                    </a:lnTo>
                    <a:lnTo>
                      <a:pt x="489" y="620"/>
                    </a:lnTo>
                    <a:lnTo>
                      <a:pt x="434" y="612"/>
                    </a:lnTo>
                    <a:lnTo>
                      <a:pt x="381" y="602"/>
                    </a:lnTo>
                    <a:lnTo>
                      <a:pt x="330" y="590"/>
                    </a:lnTo>
                    <a:lnTo>
                      <a:pt x="282" y="576"/>
                    </a:lnTo>
                    <a:lnTo>
                      <a:pt x="236" y="559"/>
                    </a:lnTo>
                    <a:lnTo>
                      <a:pt x="195" y="540"/>
                    </a:lnTo>
                    <a:lnTo>
                      <a:pt x="155" y="521"/>
                    </a:lnTo>
                    <a:lnTo>
                      <a:pt x="120" y="499"/>
                    </a:lnTo>
                    <a:lnTo>
                      <a:pt x="89" y="475"/>
                    </a:lnTo>
                    <a:lnTo>
                      <a:pt x="63" y="450"/>
                    </a:lnTo>
                    <a:lnTo>
                      <a:pt x="40" y="424"/>
                    </a:lnTo>
                    <a:lnTo>
                      <a:pt x="23" y="398"/>
                    </a:lnTo>
                    <a:lnTo>
                      <a:pt x="10" y="370"/>
                    </a:lnTo>
                    <a:lnTo>
                      <a:pt x="2" y="342"/>
                    </a:lnTo>
                    <a:lnTo>
                      <a:pt x="0" y="314"/>
                    </a:lnTo>
                    <a:close/>
                  </a:path>
                </a:pathLst>
              </a:custGeom>
              <a:solidFill>
                <a:srgbClr val="FFFFFF"/>
              </a:solidFill>
              <a:ln w="10160">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lumMod val="85000"/>
                      <a:lumOff val="15000"/>
                    </a:prstClr>
                  </a:solidFill>
                  <a:effectLst/>
                  <a:uLnTx/>
                  <a:uFillTx/>
                  <a:latin typeface="微软雅黑"/>
                  <a:ea typeface="微软雅黑"/>
                  <a:cs typeface="+mn-cs"/>
                </a:endParaRPr>
              </a:p>
            </p:txBody>
          </p:sp>
          <p:sp>
            <p:nvSpPr>
              <p:cNvPr id="31" name="Rectangle 151">
                <a:extLst>
                  <a:ext uri="{FF2B5EF4-FFF2-40B4-BE49-F238E27FC236}">
                    <a16:creationId xmlns:a16="http://schemas.microsoft.com/office/drawing/2014/main" id="{EBA5098B-0EDC-2C63-DF11-FDB64F5A8F5F}"/>
                  </a:ext>
                </a:extLst>
              </p:cNvPr>
              <p:cNvSpPr>
                <a:spLocks noChangeArrowheads="1"/>
              </p:cNvSpPr>
              <p:nvPr/>
            </p:nvSpPr>
            <p:spPr bwMode="auto">
              <a:xfrm>
                <a:off x="877809" y="437333"/>
                <a:ext cx="1052486" cy="215282"/>
              </a:xfrm>
              <a:prstGeom prst="rect">
                <a:avLst/>
              </a:prstGeom>
              <a:solidFill>
                <a:srgbClr val="FFFFFF"/>
              </a:solidFill>
              <a:ln w="10160">
                <a:solidFill>
                  <a:srgbClr val="000000"/>
                </a:solidFill>
                <a:miter lim="800000"/>
                <a:headEnd/>
                <a:tailEnd/>
              </a:ln>
            </p:spPr>
            <p:txBody>
              <a:bodyP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endParaRPr kumimoji="1" lang="zh-CN" altLang="en-US" sz="2800" b="0" i="0" u="none" strike="noStrike" kern="1200" cap="none" spc="0" normalizeH="0" baseline="0" noProof="0">
                  <a:ln>
                    <a:noFill/>
                  </a:ln>
                  <a:solidFill>
                    <a:prstClr val="black">
                      <a:lumMod val="85000"/>
                      <a:lumOff val="15000"/>
                    </a:prstClr>
                  </a:solidFill>
                  <a:effectLst/>
                  <a:uLnTx/>
                  <a:uFillTx/>
                  <a:latin typeface="微软雅黑"/>
                  <a:ea typeface="微软雅黑"/>
                  <a:cs typeface="+mn-cs"/>
                </a:endParaRPr>
              </a:p>
            </p:txBody>
          </p:sp>
          <p:sp>
            <p:nvSpPr>
              <p:cNvPr id="32" name="Rectangle 152">
                <a:extLst>
                  <a:ext uri="{FF2B5EF4-FFF2-40B4-BE49-F238E27FC236}">
                    <a16:creationId xmlns:a16="http://schemas.microsoft.com/office/drawing/2014/main" id="{EAC1A6CF-D195-CA55-6521-D9A41ACD7E7B}"/>
                  </a:ext>
                </a:extLst>
              </p:cNvPr>
              <p:cNvSpPr>
                <a:spLocks noChangeArrowheads="1"/>
              </p:cNvSpPr>
              <p:nvPr/>
            </p:nvSpPr>
            <p:spPr bwMode="auto">
              <a:xfrm>
                <a:off x="1206678" y="492916"/>
                <a:ext cx="614043" cy="151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upright="1"/>
              <a:lstStyle/>
              <a:p>
                <a:pPr marL="0" marR="0" lvl="0" indent="0" algn="just"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kumimoji="0" lang="zh-CN" altLang="en-US" sz="1800" b="0" i="0" u="none" strike="noStrike" kern="100" cap="none" spc="0" normalizeH="0" baseline="0" noProof="0" dirty="0">
                    <a:ln>
                      <a:noFill/>
                    </a:ln>
                    <a:solidFill>
                      <a:prstClr val="black">
                        <a:lumMod val="85000"/>
                        <a:lumOff val="15000"/>
                      </a:prstClr>
                    </a:solidFill>
                    <a:effectLst/>
                    <a:uLnTx/>
                    <a:uFillTx/>
                    <a:latin typeface="微软雅黑"/>
                    <a:ea typeface="微软雅黑"/>
                    <a:cs typeface="Times New Roman"/>
                  </a:rPr>
                  <a:t>教师</a:t>
                </a:r>
              </a:p>
            </p:txBody>
          </p:sp>
          <p:sp>
            <p:nvSpPr>
              <p:cNvPr id="34" name="Freeform 167">
                <a:extLst>
                  <a:ext uri="{FF2B5EF4-FFF2-40B4-BE49-F238E27FC236}">
                    <a16:creationId xmlns:a16="http://schemas.microsoft.com/office/drawing/2014/main" id="{BC43B0D4-AAB4-13DE-569E-074A6B152C85}"/>
                  </a:ext>
                </a:extLst>
              </p:cNvPr>
              <p:cNvSpPr>
                <a:spLocks/>
              </p:cNvSpPr>
              <p:nvPr/>
            </p:nvSpPr>
            <p:spPr bwMode="auto">
              <a:xfrm>
                <a:off x="1344930" y="7620"/>
                <a:ext cx="657225" cy="199390"/>
              </a:xfrm>
              <a:custGeom>
                <a:avLst/>
                <a:gdLst>
                  <a:gd name="T0" fmla="*/ 2147483646 w 2070"/>
                  <a:gd name="T1" fmla="*/ 2147483646 h 628"/>
                  <a:gd name="T2" fmla="*/ 2147483646 w 2070"/>
                  <a:gd name="T3" fmla="*/ 2147483646 h 628"/>
                  <a:gd name="T4" fmla="*/ 2147483646 w 2070"/>
                  <a:gd name="T5" fmla="*/ 2147483646 h 628"/>
                  <a:gd name="T6" fmla="*/ 2147483646 w 2070"/>
                  <a:gd name="T7" fmla="*/ 2147483646 h 628"/>
                  <a:gd name="T8" fmla="*/ 2147483646 w 2070"/>
                  <a:gd name="T9" fmla="*/ 2147483646 h 628"/>
                  <a:gd name="T10" fmla="*/ 2147483646 w 2070"/>
                  <a:gd name="T11" fmla="*/ 2147483646 h 628"/>
                  <a:gd name="T12" fmla="*/ 2147483646 w 2070"/>
                  <a:gd name="T13" fmla="*/ 2147483646 h 628"/>
                  <a:gd name="T14" fmla="*/ 2147483646 w 2070"/>
                  <a:gd name="T15" fmla="*/ 2147483646 h 628"/>
                  <a:gd name="T16" fmla="*/ 2147483646 w 2070"/>
                  <a:gd name="T17" fmla="*/ 2147483646 h 628"/>
                  <a:gd name="T18" fmla="*/ 2147483646 w 2070"/>
                  <a:gd name="T19" fmla="*/ 2147483646 h 628"/>
                  <a:gd name="T20" fmla="*/ 2147483646 w 2070"/>
                  <a:gd name="T21" fmla="*/ 2147483646 h 628"/>
                  <a:gd name="T22" fmla="*/ 2147483646 w 2070"/>
                  <a:gd name="T23" fmla="*/ 0 h 628"/>
                  <a:gd name="T24" fmla="*/ 2147483646 w 2070"/>
                  <a:gd name="T25" fmla="*/ 2147483646 h 628"/>
                  <a:gd name="T26" fmla="*/ 2147483646 w 2070"/>
                  <a:gd name="T27" fmla="*/ 2147483646 h 628"/>
                  <a:gd name="T28" fmla="*/ 2147483646 w 2070"/>
                  <a:gd name="T29" fmla="*/ 2147483646 h 628"/>
                  <a:gd name="T30" fmla="*/ 2147483646 w 2070"/>
                  <a:gd name="T31" fmla="*/ 2147483646 h 628"/>
                  <a:gd name="T32" fmla="*/ 2147483646 w 2070"/>
                  <a:gd name="T33" fmla="*/ 2147483646 h 628"/>
                  <a:gd name="T34" fmla="*/ 2147483646 w 2070"/>
                  <a:gd name="T35" fmla="*/ 2147483646 h 628"/>
                  <a:gd name="T36" fmla="*/ 2147483646 w 2070"/>
                  <a:gd name="T37" fmla="*/ 2147483646 h 628"/>
                  <a:gd name="T38" fmla="*/ 2147483646 w 2070"/>
                  <a:gd name="T39" fmla="*/ 2147483646 h 628"/>
                  <a:gd name="T40" fmla="*/ 2147483646 w 2070"/>
                  <a:gd name="T41" fmla="*/ 2147483646 h 628"/>
                  <a:gd name="T42" fmla="*/ 2147483646 w 2070"/>
                  <a:gd name="T43" fmla="*/ 2147483646 h 628"/>
                  <a:gd name="T44" fmla="*/ 2147483646 w 2070"/>
                  <a:gd name="T45" fmla="*/ 2147483646 h 628"/>
                  <a:gd name="T46" fmla="*/ 2147483646 w 2070"/>
                  <a:gd name="T47" fmla="*/ 2147483646 h 628"/>
                  <a:gd name="T48" fmla="*/ 2147483646 w 2070"/>
                  <a:gd name="T49" fmla="*/ 2147483646 h 628"/>
                  <a:gd name="T50" fmla="*/ 2147483646 w 2070"/>
                  <a:gd name="T51" fmla="*/ 2147483646 h 628"/>
                  <a:gd name="T52" fmla="*/ 2147483646 w 2070"/>
                  <a:gd name="T53" fmla="*/ 2147483646 h 628"/>
                  <a:gd name="T54" fmla="*/ 2147483646 w 2070"/>
                  <a:gd name="T55" fmla="*/ 2147483646 h 628"/>
                  <a:gd name="T56" fmla="*/ 2147483646 w 2070"/>
                  <a:gd name="T57" fmla="*/ 2147483646 h 628"/>
                  <a:gd name="T58" fmla="*/ 2147483646 w 2070"/>
                  <a:gd name="T59" fmla="*/ 2147483646 h 628"/>
                  <a:gd name="T60" fmla="*/ 2147483646 w 2070"/>
                  <a:gd name="T61" fmla="*/ 2147483646 h 628"/>
                  <a:gd name="T62" fmla="*/ 2147483646 w 2070"/>
                  <a:gd name="T63" fmla="*/ 2147483646 h 628"/>
                  <a:gd name="T64" fmla="*/ 2147483646 w 2070"/>
                  <a:gd name="T65" fmla="*/ 2147483646 h 628"/>
                  <a:gd name="T66" fmla="*/ 2147483646 w 2070"/>
                  <a:gd name="T67" fmla="*/ 2147483646 h 628"/>
                  <a:gd name="T68" fmla="*/ 2147483646 w 2070"/>
                  <a:gd name="T69" fmla="*/ 2147483646 h 628"/>
                  <a:gd name="T70" fmla="*/ 2147483646 w 2070"/>
                  <a:gd name="T71" fmla="*/ 2147483646 h 628"/>
                  <a:gd name="T72" fmla="*/ 2147483646 w 2070"/>
                  <a:gd name="T73" fmla="*/ 2147483646 h 628"/>
                  <a:gd name="T74" fmla="*/ 2147483646 w 2070"/>
                  <a:gd name="T75" fmla="*/ 2147483646 h 628"/>
                  <a:gd name="T76" fmla="*/ 2147483646 w 2070"/>
                  <a:gd name="T77" fmla="*/ 2147483646 h 628"/>
                  <a:gd name="T78" fmla="*/ 2147483646 w 2070"/>
                  <a:gd name="T79" fmla="*/ 2147483646 h 628"/>
                  <a:gd name="T80" fmla="*/ 2147483646 w 2070"/>
                  <a:gd name="T81" fmla="*/ 2147483646 h 628"/>
                  <a:gd name="T82" fmla="*/ 2147483646 w 2070"/>
                  <a:gd name="T83" fmla="*/ 2147483646 h 628"/>
                  <a:gd name="T84" fmla="*/ 2147483646 w 2070"/>
                  <a:gd name="T85" fmla="*/ 2147483646 h 628"/>
                  <a:gd name="T86" fmla="*/ 2147483646 w 2070"/>
                  <a:gd name="T87" fmla="*/ 2147483646 h 628"/>
                  <a:gd name="T88" fmla="*/ 2147483646 w 2070"/>
                  <a:gd name="T89" fmla="*/ 2147483646 h 6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70" h="628">
                    <a:moveTo>
                      <a:pt x="0" y="314"/>
                    </a:moveTo>
                    <a:lnTo>
                      <a:pt x="3" y="292"/>
                    </a:lnTo>
                    <a:lnTo>
                      <a:pt x="11" y="270"/>
                    </a:lnTo>
                    <a:lnTo>
                      <a:pt x="24" y="249"/>
                    </a:lnTo>
                    <a:lnTo>
                      <a:pt x="41" y="228"/>
                    </a:lnTo>
                    <a:lnTo>
                      <a:pt x="63" y="207"/>
                    </a:lnTo>
                    <a:lnTo>
                      <a:pt x="90" y="186"/>
                    </a:lnTo>
                    <a:lnTo>
                      <a:pt x="122" y="166"/>
                    </a:lnTo>
                    <a:lnTo>
                      <a:pt x="158" y="148"/>
                    </a:lnTo>
                    <a:lnTo>
                      <a:pt x="197" y="129"/>
                    </a:lnTo>
                    <a:lnTo>
                      <a:pt x="242" y="112"/>
                    </a:lnTo>
                    <a:lnTo>
                      <a:pt x="290" y="95"/>
                    </a:lnTo>
                    <a:lnTo>
                      <a:pt x="343" y="80"/>
                    </a:lnTo>
                    <a:lnTo>
                      <a:pt x="399" y="67"/>
                    </a:lnTo>
                    <a:lnTo>
                      <a:pt x="456" y="54"/>
                    </a:lnTo>
                    <a:lnTo>
                      <a:pt x="518" y="42"/>
                    </a:lnTo>
                    <a:lnTo>
                      <a:pt x="582" y="31"/>
                    </a:lnTo>
                    <a:lnTo>
                      <a:pt x="647" y="22"/>
                    </a:lnTo>
                    <a:lnTo>
                      <a:pt x="715" y="16"/>
                    </a:lnTo>
                    <a:lnTo>
                      <a:pt x="785" y="9"/>
                    </a:lnTo>
                    <a:lnTo>
                      <a:pt x="856" y="4"/>
                    </a:lnTo>
                    <a:lnTo>
                      <a:pt x="927" y="1"/>
                    </a:lnTo>
                    <a:lnTo>
                      <a:pt x="998" y="0"/>
                    </a:lnTo>
                    <a:lnTo>
                      <a:pt x="1072" y="0"/>
                    </a:lnTo>
                    <a:lnTo>
                      <a:pt x="1144" y="1"/>
                    </a:lnTo>
                    <a:lnTo>
                      <a:pt x="1215" y="4"/>
                    </a:lnTo>
                    <a:lnTo>
                      <a:pt x="1286" y="9"/>
                    </a:lnTo>
                    <a:lnTo>
                      <a:pt x="1355" y="16"/>
                    </a:lnTo>
                    <a:lnTo>
                      <a:pt x="1423" y="22"/>
                    </a:lnTo>
                    <a:lnTo>
                      <a:pt x="1489" y="31"/>
                    </a:lnTo>
                    <a:lnTo>
                      <a:pt x="1553" y="42"/>
                    </a:lnTo>
                    <a:lnTo>
                      <a:pt x="1614" y="54"/>
                    </a:lnTo>
                    <a:lnTo>
                      <a:pt x="1673" y="67"/>
                    </a:lnTo>
                    <a:lnTo>
                      <a:pt x="1728" y="80"/>
                    </a:lnTo>
                    <a:lnTo>
                      <a:pt x="1780" y="95"/>
                    </a:lnTo>
                    <a:lnTo>
                      <a:pt x="1828" y="112"/>
                    </a:lnTo>
                    <a:lnTo>
                      <a:pt x="1873" y="129"/>
                    </a:lnTo>
                    <a:lnTo>
                      <a:pt x="1913" y="148"/>
                    </a:lnTo>
                    <a:lnTo>
                      <a:pt x="1948" y="166"/>
                    </a:lnTo>
                    <a:lnTo>
                      <a:pt x="1981" y="186"/>
                    </a:lnTo>
                    <a:lnTo>
                      <a:pt x="2007" y="207"/>
                    </a:lnTo>
                    <a:lnTo>
                      <a:pt x="2029" y="228"/>
                    </a:lnTo>
                    <a:lnTo>
                      <a:pt x="2048" y="249"/>
                    </a:lnTo>
                    <a:lnTo>
                      <a:pt x="2060" y="270"/>
                    </a:lnTo>
                    <a:lnTo>
                      <a:pt x="2067" y="292"/>
                    </a:lnTo>
                    <a:lnTo>
                      <a:pt x="2070" y="314"/>
                    </a:lnTo>
                    <a:lnTo>
                      <a:pt x="2067" y="336"/>
                    </a:lnTo>
                    <a:lnTo>
                      <a:pt x="2060" y="357"/>
                    </a:lnTo>
                    <a:lnTo>
                      <a:pt x="2048" y="379"/>
                    </a:lnTo>
                    <a:lnTo>
                      <a:pt x="2029" y="400"/>
                    </a:lnTo>
                    <a:lnTo>
                      <a:pt x="2007" y="421"/>
                    </a:lnTo>
                    <a:lnTo>
                      <a:pt x="1981" y="441"/>
                    </a:lnTo>
                    <a:lnTo>
                      <a:pt x="1948" y="461"/>
                    </a:lnTo>
                    <a:lnTo>
                      <a:pt x="1913" y="480"/>
                    </a:lnTo>
                    <a:lnTo>
                      <a:pt x="1873" y="499"/>
                    </a:lnTo>
                    <a:lnTo>
                      <a:pt x="1828" y="516"/>
                    </a:lnTo>
                    <a:lnTo>
                      <a:pt x="1780" y="533"/>
                    </a:lnTo>
                    <a:lnTo>
                      <a:pt x="1728" y="547"/>
                    </a:lnTo>
                    <a:lnTo>
                      <a:pt x="1673" y="561"/>
                    </a:lnTo>
                    <a:lnTo>
                      <a:pt x="1614" y="575"/>
                    </a:lnTo>
                    <a:lnTo>
                      <a:pt x="1553" y="586"/>
                    </a:lnTo>
                    <a:lnTo>
                      <a:pt x="1489" y="595"/>
                    </a:lnTo>
                    <a:lnTo>
                      <a:pt x="1423" y="605"/>
                    </a:lnTo>
                    <a:lnTo>
                      <a:pt x="1355" y="612"/>
                    </a:lnTo>
                    <a:lnTo>
                      <a:pt x="1286" y="619"/>
                    </a:lnTo>
                    <a:lnTo>
                      <a:pt x="1215" y="623"/>
                    </a:lnTo>
                    <a:lnTo>
                      <a:pt x="1144" y="626"/>
                    </a:lnTo>
                    <a:lnTo>
                      <a:pt x="1072" y="628"/>
                    </a:lnTo>
                    <a:lnTo>
                      <a:pt x="998" y="628"/>
                    </a:lnTo>
                    <a:lnTo>
                      <a:pt x="927" y="626"/>
                    </a:lnTo>
                    <a:lnTo>
                      <a:pt x="856" y="623"/>
                    </a:lnTo>
                    <a:lnTo>
                      <a:pt x="785" y="619"/>
                    </a:lnTo>
                    <a:lnTo>
                      <a:pt x="715" y="612"/>
                    </a:lnTo>
                    <a:lnTo>
                      <a:pt x="647" y="605"/>
                    </a:lnTo>
                    <a:lnTo>
                      <a:pt x="582" y="595"/>
                    </a:lnTo>
                    <a:lnTo>
                      <a:pt x="518" y="586"/>
                    </a:lnTo>
                    <a:lnTo>
                      <a:pt x="456" y="575"/>
                    </a:lnTo>
                    <a:lnTo>
                      <a:pt x="399" y="561"/>
                    </a:lnTo>
                    <a:lnTo>
                      <a:pt x="343" y="547"/>
                    </a:lnTo>
                    <a:lnTo>
                      <a:pt x="290" y="533"/>
                    </a:lnTo>
                    <a:lnTo>
                      <a:pt x="242" y="516"/>
                    </a:lnTo>
                    <a:lnTo>
                      <a:pt x="197" y="499"/>
                    </a:lnTo>
                    <a:lnTo>
                      <a:pt x="158" y="480"/>
                    </a:lnTo>
                    <a:lnTo>
                      <a:pt x="122" y="461"/>
                    </a:lnTo>
                    <a:lnTo>
                      <a:pt x="90" y="441"/>
                    </a:lnTo>
                    <a:lnTo>
                      <a:pt x="63" y="421"/>
                    </a:lnTo>
                    <a:lnTo>
                      <a:pt x="41" y="400"/>
                    </a:lnTo>
                    <a:lnTo>
                      <a:pt x="24" y="379"/>
                    </a:lnTo>
                    <a:lnTo>
                      <a:pt x="11" y="357"/>
                    </a:lnTo>
                    <a:lnTo>
                      <a:pt x="3" y="336"/>
                    </a:lnTo>
                    <a:lnTo>
                      <a:pt x="0" y="314"/>
                    </a:lnTo>
                    <a:close/>
                  </a:path>
                </a:pathLst>
              </a:custGeom>
              <a:solidFill>
                <a:srgbClr val="FFFFFF"/>
              </a:solidFill>
              <a:ln w="10160">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lumMod val="85000"/>
                      <a:lumOff val="15000"/>
                    </a:prstClr>
                  </a:solidFill>
                  <a:effectLst/>
                  <a:uLnTx/>
                  <a:uFillTx/>
                  <a:latin typeface="微软雅黑"/>
                  <a:ea typeface="微软雅黑"/>
                  <a:cs typeface="+mn-cs"/>
                </a:endParaRPr>
              </a:p>
            </p:txBody>
          </p:sp>
          <p:sp>
            <p:nvSpPr>
              <p:cNvPr id="35" name="Rectangle 168">
                <a:extLst>
                  <a:ext uri="{FF2B5EF4-FFF2-40B4-BE49-F238E27FC236}">
                    <a16:creationId xmlns:a16="http://schemas.microsoft.com/office/drawing/2014/main" id="{633A684C-29DB-DC10-7BFB-141F00F0C520}"/>
                  </a:ext>
                </a:extLst>
              </p:cNvPr>
              <p:cNvSpPr>
                <a:spLocks noChangeArrowheads="1"/>
              </p:cNvSpPr>
              <p:nvPr/>
            </p:nvSpPr>
            <p:spPr bwMode="auto">
              <a:xfrm>
                <a:off x="801370" y="47922"/>
                <a:ext cx="518274" cy="151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upright="1"/>
              <a:lstStyle/>
              <a:p>
                <a:pPr marL="0" marR="0" lvl="0" indent="0" algn="just"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lang="zh-CN" altLang="en-US" sz="1400" kern="100" dirty="0">
                    <a:solidFill>
                      <a:prstClr val="black">
                        <a:lumMod val="85000"/>
                        <a:lumOff val="15000"/>
                      </a:prstClr>
                    </a:solidFill>
                    <a:latin typeface="微软雅黑"/>
                    <a:ea typeface="微软雅黑"/>
                    <a:cs typeface="Times New Roman"/>
                  </a:rPr>
                  <a:t>姓名</a:t>
                </a:r>
                <a:endParaRPr kumimoji="0" lang="zh-CN" altLang="en-US" sz="1400" b="0" i="0" u="none" strike="noStrike" kern="100" cap="none" spc="0" normalizeH="0" baseline="0" noProof="0" dirty="0">
                  <a:ln>
                    <a:noFill/>
                  </a:ln>
                  <a:solidFill>
                    <a:prstClr val="black">
                      <a:lumMod val="85000"/>
                      <a:lumOff val="15000"/>
                    </a:prstClr>
                  </a:solidFill>
                  <a:effectLst/>
                  <a:uLnTx/>
                  <a:uFillTx/>
                  <a:latin typeface="微软雅黑"/>
                  <a:ea typeface="微软雅黑"/>
                  <a:cs typeface="Times New Roman"/>
                </a:endParaRPr>
              </a:p>
            </p:txBody>
          </p:sp>
          <p:sp>
            <p:nvSpPr>
              <p:cNvPr id="36" name="Freeform 169">
                <a:extLst>
                  <a:ext uri="{FF2B5EF4-FFF2-40B4-BE49-F238E27FC236}">
                    <a16:creationId xmlns:a16="http://schemas.microsoft.com/office/drawing/2014/main" id="{3C9D9C8E-3605-53A5-B611-763876FA8AB2}"/>
                  </a:ext>
                </a:extLst>
              </p:cNvPr>
              <p:cNvSpPr>
                <a:spLocks/>
              </p:cNvSpPr>
              <p:nvPr/>
            </p:nvSpPr>
            <p:spPr bwMode="auto">
              <a:xfrm>
                <a:off x="2061845" y="7620"/>
                <a:ext cx="676910" cy="199390"/>
              </a:xfrm>
              <a:custGeom>
                <a:avLst/>
                <a:gdLst>
                  <a:gd name="T0" fmla="*/ 2147483646 w 2133"/>
                  <a:gd name="T1" fmla="*/ 2147483646 h 628"/>
                  <a:gd name="T2" fmla="*/ 2147483646 w 2133"/>
                  <a:gd name="T3" fmla="*/ 2147483646 h 628"/>
                  <a:gd name="T4" fmla="*/ 2147483646 w 2133"/>
                  <a:gd name="T5" fmla="*/ 2147483646 h 628"/>
                  <a:gd name="T6" fmla="*/ 2147483646 w 2133"/>
                  <a:gd name="T7" fmla="*/ 2147483646 h 628"/>
                  <a:gd name="T8" fmla="*/ 2147483646 w 2133"/>
                  <a:gd name="T9" fmla="*/ 2147483646 h 628"/>
                  <a:gd name="T10" fmla="*/ 2147483646 w 2133"/>
                  <a:gd name="T11" fmla="*/ 2147483646 h 628"/>
                  <a:gd name="T12" fmla="*/ 2147483646 w 2133"/>
                  <a:gd name="T13" fmla="*/ 2147483646 h 628"/>
                  <a:gd name="T14" fmla="*/ 2147483646 w 2133"/>
                  <a:gd name="T15" fmla="*/ 2147483646 h 628"/>
                  <a:gd name="T16" fmla="*/ 2147483646 w 2133"/>
                  <a:gd name="T17" fmla="*/ 2147483646 h 628"/>
                  <a:gd name="T18" fmla="*/ 2147483646 w 2133"/>
                  <a:gd name="T19" fmla="*/ 2147483646 h 628"/>
                  <a:gd name="T20" fmla="*/ 2147483646 w 2133"/>
                  <a:gd name="T21" fmla="*/ 2147483646 h 628"/>
                  <a:gd name="T22" fmla="*/ 2147483646 w 2133"/>
                  <a:gd name="T23" fmla="*/ 0 h 628"/>
                  <a:gd name="T24" fmla="*/ 2147483646 w 2133"/>
                  <a:gd name="T25" fmla="*/ 2147483646 h 628"/>
                  <a:gd name="T26" fmla="*/ 2147483646 w 2133"/>
                  <a:gd name="T27" fmla="*/ 2147483646 h 628"/>
                  <a:gd name="T28" fmla="*/ 2147483646 w 2133"/>
                  <a:gd name="T29" fmla="*/ 2147483646 h 628"/>
                  <a:gd name="T30" fmla="*/ 2147483646 w 2133"/>
                  <a:gd name="T31" fmla="*/ 2147483646 h 628"/>
                  <a:gd name="T32" fmla="*/ 2147483646 w 2133"/>
                  <a:gd name="T33" fmla="*/ 2147483646 h 628"/>
                  <a:gd name="T34" fmla="*/ 2147483646 w 2133"/>
                  <a:gd name="T35" fmla="*/ 2147483646 h 628"/>
                  <a:gd name="T36" fmla="*/ 2147483646 w 2133"/>
                  <a:gd name="T37" fmla="*/ 2147483646 h 628"/>
                  <a:gd name="T38" fmla="*/ 2147483646 w 2133"/>
                  <a:gd name="T39" fmla="*/ 2147483646 h 628"/>
                  <a:gd name="T40" fmla="*/ 2147483646 w 2133"/>
                  <a:gd name="T41" fmla="*/ 2147483646 h 628"/>
                  <a:gd name="T42" fmla="*/ 2147483646 w 2133"/>
                  <a:gd name="T43" fmla="*/ 2147483646 h 628"/>
                  <a:gd name="T44" fmla="*/ 2147483646 w 2133"/>
                  <a:gd name="T45" fmla="*/ 2147483646 h 628"/>
                  <a:gd name="T46" fmla="*/ 2147483646 w 2133"/>
                  <a:gd name="T47" fmla="*/ 2147483646 h 628"/>
                  <a:gd name="T48" fmla="*/ 2147483646 w 2133"/>
                  <a:gd name="T49" fmla="*/ 2147483646 h 628"/>
                  <a:gd name="T50" fmla="*/ 2147483646 w 2133"/>
                  <a:gd name="T51" fmla="*/ 2147483646 h 628"/>
                  <a:gd name="T52" fmla="*/ 2147483646 w 2133"/>
                  <a:gd name="T53" fmla="*/ 2147483646 h 628"/>
                  <a:gd name="T54" fmla="*/ 2147483646 w 2133"/>
                  <a:gd name="T55" fmla="*/ 2147483646 h 628"/>
                  <a:gd name="T56" fmla="*/ 2147483646 w 2133"/>
                  <a:gd name="T57" fmla="*/ 2147483646 h 628"/>
                  <a:gd name="T58" fmla="*/ 2147483646 w 2133"/>
                  <a:gd name="T59" fmla="*/ 2147483646 h 628"/>
                  <a:gd name="T60" fmla="*/ 2147483646 w 2133"/>
                  <a:gd name="T61" fmla="*/ 2147483646 h 628"/>
                  <a:gd name="T62" fmla="*/ 2147483646 w 2133"/>
                  <a:gd name="T63" fmla="*/ 2147483646 h 628"/>
                  <a:gd name="T64" fmla="*/ 2147483646 w 2133"/>
                  <a:gd name="T65" fmla="*/ 2147483646 h 628"/>
                  <a:gd name="T66" fmla="*/ 2147483646 w 2133"/>
                  <a:gd name="T67" fmla="*/ 2147483646 h 628"/>
                  <a:gd name="T68" fmla="*/ 2147483646 w 2133"/>
                  <a:gd name="T69" fmla="*/ 2147483646 h 628"/>
                  <a:gd name="T70" fmla="*/ 2147483646 w 2133"/>
                  <a:gd name="T71" fmla="*/ 2147483646 h 628"/>
                  <a:gd name="T72" fmla="*/ 2147483646 w 2133"/>
                  <a:gd name="T73" fmla="*/ 2147483646 h 628"/>
                  <a:gd name="T74" fmla="*/ 2147483646 w 2133"/>
                  <a:gd name="T75" fmla="*/ 2147483646 h 628"/>
                  <a:gd name="T76" fmla="*/ 2147483646 w 2133"/>
                  <a:gd name="T77" fmla="*/ 2147483646 h 628"/>
                  <a:gd name="T78" fmla="*/ 2147483646 w 2133"/>
                  <a:gd name="T79" fmla="*/ 2147483646 h 628"/>
                  <a:gd name="T80" fmla="*/ 2147483646 w 2133"/>
                  <a:gd name="T81" fmla="*/ 2147483646 h 628"/>
                  <a:gd name="T82" fmla="*/ 2147483646 w 2133"/>
                  <a:gd name="T83" fmla="*/ 2147483646 h 628"/>
                  <a:gd name="T84" fmla="*/ 2147483646 w 2133"/>
                  <a:gd name="T85" fmla="*/ 2147483646 h 628"/>
                  <a:gd name="T86" fmla="*/ 2147483646 w 2133"/>
                  <a:gd name="T87" fmla="*/ 2147483646 h 628"/>
                  <a:gd name="T88" fmla="*/ 2147483646 w 2133"/>
                  <a:gd name="T89" fmla="*/ 2147483646 h 6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33" h="628">
                    <a:moveTo>
                      <a:pt x="0" y="314"/>
                    </a:moveTo>
                    <a:lnTo>
                      <a:pt x="3" y="292"/>
                    </a:lnTo>
                    <a:lnTo>
                      <a:pt x="11" y="270"/>
                    </a:lnTo>
                    <a:lnTo>
                      <a:pt x="24" y="249"/>
                    </a:lnTo>
                    <a:lnTo>
                      <a:pt x="42" y="228"/>
                    </a:lnTo>
                    <a:lnTo>
                      <a:pt x="64" y="207"/>
                    </a:lnTo>
                    <a:lnTo>
                      <a:pt x="92" y="186"/>
                    </a:lnTo>
                    <a:lnTo>
                      <a:pt x="124" y="166"/>
                    </a:lnTo>
                    <a:lnTo>
                      <a:pt x="162" y="148"/>
                    </a:lnTo>
                    <a:lnTo>
                      <a:pt x="204" y="129"/>
                    </a:lnTo>
                    <a:lnTo>
                      <a:pt x="250" y="112"/>
                    </a:lnTo>
                    <a:lnTo>
                      <a:pt x="299" y="95"/>
                    </a:lnTo>
                    <a:lnTo>
                      <a:pt x="353" y="80"/>
                    </a:lnTo>
                    <a:lnTo>
                      <a:pt x="410" y="67"/>
                    </a:lnTo>
                    <a:lnTo>
                      <a:pt x="471" y="54"/>
                    </a:lnTo>
                    <a:lnTo>
                      <a:pt x="533" y="42"/>
                    </a:lnTo>
                    <a:lnTo>
                      <a:pt x="599" y="31"/>
                    </a:lnTo>
                    <a:lnTo>
                      <a:pt x="667" y="22"/>
                    </a:lnTo>
                    <a:lnTo>
                      <a:pt x="737" y="16"/>
                    </a:lnTo>
                    <a:lnTo>
                      <a:pt x="808" y="9"/>
                    </a:lnTo>
                    <a:lnTo>
                      <a:pt x="881" y="4"/>
                    </a:lnTo>
                    <a:lnTo>
                      <a:pt x="955" y="1"/>
                    </a:lnTo>
                    <a:lnTo>
                      <a:pt x="1029" y="0"/>
                    </a:lnTo>
                    <a:lnTo>
                      <a:pt x="1103" y="0"/>
                    </a:lnTo>
                    <a:lnTo>
                      <a:pt x="1178" y="1"/>
                    </a:lnTo>
                    <a:lnTo>
                      <a:pt x="1251" y="4"/>
                    </a:lnTo>
                    <a:lnTo>
                      <a:pt x="1324" y="9"/>
                    </a:lnTo>
                    <a:lnTo>
                      <a:pt x="1396" y="16"/>
                    </a:lnTo>
                    <a:lnTo>
                      <a:pt x="1465" y="22"/>
                    </a:lnTo>
                    <a:lnTo>
                      <a:pt x="1533" y="31"/>
                    </a:lnTo>
                    <a:lnTo>
                      <a:pt x="1600" y="42"/>
                    </a:lnTo>
                    <a:lnTo>
                      <a:pt x="1662" y="54"/>
                    </a:lnTo>
                    <a:lnTo>
                      <a:pt x="1722" y="67"/>
                    </a:lnTo>
                    <a:lnTo>
                      <a:pt x="1780" y="80"/>
                    </a:lnTo>
                    <a:lnTo>
                      <a:pt x="1833" y="95"/>
                    </a:lnTo>
                    <a:lnTo>
                      <a:pt x="1883" y="112"/>
                    </a:lnTo>
                    <a:lnTo>
                      <a:pt x="1929" y="129"/>
                    </a:lnTo>
                    <a:lnTo>
                      <a:pt x="1971" y="148"/>
                    </a:lnTo>
                    <a:lnTo>
                      <a:pt x="2007" y="166"/>
                    </a:lnTo>
                    <a:lnTo>
                      <a:pt x="2040" y="186"/>
                    </a:lnTo>
                    <a:lnTo>
                      <a:pt x="2067" y="207"/>
                    </a:lnTo>
                    <a:lnTo>
                      <a:pt x="2091" y="228"/>
                    </a:lnTo>
                    <a:lnTo>
                      <a:pt x="2109" y="249"/>
                    </a:lnTo>
                    <a:lnTo>
                      <a:pt x="2122" y="270"/>
                    </a:lnTo>
                    <a:lnTo>
                      <a:pt x="2130" y="292"/>
                    </a:lnTo>
                    <a:lnTo>
                      <a:pt x="2133" y="314"/>
                    </a:lnTo>
                    <a:lnTo>
                      <a:pt x="2130" y="336"/>
                    </a:lnTo>
                    <a:lnTo>
                      <a:pt x="2122" y="357"/>
                    </a:lnTo>
                    <a:lnTo>
                      <a:pt x="2109" y="379"/>
                    </a:lnTo>
                    <a:lnTo>
                      <a:pt x="2091" y="400"/>
                    </a:lnTo>
                    <a:lnTo>
                      <a:pt x="2067" y="421"/>
                    </a:lnTo>
                    <a:lnTo>
                      <a:pt x="2040" y="441"/>
                    </a:lnTo>
                    <a:lnTo>
                      <a:pt x="2007" y="461"/>
                    </a:lnTo>
                    <a:lnTo>
                      <a:pt x="1971" y="480"/>
                    </a:lnTo>
                    <a:lnTo>
                      <a:pt x="1929" y="499"/>
                    </a:lnTo>
                    <a:lnTo>
                      <a:pt x="1883" y="516"/>
                    </a:lnTo>
                    <a:lnTo>
                      <a:pt x="1833" y="533"/>
                    </a:lnTo>
                    <a:lnTo>
                      <a:pt x="1780" y="547"/>
                    </a:lnTo>
                    <a:lnTo>
                      <a:pt x="1722" y="561"/>
                    </a:lnTo>
                    <a:lnTo>
                      <a:pt x="1662" y="575"/>
                    </a:lnTo>
                    <a:lnTo>
                      <a:pt x="1600" y="586"/>
                    </a:lnTo>
                    <a:lnTo>
                      <a:pt x="1533" y="595"/>
                    </a:lnTo>
                    <a:lnTo>
                      <a:pt x="1465" y="605"/>
                    </a:lnTo>
                    <a:lnTo>
                      <a:pt x="1396" y="612"/>
                    </a:lnTo>
                    <a:lnTo>
                      <a:pt x="1324" y="619"/>
                    </a:lnTo>
                    <a:lnTo>
                      <a:pt x="1251" y="623"/>
                    </a:lnTo>
                    <a:lnTo>
                      <a:pt x="1178" y="626"/>
                    </a:lnTo>
                    <a:lnTo>
                      <a:pt x="1103" y="628"/>
                    </a:lnTo>
                    <a:lnTo>
                      <a:pt x="1029" y="628"/>
                    </a:lnTo>
                    <a:lnTo>
                      <a:pt x="955" y="626"/>
                    </a:lnTo>
                    <a:lnTo>
                      <a:pt x="881" y="623"/>
                    </a:lnTo>
                    <a:lnTo>
                      <a:pt x="808" y="619"/>
                    </a:lnTo>
                    <a:lnTo>
                      <a:pt x="737" y="612"/>
                    </a:lnTo>
                    <a:lnTo>
                      <a:pt x="667" y="605"/>
                    </a:lnTo>
                    <a:lnTo>
                      <a:pt x="599" y="595"/>
                    </a:lnTo>
                    <a:lnTo>
                      <a:pt x="533" y="586"/>
                    </a:lnTo>
                    <a:lnTo>
                      <a:pt x="471" y="575"/>
                    </a:lnTo>
                    <a:lnTo>
                      <a:pt x="410" y="561"/>
                    </a:lnTo>
                    <a:lnTo>
                      <a:pt x="353" y="547"/>
                    </a:lnTo>
                    <a:lnTo>
                      <a:pt x="299" y="533"/>
                    </a:lnTo>
                    <a:lnTo>
                      <a:pt x="250" y="516"/>
                    </a:lnTo>
                    <a:lnTo>
                      <a:pt x="204" y="499"/>
                    </a:lnTo>
                    <a:lnTo>
                      <a:pt x="162" y="480"/>
                    </a:lnTo>
                    <a:lnTo>
                      <a:pt x="124" y="461"/>
                    </a:lnTo>
                    <a:lnTo>
                      <a:pt x="92" y="441"/>
                    </a:lnTo>
                    <a:lnTo>
                      <a:pt x="64" y="421"/>
                    </a:lnTo>
                    <a:lnTo>
                      <a:pt x="42" y="400"/>
                    </a:lnTo>
                    <a:lnTo>
                      <a:pt x="24" y="379"/>
                    </a:lnTo>
                    <a:lnTo>
                      <a:pt x="11" y="357"/>
                    </a:lnTo>
                    <a:lnTo>
                      <a:pt x="3" y="336"/>
                    </a:lnTo>
                    <a:lnTo>
                      <a:pt x="0" y="314"/>
                    </a:lnTo>
                    <a:close/>
                  </a:path>
                </a:pathLst>
              </a:custGeom>
              <a:solidFill>
                <a:srgbClr val="FFFFFF"/>
              </a:solidFill>
              <a:ln w="10160">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lumMod val="85000"/>
                      <a:lumOff val="15000"/>
                    </a:prstClr>
                  </a:solidFill>
                  <a:effectLst/>
                  <a:uLnTx/>
                  <a:uFillTx/>
                  <a:latin typeface="微软雅黑"/>
                  <a:ea typeface="微软雅黑"/>
                  <a:cs typeface="+mn-cs"/>
                </a:endParaRPr>
              </a:p>
            </p:txBody>
          </p:sp>
          <p:sp>
            <p:nvSpPr>
              <p:cNvPr id="37" name="Rectangle 170">
                <a:extLst>
                  <a:ext uri="{FF2B5EF4-FFF2-40B4-BE49-F238E27FC236}">
                    <a16:creationId xmlns:a16="http://schemas.microsoft.com/office/drawing/2014/main" id="{AF98E476-F15A-4045-D12D-2E116D740516}"/>
                  </a:ext>
                </a:extLst>
              </p:cNvPr>
              <p:cNvSpPr>
                <a:spLocks noChangeArrowheads="1"/>
              </p:cNvSpPr>
              <p:nvPr/>
            </p:nvSpPr>
            <p:spPr bwMode="auto">
              <a:xfrm>
                <a:off x="2269140" y="54713"/>
                <a:ext cx="437679" cy="12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upright="1"/>
              <a:lstStyle/>
              <a:p>
                <a:pPr marL="0" marR="0" lvl="0" indent="0" algn="just"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lang="zh-CN" altLang="en-US" sz="1400" kern="100" dirty="0">
                    <a:solidFill>
                      <a:prstClr val="black">
                        <a:lumMod val="85000"/>
                        <a:lumOff val="15000"/>
                      </a:prstClr>
                    </a:solidFill>
                    <a:latin typeface="微软雅黑"/>
                    <a:ea typeface="微软雅黑"/>
                    <a:cs typeface="Times New Roman"/>
                  </a:rPr>
                  <a:t>院系</a:t>
                </a:r>
                <a:endParaRPr kumimoji="0" lang="zh-CN" altLang="en-US" sz="1400" b="0" i="0" u="none" strike="noStrike" kern="100" cap="none" spc="0" normalizeH="0" baseline="0" noProof="0" dirty="0">
                  <a:ln>
                    <a:noFill/>
                  </a:ln>
                  <a:solidFill>
                    <a:prstClr val="black">
                      <a:lumMod val="85000"/>
                      <a:lumOff val="15000"/>
                    </a:prstClr>
                  </a:solidFill>
                  <a:effectLst/>
                  <a:uLnTx/>
                  <a:uFillTx/>
                  <a:latin typeface="微软雅黑"/>
                  <a:ea typeface="微软雅黑"/>
                  <a:cs typeface="Times New Roman"/>
                </a:endParaRPr>
              </a:p>
            </p:txBody>
          </p:sp>
          <p:sp>
            <p:nvSpPr>
              <p:cNvPr id="39" name="Rectangle 173">
                <a:extLst>
                  <a:ext uri="{FF2B5EF4-FFF2-40B4-BE49-F238E27FC236}">
                    <a16:creationId xmlns:a16="http://schemas.microsoft.com/office/drawing/2014/main" id="{575F389F-BB75-1FC4-6562-C29475F6A90F}"/>
                  </a:ext>
                </a:extLst>
              </p:cNvPr>
              <p:cNvSpPr>
                <a:spLocks noChangeArrowheads="1"/>
              </p:cNvSpPr>
              <p:nvPr/>
            </p:nvSpPr>
            <p:spPr bwMode="auto">
              <a:xfrm>
                <a:off x="1544936" y="45540"/>
                <a:ext cx="342512" cy="198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upright="1"/>
              <a:lstStyle/>
              <a:p>
                <a:pPr marL="0" marR="0" lvl="0" indent="0" algn="just"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kumimoji="0" lang="zh-CN" altLang="en-US" sz="1400" b="0" i="0" u="none" strike="noStrike" kern="100" cap="none" spc="0" normalizeH="0" baseline="0" noProof="0" dirty="0">
                    <a:ln>
                      <a:noFill/>
                    </a:ln>
                    <a:solidFill>
                      <a:prstClr val="black">
                        <a:lumMod val="85000"/>
                        <a:lumOff val="15000"/>
                      </a:prstClr>
                    </a:solidFill>
                    <a:effectLst/>
                    <a:uLnTx/>
                    <a:uFillTx/>
                    <a:latin typeface="微软雅黑"/>
                    <a:ea typeface="微软雅黑"/>
                    <a:cs typeface="Times New Roman"/>
                  </a:rPr>
                  <a:t>性别</a:t>
                </a:r>
              </a:p>
            </p:txBody>
          </p:sp>
          <p:sp>
            <p:nvSpPr>
              <p:cNvPr id="40" name="Freeform 174">
                <a:extLst>
                  <a:ext uri="{FF2B5EF4-FFF2-40B4-BE49-F238E27FC236}">
                    <a16:creationId xmlns:a16="http://schemas.microsoft.com/office/drawing/2014/main" id="{75950621-6F9D-5763-11EA-56F9C97F541F}"/>
                  </a:ext>
                </a:extLst>
              </p:cNvPr>
              <p:cNvSpPr>
                <a:spLocks/>
              </p:cNvSpPr>
              <p:nvPr/>
            </p:nvSpPr>
            <p:spPr bwMode="auto">
              <a:xfrm>
                <a:off x="0" y="0"/>
                <a:ext cx="557530" cy="199390"/>
              </a:xfrm>
              <a:custGeom>
                <a:avLst/>
                <a:gdLst>
                  <a:gd name="T0" fmla="*/ 2147483646 w 1756"/>
                  <a:gd name="T1" fmla="*/ 2147483646 h 628"/>
                  <a:gd name="T2" fmla="*/ 2147483646 w 1756"/>
                  <a:gd name="T3" fmla="*/ 2147483646 h 628"/>
                  <a:gd name="T4" fmla="*/ 2147483646 w 1756"/>
                  <a:gd name="T5" fmla="*/ 2147483646 h 628"/>
                  <a:gd name="T6" fmla="*/ 2147483646 w 1756"/>
                  <a:gd name="T7" fmla="*/ 2147483646 h 628"/>
                  <a:gd name="T8" fmla="*/ 2147483646 w 1756"/>
                  <a:gd name="T9" fmla="*/ 2147483646 h 628"/>
                  <a:gd name="T10" fmla="*/ 2147483646 w 1756"/>
                  <a:gd name="T11" fmla="*/ 2147483646 h 628"/>
                  <a:gd name="T12" fmla="*/ 2147483646 w 1756"/>
                  <a:gd name="T13" fmla="*/ 2147483646 h 628"/>
                  <a:gd name="T14" fmla="*/ 2147483646 w 1756"/>
                  <a:gd name="T15" fmla="*/ 2147483646 h 628"/>
                  <a:gd name="T16" fmla="*/ 2147483646 w 1756"/>
                  <a:gd name="T17" fmla="*/ 2147483646 h 628"/>
                  <a:gd name="T18" fmla="*/ 2147483646 w 1756"/>
                  <a:gd name="T19" fmla="*/ 2147483646 h 628"/>
                  <a:gd name="T20" fmla="*/ 2147483646 w 1756"/>
                  <a:gd name="T21" fmla="*/ 0 h 628"/>
                  <a:gd name="T22" fmla="*/ 2147483646 w 1756"/>
                  <a:gd name="T23" fmla="*/ 2147483646 h 628"/>
                  <a:gd name="T24" fmla="*/ 2147483646 w 1756"/>
                  <a:gd name="T25" fmla="*/ 2147483646 h 628"/>
                  <a:gd name="T26" fmla="*/ 2147483646 w 1756"/>
                  <a:gd name="T27" fmla="*/ 2147483646 h 628"/>
                  <a:gd name="T28" fmla="*/ 2147483646 w 1756"/>
                  <a:gd name="T29" fmla="*/ 2147483646 h 628"/>
                  <a:gd name="T30" fmla="*/ 2147483646 w 1756"/>
                  <a:gd name="T31" fmla="*/ 2147483646 h 628"/>
                  <a:gd name="T32" fmla="*/ 2147483646 w 1756"/>
                  <a:gd name="T33" fmla="*/ 2147483646 h 628"/>
                  <a:gd name="T34" fmla="*/ 2147483646 w 1756"/>
                  <a:gd name="T35" fmla="*/ 2147483646 h 628"/>
                  <a:gd name="T36" fmla="*/ 2147483646 w 1756"/>
                  <a:gd name="T37" fmla="*/ 2147483646 h 628"/>
                  <a:gd name="T38" fmla="*/ 2147483646 w 1756"/>
                  <a:gd name="T39" fmla="*/ 2147483646 h 628"/>
                  <a:gd name="T40" fmla="*/ 2147483646 w 1756"/>
                  <a:gd name="T41" fmla="*/ 2147483646 h 628"/>
                  <a:gd name="T42" fmla="*/ 2147483646 w 1756"/>
                  <a:gd name="T43" fmla="*/ 2147483646 h 628"/>
                  <a:gd name="T44" fmla="*/ 2147483646 w 1756"/>
                  <a:gd name="T45" fmla="*/ 2147483646 h 628"/>
                  <a:gd name="T46" fmla="*/ 2147483646 w 1756"/>
                  <a:gd name="T47" fmla="*/ 2147483646 h 628"/>
                  <a:gd name="T48" fmla="*/ 2147483646 w 1756"/>
                  <a:gd name="T49" fmla="*/ 2147483646 h 628"/>
                  <a:gd name="T50" fmla="*/ 2147483646 w 1756"/>
                  <a:gd name="T51" fmla="*/ 2147483646 h 628"/>
                  <a:gd name="T52" fmla="*/ 2147483646 w 1756"/>
                  <a:gd name="T53" fmla="*/ 2147483646 h 628"/>
                  <a:gd name="T54" fmla="*/ 2147483646 w 1756"/>
                  <a:gd name="T55" fmla="*/ 2147483646 h 628"/>
                  <a:gd name="T56" fmla="*/ 2147483646 w 1756"/>
                  <a:gd name="T57" fmla="*/ 2147483646 h 628"/>
                  <a:gd name="T58" fmla="*/ 2147483646 w 1756"/>
                  <a:gd name="T59" fmla="*/ 2147483646 h 628"/>
                  <a:gd name="T60" fmla="*/ 2147483646 w 1756"/>
                  <a:gd name="T61" fmla="*/ 2147483646 h 628"/>
                  <a:gd name="T62" fmla="*/ 2147483646 w 1756"/>
                  <a:gd name="T63" fmla="*/ 2147483646 h 628"/>
                  <a:gd name="T64" fmla="*/ 2147483646 w 1756"/>
                  <a:gd name="T65" fmla="*/ 2147483646 h 628"/>
                  <a:gd name="T66" fmla="*/ 2147483646 w 1756"/>
                  <a:gd name="T67" fmla="*/ 2147483646 h 628"/>
                  <a:gd name="T68" fmla="*/ 2147483646 w 1756"/>
                  <a:gd name="T69" fmla="*/ 2147483646 h 628"/>
                  <a:gd name="T70" fmla="*/ 2147483646 w 1756"/>
                  <a:gd name="T71" fmla="*/ 2147483646 h 628"/>
                  <a:gd name="T72" fmla="*/ 2147483646 w 1756"/>
                  <a:gd name="T73" fmla="*/ 2147483646 h 628"/>
                  <a:gd name="T74" fmla="*/ 2147483646 w 1756"/>
                  <a:gd name="T75" fmla="*/ 2147483646 h 628"/>
                  <a:gd name="T76" fmla="*/ 2147483646 w 1756"/>
                  <a:gd name="T77" fmla="*/ 2147483646 h 628"/>
                  <a:gd name="T78" fmla="*/ 2147483646 w 1756"/>
                  <a:gd name="T79" fmla="*/ 2147483646 h 628"/>
                  <a:gd name="T80" fmla="*/ 2147483646 w 1756"/>
                  <a:gd name="T81" fmla="*/ 2147483646 h 62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56" h="628">
                    <a:moveTo>
                      <a:pt x="0" y="314"/>
                    </a:moveTo>
                    <a:lnTo>
                      <a:pt x="2" y="289"/>
                    </a:lnTo>
                    <a:lnTo>
                      <a:pt x="10" y="266"/>
                    </a:lnTo>
                    <a:lnTo>
                      <a:pt x="23" y="242"/>
                    </a:lnTo>
                    <a:lnTo>
                      <a:pt x="40" y="218"/>
                    </a:lnTo>
                    <a:lnTo>
                      <a:pt x="64" y="196"/>
                    </a:lnTo>
                    <a:lnTo>
                      <a:pt x="91" y="174"/>
                    </a:lnTo>
                    <a:lnTo>
                      <a:pt x="123" y="153"/>
                    </a:lnTo>
                    <a:lnTo>
                      <a:pt x="159" y="133"/>
                    </a:lnTo>
                    <a:lnTo>
                      <a:pt x="200" y="114"/>
                    </a:lnTo>
                    <a:lnTo>
                      <a:pt x="245" y="95"/>
                    </a:lnTo>
                    <a:lnTo>
                      <a:pt x="294" y="80"/>
                    </a:lnTo>
                    <a:lnTo>
                      <a:pt x="345" y="64"/>
                    </a:lnTo>
                    <a:lnTo>
                      <a:pt x="401" y="50"/>
                    </a:lnTo>
                    <a:lnTo>
                      <a:pt x="458" y="38"/>
                    </a:lnTo>
                    <a:lnTo>
                      <a:pt x="518" y="27"/>
                    </a:lnTo>
                    <a:lnTo>
                      <a:pt x="581" y="18"/>
                    </a:lnTo>
                    <a:lnTo>
                      <a:pt x="645" y="10"/>
                    </a:lnTo>
                    <a:lnTo>
                      <a:pt x="711" y="5"/>
                    </a:lnTo>
                    <a:lnTo>
                      <a:pt x="777" y="1"/>
                    </a:lnTo>
                    <a:lnTo>
                      <a:pt x="844" y="0"/>
                    </a:lnTo>
                    <a:lnTo>
                      <a:pt x="910" y="0"/>
                    </a:lnTo>
                    <a:lnTo>
                      <a:pt x="978" y="1"/>
                    </a:lnTo>
                    <a:lnTo>
                      <a:pt x="1045" y="5"/>
                    </a:lnTo>
                    <a:lnTo>
                      <a:pt x="1110" y="10"/>
                    </a:lnTo>
                    <a:lnTo>
                      <a:pt x="1174" y="18"/>
                    </a:lnTo>
                    <a:lnTo>
                      <a:pt x="1237" y="27"/>
                    </a:lnTo>
                    <a:lnTo>
                      <a:pt x="1297" y="38"/>
                    </a:lnTo>
                    <a:lnTo>
                      <a:pt x="1355" y="50"/>
                    </a:lnTo>
                    <a:lnTo>
                      <a:pt x="1410" y="64"/>
                    </a:lnTo>
                    <a:lnTo>
                      <a:pt x="1462" y="80"/>
                    </a:lnTo>
                    <a:lnTo>
                      <a:pt x="1510" y="95"/>
                    </a:lnTo>
                    <a:lnTo>
                      <a:pt x="1555" y="114"/>
                    </a:lnTo>
                    <a:lnTo>
                      <a:pt x="1595" y="133"/>
                    </a:lnTo>
                    <a:lnTo>
                      <a:pt x="1632" y="153"/>
                    </a:lnTo>
                    <a:lnTo>
                      <a:pt x="1664" y="174"/>
                    </a:lnTo>
                    <a:lnTo>
                      <a:pt x="1692" y="196"/>
                    </a:lnTo>
                    <a:lnTo>
                      <a:pt x="1714" y="218"/>
                    </a:lnTo>
                    <a:lnTo>
                      <a:pt x="1732" y="242"/>
                    </a:lnTo>
                    <a:lnTo>
                      <a:pt x="1745" y="266"/>
                    </a:lnTo>
                    <a:lnTo>
                      <a:pt x="1753" y="289"/>
                    </a:lnTo>
                    <a:lnTo>
                      <a:pt x="1756" y="314"/>
                    </a:lnTo>
                    <a:lnTo>
                      <a:pt x="1753" y="338"/>
                    </a:lnTo>
                    <a:lnTo>
                      <a:pt x="1745" y="361"/>
                    </a:lnTo>
                    <a:lnTo>
                      <a:pt x="1732" y="385"/>
                    </a:lnTo>
                    <a:lnTo>
                      <a:pt x="1714" y="408"/>
                    </a:lnTo>
                    <a:lnTo>
                      <a:pt x="1692" y="432"/>
                    </a:lnTo>
                    <a:lnTo>
                      <a:pt x="1664" y="453"/>
                    </a:lnTo>
                    <a:lnTo>
                      <a:pt x="1632" y="474"/>
                    </a:lnTo>
                    <a:lnTo>
                      <a:pt x="1595" y="495"/>
                    </a:lnTo>
                    <a:lnTo>
                      <a:pt x="1555" y="513"/>
                    </a:lnTo>
                    <a:lnTo>
                      <a:pt x="1510" y="531"/>
                    </a:lnTo>
                    <a:lnTo>
                      <a:pt x="1462" y="548"/>
                    </a:lnTo>
                    <a:lnTo>
                      <a:pt x="1410" y="564"/>
                    </a:lnTo>
                    <a:lnTo>
                      <a:pt x="1355" y="577"/>
                    </a:lnTo>
                    <a:lnTo>
                      <a:pt x="1297" y="590"/>
                    </a:lnTo>
                    <a:lnTo>
                      <a:pt x="1237" y="601"/>
                    </a:lnTo>
                    <a:lnTo>
                      <a:pt x="1174" y="610"/>
                    </a:lnTo>
                    <a:lnTo>
                      <a:pt x="1110" y="616"/>
                    </a:lnTo>
                    <a:lnTo>
                      <a:pt x="1045" y="622"/>
                    </a:lnTo>
                    <a:lnTo>
                      <a:pt x="978" y="626"/>
                    </a:lnTo>
                    <a:lnTo>
                      <a:pt x="910" y="628"/>
                    </a:lnTo>
                    <a:lnTo>
                      <a:pt x="844" y="628"/>
                    </a:lnTo>
                    <a:lnTo>
                      <a:pt x="777" y="626"/>
                    </a:lnTo>
                    <a:lnTo>
                      <a:pt x="711" y="622"/>
                    </a:lnTo>
                    <a:lnTo>
                      <a:pt x="645" y="616"/>
                    </a:lnTo>
                    <a:lnTo>
                      <a:pt x="581" y="610"/>
                    </a:lnTo>
                    <a:lnTo>
                      <a:pt x="518" y="601"/>
                    </a:lnTo>
                    <a:lnTo>
                      <a:pt x="458" y="590"/>
                    </a:lnTo>
                    <a:lnTo>
                      <a:pt x="401" y="577"/>
                    </a:lnTo>
                    <a:lnTo>
                      <a:pt x="345" y="564"/>
                    </a:lnTo>
                    <a:lnTo>
                      <a:pt x="294" y="548"/>
                    </a:lnTo>
                    <a:lnTo>
                      <a:pt x="245" y="531"/>
                    </a:lnTo>
                    <a:lnTo>
                      <a:pt x="200" y="513"/>
                    </a:lnTo>
                    <a:lnTo>
                      <a:pt x="159" y="495"/>
                    </a:lnTo>
                    <a:lnTo>
                      <a:pt x="123" y="474"/>
                    </a:lnTo>
                    <a:lnTo>
                      <a:pt x="91" y="453"/>
                    </a:lnTo>
                    <a:lnTo>
                      <a:pt x="64" y="432"/>
                    </a:lnTo>
                    <a:lnTo>
                      <a:pt x="40" y="408"/>
                    </a:lnTo>
                    <a:lnTo>
                      <a:pt x="23" y="385"/>
                    </a:lnTo>
                    <a:lnTo>
                      <a:pt x="10" y="361"/>
                    </a:lnTo>
                    <a:lnTo>
                      <a:pt x="2" y="338"/>
                    </a:lnTo>
                    <a:lnTo>
                      <a:pt x="0" y="314"/>
                    </a:lnTo>
                    <a:close/>
                  </a:path>
                </a:pathLst>
              </a:custGeom>
              <a:solidFill>
                <a:srgbClr val="FFFFFF"/>
              </a:solidFill>
              <a:ln w="10160">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lumMod val="85000"/>
                      <a:lumOff val="15000"/>
                    </a:prstClr>
                  </a:solidFill>
                  <a:effectLst/>
                  <a:uLnTx/>
                  <a:uFillTx/>
                  <a:latin typeface="微软雅黑"/>
                  <a:ea typeface="微软雅黑"/>
                  <a:cs typeface="+mn-cs"/>
                </a:endParaRPr>
              </a:p>
            </p:txBody>
          </p:sp>
          <p:sp>
            <p:nvSpPr>
              <p:cNvPr id="41" name="Rectangle 175">
                <a:extLst>
                  <a:ext uri="{FF2B5EF4-FFF2-40B4-BE49-F238E27FC236}">
                    <a16:creationId xmlns:a16="http://schemas.microsoft.com/office/drawing/2014/main" id="{3027F3FD-81C9-AE3C-4556-AE76951B68BC}"/>
                  </a:ext>
                </a:extLst>
              </p:cNvPr>
              <p:cNvSpPr>
                <a:spLocks noChangeArrowheads="1"/>
              </p:cNvSpPr>
              <p:nvPr/>
            </p:nvSpPr>
            <p:spPr bwMode="auto">
              <a:xfrm>
                <a:off x="92709" y="43610"/>
                <a:ext cx="490107" cy="84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upright="1"/>
              <a:lstStyle/>
              <a:p>
                <a:pPr marL="0" marR="0" lvl="0" indent="0" algn="just"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r>
                  <a:rPr lang="zh-CN" altLang="en-US" sz="1400" kern="100" dirty="0">
                    <a:solidFill>
                      <a:prstClr val="black">
                        <a:lumMod val="85000"/>
                        <a:lumOff val="15000"/>
                      </a:prstClr>
                    </a:solidFill>
                    <a:latin typeface="微软雅黑"/>
                    <a:ea typeface="微软雅黑"/>
                    <a:cs typeface="Times New Roman"/>
                  </a:rPr>
                  <a:t>工</a:t>
                </a:r>
                <a:r>
                  <a:rPr kumimoji="0" lang="zh-CN" altLang="en-US" sz="1400" b="0" i="0" u="none" strike="noStrike" kern="100" cap="none" spc="0" normalizeH="0" baseline="0" noProof="0" dirty="0">
                    <a:ln>
                      <a:noFill/>
                    </a:ln>
                    <a:solidFill>
                      <a:prstClr val="black">
                        <a:lumMod val="85000"/>
                        <a:lumOff val="15000"/>
                      </a:prstClr>
                    </a:solidFill>
                    <a:effectLst/>
                    <a:uLnTx/>
                    <a:uFillTx/>
                    <a:latin typeface="微软雅黑"/>
                    <a:ea typeface="微软雅黑"/>
                    <a:cs typeface="Times New Roman"/>
                  </a:rPr>
                  <a:t>号</a:t>
                </a:r>
              </a:p>
            </p:txBody>
          </p:sp>
        </p:grpSp>
        <p:cxnSp>
          <p:nvCxnSpPr>
            <p:cNvPr id="25" name="直线连接符 570">
              <a:extLst>
                <a:ext uri="{FF2B5EF4-FFF2-40B4-BE49-F238E27FC236}">
                  <a16:creationId xmlns:a16="http://schemas.microsoft.com/office/drawing/2014/main" id="{23AB148E-6F79-0469-7D66-EE8B850B4D2B}"/>
                </a:ext>
              </a:extLst>
            </p:cNvPr>
            <p:cNvCxnSpPr>
              <a:cxnSpLocks/>
            </p:cNvCxnSpPr>
            <p:nvPr/>
          </p:nvCxnSpPr>
          <p:spPr bwMode="auto">
            <a:xfrm flipV="1">
              <a:off x="1260702" y="244938"/>
              <a:ext cx="1037695" cy="235991"/>
            </a:xfrm>
            <a:prstGeom prst="line">
              <a:avLst/>
            </a:prstGeom>
            <a:noFill/>
            <a:ln w="9525">
              <a:solidFill>
                <a:schemeClr val="tx1">
                  <a:lumMod val="100000"/>
                  <a:lumOff val="0"/>
                </a:schemeClr>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6" name="直线连接符 571">
              <a:extLst>
                <a:ext uri="{FF2B5EF4-FFF2-40B4-BE49-F238E27FC236}">
                  <a16:creationId xmlns:a16="http://schemas.microsoft.com/office/drawing/2014/main" id="{BF5E5A0F-EAE6-9C08-83E0-DD5B7E620B09}"/>
                </a:ext>
              </a:extLst>
            </p:cNvPr>
            <p:cNvCxnSpPr>
              <a:cxnSpLocks/>
            </p:cNvCxnSpPr>
            <p:nvPr/>
          </p:nvCxnSpPr>
          <p:spPr bwMode="auto">
            <a:xfrm flipH="1" flipV="1">
              <a:off x="1206678" y="211466"/>
              <a:ext cx="54024" cy="266507"/>
            </a:xfrm>
            <a:prstGeom prst="line">
              <a:avLst/>
            </a:prstGeom>
            <a:noFill/>
            <a:ln w="9525">
              <a:solidFill>
                <a:schemeClr val="tx1">
                  <a:lumMod val="100000"/>
                  <a:lumOff val="0"/>
                </a:schemeClr>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7" name="直线连接符 572">
              <a:extLst>
                <a:ext uri="{FF2B5EF4-FFF2-40B4-BE49-F238E27FC236}">
                  <a16:creationId xmlns:a16="http://schemas.microsoft.com/office/drawing/2014/main" id="{50879B64-2D03-9774-E68D-9E9407435F37}"/>
                </a:ext>
              </a:extLst>
            </p:cNvPr>
            <p:cNvCxnSpPr>
              <a:cxnSpLocks/>
            </p:cNvCxnSpPr>
            <p:nvPr/>
          </p:nvCxnSpPr>
          <p:spPr bwMode="auto">
            <a:xfrm flipH="1" flipV="1">
              <a:off x="413781" y="226475"/>
              <a:ext cx="830060" cy="251498"/>
            </a:xfrm>
            <a:prstGeom prst="line">
              <a:avLst/>
            </a:prstGeom>
            <a:noFill/>
            <a:ln w="9525">
              <a:solidFill>
                <a:schemeClr val="tx1">
                  <a:lumMod val="100000"/>
                  <a:lumOff val="0"/>
                </a:schemeClr>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9" name="直线连接符 574">
              <a:extLst>
                <a:ext uri="{FF2B5EF4-FFF2-40B4-BE49-F238E27FC236}">
                  <a16:creationId xmlns:a16="http://schemas.microsoft.com/office/drawing/2014/main" id="{5495AA7D-BF9B-C30E-4D4D-B310CB3C3D05}"/>
                </a:ext>
              </a:extLst>
            </p:cNvPr>
            <p:cNvCxnSpPr>
              <a:cxnSpLocks/>
            </p:cNvCxnSpPr>
            <p:nvPr/>
          </p:nvCxnSpPr>
          <p:spPr bwMode="auto">
            <a:xfrm flipV="1">
              <a:off x="1282416" y="245121"/>
              <a:ext cx="481611" cy="235808"/>
            </a:xfrm>
            <a:prstGeom prst="line">
              <a:avLst/>
            </a:prstGeom>
            <a:noFill/>
            <a:ln w="9525">
              <a:solidFill>
                <a:schemeClr val="tx1">
                  <a:lumMod val="100000"/>
                  <a:lumOff val="0"/>
                </a:schemeClr>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0086697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fade">
                                      <p:cBhvr>
                                        <p:cTn id="10" dur="500"/>
                                        <p:tgtEl>
                                          <p:spTgt spid="11">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fade">
                                      <p:cBhvr>
                                        <p:cTn id="13" dur="500"/>
                                        <p:tgtEl>
                                          <p:spTgt spid="11">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fade">
                                      <p:cBhvr>
                                        <p:cTn id="16" dur="500"/>
                                        <p:tgtEl>
                                          <p:spTgt spid="11">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500"/>
                                        <p:tgtEl>
                                          <p:spTgt spid="11">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Effect transition="in" filter="fade">
                                      <p:cBhvr>
                                        <p:cTn id="29" dur="500"/>
                                        <p:tgtEl>
                                          <p:spTgt spid="11">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fade">
                                      <p:cBhvr>
                                        <p:cTn id="32" dur="500"/>
                                        <p:tgtEl>
                                          <p:spTgt spid="11">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xEl>
                                              <p:pRg st="7" end="7"/>
                                            </p:txEl>
                                          </p:spTgt>
                                        </p:tgtEl>
                                        <p:attrNameLst>
                                          <p:attrName>style.visibility</p:attrName>
                                        </p:attrNameLst>
                                      </p:cBhvr>
                                      <p:to>
                                        <p:strVal val="visible"/>
                                      </p:to>
                                    </p:set>
                                    <p:animEffect transition="in" filter="fade">
                                      <p:cBhvr>
                                        <p:cTn id="35" dur="500"/>
                                        <p:tgtEl>
                                          <p:spTgt spid="11">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1">
                                            <p:txEl>
                                              <p:pRg st="8" end="8"/>
                                            </p:txEl>
                                          </p:spTgt>
                                        </p:tgtEl>
                                        <p:attrNameLst>
                                          <p:attrName>style.visibility</p:attrName>
                                        </p:attrNameLst>
                                      </p:cBhvr>
                                      <p:to>
                                        <p:strVal val="visible"/>
                                      </p:to>
                                    </p:set>
                                    <p:animEffect transition="in" filter="fade">
                                      <p:cBhvr>
                                        <p:cTn id="38" dur="500"/>
                                        <p:tgtEl>
                                          <p:spTgt spid="11">
                                            <p:txEl>
                                              <p:pRg st="8" end="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1">
                                            <p:txEl>
                                              <p:pRg st="9" end="9"/>
                                            </p:txEl>
                                          </p:spTgt>
                                        </p:tgtEl>
                                        <p:attrNameLst>
                                          <p:attrName>style.visibility</p:attrName>
                                        </p:attrNameLst>
                                      </p:cBhvr>
                                      <p:to>
                                        <p:strVal val="visible"/>
                                      </p:to>
                                    </p:set>
                                    <p:animEffect transition="in" filter="fade">
                                      <p:cBhvr>
                                        <p:cTn id="41" dur="500"/>
                                        <p:tgtEl>
                                          <p:spTgt spid="11">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1">
                                            <p:txEl>
                                              <p:pRg st="10" end="10"/>
                                            </p:txEl>
                                          </p:spTgt>
                                        </p:tgtEl>
                                        <p:attrNameLst>
                                          <p:attrName>style.visibility</p:attrName>
                                        </p:attrNameLst>
                                      </p:cBhvr>
                                      <p:to>
                                        <p:strVal val="visible"/>
                                      </p:to>
                                    </p:set>
                                    <p:animEffect transition="in" filter="fade">
                                      <p:cBhvr>
                                        <p:cTn id="51" dur="500"/>
                                        <p:tgtEl>
                                          <p:spTgt spid="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A0F5349-1041-41E9-B1B9-46DE647B05DD}"/>
              </a:ext>
            </a:extLst>
          </p:cNvPr>
          <p:cNvSpPr txBox="1"/>
          <p:nvPr/>
        </p:nvSpPr>
        <p:spPr>
          <a:xfrm>
            <a:off x="2126520" y="1815689"/>
            <a:ext cx="8697670" cy="3875228"/>
          </a:xfrm>
          <a:prstGeom prst="rect">
            <a:avLst/>
          </a:prstGeom>
          <a:noFill/>
        </p:spPr>
        <p:txBody>
          <a:bodyPr wrap="square">
            <a:spAutoFit/>
          </a:bodyPr>
          <a:lstStyle/>
          <a:p>
            <a:pPr marL="342900" indent="-342900">
              <a:lnSpc>
                <a:spcPct val="150000"/>
              </a:lnSpc>
              <a:buFont typeface="Wingdings" panose="05000000000000000000" pitchFamily="2" charset="2"/>
              <a:buChar char="p"/>
            </a:pPr>
            <a:r>
              <a:rPr lang="zh-CN" altLang="en-US" sz="2000" b="1" dirty="0">
                <a:solidFill>
                  <a:schemeClr val="tx2"/>
                </a:solidFill>
                <a:latin typeface="微软雅黑" panose="020B0503020204020204" pitchFamily="34" charset="-122"/>
                <a:ea typeface="微软雅黑" panose="020B0503020204020204" pitchFamily="34" charset="-122"/>
              </a:rPr>
              <a:t>联系（</a:t>
            </a:r>
            <a:r>
              <a:rPr lang="en-US" altLang="zh-CN" sz="2000" b="1" dirty="0">
                <a:solidFill>
                  <a:schemeClr val="tx2"/>
                </a:solidFill>
                <a:latin typeface="微软雅黑" panose="020B0503020204020204" pitchFamily="34" charset="-122"/>
                <a:ea typeface="微软雅黑" panose="020B0503020204020204" pitchFamily="34" charset="-122"/>
              </a:rPr>
              <a:t>Relationship</a:t>
            </a:r>
            <a:r>
              <a:rPr lang="zh-CN" altLang="en-US" sz="2000" b="1" dirty="0">
                <a:solidFill>
                  <a:schemeClr val="tx2"/>
                </a:solidFill>
                <a:latin typeface="微软雅黑" panose="020B0503020204020204" pitchFamily="34" charset="-122"/>
                <a:ea typeface="微软雅黑" panose="020B0503020204020204" pitchFamily="34" charset="-122"/>
              </a:rPr>
              <a:t>） </a:t>
            </a:r>
            <a:endParaRPr lang="en-US" altLang="zh-CN" sz="2000" b="1" dirty="0">
              <a:solidFill>
                <a:schemeClr val="tx2"/>
              </a:solidFill>
              <a:latin typeface="微软雅黑" panose="020B0503020204020204" pitchFamily="34" charset="-122"/>
              <a:ea typeface="微软雅黑" panose="020B0503020204020204" pitchFamily="34" charset="-122"/>
            </a:endParaRPr>
          </a:p>
          <a:p>
            <a:pPr marL="720000"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现实世界中事物内部以及事物之间的联系，在信息世界中反映为实体内部的联系和实体之间的联系。 </a:t>
            </a:r>
            <a:endParaRPr lang="en-US" altLang="zh-CN" dirty="0">
              <a:latin typeface="微软雅黑" panose="020B0503020204020204" pitchFamily="34" charset="-122"/>
              <a:ea typeface="微软雅黑" panose="020B0503020204020204" pitchFamily="34" charset="-122"/>
            </a:endParaRPr>
          </a:p>
          <a:p>
            <a:pPr marL="720000"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实体内部的联系通常是指组成实体的各属性之间的联系 。</a:t>
            </a:r>
            <a:endParaRPr lang="en-US" altLang="zh-CN" dirty="0">
              <a:latin typeface="微软雅黑" panose="020B0503020204020204" pitchFamily="34" charset="-122"/>
              <a:ea typeface="微软雅黑" panose="020B0503020204020204" pitchFamily="34" charset="-122"/>
            </a:endParaRPr>
          </a:p>
          <a:p>
            <a:pPr marL="720000"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实体之间的联系通常是指不同实体集之间的联系 。</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p"/>
            </a:pPr>
            <a:r>
              <a:rPr lang="zh-CN" altLang="en-US" sz="2000" b="1" dirty="0">
                <a:solidFill>
                  <a:schemeClr val="tx2"/>
                </a:solidFill>
                <a:highlight>
                  <a:srgbClr val="FFFF00"/>
                </a:highlight>
                <a:latin typeface="微软雅黑" panose="020B0503020204020204" pitchFamily="34" charset="-122"/>
                <a:ea typeface="微软雅黑" panose="020B0503020204020204" pitchFamily="34" charset="-122"/>
              </a:rPr>
              <a:t>联系分为： </a:t>
            </a:r>
            <a:endParaRPr lang="en-US" altLang="zh-CN" sz="2000" b="1" dirty="0">
              <a:solidFill>
                <a:schemeClr val="tx2"/>
              </a:solidFill>
              <a:highlight>
                <a:srgbClr val="FFFF00"/>
              </a:highlight>
              <a:latin typeface="微软雅黑" panose="020B0503020204020204" pitchFamily="34" charset="-122"/>
              <a:ea typeface="微软雅黑" panose="020B0503020204020204" pitchFamily="34" charset="-122"/>
            </a:endParaRPr>
          </a:p>
          <a:p>
            <a:pPr marL="720000"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一对一（</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720000"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一对多（</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720000"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多对多（</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 </a:t>
            </a:r>
          </a:p>
        </p:txBody>
      </p:sp>
      <p:grpSp>
        <p:nvGrpSpPr>
          <p:cNvPr id="3" name="组合 2">
            <a:extLst>
              <a:ext uri="{FF2B5EF4-FFF2-40B4-BE49-F238E27FC236}">
                <a16:creationId xmlns:a16="http://schemas.microsoft.com/office/drawing/2014/main" id="{8AEE13C7-CB26-3C9C-C616-A5F3811E19B5}"/>
              </a:ext>
            </a:extLst>
          </p:cNvPr>
          <p:cNvGrpSpPr/>
          <p:nvPr/>
        </p:nvGrpSpPr>
        <p:grpSpPr>
          <a:xfrm>
            <a:off x="887289" y="724063"/>
            <a:ext cx="6058092" cy="879946"/>
            <a:chOff x="420387" y="472101"/>
            <a:chExt cx="6058092" cy="879946"/>
          </a:xfrm>
        </p:grpSpPr>
        <p:sp>
          <p:nvSpPr>
            <p:cNvPr id="4" name="内容占位符 2">
              <a:extLst>
                <a:ext uri="{FF2B5EF4-FFF2-40B4-BE49-F238E27FC236}">
                  <a16:creationId xmlns:a16="http://schemas.microsoft.com/office/drawing/2014/main" id="{B511935B-8AD4-55F2-ED0E-B660F2DABBEC}"/>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实体间的联系</a:t>
              </a:r>
            </a:p>
          </p:txBody>
        </p:sp>
        <p:sp>
          <p:nvSpPr>
            <p:cNvPr id="5" name="KSO_Shape">
              <a:extLst>
                <a:ext uri="{FF2B5EF4-FFF2-40B4-BE49-F238E27FC236}">
                  <a16:creationId xmlns:a16="http://schemas.microsoft.com/office/drawing/2014/main" id="{272B0AB3-F1A8-53C9-89FB-042E55D69C91}"/>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11481246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474FAFB-5BC7-4095-8015-07D03DC29FB5}"/>
              </a:ext>
            </a:extLst>
          </p:cNvPr>
          <p:cNvSpPr>
            <a:spLocks noGrp="1"/>
          </p:cNvSpPr>
          <p:nvPr>
            <p:ph idx="4294967295"/>
          </p:nvPr>
        </p:nvSpPr>
        <p:spPr>
          <a:xfrm>
            <a:off x="1167781" y="1506228"/>
            <a:ext cx="10515600" cy="1808163"/>
          </a:xfrm>
        </p:spPr>
        <p:txBody>
          <a:bodyPr>
            <a:normAutofit/>
          </a:bodyPr>
          <a:lstStyle/>
          <a:p>
            <a:pPr>
              <a:lnSpc>
                <a:spcPct val="150000"/>
              </a:lnSpc>
            </a:pPr>
            <a:r>
              <a:rPr lang="zh-CN" altLang="en-US" sz="2000" b="1" dirty="0"/>
              <a:t>一对一联系（</a:t>
            </a:r>
            <a:r>
              <a:rPr lang="en-US" altLang="zh-CN" sz="2000" b="1" dirty="0"/>
              <a:t>1:1</a:t>
            </a:r>
            <a:r>
              <a:rPr lang="zh-CN" altLang="en-US" sz="2000" b="1" dirty="0"/>
              <a:t>）</a:t>
            </a:r>
            <a:endParaRPr lang="en-US" altLang="zh-CN" sz="2000" b="1" dirty="0"/>
          </a:p>
          <a:p>
            <a:pPr>
              <a:lnSpc>
                <a:spcPct val="150000"/>
              </a:lnSpc>
            </a:pPr>
            <a:r>
              <a:rPr lang="zh-CN" altLang="en-US" sz="2000" dirty="0"/>
              <a:t> 如果对于实体集</a:t>
            </a:r>
            <a:r>
              <a:rPr lang="en-US" altLang="zh-CN" sz="2000" dirty="0"/>
              <a:t>A</a:t>
            </a:r>
            <a:r>
              <a:rPr lang="zh-CN" altLang="en-US" sz="2000" dirty="0"/>
              <a:t>中的每一个实体，实体集</a:t>
            </a:r>
            <a:r>
              <a:rPr lang="en-US" altLang="zh-CN" sz="2000" dirty="0"/>
              <a:t>B</a:t>
            </a:r>
            <a:r>
              <a:rPr lang="zh-CN" altLang="en-US" sz="2000" dirty="0"/>
              <a:t>中至多有一个（也可以没有）实体 与之联系，反之亦然，则称实体集</a:t>
            </a:r>
            <a:r>
              <a:rPr lang="en-US" altLang="zh-CN" sz="2000" dirty="0"/>
              <a:t>A</a:t>
            </a:r>
            <a:r>
              <a:rPr lang="zh-CN" altLang="en-US" sz="2000" dirty="0"/>
              <a:t>与实体集</a:t>
            </a:r>
            <a:r>
              <a:rPr lang="en-US" altLang="zh-CN" sz="2000" dirty="0"/>
              <a:t>B</a:t>
            </a:r>
            <a:r>
              <a:rPr lang="zh-CN" altLang="en-US" sz="2000" dirty="0"/>
              <a:t>具有一对一联系，记为</a:t>
            </a:r>
            <a:r>
              <a:rPr lang="en-US" altLang="zh-CN" sz="2000" dirty="0"/>
              <a:t>1:1</a:t>
            </a:r>
            <a:r>
              <a:rPr lang="zh-CN" altLang="en-US" sz="2000" dirty="0"/>
              <a:t>。</a:t>
            </a:r>
          </a:p>
        </p:txBody>
      </p:sp>
      <p:pic>
        <p:nvPicPr>
          <p:cNvPr id="5" name="图片 4">
            <a:extLst>
              <a:ext uri="{FF2B5EF4-FFF2-40B4-BE49-F238E27FC236}">
                <a16:creationId xmlns:a16="http://schemas.microsoft.com/office/drawing/2014/main" id="{6722A9E3-1144-4439-9EED-B0F95B2DC5DA}"/>
              </a:ext>
            </a:extLst>
          </p:cNvPr>
          <p:cNvPicPr>
            <a:picLocks noChangeAspect="1"/>
          </p:cNvPicPr>
          <p:nvPr/>
        </p:nvPicPr>
        <p:blipFill>
          <a:blip r:embed="rId2"/>
          <a:stretch>
            <a:fillRect/>
          </a:stretch>
        </p:blipFill>
        <p:spPr>
          <a:xfrm>
            <a:off x="2577750" y="3429000"/>
            <a:ext cx="6118575" cy="2424798"/>
          </a:xfrm>
          <a:prstGeom prst="rect">
            <a:avLst/>
          </a:prstGeom>
        </p:spPr>
      </p:pic>
      <p:grpSp>
        <p:nvGrpSpPr>
          <p:cNvPr id="4" name="组合 3">
            <a:extLst>
              <a:ext uri="{FF2B5EF4-FFF2-40B4-BE49-F238E27FC236}">
                <a16:creationId xmlns:a16="http://schemas.microsoft.com/office/drawing/2014/main" id="{29620333-3315-D5E6-ED23-E2FAB1CECCE1}"/>
              </a:ext>
            </a:extLst>
          </p:cNvPr>
          <p:cNvGrpSpPr/>
          <p:nvPr/>
        </p:nvGrpSpPr>
        <p:grpSpPr>
          <a:xfrm>
            <a:off x="839664" y="600238"/>
            <a:ext cx="6058092" cy="879946"/>
            <a:chOff x="420387" y="472101"/>
            <a:chExt cx="6058092" cy="879946"/>
          </a:xfrm>
        </p:grpSpPr>
        <p:sp>
          <p:nvSpPr>
            <p:cNvPr id="6" name="内容占位符 2">
              <a:extLst>
                <a:ext uri="{FF2B5EF4-FFF2-40B4-BE49-F238E27FC236}">
                  <a16:creationId xmlns:a16="http://schemas.microsoft.com/office/drawing/2014/main" id="{87E24A8F-1BFA-E83E-957F-EABB810AFBD5}"/>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实体间关系</a:t>
              </a:r>
            </a:p>
          </p:txBody>
        </p:sp>
        <p:sp>
          <p:nvSpPr>
            <p:cNvPr id="7" name="KSO_Shape">
              <a:extLst>
                <a:ext uri="{FF2B5EF4-FFF2-40B4-BE49-F238E27FC236}">
                  <a16:creationId xmlns:a16="http://schemas.microsoft.com/office/drawing/2014/main" id="{8543A6B9-2E92-4260-364C-8750DA9BE59E}"/>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36181656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1BDB28A-B334-4E90-B2F2-6D604C5ADDAE}"/>
              </a:ext>
            </a:extLst>
          </p:cNvPr>
          <p:cNvSpPr>
            <a:spLocks noGrp="1"/>
          </p:cNvSpPr>
          <p:nvPr>
            <p:ph idx="4294967295"/>
          </p:nvPr>
        </p:nvSpPr>
        <p:spPr>
          <a:xfrm>
            <a:off x="1114425" y="1480489"/>
            <a:ext cx="10515600" cy="2290762"/>
          </a:xfrm>
        </p:spPr>
        <p:txBody>
          <a:bodyPr>
            <a:normAutofit/>
          </a:bodyPr>
          <a:lstStyle/>
          <a:p>
            <a:pPr>
              <a:lnSpc>
                <a:spcPct val="150000"/>
              </a:lnSpc>
            </a:pPr>
            <a:r>
              <a:rPr lang="zh-CN" altLang="en-US" sz="2000" b="1" dirty="0"/>
              <a:t>一对多联系（</a:t>
            </a:r>
            <a:r>
              <a:rPr lang="en-US" altLang="zh-CN" sz="2000" b="1" dirty="0"/>
              <a:t>1</a:t>
            </a:r>
            <a:r>
              <a:rPr lang="zh-CN" altLang="en-US" sz="2000" b="1" dirty="0"/>
              <a:t>：</a:t>
            </a:r>
            <a:r>
              <a:rPr lang="en-US" altLang="zh-CN" sz="2000" b="1" dirty="0"/>
              <a:t>n</a:t>
            </a:r>
            <a:r>
              <a:rPr lang="zh-CN" altLang="en-US" sz="2000" b="1" dirty="0"/>
              <a:t>） </a:t>
            </a:r>
            <a:endParaRPr lang="en-US" altLang="zh-CN" sz="2000" b="1" dirty="0"/>
          </a:p>
          <a:p>
            <a:pPr>
              <a:lnSpc>
                <a:spcPct val="150000"/>
              </a:lnSpc>
            </a:pPr>
            <a:r>
              <a:rPr lang="zh-CN" altLang="en-US" sz="2000" dirty="0"/>
              <a:t>如果对于实体集</a:t>
            </a:r>
            <a:r>
              <a:rPr lang="en-US" altLang="zh-CN" sz="2000" dirty="0"/>
              <a:t>A</a:t>
            </a:r>
            <a:r>
              <a:rPr lang="zh-CN" altLang="en-US" sz="2000" dirty="0"/>
              <a:t>中的每一个实体，实体集</a:t>
            </a:r>
            <a:r>
              <a:rPr lang="en-US" altLang="zh-CN" sz="2000" dirty="0"/>
              <a:t>B</a:t>
            </a:r>
            <a:r>
              <a:rPr lang="zh-CN" altLang="en-US" sz="2000" dirty="0"/>
              <a:t>中有</a:t>
            </a:r>
            <a:r>
              <a:rPr lang="en-US" altLang="zh-CN" sz="2000" dirty="0"/>
              <a:t>n</a:t>
            </a:r>
            <a:r>
              <a:rPr lang="zh-CN" altLang="en-US" sz="2000" dirty="0"/>
              <a:t>个实体（</a:t>
            </a:r>
            <a:r>
              <a:rPr lang="en-US" altLang="zh-CN" sz="2000" dirty="0"/>
              <a:t>n≥0</a:t>
            </a:r>
            <a:r>
              <a:rPr lang="zh-CN" altLang="en-US" sz="2000" dirty="0"/>
              <a:t>）与之联系， 反之，对于实体集</a:t>
            </a:r>
            <a:r>
              <a:rPr lang="en-US" altLang="zh-CN" sz="2000" dirty="0"/>
              <a:t>B</a:t>
            </a:r>
            <a:r>
              <a:rPr lang="zh-CN" altLang="en-US" sz="2000" dirty="0"/>
              <a:t>中的每一个实体，实体集</a:t>
            </a:r>
            <a:r>
              <a:rPr lang="en-US" altLang="zh-CN" sz="2000" dirty="0"/>
              <a:t>A</a:t>
            </a:r>
            <a:r>
              <a:rPr lang="zh-CN" altLang="en-US" sz="2000" dirty="0"/>
              <a:t>中至多只有一个实体与之联系， 则称实体集</a:t>
            </a:r>
            <a:r>
              <a:rPr lang="en-US" altLang="zh-CN" sz="2000" dirty="0"/>
              <a:t>A</a:t>
            </a:r>
            <a:r>
              <a:rPr lang="zh-CN" altLang="en-US" sz="2000" dirty="0"/>
              <a:t>与实体集</a:t>
            </a:r>
            <a:r>
              <a:rPr lang="en-US" altLang="zh-CN" sz="2000" dirty="0"/>
              <a:t>B</a:t>
            </a:r>
            <a:r>
              <a:rPr lang="zh-CN" altLang="en-US" sz="2000" dirty="0"/>
              <a:t>有一对多联系，记为</a:t>
            </a:r>
            <a:r>
              <a:rPr lang="en-US" altLang="zh-CN" sz="2000" dirty="0"/>
              <a:t>1:n</a:t>
            </a:r>
            <a:r>
              <a:rPr lang="zh-CN" altLang="en-US" sz="2000" dirty="0"/>
              <a:t>。</a:t>
            </a:r>
          </a:p>
        </p:txBody>
      </p:sp>
      <p:pic>
        <p:nvPicPr>
          <p:cNvPr id="5" name="图片 4">
            <a:extLst>
              <a:ext uri="{FF2B5EF4-FFF2-40B4-BE49-F238E27FC236}">
                <a16:creationId xmlns:a16="http://schemas.microsoft.com/office/drawing/2014/main" id="{9F930F91-4FFE-4D43-A8E2-1F7B629DF8D8}"/>
              </a:ext>
            </a:extLst>
          </p:cNvPr>
          <p:cNvPicPr>
            <a:picLocks noChangeAspect="1"/>
          </p:cNvPicPr>
          <p:nvPr/>
        </p:nvPicPr>
        <p:blipFill>
          <a:blip r:embed="rId2"/>
          <a:stretch>
            <a:fillRect/>
          </a:stretch>
        </p:blipFill>
        <p:spPr>
          <a:xfrm>
            <a:off x="2580999" y="3618851"/>
            <a:ext cx="7191651" cy="2473405"/>
          </a:xfrm>
          <a:prstGeom prst="rect">
            <a:avLst/>
          </a:prstGeom>
        </p:spPr>
      </p:pic>
      <p:grpSp>
        <p:nvGrpSpPr>
          <p:cNvPr id="4" name="组合 3">
            <a:extLst>
              <a:ext uri="{FF2B5EF4-FFF2-40B4-BE49-F238E27FC236}">
                <a16:creationId xmlns:a16="http://schemas.microsoft.com/office/drawing/2014/main" id="{103A3542-B682-EAF4-64D0-5C1AC9F64FFE}"/>
              </a:ext>
            </a:extLst>
          </p:cNvPr>
          <p:cNvGrpSpPr/>
          <p:nvPr/>
        </p:nvGrpSpPr>
        <p:grpSpPr>
          <a:xfrm>
            <a:off x="839664" y="600238"/>
            <a:ext cx="6058092" cy="879946"/>
            <a:chOff x="420387" y="472101"/>
            <a:chExt cx="6058092" cy="879946"/>
          </a:xfrm>
        </p:grpSpPr>
        <p:sp>
          <p:nvSpPr>
            <p:cNvPr id="6" name="内容占位符 2">
              <a:extLst>
                <a:ext uri="{FF2B5EF4-FFF2-40B4-BE49-F238E27FC236}">
                  <a16:creationId xmlns:a16="http://schemas.microsoft.com/office/drawing/2014/main" id="{A0DB207B-BF08-961D-09C5-70032B3602A7}"/>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实体间关系</a:t>
              </a:r>
            </a:p>
          </p:txBody>
        </p:sp>
        <p:sp>
          <p:nvSpPr>
            <p:cNvPr id="7" name="KSO_Shape">
              <a:extLst>
                <a:ext uri="{FF2B5EF4-FFF2-40B4-BE49-F238E27FC236}">
                  <a16:creationId xmlns:a16="http://schemas.microsoft.com/office/drawing/2014/main" id="{72B43663-1652-4E53-4716-E4FA894612C7}"/>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17435436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B2BCE44-D6F7-4953-A622-07C9611FBE25}"/>
              </a:ext>
            </a:extLst>
          </p:cNvPr>
          <p:cNvSpPr>
            <a:spLocks noGrp="1"/>
          </p:cNvSpPr>
          <p:nvPr>
            <p:ph idx="4294967295"/>
          </p:nvPr>
        </p:nvSpPr>
        <p:spPr>
          <a:xfrm>
            <a:off x="1167781" y="1421167"/>
            <a:ext cx="10515600" cy="2195512"/>
          </a:xfrm>
        </p:spPr>
        <p:txBody>
          <a:bodyPr vert="horz" lIns="91440" tIns="45720" rIns="91440" bIns="45720" rtlCol="0">
            <a:normAutofit/>
          </a:bodyPr>
          <a:lstStyle/>
          <a:p>
            <a:pPr>
              <a:lnSpc>
                <a:spcPct val="150000"/>
              </a:lnSpc>
            </a:pPr>
            <a:r>
              <a:rPr lang="zh-CN" altLang="en-US" sz="2000" b="1" dirty="0"/>
              <a:t>多对多联系（</a:t>
            </a:r>
            <a:r>
              <a:rPr lang="en-US" altLang="zh-CN" sz="2000" b="1" dirty="0"/>
              <a:t>m:n</a:t>
            </a:r>
            <a:r>
              <a:rPr lang="zh-CN" altLang="en-US" sz="2000" b="1" dirty="0"/>
              <a:t>） </a:t>
            </a:r>
            <a:endParaRPr lang="en-US" altLang="zh-CN" sz="2000" b="1" dirty="0"/>
          </a:p>
          <a:p>
            <a:pPr>
              <a:lnSpc>
                <a:spcPct val="150000"/>
              </a:lnSpc>
            </a:pPr>
            <a:r>
              <a:rPr lang="zh-CN" altLang="en-US" sz="2000" dirty="0"/>
              <a:t>如果对于实体集</a:t>
            </a:r>
            <a:r>
              <a:rPr lang="en-US" altLang="zh-CN" sz="2000" dirty="0"/>
              <a:t>A</a:t>
            </a:r>
            <a:r>
              <a:rPr lang="zh-CN" altLang="en-US" sz="2000" dirty="0"/>
              <a:t>中的每一个实体，实体集</a:t>
            </a:r>
            <a:r>
              <a:rPr lang="en-US" altLang="zh-CN" sz="2000" dirty="0"/>
              <a:t>B</a:t>
            </a:r>
            <a:r>
              <a:rPr lang="zh-CN" altLang="en-US" sz="2000" dirty="0"/>
              <a:t>中有</a:t>
            </a:r>
            <a:r>
              <a:rPr lang="en-US" altLang="zh-CN" sz="2000" dirty="0"/>
              <a:t>n</a:t>
            </a:r>
            <a:r>
              <a:rPr lang="zh-CN" altLang="en-US" sz="2000" dirty="0"/>
              <a:t>个实体（</a:t>
            </a:r>
            <a:r>
              <a:rPr lang="en-US" altLang="zh-CN" sz="2000" dirty="0"/>
              <a:t>n≥0</a:t>
            </a:r>
            <a:r>
              <a:rPr lang="zh-CN" altLang="en-US" sz="2000" dirty="0"/>
              <a:t>）与之联系，反之 对于实体集</a:t>
            </a:r>
            <a:r>
              <a:rPr lang="en-US" altLang="zh-CN" sz="2000" dirty="0"/>
              <a:t>B</a:t>
            </a:r>
            <a:r>
              <a:rPr lang="zh-CN" altLang="en-US" sz="2000" dirty="0"/>
              <a:t>中的每一个实体，实体集</a:t>
            </a:r>
            <a:r>
              <a:rPr lang="en-US" altLang="zh-CN" sz="2000" dirty="0"/>
              <a:t>A</a:t>
            </a:r>
            <a:r>
              <a:rPr lang="zh-CN" altLang="en-US" sz="2000" dirty="0"/>
              <a:t>中也有</a:t>
            </a:r>
            <a:r>
              <a:rPr lang="en-US" altLang="zh-CN" sz="2000" dirty="0"/>
              <a:t>m</a:t>
            </a:r>
            <a:r>
              <a:rPr lang="zh-CN" altLang="en-US" sz="2000" dirty="0"/>
              <a:t>个实体（</a:t>
            </a:r>
            <a:r>
              <a:rPr lang="en-US" altLang="zh-CN" sz="2000" dirty="0"/>
              <a:t>m≥0</a:t>
            </a:r>
            <a:r>
              <a:rPr lang="zh-CN" altLang="en-US" sz="2000" dirty="0"/>
              <a:t>）与之联系，则称 实体集</a:t>
            </a:r>
            <a:r>
              <a:rPr lang="en-US" altLang="zh-CN" sz="2000" dirty="0"/>
              <a:t>A</a:t>
            </a:r>
            <a:r>
              <a:rPr lang="zh-CN" altLang="en-US" sz="2000" dirty="0"/>
              <a:t>与实体</a:t>
            </a:r>
            <a:r>
              <a:rPr lang="en-US" altLang="zh-CN" sz="2000" dirty="0"/>
              <a:t>B</a:t>
            </a:r>
            <a:r>
              <a:rPr lang="zh-CN" altLang="en-US" sz="2000" dirty="0"/>
              <a:t>具有多对多联系，记为</a:t>
            </a:r>
            <a:r>
              <a:rPr lang="en-US" altLang="zh-CN" sz="2000" dirty="0"/>
              <a:t>m:n</a:t>
            </a:r>
            <a:r>
              <a:rPr lang="zh-CN" altLang="en-US" sz="2000" dirty="0"/>
              <a:t>。</a:t>
            </a:r>
          </a:p>
        </p:txBody>
      </p:sp>
      <p:pic>
        <p:nvPicPr>
          <p:cNvPr id="5" name="图片 4">
            <a:extLst>
              <a:ext uri="{FF2B5EF4-FFF2-40B4-BE49-F238E27FC236}">
                <a16:creationId xmlns:a16="http://schemas.microsoft.com/office/drawing/2014/main" id="{311182DB-3CD3-4161-9509-B408DA494E4C}"/>
              </a:ext>
            </a:extLst>
          </p:cNvPr>
          <p:cNvPicPr>
            <a:picLocks noChangeAspect="1"/>
          </p:cNvPicPr>
          <p:nvPr/>
        </p:nvPicPr>
        <p:blipFill>
          <a:blip r:embed="rId2"/>
          <a:stretch>
            <a:fillRect/>
          </a:stretch>
        </p:blipFill>
        <p:spPr>
          <a:xfrm>
            <a:off x="2406506" y="3550043"/>
            <a:ext cx="6772755" cy="2603107"/>
          </a:xfrm>
          <a:prstGeom prst="rect">
            <a:avLst/>
          </a:prstGeom>
        </p:spPr>
      </p:pic>
      <p:grpSp>
        <p:nvGrpSpPr>
          <p:cNvPr id="4" name="组合 3">
            <a:extLst>
              <a:ext uri="{FF2B5EF4-FFF2-40B4-BE49-F238E27FC236}">
                <a16:creationId xmlns:a16="http://schemas.microsoft.com/office/drawing/2014/main" id="{14F67A75-FD00-8375-9D76-77ED02895017}"/>
              </a:ext>
            </a:extLst>
          </p:cNvPr>
          <p:cNvGrpSpPr/>
          <p:nvPr/>
        </p:nvGrpSpPr>
        <p:grpSpPr>
          <a:xfrm>
            <a:off x="839664" y="600238"/>
            <a:ext cx="6058092" cy="879946"/>
            <a:chOff x="420387" y="472101"/>
            <a:chExt cx="6058092" cy="879946"/>
          </a:xfrm>
        </p:grpSpPr>
        <p:sp>
          <p:nvSpPr>
            <p:cNvPr id="6" name="内容占位符 2">
              <a:extLst>
                <a:ext uri="{FF2B5EF4-FFF2-40B4-BE49-F238E27FC236}">
                  <a16:creationId xmlns:a16="http://schemas.microsoft.com/office/drawing/2014/main" id="{A7B33C29-2731-B625-0770-DE4731BB3A73}"/>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实体间关系</a:t>
              </a:r>
            </a:p>
          </p:txBody>
        </p:sp>
        <p:sp>
          <p:nvSpPr>
            <p:cNvPr id="7" name="KSO_Shape">
              <a:extLst>
                <a:ext uri="{FF2B5EF4-FFF2-40B4-BE49-F238E27FC236}">
                  <a16:creationId xmlns:a16="http://schemas.microsoft.com/office/drawing/2014/main" id="{8A692F1B-D90C-F387-FA81-44F3D97B2369}"/>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12328838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687A7-61A2-34EB-4079-5CB79A69E696}"/>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C05F7423-A839-8215-0855-D686533E4D69}"/>
              </a:ext>
            </a:extLst>
          </p:cNvPr>
          <p:cNvSpPr>
            <a:spLocks noChangeAspect="1" noChangeArrowheads="1" noTextEdit="1"/>
          </p:cNvSpPr>
          <p:nvPr/>
        </p:nvSpPr>
        <p:spPr bwMode="auto">
          <a:xfrm>
            <a:off x="1246425" y="1606639"/>
            <a:ext cx="5392793" cy="89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Freeform 5">
            <a:extLst>
              <a:ext uri="{FF2B5EF4-FFF2-40B4-BE49-F238E27FC236}">
                <a16:creationId xmlns:a16="http://schemas.microsoft.com/office/drawing/2014/main" id="{F2AF501F-B96C-C601-70A6-9CFB9B9A693A}"/>
              </a:ext>
            </a:extLst>
          </p:cNvPr>
          <p:cNvSpPr>
            <a:spLocks noEditPoints="1"/>
          </p:cNvSpPr>
          <p:nvPr/>
        </p:nvSpPr>
        <p:spPr bwMode="auto">
          <a:xfrm>
            <a:off x="1570638" y="1744660"/>
            <a:ext cx="349100" cy="364663"/>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Freeform 6">
            <a:extLst>
              <a:ext uri="{FF2B5EF4-FFF2-40B4-BE49-F238E27FC236}">
                <a16:creationId xmlns:a16="http://schemas.microsoft.com/office/drawing/2014/main" id="{5F14F9BF-4BA8-5DAF-0146-3E2B8C5EC1C7}"/>
              </a:ext>
            </a:extLst>
          </p:cNvPr>
          <p:cNvSpPr>
            <a:spLocks noEditPoints="1"/>
          </p:cNvSpPr>
          <p:nvPr/>
        </p:nvSpPr>
        <p:spPr bwMode="auto">
          <a:xfrm>
            <a:off x="1431767" y="1604850"/>
            <a:ext cx="3659998" cy="643383"/>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 name="矩形 4">
            <a:extLst>
              <a:ext uri="{FF2B5EF4-FFF2-40B4-BE49-F238E27FC236}">
                <a16:creationId xmlns:a16="http://schemas.microsoft.com/office/drawing/2014/main" id="{33052625-AD4E-143B-B9B9-BD0E846CCBC3}"/>
              </a:ext>
            </a:extLst>
          </p:cNvPr>
          <p:cNvSpPr/>
          <p:nvPr/>
        </p:nvSpPr>
        <p:spPr>
          <a:xfrm>
            <a:off x="2860180" y="1626372"/>
            <a:ext cx="1348021" cy="499432"/>
          </a:xfrm>
          <a:prstGeom prst="rect">
            <a:avLst/>
          </a:prstGeom>
        </p:spPr>
        <p:txBody>
          <a:bodyPr wrap="square">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练一练</a:t>
            </a:r>
          </a:p>
        </p:txBody>
      </p:sp>
      <p:grpSp>
        <p:nvGrpSpPr>
          <p:cNvPr id="6" name="组合 5">
            <a:extLst>
              <a:ext uri="{FF2B5EF4-FFF2-40B4-BE49-F238E27FC236}">
                <a16:creationId xmlns:a16="http://schemas.microsoft.com/office/drawing/2014/main" id="{4D685340-F602-D6BD-F8F1-658480B6B82F}"/>
              </a:ext>
            </a:extLst>
          </p:cNvPr>
          <p:cNvGrpSpPr/>
          <p:nvPr/>
        </p:nvGrpSpPr>
        <p:grpSpPr>
          <a:xfrm>
            <a:off x="1103648" y="527201"/>
            <a:ext cx="5614144" cy="879946"/>
            <a:chOff x="420387" y="472101"/>
            <a:chExt cx="5614144" cy="879946"/>
          </a:xfrm>
        </p:grpSpPr>
        <p:sp>
          <p:nvSpPr>
            <p:cNvPr id="7" name="内容占位符 2">
              <a:extLst>
                <a:ext uri="{FF2B5EF4-FFF2-40B4-BE49-F238E27FC236}">
                  <a16:creationId xmlns:a16="http://schemas.microsoft.com/office/drawing/2014/main" id="{EB11CE75-4DEA-5523-6DD3-A229573BE307}"/>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数据模型 </a:t>
              </a:r>
            </a:p>
          </p:txBody>
        </p:sp>
        <p:sp>
          <p:nvSpPr>
            <p:cNvPr id="8" name="KSO_Shape">
              <a:extLst>
                <a:ext uri="{FF2B5EF4-FFF2-40B4-BE49-F238E27FC236}">
                  <a16:creationId xmlns:a16="http://schemas.microsoft.com/office/drawing/2014/main" id="{BC4BB74E-F575-3242-37C1-E31FB8447BA3}"/>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 name="矩形 8">
            <a:extLst>
              <a:ext uri="{FF2B5EF4-FFF2-40B4-BE49-F238E27FC236}">
                <a16:creationId xmlns:a16="http://schemas.microsoft.com/office/drawing/2014/main" id="{D918C271-0315-3F5A-3082-0BA6DB7E6341}"/>
              </a:ext>
            </a:extLst>
          </p:cNvPr>
          <p:cNvSpPr/>
          <p:nvPr/>
        </p:nvSpPr>
        <p:spPr>
          <a:xfrm>
            <a:off x="2559290" y="2222836"/>
            <a:ext cx="9632710" cy="2935547"/>
          </a:xfrm>
          <a:prstGeom prst="rect">
            <a:avLst/>
          </a:prstGeom>
        </p:spPr>
        <p:txBody>
          <a:bodyPr wrap="square">
            <a:spAutoFit/>
          </a:bodyPr>
          <a:lstStyle/>
          <a:p>
            <a:pPr marL="0" marR="0" lvl="0" indent="0" defTabSz="914400" rtl="0" eaLnBrk="1" fontAlgn="auto" latinLnBrk="0" hangingPunct="1">
              <a:lnSpc>
                <a:spcPct val="200000"/>
              </a:lnSpc>
              <a:spcBef>
                <a:spcPts val="0"/>
              </a:spcBef>
              <a:spcAft>
                <a:spcPts val="0"/>
              </a:spcAft>
              <a:buClrTx/>
              <a:buSzTx/>
              <a:buFontTx/>
              <a:buNone/>
              <a:tabLst/>
              <a:defRPr/>
            </a:pPr>
            <a:r>
              <a:rPr lang="zh-CN" altLang="en-US" sz="2400" b="1" dirty="0">
                <a:solidFill>
                  <a:srgbClr val="FF0000"/>
                </a:solidFill>
                <a:latin typeface="微软雅黑"/>
                <a:ea typeface="微软雅黑"/>
              </a:rPr>
              <a:t>判断下面联系类型：</a:t>
            </a:r>
            <a:endParaRPr lang="en-US" altLang="zh-CN" sz="2400" b="1" dirty="0">
              <a:solidFill>
                <a:srgbClr val="FF0000"/>
              </a:solidFill>
              <a:latin typeface="微软雅黑"/>
              <a:ea typeface="微软雅黑"/>
            </a:endParaRPr>
          </a:p>
          <a:p>
            <a:pPr marL="0" marR="0" lvl="0" indent="0" defTabSz="914400" rtl="0" eaLnBrk="1" fontAlgn="auto" latinLnBrk="0" hangingPunct="1">
              <a:lnSpc>
                <a:spcPct val="200000"/>
              </a:lnSpc>
              <a:spcBef>
                <a:spcPts val="0"/>
              </a:spcBef>
              <a:spcAft>
                <a:spcPts val="0"/>
              </a:spcAft>
              <a:buClrTx/>
              <a:buSzTx/>
              <a:buFontTx/>
              <a:buNone/>
              <a:tabLst/>
              <a:defRPr/>
            </a:pPr>
            <a:r>
              <a:rPr lang="zh-CN" altLang="en-US" sz="2400" b="1" dirty="0">
                <a:solidFill>
                  <a:prstClr val="black">
                    <a:lumMod val="85000"/>
                    <a:lumOff val="15000"/>
                  </a:prstClr>
                </a:solidFill>
                <a:latin typeface="微软雅黑"/>
                <a:ea typeface="微软雅黑"/>
              </a:rPr>
              <a:t>① 部门和部门经理：  </a:t>
            </a:r>
            <a:endParaRPr lang="en-US" altLang="zh-CN" sz="2400" b="1" dirty="0">
              <a:solidFill>
                <a:prstClr val="black">
                  <a:lumMod val="85000"/>
                  <a:lumOff val="15000"/>
                </a:prstClr>
              </a:solidFill>
              <a:latin typeface="微软雅黑"/>
              <a:ea typeface="微软雅黑"/>
            </a:endParaRPr>
          </a:p>
          <a:p>
            <a:pPr marL="0" marR="0" lvl="0" indent="0" defTabSz="914400" rtl="0" eaLnBrk="1" fontAlgn="auto" latinLnBrk="0" hangingPunct="1">
              <a:lnSpc>
                <a:spcPct val="200000"/>
              </a:lnSpc>
              <a:spcBef>
                <a:spcPts val="0"/>
              </a:spcBef>
              <a:spcAft>
                <a:spcPts val="0"/>
              </a:spcAft>
              <a:buClrTx/>
              <a:buSzTx/>
              <a:buFontTx/>
              <a:buNone/>
              <a:tabLst/>
              <a:defRPr/>
            </a:pPr>
            <a:r>
              <a:rPr lang="zh-CN" altLang="en-US" sz="2400" b="1" dirty="0">
                <a:solidFill>
                  <a:prstClr val="black">
                    <a:lumMod val="85000"/>
                    <a:lumOff val="15000"/>
                  </a:prstClr>
                </a:solidFill>
                <a:latin typeface="微软雅黑"/>
                <a:ea typeface="微软雅黑"/>
              </a:rPr>
              <a:t>② 部门和员工：</a:t>
            </a:r>
            <a:endParaRPr lang="en-US" altLang="zh-CN" sz="2400" b="1" dirty="0">
              <a:solidFill>
                <a:prstClr val="black">
                  <a:lumMod val="85000"/>
                  <a:lumOff val="15000"/>
                </a:prstClr>
              </a:solidFill>
              <a:latin typeface="微软雅黑"/>
              <a:ea typeface="微软雅黑"/>
            </a:endParaRPr>
          </a:p>
          <a:p>
            <a:pPr marL="0" marR="0" lvl="0" indent="0" defTabSz="914400" rtl="0" eaLnBrk="1" fontAlgn="auto" latinLnBrk="0" hangingPunct="1">
              <a:lnSpc>
                <a:spcPct val="200000"/>
              </a:lnSpc>
              <a:spcBef>
                <a:spcPts val="0"/>
              </a:spcBef>
              <a:spcAft>
                <a:spcPts val="0"/>
              </a:spcAft>
              <a:buClrTx/>
              <a:buSzTx/>
              <a:buFontTx/>
              <a:buNone/>
              <a:tabLst/>
              <a:defRPr/>
            </a:pPr>
            <a:r>
              <a:rPr lang="zh-CN" altLang="en-US" sz="2400" b="1" dirty="0">
                <a:solidFill>
                  <a:prstClr val="black">
                    <a:lumMod val="85000"/>
                    <a:lumOff val="15000"/>
                  </a:prstClr>
                </a:solidFill>
                <a:latin typeface="微软雅黑"/>
                <a:ea typeface="微软雅黑"/>
              </a:rPr>
              <a:t>③ 图书和读者：</a:t>
            </a:r>
            <a:endParaRPr lang="en-US" altLang="zh-CN" sz="2400" b="1" dirty="0">
              <a:solidFill>
                <a:prstClr val="black">
                  <a:lumMod val="85000"/>
                  <a:lumOff val="15000"/>
                </a:prstClr>
              </a:solidFill>
              <a:latin typeface="微软雅黑"/>
              <a:ea typeface="微软雅黑"/>
            </a:endParaRPr>
          </a:p>
        </p:txBody>
      </p:sp>
      <p:sp>
        <p:nvSpPr>
          <p:cNvPr id="13" name="文本框 12">
            <a:extLst>
              <a:ext uri="{FF2B5EF4-FFF2-40B4-BE49-F238E27FC236}">
                <a16:creationId xmlns:a16="http://schemas.microsoft.com/office/drawing/2014/main" id="{67224C12-3FC4-895B-B18F-9AA79ED16A1D}"/>
              </a:ext>
            </a:extLst>
          </p:cNvPr>
          <p:cNvSpPr txBox="1"/>
          <p:nvPr/>
        </p:nvSpPr>
        <p:spPr>
          <a:xfrm>
            <a:off x="6096000" y="3167390"/>
            <a:ext cx="1996440" cy="523220"/>
          </a:xfrm>
          <a:prstGeom prst="rect">
            <a:avLst/>
          </a:prstGeom>
          <a:noFill/>
        </p:spPr>
        <p:txBody>
          <a:bodyPr wrap="square" rtlCol="0">
            <a:spAutoFit/>
          </a:bodyPr>
          <a:lstStyle/>
          <a:p>
            <a:r>
              <a:rPr lang="en-US" altLang="zh-CN" sz="2800" b="1" dirty="0">
                <a:solidFill>
                  <a:srgbClr val="FF0000"/>
                </a:solidFill>
              </a:rPr>
              <a:t>1</a:t>
            </a:r>
            <a:r>
              <a:rPr lang="zh-CN" altLang="en-US" sz="2800" b="1" dirty="0">
                <a:solidFill>
                  <a:srgbClr val="FF0000"/>
                </a:solidFill>
              </a:rPr>
              <a:t>：</a:t>
            </a:r>
            <a:r>
              <a:rPr lang="en-US" altLang="zh-CN" sz="2800" b="1" dirty="0">
                <a:solidFill>
                  <a:srgbClr val="FF0000"/>
                </a:solidFill>
              </a:rPr>
              <a:t>1</a:t>
            </a:r>
            <a:endParaRPr lang="zh-CN" altLang="en-US" sz="2800" b="1" dirty="0">
              <a:solidFill>
                <a:srgbClr val="FF0000"/>
              </a:solidFill>
            </a:endParaRPr>
          </a:p>
        </p:txBody>
      </p:sp>
      <p:sp>
        <p:nvSpPr>
          <p:cNvPr id="15" name="文本框 14">
            <a:extLst>
              <a:ext uri="{FF2B5EF4-FFF2-40B4-BE49-F238E27FC236}">
                <a16:creationId xmlns:a16="http://schemas.microsoft.com/office/drawing/2014/main" id="{75306B0B-3940-A9BA-65F0-EFA222C1BB1F}"/>
              </a:ext>
            </a:extLst>
          </p:cNvPr>
          <p:cNvSpPr txBox="1"/>
          <p:nvPr/>
        </p:nvSpPr>
        <p:spPr>
          <a:xfrm>
            <a:off x="5719572" y="3913975"/>
            <a:ext cx="1996440" cy="523220"/>
          </a:xfrm>
          <a:prstGeom prst="rect">
            <a:avLst/>
          </a:prstGeom>
          <a:noFill/>
        </p:spPr>
        <p:txBody>
          <a:bodyPr wrap="square" rtlCol="0">
            <a:spAutoFit/>
          </a:bodyPr>
          <a:lstStyle/>
          <a:p>
            <a:r>
              <a:rPr lang="en-US" altLang="zh-CN" sz="2800" b="1" dirty="0">
                <a:solidFill>
                  <a:srgbClr val="FF0000"/>
                </a:solidFill>
              </a:rPr>
              <a:t>1</a:t>
            </a:r>
            <a:r>
              <a:rPr lang="zh-CN" altLang="en-US" sz="2800" b="1" dirty="0">
                <a:solidFill>
                  <a:srgbClr val="FF0000"/>
                </a:solidFill>
              </a:rPr>
              <a:t>：</a:t>
            </a:r>
            <a:r>
              <a:rPr lang="en-US" altLang="zh-CN" sz="2800" b="1" dirty="0">
                <a:solidFill>
                  <a:srgbClr val="FF0000"/>
                </a:solidFill>
              </a:rPr>
              <a:t>n</a:t>
            </a:r>
            <a:endParaRPr lang="zh-CN" altLang="en-US" sz="2800" b="1" dirty="0">
              <a:solidFill>
                <a:srgbClr val="FF0000"/>
              </a:solidFill>
            </a:endParaRPr>
          </a:p>
        </p:txBody>
      </p:sp>
      <p:sp>
        <p:nvSpPr>
          <p:cNvPr id="17" name="文本框 16">
            <a:extLst>
              <a:ext uri="{FF2B5EF4-FFF2-40B4-BE49-F238E27FC236}">
                <a16:creationId xmlns:a16="http://schemas.microsoft.com/office/drawing/2014/main" id="{9E61766F-F14B-884D-6806-9EEA473887D1}"/>
              </a:ext>
            </a:extLst>
          </p:cNvPr>
          <p:cNvSpPr txBox="1"/>
          <p:nvPr/>
        </p:nvSpPr>
        <p:spPr>
          <a:xfrm>
            <a:off x="5550408" y="4660560"/>
            <a:ext cx="1996440" cy="523220"/>
          </a:xfrm>
          <a:prstGeom prst="rect">
            <a:avLst/>
          </a:prstGeom>
          <a:noFill/>
        </p:spPr>
        <p:txBody>
          <a:bodyPr wrap="square" rtlCol="0">
            <a:spAutoFit/>
          </a:bodyPr>
          <a:lstStyle/>
          <a:p>
            <a:r>
              <a:rPr lang="en-US" altLang="zh-CN" sz="2800" b="1" dirty="0">
                <a:solidFill>
                  <a:srgbClr val="FF0000"/>
                </a:solidFill>
              </a:rPr>
              <a:t>m</a:t>
            </a:r>
            <a:r>
              <a:rPr lang="zh-CN" altLang="en-US" sz="2800" b="1" dirty="0">
                <a:solidFill>
                  <a:srgbClr val="FF0000"/>
                </a:solidFill>
              </a:rPr>
              <a:t>：</a:t>
            </a:r>
            <a:r>
              <a:rPr lang="en-US" altLang="zh-CN" sz="2800" b="1" dirty="0">
                <a:solidFill>
                  <a:srgbClr val="FF0000"/>
                </a:solidFill>
              </a:rPr>
              <a:t>n</a:t>
            </a:r>
            <a:endParaRPr lang="zh-CN" altLang="en-US" sz="2800" b="1" dirty="0">
              <a:solidFill>
                <a:srgbClr val="FF0000"/>
              </a:solidFill>
            </a:endParaRPr>
          </a:p>
        </p:txBody>
      </p:sp>
    </p:spTree>
    <p:extLst>
      <p:ext uri="{BB962C8B-B14F-4D97-AF65-F5344CB8AC3E}">
        <p14:creationId xmlns:p14="http://schemas.microsoft.com/office/powerpoint/2010/main" val="14185523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5" grpId="0"/>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A3F6-2945-7524-5224-A18E925A73E7}"/>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C258D84A-34E2-FE26-5D16-6EE2163E14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62509"/>
            <a:ext cx="6406547" cy="2880933"/>
          </a:xfrm>
          <a:prstGeom prst="rect">
            <a:avLst/>
          </a:prstGeom>
        </p:spPr>
      </p:pic>
      <p:sp>
        <p:nvSpPr>
          <p:cNvPr id="31" name="矩形 69">
            <a:extLst>
              <a:ext uri="{FF2B5EF4-FFF2-40B4-BE49-F238E27FC236}">
                <a16:creationId xmlns:a16="http://schemas.microsoft.com/office/drawing/2014/main" id="{C87BBDA7-9700-E7ED-B502-2E187E404E80}"/>
              </a:ext>
            </a:extLst>
          </p:cNvPr>
          <p:cNvSpPr>
            <a:spLocks noChangeArrowheads="1"/>
          </p:cNvSpPr>
          <p:nvPr/>
        </p:nvSpPr>
        <p:spPr bwMode="auto">
          <a:xfrm>
            <a:off x="1809002" y="1473664"/>
            <a:ext cx="8957610" cy="152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defTabSz="1179669"/>
            <a:r>
              <a:rPr lang="en-US" altLang="zh-CN" sz="9289" b="1" dirty="0">
                <a:solidFill>
                  <a:srgbClr val="FC6E5B"/>
                </a:solidFill>
                <a:latin typeface="方正卡通简体" panose="03000509000000000000" pitchFamily="65" charset="-122"/>
                <a:ea typeface="方正卡通简体" panose="03000509000000000000" pitchFamily="65" charset="-122"/>
                <a:sym typeface="微软雅黑" pitchFamily="34" charset="-122"/>
              </a:rPr>
              <a:t>03   </a:t>
            </a:r>
            <a:r>
              <a:rPr lang="zh-CN" altLang="en-US" sz="5806" b="1" dirty="0">
                <a:solidFill>
                  <a:srgbClr val="FC6E5B"/>
                </a:solidFill>
                <a:latin typeface="方正卡通简体" panose="03000509000000000000" pitchFamily="65" charset="-122"/>
                <a:ea typeface="方正卡通简体" panose="03000509000000000000" pitchFamily="65" charset="-122"/>
                <a:sym typeface="微软雅黑" pitchFamily="34" charset="-122"/>
              </a:rPr>
              <a:t>逻辑模型</a:t>
            </a:r>
            <a:endParaRPr lang="en-US" altLang="zh-CN" sz="5806" b="1" dirty="0">
              <a:solidFill>
                <a:srgbClr val="66BFBC"/>
              </a:solidFill>
              <a:latin typeface="方正卡通简体" panose="03000509000000000000" pitchFamily="65" charset="-122"/>
              <a:ea typeface="方正卡通简体" panose="03000509000000000000" pitchFamily="65" charset="-122"/>
              <a:sym typeface="微软雅黑" pitchFamily="34" charset="-122"/>
            </a:endParaRPr>
          </a:p>
        </p:txBody>
      </p:sp>
      <p:pic>
        <p:nvPicPr>
          <p:cNvPr id="33" name="图片 32">
            <a:extLst>
              <a:ext uri="{FF2B5EF4-FFF2-40B4-BE49-F238E27FC236}">
                <a16:creationId xmlns:a16="http://schemas.microsoft.com/office/drawing/2014/main" id="{DBD23194-DE40-CF64-0600-D7449CB726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9237" y="2694581"/>
            <a:ext cx="6972173" cy="1167928"/>
          </a:xfrm>
          <a:prstGeom prst="rect">
            <a:avLst/>
          </a:prstGeom>
        </p:spPr>
      </p:pic>
    </p:spTree>
    <p:extLst>
      <p:ext uri="{BB962C8B-B14F-4D97-AF65-F5344CB8AC3E}">
        <p14:creationId xmlns:p14="http://schemas.microsoft.com/office/powerpoint/2010/main" val="95670183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36CEB01-9DCC-4FEF-9B05-C4CAFBFA5069}"/>
              </a:ext>
            </a:extLst>
          </p:cNvPr>
          <p:cNvSpPr>
            <a:spLocks noGrp="1"/>
          </p:cNvSpPr>
          <p:nvPr>
            <p:ph idx="4294967295"/>
          </p:nvPr>
        </p:nvSpPr>
        <p:spPr>
          <a:xfrm>
            <a:off x="4852983" y="2082800"/>
            <a:ext cx="6634167" cy="2520950"/>
          </a:xfrm>
        </p:spPr>
        <p:txBody>
          <a:bodyPr>
            <a:normAutofit lnSpcReduction="10000"/>
          </a:bodyPr>
          <a:lstStyle/>
          <a:p>
            <a:pPr>
              <a:lnSpc>
                <a:spcPct val="150000"/>
              </a:lnSpc>
            </a:pPr>
            <a:r>
              <a:rPr lang="zh-CN" altLang="en-US" dirty="0">
                <a:solidFill>
                  <a:srgbClr val="FF0000"/>
                </a:solidFill>
              </a:rPr>
              <a:t>逻辑模型（</a:t>
            </a:r>
            <a:r>
              <a:rPr lang="en-US" altLang="zh-CN" dirty="0">
                <a:solidFill>
                  <a:srgbClr val="FF0000"/>
                </a:solidFill>
              </a:rPr>
              <a:t>Logical Data Model</a:t>
            </a:r>
            <a:r>
              <a:rPr lang="zh-CN" altLang="en-US" dirty="0">
                <a:solidFill>
                  <a:srgbClr val="FF0000"/>
                </a:solidFill>
              </a:rPr>
              <a:t>）</a:t>
            </a:r>
            <a:endParaRPr lang="en-US" altLang="zh-CN" dirty="0">
              <a:solidFill>
                <a:srgbClr val="FF0000"/>
              </a:solidFill>
            </a:endParaRPr>
          </a:p>
          <a:p>
            <a:pPr>
              <a:lnSpc>
                <a:spcPct val="150000"/>
              </a:lnSpc>
            </a:pPr>
            <a:r>
              <a:rPr lang="zh-CN" altLang="en-US" sz="2000" dirty="0"/>
              <a:t>从数据的组织方式来描述数据，即用什么样的数据结构来组织数据；概念数据模型必须转换成逻辑模型，才能在</a:t>
            </a:r>
            <a:r>
              <a:rPr lang="en-US" altLang="zh-CN" sz="2000" dirty="0"/>
              <a:t>DBMS</a:t>
            </a:r>
            <a:r>
              <a:rPr lang="zh-CN" altLang="en-US" sz="2000" dirty="0"/>
              <a:t>中实现，因此逻辑模型</a:t>
            </a:r>
            <a:r>
              <a:rPr lang="zh-CN" altLang="en-US" sz="2000" b="1" dirty="0"/>
              <a:t>既要面向用户，又要面向系统</a:t>
            </a:r>
            <a:r>
              <a:rPr lang="zh-CN" altLang="en-US" sz="2000" dirty="0"/>
              <a:t>。</a:t>
            </a:r>
          </a:p>
        </p:txBody>
      </p:sp>
      <p:pic>
        <p:nvPicPr>
          <p:cNvPr id="5" name="图片 4">
            <a:extLst>
              <a:ext uri="{FF2B5EF4-FFF2-40B4-BE49-F238E27FC236}">
                <a16:creationId xmlns:a16="http://schemas.microsoft.com/office/drawing/2014/main" id="{0D47EF18-E5CD-4174-A956-A774E9B724D3}"/>
              </a:ext>
            </a:extLst>
          </p:cNvPr>
          <p:cNvPicPr>
            <a:picLocks noChangeAspect="1"/>
          </p:cNvPicPr>
          <p:nvPr/>
        </p:nvPicPr>
        <p:blipFill>
          <a:blip r:embed="rId2"/>
          <a:stretch>
            <a:fillRect/>
          </a:stretch>
        </p:blipFill>
        <p:spPr>
          <a:xfrm>
            <a:off x="1291606" y="1674752"/>
            <a:ext cx="3166894" cy="3766834"/>
          </a:xfrm>
          <a:prstGeom prst="rect">
            <a:avLst/>
          </a:prstGeom>
        </p:spPr>
      </p:pic>
      <p:grpSp>
        <p:nvGrpSpPr>
          <p:cNvPr id="4" name="组合 3">
            <a:extLst>
              <a:ext uri="{FF2B5EF4-FFF2-40B4-BE49-F238E27FC236}">
                <a16:creationId xmlns:a16="http://schemas.microsoft.com/office/drawing/2014/main" id="{D4D93457-5FE5-5974-E01F-11F2607050F3}"/>
              </a:ext>
            </a:extLst>
          </p:cNvPr>
          <p:cNvGrpSpPr/>
          <p:nvPr/>
        </p:nvGrpSpPr>
        <p:grpSpPr>
          <a:xfrm>
            <a:off x="963489" y="666913"/>
            <a:ext cx="6058092" cy="879946"/>
            <a:chOff x="420387" y="472101"/>
            <a:chExt cx="6058092" cy="879946"/>
          </a:xfrm>
        </p:grpSpPr>
        <p:sp>
          <p:nvSpPr>
            <p:cNvPr id="6" name="内容占位符 2">
              <a:extLst>
                <a:ext uri="{FF2B5EF4-FFF2-40B4-BE49-F238E27FC236}">
                  <a16:creationId xmlns:a16="http://schemas.microsoft.com/office/drawing/2014/main" id="{22442DB1-43D2-1681-3660-F5BF9A9CC7F0}"/>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逻辑模型</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7" name="KSO_Shape">
              <a:extLst>
                <a:ext uri="{FF2B5EF4-FFF2-40B4-BE49-F238E27FC236}">
                  <a16:creationId xmlns:a16="http://schemas.microsoft.com/office/drawing/2014/main" id="{C441247B-0507-600C-7722-539C571D2591}"/>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35103880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C884C94-2413-48C7-B2A9-379228D80314}"/>
              </a:ext>
            </a:extLst>
          </p:cNvPr>
          <p:cNvSpPr>
            <a:spLocks noGrp="1"/>
          </p:cNvSpPr>
          <p:nvPr>
            <p:ph idx="4294967295"/>
          </p:nvPr>
        </p:nvSpPr>
        <p:spPr>
          <a:xfrm>
            <a:off x="1895475" y="1546859"/>
            <a:ext cx="9305925" cy="4887912"/>
          </a:xfrm>
        </p:spPr>
        <p:txBody>
          <a:bodyPr>
            <a:normAutofit/>
          </a:bodyPr>
          <a:lstStyle/>
          <a:p>
            <a:r>
              <a:rPr lang="zh-CN" altLang="en-US" b="1" dirty="0">
                <a:solidFill>
                  <a:srgbClr val="057EC3"/>
                </a:solidFill>
              </a:rPr>
              <a:t>非关系模型 </a:t>
            </a:r>
            <a:endParaRPr lang="en-US" altLang="zh-CN" b="1" dirty="0">
              <a:solidFill>
                <a:srgbClr val="057EC3"/>
              </a:solidFill>
            </a:endParaRPr>
          </a:p>
          <a:p>
            <a:pPr marL="342900" indent="-342900">
              <a:buFont typeface="Arial" panose="020B0604020202020204" pitchFamily="34" charset="0"/>
              <a:buChar char="•"/>
            </a:pPr>
            <a:r>
              <a:rPr lang="zh-CN" altLang="en-US" b="1" dirty="0"/>
              <a:t>层次模型和网状模型</a:t>
            </a:r>
            <a:r>
              <a:rPr lang="zh-CN" altLang="en-US" dirty="0"/>
              <a:t>在</a:t>
            </a:r>
            <a:r>
              <a:rPr lang="en-US" altLang="zh-CN" dirty="0"/>
              <a:t>20</a:t>
            </a:r>
            <a:r>
              <a:rPr lang="zh-CN" altLang="en-US" dirty="0"/>
              <a:t>世纪</a:t>
            </a:r>
            <a:r>
              <a:rPr lang="en-US" altLang="zh-CN" dirty="0"/>
              <a:t>70—80</a:t>
            </a:r>
            <a:r>
              <a:rPr lang="zh-CN" altLang="en-US" dirty="0"/>
              <a:t>年代初非常流行，在数据库系统的初期起了重要作用 </a:t>
            </a:r>
            <a:endParaRPr lang="en-US" altLang="zh-CN" dirty="0"/>
          </a:p>
          <a:p>
            <a:r>
              <a:rPr lang="zh-CN" altLang="en-US" b="1" dirty="0">
                <a:solidFill>
                  <a:srgbClr val="057EC3"/>
                </a:solidFill>
              </a:rPr>
              <a:t>关系模型</a:t>
            </a:r>
            <a:r>
              <a:rPr lang="en-US" altLang="zh-CN" b="1" dirty="0">
                <a:solidFill>
                  <a:srgbClr val="057EC3"/>
                </a:solidFill>
              </a:rPr>
              <a:t>(Relational Data Model) </a:t>
            </a:r>
          </a:p>
          <a:p>
            <a:pPr marL="342900" indent="-342900">
              <a:buFont typeface="Arial" panose="020B0604020202020204" pitchFamily="34" charset="0"/>
              <a:buChar char="•"/>
            </a:pPr>
            <a:r>
              <a:rPr lang="zh-CN" altLang="en-US" dirty="0"/>
              <a:t>以严格的数学理论为基础：谓词逻辑</a:t>
            </a:r>
            <a:r>
              <a:rPr lang="en-US" altLang="zh-CN" dirty="0"/>
              <a:t>(predicate logic)</a:t>
            </a:r>
            <a:r>
              <a:rPr lang="zh-CN" altLang="en-US" dirty="0"/>
              <a:t>、集合论</a:t>
            </a:r>
            <a:r>
              <a:rPr lang="en-US" altLang="zh-CN" dirty="0"/>
              <a:t>(set theory) </a:t>
            </a:r>
          </a:p>
          <a:p>
            <a:pPr marL="342900" indent="-342900">
              <a:buFont typeface="Arial" panose="020B0604020202020204" pitchFamily="34" charset="0"/>
              <a:buChar char="•"/>
            </a:pPr>
            <a:r>
              <a:rPr lang="zh-CN" altLang="en-US" dirty="0"/>
              <a:t>目前主流的数据库系统都是基于“关系模型” </a:t>
            </a:r>
            <a:endParaRPr lang="en-US" altLang="zh-CN" dirty="0"/>
          </a:p>
          <a:p>
            <a:r>
              <a:rPr lang="zh-CN" altLang="en-US" b="1" dirty="0">
                <a:solidFill>
                  <a:srgbClr val="057EC3"/>
                </a:solidFill>
              </a:rPr>
              <a:t>面向对象模型 </a:t>
            </a:r>
            <a:endParaRPr lang="en-US" altLang="zh-CN" b="1" dirty="0">
              <a:solidFill>
                <a:srgbClr val="057EC3"/>
              </a:solidFill>
            </a:endParaRPr>
          </a:p>
          <a:p>
            <a:pPr marL="342900" indent="-342900">
              <a:buFont typeface="Arial" panose="020B0604020202020204" pitchFamily="34" charset="0"/>
              <a:buChar char="•"/>
            </a:pPr>
            <a:r>
              <a:rPr lang="zh-CN" altLang="en-US" dirty="0"/>
              <a:t>目前数据库技术的研究方向</a:t>
            </a:r>
          </a:p>
        </p:txBody>
      </p:sp>
      <p:grpSp>
        <p:nvGrpSpPr>
          <p:cNvPr id="4" name="组合 3">
            <a:extLst>
              <a:ext uri="{FF2B5EF4-FFF2-40B4-BE49-F238E27FC236}">
                <a16:creationId xmlns:a16="http://schemas.microsoft.com/office/drawing/2014/main" id="{2ADA20CC-103D-FA4D-CBF2-B8C413FBAA87}"/>
              </a:ext>
            </a:extLst>
          </p:cNvPr>
          <p:cNvGrpSpPr/>
          <p:nvPr/>
        </p:nvGrpSpPr>
        <p:grpSpPr>
          <a:xfrm>
            <a:off x="963489" y="666913"/>
            <a:ext cx="6058092" cy="879946"/>
            <a:chOff x="420387" y="472101"/>
            <a:chExt cx="6058092" cy="879946"/>
          </a:xfrm>
        </p:grpSpPr>
        <p:sp>
          <p:nvSpPr>
            <p:cNvPr id="5" name="内容占位符 2">
              <a:extLst>
                <a:ext uri="{FF2B5EF4-FFF2-40B4-BE49-F238E27FC236}">
                  <a16:creationId xmlns:a16="http://schemas.microsoft.com/office/drawing/2014/main" id="{AADD7C6E-7546-396C-490C-EEC71686CCBD}"/>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逻辑模型</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6" name="KSO_Shape">
              <a:extLst>
                <a:ext uri="{FF2B5EF4-FFF2-40B4-BE49-F238E27FC236}">
                  <a16:creationId xmlns:a16="http://schemas.microsoft.com/office/drawing/2014/main" id="{53AF3081-252A-72D4-28F2-9299190A11CB}"/>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18550480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500"/>
                                        <p:tgtEl>
                                          <p:spTgt spid="2">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D2866-BCDC-3A90-A1A9-8580E991328D}"/>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7FC6D6EF-A74A-C8A7-6952-039B96E5F8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62509"/>
            <a:ext cx="6406547" cy="2880933"/>
          </a:xfrm>
          <a:prstGeom prst="rect">
            <a:avLst/>
          </a:prstGeom>
        </p:spPr>
      </p:pic>
      <p:sp>
        <p:nvSpPr>
          <p:cNvPr id="31" name="矩形 69">
            <a:extLst>
              <a:ext uri="{FF2B5EF4-FFF2-40B4-BE49-F238E27FC236}">
                <a16:creationId xmlns:a16="http://schemas.microsoft.com/office/drawing/2014/main" id="{D833D2DB-9871-EAB2-6EB5-F4ECF04EF8F8}"/>
              </a:ext>
            </a:extLst>
          </p:cNvPr>
          <p:cNvSpPr>
            <a:spLocks noChangeArrowheads="1"/>
          </p:cNvSpPr>
          <p:nvPr/>
        </p:nvSpPr>
        <p:spPr bwMode="auto">
          <a:xfrm>
            <a:off x="3312213" y="1473664"/>
            <a:ext cx="8957610" cy="152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defTabSz="1179669"/>
            <a:r>
              <a:rPr lang="en-US" altLang="zh-CN" sz="6000" b="1" dirty="0">
                <a:solidFill>
                  <a:srgbClr val="FC6E5B"/>
                </a:solidFill>
                <a:latin typeface="方正卡通简体" panose="03000509000000000000" pitchFamily="65" charset="-122"/>
                <a:ea typeface="方正卡通简体" panose="03000509000000000000" pitchFamily="65" charset="-122"/>
                <a:sym typeface="微软雅黑" pitchFamily="34" charset="-122"/>
              </a:rPr>
              <a:t>3-1</a:t>
            </a:r>
            <a:r>
              <a:rPr lang="en-US" altLang="zh-CN" sz="9289" b="1" dirty="0">
                <a:solidFill>
                  <a:srgbClr val="FC6E5B"/>
                </a:solidFill>
                <a:latin typeface="方正卡通简体" panose="03000509000000000000" pitchFamily="65" charset="-122"/>
                <a:ea typeface="方正卡通简体" panose="03000509000000000000" pitchFamily="65" charset="-122"/>
                <a:sym typeface="微软雅黑" pitchFamily="34" charset="-122"/>
              </a:rPr>
              <a:t>  </a:t>
            </a:r>
            <a:r>
              <a:rPr lang="zh-CN" altLang="en-US" sz="5806" b="1" dirty="0">
                <a:solidFill>
                  <a:srgbClr val="FC6E5B"/>
                </a:solidFill>
                <a:latin typeface="方正卡通简体" panose="03000509000000000000" pitchFamily="65" charset="-122"/>
                <a:ea typeface="方正卡通简体" panose="03000509000000000000" pitchFamily="65" charset="-122"/>
                <a:sym typeface="微软雅黑" pitchFamily="34" charset="-122"/>
              </a:rPr>
              <a:t>层次模型</a:t>
            </a:r>
            <a:endParaRPr lang="en-US" altLang="zh-CN" sz="5806" b="1" dirty="0">
              <a:solidFill>
                <a:srgbClr val="66BFBC"/>
              </a:solidFill>
              <a:latin typeface="方正卡通简体" panose="03000509000000000000" pitchFamily="65" charset="-122"/>
              <a:ea typeface="方正卡通简体" panose="03000509000000000000" pitchFamily="65" charset="-122"/>
              <a:sym typeface="微软雅黑" pitchFamily="34" charset="-122"/>
            </a:endParaRPr>
          </a:p>
        </p:txBody>
      </p:sp>
      <p:pic>
        <p:nvPicPr>
          <p:cNvPr id="33" name="图片 32">
            <a:extLst>
              <a:ext uri="{FF2B5EF4-FFF2-40B4-BE49-F238E27FC236}">
                <a16:creationId xmlns:a16="http://schemas.microsoft.com/office/drawing/2014/main" id="{C8FA5E66-3CA5-B1C0-12FE-3153E379FB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9237" y="2694581"/>
            <a:ext cx="6972173" cy="1167928"/>
          </a:xfrm>
          <a:prstGeom prst="rect">
            <a:avLst/>
          </a:prstGeom>
        </p:spPr>
      </p:pic>
    </p:spTree>
    <p:extLst>
      <p:ext uri="{BB962C8B-B14F-4D97-AF65-F5344CB8AC3E}">
        <p14:creationId xmlns:p14="http://schemas.microsoft.com/office/powerpoint/2010/main" val="1084490393"/>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F445F8BA-9590-4794-B601-3FB4AFDA76ED}"/>
              </a:ext>
            </a:extLst>
          </p:cNvPr>
          <p:cNvGrpSpPr/>
          <p:nvPr/>
        </p:nvGrpSpPr>
        <p:grpSpPr>
          <a:xfrm>
            <a:off x="481856" y="454049"/>
            <a:ext cx="5614144" cy="879946"/>
            <a:chOff x="420387" y="472101"/>
            <a:chExt cx="5614144" cy="879946"/>
          </a:xfrm>
        </p:grpSpPr>
        <p:sp>
          <p:nvSpPr>
            <p:cNvPr id="16" name="内容占位符 2">
              <a:extLst>
                <a:ext uri="{FF2B5EF4-FFF2-40B4-BE49-F238E27FC236}">
                  <a16:creationId xmlns:a16="http://schemas.microsoft.com/office/drawing/2014/main" id="{C399240E-1EC7-425E-903C-2B17188CA395}"/>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20" name="KSO_Shape">
              <a:extLst>
                <a:ext uri="{FF2B5EF4-FFF2-40B4-BE49-F238E27FC236}">
                  <a16:creationId xmlns:a16="http://schemas.microsoft.com/office/drawing/2014/main" id="{AE877469-4216-41F7-949C-4D940C40217D}"/>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3" name="矩形 22">
            <a:extLst>
              <a:ext uri="{FF2B5EF4-FFF2-40B4-BE49-F238E27FC236}">
                <a16:creationId xmlns:a16="http://schemas.microsoft.com/office/drawing/2014/main" id="{CFC57061-9B6B-4773-BE7F-54119341FE6B}"/>
              </a:ext>
            </a:extLst>
          </p:cNvPr>
          <p:cNvSpPr/>
          <p:nvPr/>
        </p:nvSpPr>
        <p:spPr>
          <a:xfrm>
            <a:off x="535067" y="1533302"/>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）层次模型</a:t>
            </a:r>
          </a:p>
        </p:txBody>
      </p:sp>
      <p:sp>
        <p:nvSpPr>
          <p:cNvPr id="28" name="矩形 27">
            <a:extLst>
              <a:ext uri="{FF2B5EF4-FFF2-40B4-BE49-F238E27FC236}">
                <a16:creationId xmlns:a16="http://schemas.microsoft.com/office/drawing/2014/main" id="{7677EEB0-21CA-44C9-AB75-DD6595782077}"/>
              </a:ext>
            </a:extLst>
          </p:cNvPr>
          <p:cNvSpPr/>
          <p:nvPr/>
        </p:nvSpPr>
        <p:spPr>
          <a:xfrm>
            <a:off x="639842" y="2036904"/>
            <a:ext cx="10168366" cy="1338315"/>
          </a:xfrm>
          <a:prstGeom prst="rect">
            <a:avLst/>
          </a:prstGeom>
        </p:spPr>
        <p:txBody>
          <a:bodyPr wrap="square">
            <a:spAutoFit/>
          </a:bodyPr>
          <a:lstStyle/>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层次模型是采用</a:t>
            </a:r>
            <a:r>
              <a:rPr kumimoji="0" lang="zh-CN" altLang="en-US" sz="2000" b="0" i="0" u="none" strike="noStrike" kern="1200" cap="none" spc="0" normalizeH="0" baseline="0" noProof="0" dirty="0">
                <a:ln>
                  <a:noFill/>
                </a:ln>
                <a:solidFill>
                  <a:srgbClr val="ED7D31"/>
                </a:solidFill>
                <a:effectLst/>
                <a:uLnTx/>
                <a:uFillTx/>
                <a:latin typeface="微软雅黑"/>
                <a:ea typeface="微软雅黑"/>
                <a:cs typeface="+mn-cs"/>
              </a:rPr>
              <a:t>树型结构（有根树）来表示实体及其实体间的联系的模型</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。树形结构中的结点表示实体型，实体型间的联系用指针表示。</a:t>
            </a: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采用层次模型的数据库的典型代表是</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IBM</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公司</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1968</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年推出的</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IMS</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数据库管理系统</a:t>
            </a:r>
          </a:p>
        </p:txBody>
      </p:sp>
      <p:grpSp>
        <p:nvGrpSpPr>
          <p:cNvPr id="29" name="Group 4">
            <a:extLst>
              <a:ext uri="{FF2B5EF4-FFF2-40B4-BE49-F238E27FC236}">
                <a16:creationId xmlns:a16="http://schemas.microsoft.com/office/drawing/2014/main" id="{DFDE8159-178B-48EF-915B-3B6EE176A8C0}"/>
              </a:ext>
            </a:extLst>
          </p:cNvPr>
          <p:cNvGrpSpPr>
            <a:grpSpLocks noChangeAspect="1"/>
          </p:cNvGrpSpPr>
          <p:nvPr/>
        </p:nvGrpSpPr>
        <p:grpSpPr bwMode="auto">
          <a:xfrm>
            <a:off x="4151233" y="3758484"/>
            <a:ext cx="7400925" cy="2232025"/>
            <a:chOff x="2760" y="2847"/>
            <a:chExt cx="7200" cy="2175"/>
          </a:xfrm>
        </p:grpSpPr>
        <p:sp>
          <p:nvSpPr>
            <p:cNvPr id="36" name="AutoShape 5">
              <a:extLst>
                <a:ext uri="{FF2B5EF4-FFF2-40B4-BE49-F238E27FC236}">
                  <a16:creationId xmlns:a16="http://schemas.microsoft.com/office/drawing/2014/main" id="{C8B38E3E-6F13-487F-BD48-33AAEF4566E1}"/>
                </a:ext>
              </a:extLst>
            </p:cNvPr>
            <p:cNvSpPr>
              <a:spLocks noChangeAspect="1" noChangeArrowheads="1"/>
            </p:cNvSpPr>
            <p:nvPr/>
          </p:nvSpPr>
          <p:spPr bwMode="auto">
            <a:xfrm>
              <a:off x="2760" y="2847"/>
              <a:ext cx="7200" cy="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endParaRPr kumimoji="1" lang="zh-CN" altLang="en-US" sz="1100" b="0" i="0" u="none" strike="noStrike" kern="1200" cap="none" spc="0" normalizeH="0" baseline="0" noProof="0">
                <a:ln>
                  <a:noFill/>
                </a:ln>
                <a:solidFill>
                  <a:srgbClr val="000080"/>
                </a:solidFill>
                <a:effectLst/>
                <a:uLnTx/>
                <a:uFillTx/>
                <a:latin typeface="Times New Roman"/>
                <a:ea typeface="微软雅黑"/>
                <a:cs typeface="+mn-cs"/>
              </a:endParaRPr>
            </a:p>
          </p:txBody>
        </p:sp>
        <p:sp>
          <p:nvSpPr>
            <p:cNvPr id="37" name="Rectangle 6">
              <a:extLst>
                <a:ext uri="{FF2B5EF4-FFF2-40B4-BE49-F238E27FC236}">
                  <a16:creationId xmlns:a16="http://schemas.microsoft.com/office/drawing/2014/main" id="{939ECBF3-5475-4FD2-901E-749EC27CC4CC}"/>
                </a:ext>
              </a:extLst>
            </p:cNvPr>
            <p:cNvSpPr>
              <a:spLocks noChangeArrowheads="1"/>
            </p:cNvSpPr>
            <p:nvPr/>
          </p:nvSpPr>
          <p:spPr bwMode="auto">
            <a:xfrm>
              <a:off x="5421" y="2983"/>
              <a:ext cx="626" cy="273"/>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学校</a:t>
              </a:r>
            </a:p>
          </p:txBody>
        </p:sp>
        <p:sp>
          <p:nvSpPr>
            <p:cNvPr id="38" name="Rectangle 7">
              <a:extLst>
                <a:ext uri="{FF2B5EF4-FFF2-40B4-BE49-F238E27FC236}">
                  <a16:creationId xmlns:a16="http://schemas.microsoft.com/office/drawing/2014/main" id="{D98E84AF-6B09-4093-9D27-F76FF2720B14}"/>
                </a:ext>
              </a:extLst>
            </p:cNvPr>
            <p:cNvSpPr>
              <a:spLocks noChangeArrowheads="1"/>
            </p:cNvSpPr>
            <p:nvPr/>
          </p:nvSpPr>
          <p:spPr bwMode="auto">
            <a:xfrm>
              <a:off x="7456" y="3798"/>
              <a:ext cx="887"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生物学院</a:t>
              </a:r>
            </a:p>
          </p:txBody>
        </p:sp>
        <p:sp>
          <p:nvSpPr>
            <p:cNvPr id="39" name="Rectangle 8">
              <a:extLst>
                <a:ext uri="{FF2B5EF4-FFF2-40B4-BE49-F238E27FC236}">
                  <a16:creationId xmlns:a16="http://schemas.microsoft.com/office/drawing/2014/main" id="{CB5C970F-19C9-4668-B711-BE42B593B15B}"/>
                </a:ext>
              </a:extLst>
            </p:cNvPr>
            <p:cNvSpPr>
              <a:spLocks noChangeArrowheads="1"/>
            </p:cNvSpPr>
            <p:nvPr/>
          </p:nvSpPr>
          <p:spPr bwMode="auto">
            <a:xfrm>
              <a:off x="6517" y="3798"/>
              <a:ext cx="886"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管理学院</a:t>
              </a:r>
            </a:p>
          </p:txBody>
        </p:sp>
        <p:sp>
          <p:nvSpPr>
            <p:cNvPr id="40" name="Rectangle 9">
              <a:extLst>
                <a:ext uri="{FF2B5EF4-FFF2-40B4-BE49-F238E27FC236}">
                  <a16:creationId xmlns:a16="http://schemas.microsoft.com/office/drawing/2014/main" id="{CAF6ED58-8EAA-42F1-9151-4E6CC8D4FE78}"/>
                </a:ext>
              </a:extLst>
            </p:cNvPr>
            <p:cNvSpPr>
              <a:spLocks noChangeArrowheads="1"/>
            </p:cNvSpPr>
            <p:nvPr/>
          </p:nvSpPr>
          <p:spPr bwMode="auto">
            <a:xfrm>
              <a:off x="5577" y="3798"/>
              <a:ext cx="886"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工学院</a:t>
              </a:r>
            </a:p>
          </p:txBody>
        </p:sp>
        <p:sp>
          <p:nvSpPr>
            <p:cNvPr id="41" name="Rectangle 11">
              <a:extLst>
                <a:ext uri="{FF2B5EF4-FFF2-40B4-BE49-F238E27FC236}">
                  <a16:creationId xmlns:a16="http://schemas.microsoft.com/office/drawing/2014/main" id="{3B69B226-6EB8-4A99-994F-3EF512CEEDC8}"/>
                </a:ext>
              </a:extLst>
            </p:cNvPr>
            <p:cNvSpPr>
              <a:spLocks noChangeArrowheads="1"/>
            </p:cNvSpPr>
            <p:nvPr/>
          </p:nvSpPr>
          <p:spPr bwMode="auto">
            <a:xfrm>
              <a:off x="3699" y="3798"/>
              <a:ext cx="884"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信息学院</a:t>
              </a:r>
            </a:p>
          </p:txBody>
        </p:sp>
        <p:sp>
          <p:nvSpPr>
            <p:cNvPr id="42" name="Line 12">
              <a:extLst>
                <a:ext uri="{FF2B5EF4-FFF2-40B4-BE49-F238E27FC236}">
                  <a16:creationId xmlns:a16="http://schemas.microsoft.com/office/drawing/2014/main" id="{5432D75C-D070-4088-974C-2AED17252E2A}"/>
                </a:ext>
              </a:extLst>
            </p:cNvPr>
            <p:cNvSpPr>
              <a:spLocks noChangeShapeType="1"/>
            </p:cNvSpPr>
            <p:nvPr/>
          </p:nvSpPr>
          <p:spPr bwMode="auto">
            <a:xfrm flipH="1">
              <a:off x="4169" y="3255"/>
              <a:ext cx="1565" cy="543"/>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3" name="Line 14">
              <a:extLst>
                <a:ext uri="{FF2B5EF4-FFF2-40B4-BE49-F238E27FC236}">
                  <a16:creationId xmlns:a16="http://schemas.microsoft.com/office/drawing/2014/main" id="{67B72765-B48E-4BCE-8FEA-D117F7154CBA}"/>
                </a:ext>
              </a:extLst>
            </p:cNvPr>
            <p:cNvSpPr>
              <a:spLocks noChangeShapeType="1"/>
            </p:cNvSpPr>
            <p:nvPr/>
          </p:nvSpPr>
          <p:spPr bwMode="auto">
            <a:xfrm>
              <a:off x="5734" y="3255"/>
              <a:ext cx="156" cy="5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4" name="Line 15">
              <a:extLst>
                <a:ext uri="{FF2B5EF4-FFF2-40B4-BE49-F238E27FC236}">
                  <a16:creationId xmlns:a16="http://schemas.microsoft.com/office/drawing/2014/main" id="{38DBE31F-34BE-42AD-9752-9A0C236EA39A}"/>
                </a:ext>
              </a:extLst>
            </p:cNvPr>
            <p:cNvSpPr>
              <a:spLocks noChangeShapeType="1"/>
            </p:cNvSpPr>
            <p:nvPr/>
          </p:nvSpPr>
          <p:spPr bwMode="auto">
            <a:xfrm>
              <a:off x="5734" y="3255"/>
              <a:ext cx="1096" cy="5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5" name="Line 16">
              <a:extLst>
                <a:ext uri="{FF2B5EF4-FFF2-40B4-BE49-F238E27FC236}">
                  <a16:creationId xmlns:a16="http://schemas.microsoft.com/office/drawing/2014/main" id="{4256A338-D4FF-481D-88CE-DC168D699009}"/>
                </a:ext>
              </a:extLst>
            </p:cNvPr>
            <p:cNvSpPr>
              <a:spLocks noChangeShapeType="1"/>
            </p:cNvSpPr>
            <p:nvPr/>
          </p:nvSpPr>
          <p:spPr bwMode="auto">
            <a:xfrm>
              <a:off x="5734" y="3255"/>
              <a:ext cx="2035" cy="5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7" name="Rectangle 17">
              <a:extLst>
                <a:ext uri="{FF2B5EF4-FFF2-40B4-BE49-F238E27FC236}">
                  <a16:creationId xmlns:a16="http://schemas.microsoft.com/office/drawing/2014/main" id="{1041D0C6-C501-4AF9-8474-71F57E4FF35E}"/>
                </a:ext>
              </a:extLst>
            </p:cNvPr>
            <p:cNvSpPr>
              <a:spLocks noChangeArrowheads="1"/>
            </p:cNvSpPr>
            <p:nvPr/>
          </p:nvSpPr>
          <p:spPr bwMode="auto">
            <a:xfrm>
              <a:off x="3230" y="4478"/>
              <a:ext cx="884"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计算机专业</a:t>
              </a:r>
            </a:p>
          </p:txBody>
        </p:sp>
        <p:sp>
          <p:nvSpPr>
            <p:cNvPr id="48" name="Rectangle 18">
              <a:extLst>
                <a:ext uri="{FF2B5EF4-FFF2-40B4-BE49-F238E27FC236}">
                  <a16:creationId xmlns:a16="http://schemas.microsoft.com/office/drawing/2014/main" id="{4EA8BDC7-B3F1-4EF6-84DA-FA6730390AEE}"/>
                </a:ext>
              </a:extLst>
            </p:cNvPr>
            <p:cNvSpPr>
              <a:spLocks noChangeArrowheads="1"/>
            </p:cNvSpPr>
            <p:nvPr/>
          </p:nvSpPr>
          <p:spPr bwMode="auto">
            <a:xfrm>
              <a:off x="4271" y="4478"/>
              <a:ext cx="993"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网络工程专业</a:t>
              </a:r>
            </a:p>
          </p:txBody>
        </p:sp>
        <p:sp>
          <p:nvSpPr>
            <p:cNvPr id="49" name="Line 19">
              <a:extLst>
                <a:ext uri="{FF2B5EF4-FFF2-40B4-BE49-F238E27FC236}">
                  <a16:creationId xmlns:a16="http://schemas.microsoft.com/office/drawing/2014/main" id="{F0B6325B-7C1C-478F-B09F-CFDA974065C9}"/>
                </a:ext>
              </a:extLst>
            </p:cNvPr>
            <p:cNvSpPr>
              <a:spLocks noChangeShapeType="1"/>
            </p:cNvSpPr>
            <p:nvPr/>
          </p:nvSpPr>
          <p:spPr bwMode="auto">
            <a:xfrm flipH="1">
              <a:off x="3699" y="4070"/>
              <a:ext cx="313" cy="40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0" name="Line 20">
              <a:extLst>
                <a:ext uri="{FF2B5EF4-FFF2-40B4-BE49-F238E27FC236}">
                  <a16:creationId xmlns:a16="http://schemas.microsoft.com/office/drawing/2014/main" id="{0B2508C1-72A8-4472-A4EC-CA083D225465}"/>
                </a:ext>
              </a:extLst>
            </p:cNvPr>
            <p:cNvSpPr>
              <a:spLocks noChangeShapeType="1"/>
            </p:cNvSpPr>
            <p:nvPr/>
          </p:nvSpPr>
          <p:spPr bwMode="auto">
            <a:xfrm>
              <a:off x="4012" y="4070"/>
              <a:ext cx="626" cy="408"/>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1" name="Rectangle 21">
              <a:extLst>
                <a:ext uri="{FF2B5EF4-FFF2-40B4-BE49-F238E27FC236}">
                  <a16:creationId xmlns:a16="http://schemas.microsoft.com/office/drawing/2014/main" id="{8645A776-61D1-4AD6-BC71-F9DA715AF1E6}"/>
                </a:ext>
              </a:extLst>
            </p:cNvPr>
            <p:cNvSpPr>
              <a:spLocks noChangeArrowheads="1"/>
            </p:cNvSpPr>
            <p:nvPr/>
          </p:nvSpPr>
          <p:spPr bwMode="auto">
            <a:xfrm>
              <a:off x="5421" y="4478"/>
              <a:ext cx="883"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机械专业</a:t>
              </a:r>
            </a:p>
          </p:txBody>
        </p:sp>
        <p:sp>
          <p:nvSpPr>
            <p:cNvPr id="52" name="Rectangle 22">
              <a:extLst>
                <a:ext uri="{FF2B5EF4-FFF2-40B4-BE49-F238E27FC236}">
                  <a16:creationId xmlns:a16="http://schemas.microsoft.com/office/drawing/2014/main" id="{A3E41FE5-78CA-43E8-99D4-B8E0E8FC7A9D}"/>
                </a:ext>
              </a:extLst>
            </p:cNvPr>
            <p:cNvSpPr>
              <a:spLocks noChangeArrowheads="1"/>
            </p:cNvSpPr>
            <p:nvPr/>
          </p:nvSpPr>
          <p:spPr bwMode="auto">
            <a:xfrm>
              <a:off x="6360" y="4478"/>
              <a:ext cx="883"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自动化专业</a:t>
              </a:r>
            </a:p>
          </p:txBody>
        </p:sp>
        <p:sp>
          <p:nvSpPr>
            <p:cNvPr id="53" name="Line 23">
              <a:extLst>
                <a:ext uri="{FF2B5EF4-FFF2-40B4-BE49-F238E27FC236}">
                  <a16:creationId xmlns:a16="http://schemas.microsoft.com/office/drawing/2014/main" id="{EA0EC8F7-4F75-4507-AB63-8D8FFD92B0F4}"/>
                </a:ext>
              </a:extLst>
            </p:cNvPr>
            <p:cNvSpPr>
              <a:spLocks noChangeShapeType="1"/>
            </p:cNvSpPr>
            <p:nvPr/>
          </p:nvSpPr>
          <p:spPr bwMode="auto">
            <a:xfrm flipH="1">
              <a:off x="5734" y="4070"/>
              <a:ext cx="156" cy="40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4" name="Line 24">
              <a:extLst>
                <a:ext uri="{FF2B5EF4-FFF2-40B4-BE49-F238E27FC236}">
                  <a16:creationId xmlns:a16="http://schemas.microsoft.com/office/drawing/2014/main" id="{647D18D7-5B06-489D-9FB5-545654868A47}"/>
                </a:ext>
              </a:extLst>
            </p:cNvPr>
            <p:cNvSpPr>
              <a:spLocks noChangeShapeType="1"/>
            </p:cNvSpPr>
            <p:nvPr/>
          </p:nvSpPr>
          <p:spPr bwMode="auto">
            <a:xfrm>
              <a:off x="5890" y="4070"/>
              <a:ext cx="940" cy="40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grpSp>
    </p:spTree>
    <p:custDataLst>
      <p:tags r:id="rId1"/>
    </p:custDataLst>
    <p:extLst>
      <p:ext uri="{BB962C8B-B14F-4D97-AF65-F5344CB8AC3E}">
        <p14:creationId xmlns:p14="http://schemas.microsoft.com/office/powerpoint/2010/main" val="55725483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Effect transition="in" filter="wipe(left)">
                                      <p:cBhvr>
                                        <p:cTn id="11" dur="500"/>
                                        <p:tgtEl>
                                          <p:spTgt spid="28">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8">
                                            <p:txEl>
                                              <p:pRg st="1" end="1"/>
                                            </p:txEl>
                                          </p:spTgt>
                                        </p:tgtEl>
                                        <p:attrNameLst>
                                          <p:attrName>style.visibility</p:attrName>
                                        </p:attrNameLst>
                                      </p:cBhvr>
                                      <p:to>
                                        <p:strVal val="visible"/>
                                      </p:to>
                                    </p:set>
                                    <p:animEffect transition="in" filter="wipe(left)">
                                      <p:cBhvr>
                                        <p:cTn id="15" dur="500"/>
                                        <p:tgtEl>
                                          <p:spTgt spid="28">
                                            <p:txEl>
                                              <p:pRg st="1" end="1"/>
                                            </p:txEl>
                                          </p:spTgt>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animEffect transition="in" filter="fade">
                                      <p:cBhvr>
                                        <p:cTn id="2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FC57061-9B6B-4773-BE7F-54119341FE6B}"/>
              </a:ext>
            </a:extLst>
          </p:cNvPr>
          <p:cNvSpPr/>
          <p:nvPr/>
        </p:nvSpPr>
        <p:spPr>
          <a:xfrm>
            <a:off x="535067" y="1533302"/>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）层次模型</a:t>
            </a:r>
          </a:p>
        </p:txBody>
      </p:sp>
      <p:sp>
        <p:nvSpPr>
          <p:cNvPr id="28" name="矩形 27">
            <a:extLst>
              <a:ext uri="{FF2B5EF4-FFF2-40B4-BE49-F238E27FC236}">
                <a16:creationId xmlns:a16="http://schemas.microsoft.com/office/drawing/2014/main" id="{7677EEB0-21CA-44C9-AB75-DD6595782077}"/>
              </a:ext>
            </a:extLst>
          </p:cNvPr>
          <p:cNvSpPr/>
          <p:nvPr/>
        </p:nvSpPr>
        <p:spPr>
          <a:xfrm>
            <a:off x="1559005" y="2217191"/>
            <a:ext cx="5545058" cy="1338315"/>
          </a:xfrm>
          <a:prstGeom prst="rect">
            <a:avLst/>
          </a:prstGeom>
        </p:spPr>
        <p:txBody>
          <a:bodyPr wrap="square">
            <a:spAutoFit/>
          </a:bodyPr>
          <a:lstStyle/>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有且仅有一个结点没有双亲，根结点</a:t>
            </a: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根以外的其他结点有且仅有一个双亲结点</a:t>
            </a: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父子结点之间的联系是一对多（</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1:n</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）的联系</a:t>
            </a:r>
          </a:p>
        </p:txBody>
      </p:sp>
      <p:grpSp>
        <p:nvGrpSpPr>
          <p:cNvPr id="34" name="组合 33">
            <a:extLst>
              <a:ext uri="{FF2B5EF4-FFF2-40B4-BE49-F238E27FC236}">
                <a16:creationId xmlns:a16="http://schemas.microsoft.com/office/drawing/2014/main" id="{B961B541-5C95-483C-A31C-BCA4DA83B402}"/>
              </a:ext>
            </a:extLst>
          </p:cNvPr>
          <p:cNvGrpSpPr/>
          <p:nvPr/>
        </p:nvGrpSpPr>
        <p:grpSpPr>
          <a:xfrm>
            <a:off x="732140" y="2339425"/>
            <a:ext cx="710161" cy="1131238"/>
            <a:chOff x="3111378" y="3500437"/>
            <a:chExt cx="1613021" cy="1613021"/>
          </a:xfrm>
        </p:grpSpPr>
        <p:sp>
          <p:nvSpPr>
            <p:cNvPr id="35" name="Oval 42">
              <a:extLst>
                <a:ext uri="{FF2B5EF4-FFF2-40B4-BE49-F238E27FC236}">
                  <a16:creationId xmlns:a16="http://schemas.microsoft.com/office/drawing/2014/main" id="{CC008F2F-59C7-46E6-9264-C2B55A987403}"/>
                </a:ext>
              </a:extLst>
            </p:cNvPr>
            <p:cNvSpPr/>
            <p:nvPr/>
          </p:nvSpPr>
          <p:spPr bwMode="auto">
            <a:xfrm>
              <a:off x="3111378" y="3500437"/>
              <a:ext cx="1613021" cy="1613021"/>
            </a:xfrm>
            <a:prstGeom prst="ellipse">
              <a:avLst/>
            </a:prstGeom>
            <a:solidFill>
              <a:srgbClr val="ED7D31"/>
            </a:solidFill>
            <a:ln w="38100">
              <a:solidFill>
                <a:schemeClr val="bg1"/>
              </a:solidFill>
            </a:ln>
            <a:effectLst>
              <a:outerShdw blurRad="63500" sx="102000" sy="1020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6" name="矩形 45">
              <a:extLst>
                <a:ext uri="{FF2B5EF4-FFF2-40B4-BE49-F238E27FC236}">
                  <a16:creationId xmlns:a16="http://schemas.microsoft.com/office/drawing/2014/main" id="{DB71E522-429A-4BC7-B31A-3BF03106BF71}"/>
                </a:ext>
              </a:extLst>
            </p:cNvPr>
            <p:cNvSpPr/>
            <p:nvPr/>
          </p:nvSpPr>
          <p:spPr>
            <a:xfrm>
              <a:off x="3182236" y="3891177"/>
              <a:ext cx="1471304" cy="805784"/>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特点</a:t>
              </a:r>
            </a:p>
          </p:txBody>
        </p:sp>
      </p:grpSp>
      <p:sp>
        <p:nvSpPr>
          <p:cNvPr id="55" name="矩形 54">
            <a:extLst>
              <a:ext uri="{FF2B5EF4-FFF2-40B4-BE49-F238E27FC236}">
                <a16:creationId xmlns:a16="http://schemas.microsoft.com/office/drawing/2014/main" id="{0D9E7D64-52FF-4437-BE76-6EB9167F1E48}"/>
              </a:ext>
            </a:extLst>
          </p:cNvPr>
          <p:cNvSpPr/>
          <p:nvPr/>
        </p:nvSpPr>
        <p:spPr>
          <a:xfrm>
            <a:off x="732139" y="3682752"/>
            <a:ext cx="8027813" cy="430374"/>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任何一个给定的记录值只有按其路径查看时，才能显出它的全部意义</a:t>
            </a:r>
          </a:p>
        </p:txBody>
      </p:sp>
      <p:grpSp>
        <p:nvGrpSpPr>
          <p:cNvPr id="56" name="Group 4">
            <a:extLst>
              <a:ext uri="{FF2B5EF4-FFF2-40B4-BE49-F238E27FC236}">
                <a16:creationId xmlns:a16="http://schemas.microsoft.com/office/drawing/2014/main" id="{F0A1B0ED-DA3F-4A5F-B745-460847C2511A}"/>
              </a:ext>
            </a:extLst>
          </p:cNvPr>
          <p:cNvGrpSpPr>
            <a:grpSpLocks noChangeAspect="1"/>
          </p:cNvGrpSpPr>
          <p:nvPr/>
        </p:nvGrpSpPr>
        <p:grpSpPr bwMode="auto">
          <a:xfrm>
            <a:off x="4260866" y="4127278"/>
            <a:ext cx="7400925" cy="2232025"/>
            <a:chOff x="2760" y="2847"/>
            <a:chExt cx="7200" cy="2175"/>
          </a:xfrm>
        </p:grpSpPr>
        <p:sp>
          <p:nvSpPr>
            <p:cNvPr id="57" name="AutoShape 5">
              <a:extLst>
                <a:ext uri="{FF2B5EF4-FFF2-40B4-BE49-F238E27FC236}">
                  <a16:creationId xmlns:a16="http://schemas.microsoft.com/office/drawing/2014/main" id="{8B14B822-CA73-4759-B100-2D5032A6F79E}"/>
                </a:ext>
              </a:extLst>
            </p:cNvPr>
            <p:cNvSpPr>
              <a:spLocks noChangeAspect="1" noChangeArrowheads="1"/>
            </p:cNvSpPr>
            <p:nvPr/>
          </p:nvSpPr>
          <p:spPr bwMode="auto">
            <a:xfrm>
              <a:off x="2760" y="2847"/>
              <a:ext cx="7200" cy="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20000"/>
                </a:lnSpc>
                <a:spcBef>
                  <a:spcPct val="20000"/>
                </a:spcBef>
                <a:spcAft>
                  <a:spcPts val="0"/>
                </a:spcAft>
                <a:buClr>
                  <a:srgbClr val="44546A"/>
                </a:buClr>
                <a:buSzTx/>
                <a:buFont typeface="Wingdings" panose="05000000000000000000" pitchFamily="2" charset="2"/>
                <a:buNone/>
                <a:tabLst/>
                <a:defRPr/>
              </a:pPr>
              <a:endParaRPr kumimoji="1" lang="zh-CN" altLang="en-US" sz="1100" b="0" i="0" u="none" strike="noStrike" kern="1200" cap="none" spc="0" normalizeH="0" baseline="0" noProof="0">
                <a:ln>
                  <a:noFill/>
                </a:ln>
                <a:solidFill>
                  <a:srgbClr val="000080"/>
                </a:solidFill>
                <a:effectLst/>
                <a:uLnTx/>
                <a:uFillTx/>
                <a:latin typeface="Times New Roman"/>
                <a:ea typeface="微软雅黑"/>
                <a:cs typeface="+mn-cs"/>
              </a:endParaRPr>
            </a:p>
          </p:txBody>
        </p:sp>
        <p:sp>
          <p:nvSpPr>
            <p:cNvPr id="58" name="Rectangle 6">
              <a:extLst>
                <a:ext uri="{FF2B5EF4-FFF2-40B4-BE49-F238E27FC236}">
                  <a16:creationId xmlns:a16="http://schemas.microsoft.com/office/drawing/2014/main" id="{A91A61CB-3633-417A-84FF-7C5CFA7925A6}"/>
                </a:ext>
              </a:extLst>
            </p:cNvPr>
            <p:cNvSpPr>
              <a:spLocks noChangeArrowheads="1"/>
            </p:cNvSpPr>
            <p:nvPr/>
          </p:nvSpPr>
          <p:spPr bwMode="auto">
            <a:xfrm>
              <a:off x="5421" y="2983"/>
              <a:ext cx="626" cy="273"/>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学校</a:t>
              </a:r>
            </a:p>
          </p:txBody>
        </p:sp>
        <p:sp>
          <p:nvSpPr>
            <p:cNvPr id="59" name="Rectangle 7">
              <a:extLst>
                <a:ext uri="{FF2B5EF4-FFF2-40B4-BE49-F238E27FC236}">
                  <a16:creationId xmlns:a16="http://schemas.microsoft.com/office/drawing/2014/main" id="{AD075B6D-39AC-4C55-8708-C37E19101F41}"/>
                </a:ext>
              </a:extLst>
            </p:cNvPr>
            <p:cNvSpPr>
              <a:spLocks noChangeArrowheads="1"/>
            </p:cNvSpPr>
            <p:nvPr/>
          </p:nvSpPr>
          <p:spPr bwMode="auto">
            <a:xfrm>
              <a:off x="7456" y="3798"/>
              <a:ext cx="887"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生物学院</a:t>
              </a:r>
            </a:p>
          </p:txBody>
        </p:sp>
        <p:sp>
          <p:nvSpPr>
            <p:cNvPr id="60" name="Rectangle 8">
              <a:extLst>
                <a:ext uri="{FF2B5EF4-FFF2-40B4-BE49-F238E27FC236}">
                  <a16:creationId xmlns:a16="http://schemas.microsoft.com/office/drawing/2014/main" id="{F1E3E560-2323-4571-9C4D-4E7CC9F0DB2D}"/>
                </a:ext>
              </a:extLst>
            </p:cNvPr>
            <p:cNvSpPr>
              <a:spLocks noChangeArrowheads="1"/>
            </p:cNvSpPr>
            <p:nvPr/>
          </p:nvSpPr>
          <p:spPr bwMode="auto">
            <a:xfrm>
              <a:off x="6517" y="3798"/>
              <a:ext cx="886"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管理学院</a:t>
              </a:r>
            </a:p>
          </p:txBody>
        </p:sp>
        <p:sp>
          <p:nvSpPr>
            <p:cNvPr id="61" name="Rectangle 9">
              <a:extLst>
                <a:ext uri="{FF2B5EF4-FFF2-40B4-BE49-F238E27FC236}">
                  <a16:creationId xmlns:a16="http://schemas.microsoft.com/office/drawing/2014/main" id="{978A4ABA-9398-462E-AD05-D68C24034701}"/>
                </a:ext>
              </a:extLst>
            </p:cNvPr>
            <p:cNvSpPr>
              <a:spLocks noChangeArrowheads="1"/>
            </p:cNvSpPr>
            <p:nvPr/>
          </p:nvSpPr>
          <p:spPr bwMode="auto">
            <a:xfrm>
              <a:off x="5577" y="3798"/>
              <a:ext cx="886"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工学院</a:t>
              </a:r>
            </a:p>
          </p:txBody>
        </p:sp>
        <p:sp>
          <p:nvSpPr>
            <p:cNvPr id="62" name="Rectangle 11">
              <a:extLst>
                <a:ext uri="{FF2B5EF4-FFF2-40B4-BE49-F238E27FC236}">
                  <a16:creationId xmlns:a16="http://schemas.microsoft.com/office/drawing/2014/main" id="{2A157F83-AC3C-4948-843A-8179CA2A2644}"/>
                </a:ext>
              </a:extLst>
            </p:cNvPr>
            <p:cNvSpPr>
              <a:spLocks noChangeArrowheads="1"/>
            </p:cNvSpPr>
            <p:nvPr/>
          </p:nvSpPr>
          <p:spPr bwMode="auto">
            <a:xfrm>
              <a:off x="3699" y="3798"/>
              <a:ext cx="884" cy="272"/>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信息学院</a:t>
              </a:r>
            </a:p>
          </p:txBody>
        </p:sp>
        <p:sp>
          <p:nvSpPr>
            <p:cNvPr id="63" name="Line 12">
              <a:extLst>
                <a:ext uri="{FF2B5EF4-FFF2-40B4-BE49-F238E27FC236}">
                  <a16:creationId xmlns:a16="http://schemas.microsoft.com/office/drawing/2014/main" id="{C5AF90AF-497A-40F4-B88C-1847396874DA}"/>
                </a:ext>
              </a:extLst>
            </p:cNvPr>
            <p:cNvSpPr>
              <a:spLocks noChangeShapeType="1"/>
            </p:cNvSpPr>
            <p:nvPr/>
          </p:nvSpPr>
          <p:spPr bwMode="auto">
            <a:xfrm flipH="1">
              <a:off x="4169" y="3255"/>
              <a:ext cx="1565" cy="543"/>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64" name="Line 14">
              <a:extLst>
                <a:ext uri="{FF2B5EF4-FFF2-40B4-BE49-F238E27FC236}">
                  <a16:creationId xmlns:a16="http://schemas.microsoft.com/office/drawing/2014/main" id="{E8239C12-E76F-47A3-9F0E-A03439299DB5}"/>
                </a:ext>
              </a:extLst>
            </p:cNvPr>
            <p:cNvSpPr>
              <a:spLocks noChangeShapeType="1"/>
            </p:cNvSpPr>
            <p:nvPr/>
          </p:nvSpPr>
          <p:spPr bwMode="auto">
            <a:xfrm>
              <a:off x="5734" y="3255"/>
              <a:ext cx="156" cy="5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65" name="Line 15">
              <a:extLst>
                <a:ext uri="{FF2B5EF4-FFF2-40B4-BE49-F238E27FC236}">
                  <a16:creationId xmlns:a16="http://schemas.microsoft.com/office/drawing/2014/main" id="{F4F34F3C-A0FA-4285-B89E-226EB4DC2CF1}"/>
                </a:ext>
              </a:extLst>
            </p:cNvPr>
            <p:cNvSpPr>
              <a:spLocks noChangeShapeType="1"/>
            </p:cNvSpPr>
            <p:nvPr/>
          </p:nvSpPr>
          <p:spPr bwMode="auto">
            <a:xfrm>
              <a:off x="5734" y="3255"/>
              <a:ext cx="1096" cy="5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66" name="Line 16">
              <a:extLst>
                <a:ext uri="{FF2B5EF4-FFF2-40B4-BE49-F238E27FC236}">
                  <a16:creationId xmlns:a16="http://schemas.microsoft.com/office/drawing/2014/main" id="{2202EC05-1F56-4940-8A28-1822BBD2A6EE}"/>
                </a:ext>
              </a:extLst>
            </p:cNvPr>
            <p:cNvSpPr>
              <a:spLocks noChangeShapeType="1"/>
            </p:cNvSpPr>
            <p:nvPr/>
          </p:nvSpPr>
          <p:spPr bwMode="auto">
            <a:xfrm>
              <a:off x="5734" y="3255"/>
              <a:ext cx="2035" cy="5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67" name="Rectangle 17">
              <a:extLst>
                <a:ext uri="{FF2B5EF4-FFF2-40B4-BE49-F238E27FC236}">
                  <a16:creationId xmlns:a16="http://schemas.microsoft.com/office/drawing/2014/main" id="{2A3C4CAB-5054-41C2-B544-C3D249C3729E}"/>
                </a:ext>
              </a:extLst>
            </p:cNvPr>
            <p:cNvSpPr>
              <a:spLocks noChangeArrowheads="1"/>
            </p:cNvSpPr>
            <p:nvPr/>
          </p:nvSpPr>
          <p:spPr bwMode="auto">
            <a:xfrm>
              <a:off x="3230" y="4478"/>
              <a:ext cx="884"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计算机专业</a:t>
              </a:r>
            </a:p>
          </p:txBody>
        </p:sp>
        <p:sp>
          <p:nvSpPr>
            <p:cNvPr id="68" name="Rectangle 18">
              <a:extLst>
                <a:ext uri="{FF2B5EF4-FFF2-40B4-BE49-F238E27FC236}">
                  <a16:creationId xmlns:a16="http://schemas.microsoft.com/office/drawing/2014/main" id="{F0CC5670-2CBF-4812-866D-4EAEF4DE248A}"/>
                </a:ext>
              </a:extLst>
            </p:cNvPr>
            <p:cNvSpPr>
              <a:spLocks noChangeArrowheads="1"/>
            </p:cNvSpPr>
            <p:nvPr/>
          </p:nvSpPr>
          <p:spPr bwMode="auto">
            <a:xfrm>
              <a:off x="4271" y="4478"/>
              <a:ext cx="993"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网络工程专业</a:t>
              </a:r>
            </a:p>
          </p:txBody>
        </p:sp>
        <p:sp>
          <p:nvSpPr>
            <p:cNvPr id="69" name="Line 19">
              <a:extLst>
                <a:ext uri="{FF2B5EF4-FFF2-40B4-BE49-F238E27FC236}">
                  <a16:creationId xmlns:a16="http://schemas.microsoft.com/office/drawing/2014/main" id="{79C2CC5A-674B-4570-A04E-1B81B5606F91}"/>
                </a:ext>
              </a:extLst>
            </p:cNvPr>
            <p:cNvSpPr>
              <a:spLocks noChangeShapeType="1"/>
            </p:cNvSpPr>
            <p:nvPr/>
          </p:nvSpPr>
          <p:spPr bwMode="auto">
            <a:xfrm flipH="1">
              <a:off x="3699" y="4070"/>
              <a:ext cx="313" cy="40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70" name="Line 20">
              <a:extLst>
                <a:ext uri="{FF2B5EF4-FFF2-40B4-BE49-F238E27FC236}">
                  <a16:creationId xmlns:a16="http://schemas.microsoft.com/office/drawing/2014/main" id="{FEF89DC6-CFEF-4C54-9102-0885C1332785}"/>
                </a:ext>
              </a:extLst>
            </p:cNvPr>
            <p:cNvSpPr>
              <a:spLocks noChangeShapeType="1"/>
            </p:cNvSpPr>
            <p:nvPr/>
          </p:nvSpPr>
          <p:spPr bwMode="auto">
            <a:xfrm>
              <a:off x="4012" y="4070"/>
              <a:ext cx="626" cy="408"/>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71" name="Rectangle 21">
              <a:extLst>
                <a:ext uri="{FF2B5EF4-FFF2-40B4-BE49-F238E27FC236}">
                  <a16:creationId xmlns:a16="http://schemas.microsoft.com/office/drawing/2014/main" id="{31A9152C-CF21-4F2C-84E0-6CF1EBD4D35D}"/>
                </a:ext>
              </a:extLst>
            </p:cNvPr>
            <p:cNvSpPr>
              <a:spLocks noChangeArrowheads="1"/>
            </p:cNvSpPr>
            <p:nvPr/>
          </p:nvSpPr>
          <p:spPr bwMode="auto">
            <a:xfrm>
              <a:off x="5421" y="4478"/>
              <a:ext cx="883"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机械专业</a:t>
              </a:r>
            </a:p>
          </p:txBody>
        </p:sp>
        <p:sp>
          <p:nvSpPr>
            <p:cNvPr id="72" name="Rectangle 22">
              <a:extLst>
                <a:ext uri="{FF2B5EF4-FFF2-40B4-BE49-F238E27FC236}">
                  <a16:creationId xmlns:a16="http://schemas.microsoft.com/office/drawing/2014/main" id="{E7BCB801-430E-4855-84B3-ECDD0AEA5799}"/>
                </a:ext>
              </a:extLst>
            </p:cNvPr>
            <p:cNvSpPr>
              <a:spLocks noChangeArrowheads="1"/>
            </p:cNvSpPr>
            <p:nvPr/>
          </p:nvSpPr>
          <p:spPr bwMode="auto">
            <a:xfrm>
              <a:off x="6360" y="4478"/>
              <a:ext cx="883" cy="271"/>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18000" rIns="0" bIns="0" anchor="ctr"/>
            <a:lstStyle>
              <a:lvl1pPr>
                <a:spcBef>
                  <a:spcPct val="20000"/>
                </a:spcBef>
                <a:buClr>
                  <a:schemeClr val="tx2"/>
                </a:buClr>
                <a:buFont typeface="Wingdings" panose="05000000000000000000" pitchFamily="2" charset="2"/>
                <a:buChar char="w"/>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SzPct val="95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100" b="0" i="0" u="none" strike="noStrike" kern="1200" cap="none" spc="0" normalizeH="0" baseline="0" noProof="0" dirty="0">
                  <a:ln>
                    <a:noFill/>
                  </a:ln>
                  <a:solidFill>
                    <a:prstClr val="black"/>
                  </a:solidFill>
                  <a:effectLst/>
                  <a:uLnTx/>
                  <a:uFillTx/>
                  <a:latin typeface="Times New Roman"/>
                  <a:ea typeface="微软雅黑"/>
                  <a:cs typeface="+mn-cs"/>
                </a:rPr>
                <a:t> 自动化专业</a:t>
              </a:r>
            </a:p>
          </p:txBody>
        </p:sp>
        <p:sp>
          <p:nvSpPr>
            <p:cNvPr id="73" name="Line 23">
              <a:extLst>
                <a:ext uri="{FF2B5EF4-FFF2-40B4-BE49-F238E27FC236}">
                  <a16:creationId xmlns:a16="http://schemas.microsoft.com/office/drawing/2014/main" id="{41D1BAAD-6E67-4BA9-B7AB-EB8BBB2B58A5}"/>
                </a:ext>
              </a:extLst>
            </p:cNvPr>
            <p:cNvSpPr>
              <a:spLocks noChangeShapeType="1"/>
            </p:cNvSpPr>
            <p:nvPr/>
          </p:nvSpPr>
          <p:spPr bwMode="auto">
            <a:xfrm flipH="1">
              <a:off x="5734" y="4070"/>
              <a:ext cx="156" cy="40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74" name="Line 24">
              <a:extLst>
                <a:ext uri="{FF2B5EF4-FFF2-40B4-BE49-F238E27FC236}">
                  <a16:creationId xmlns:a16="http://schemas.microsoft.com/office/drawing/2014/main" id="{E650276C-6129-494E-8F78-4F8EB976B012}"/>
                </a:ext>
              </a:extLst>
            </p:cNvPr>
            <p:cNvSpPr>
              <a:spLocks noChangeShapeType="1"/>
            </p:cNvSpPr>
            <p:nvPr/>
          </p:nvSpPr>
          <p:spPr bwMode="auto">
            <a:xfrm>
              <a:off x="5890" y="4070"/>
              <a:ext cx="940" cy="40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Times New Roman"/>
                <a:ea typeface="微软雅黑"/>
                <a:cs typeface="+mn-cs"/>
              </a:endParaRPr>
            </a:p>
          </p:txBody>
        </p:sp>
      </p:grpSp>
      <p:grpSp>
        <p:nvGrpSpPr>
          <p:cNvPr id="3" name="组合 2">
            <a:extLst>
              <a:ext uri="{FF2B5EF4-FFF2-40B4-BE49-F238E27FC236}">
                <a16:creationId xmlns:a16="http://schemas.microsoft.com/office/drawing/2014/main" id="{D523D002-2901-4211-83E1-EEFEA09BBE2F}"/>
              </a:ext>
            </a:extLst>
          </p:cNvPr>
          <p:cNvGrpSpPr/>
          <p:nvPr/>
        </p:nvGrpSpPr>
        <p:grpSpPr>
          <a:xfrm>
            <a:off x="8476549" y="4157519"/>
            <a:ext cx="1838646" cy="396583"/>
            <a:chOff x="4809805" y="4398216"/>
            <a:chExt cx="1838646" cy="396583"/>
          </a:xfrm>
        </p:grpSpPr>
        <p:sp>
          <p:nvSpPr>
            <p:cNvPr id="2" name="标注: 弯曲线形 1">
              <a:extLst>
                <a:ext uri="{FF2B5EF4-FFF2-40B4-BE49-F238E27FC236}">
                  <a16:creationId xmlns:a16="http://schemas.microsoft.com/office/drawing/2014/main" id="{AD03215B-C4C5-455E-9C4A-BF789BB3DD4F}"/>
                </a:ext>
              </a:extLst>
            </p:cNvPr>
            <p:cNvSpPr/>
            <p:nvPr/>
          </p:nvSpPr>
          <p:spPr>
            <a:xfrm>
              <a:off x="4809805" y="4430491"/>
              <a:ext cx="1823312" cy="358426"/>
            </a:xfrm>
            <a:prstGeom prst="borderCallout2">
              <a:avLst>
                <a:gd name="adj1" fmla="val 18750"/>
                <a:gd name="adj2" fmla="val -8333"/>
                <a:gd name="adj3" fmla="val 18750"/>
                <a:gd name="adj4" fmla="val -16667"/>
                <a:gd name="adj5" fmla="val 62540"/>
                <a:gd name="adj6" fmla="val -41482"/>
              </a:avLst>
            </a:prstGeom>
            <a:solidFill>
              <a:srgbClr val="ED7D31"/>
            </a:solidFill>
            <a:ln w="3810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75" name="矩形 74">
              <a:extLst>
                <a:ext uri="{FF2B5EF4-FFF2-40B4-BE49-F238E27FC236}">
                  <a16:creationId xmlns:a16="http://schemas.microsoft.com/office/drawing/2014/main" id="{170D78F8-5E61-446E-AEEC-29A2DFC05B46}"/>
                </a:ext>
              </a:extLst>
            </p:cNvPr>
            <p:cNvSpPr/>
            <p:nvPr/>
          </p:nvSpPr>
          <p:spPr>
            <a:xfrm>
              <a:off x="4825139" y="4398216"/>
              <a:ext cx="1823312" cy="396583"/>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rPr>
                <a:t>无双亲，根节点 </a:t>
              </a:r>
            </a:p>
          </p:txBody>
        </p:sp>
      </p:grpSp>
      <p:grpSp>
        <p:nvGrpSpPr>
          <p:cNvPr id="10" name="组合 9">
            <a:extLst>
              <a:ext uri="{FF2B5EF4-FFF2-40B4-BE49-F238E27FC236}">
                <a16:creationId xmlns:a16="http://schemas.microsoft.com/office/drawing/2014/main" id="{D003E4E7-10FF-B188-20BA-C306244EAB92}"/>
              </a:ext>
            </a:extLst>
          </p:cNvPr>
          <p:cNvGrpSpPr/>
          <p:nvPr/>
        </p:nvGrpSpPr>
        <p:grpSpPr>
          <a:xfrm>
            <a:off x="481856" y="454049"/>
            <a:ext cx="5614144" cy="879946"/>
            <a:chOff x="420387" y="472101"/>
            <a:chExt cx="5614144" cy="879946"/>
          </a:xfrm>
        </p:grpSpPr>
        <p:sp>
          <p:nvSpPr>
            <p:cNvPr id="11" name="内容占位符 2">
              <a:extLst>
                <a:ext uri="{FF2B5EF4-FFF2-40B4-BE49-F238E27FC236}">
                  <a16:creationId xmlns:a16="http://schemas.microsoft.com/office/drawing/2014/main" id="{BC090419-268C-F19C-342D-2616EB9004C0}"/>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12" name="KSO_Shape">
              <a:extLst>
                <a:ext uri="{FF2B5EF4-FFF2-40B4-BE49-F238E27FC236}">
                  <a16:creationId xmlns:a16="http://schemas.microsoft.com/office/drawing/2014/main" id="{F770C131-E5DF-6ABE-1850-97EE368174B3}"/>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51669808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
                                            <p:txEl>
                                              <p:pRg st="0" end="0"/>
                                            </p:txEl>
                                          </p:spTgt>
                                        </p:tgtEl>
                                        <p:attrNameLst>
                                          <p:attrName>style.visibility</p:attrName>
                                        </p:attrNameLst>
                                      </p:cBhvr>
                                      <p:to>
                                        <p:strVal val="visible"/>
                                      </p:to>
                                    </p:set>
                                    <p:animEffect transition="in" filter="wipe(left)">
                                      <p:cBhvr>
                                        <p:cTn id="12" dur="500"/>
                                        <p:tgtEl>
                                          <p:spTgt spid="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xEl>
                                              <p:pRg st="1" end="1"/>
                                            </p:txEl>
                                          </p:spTgt>
                                        </p:tgtEl>
                                        <p:attrNameLst>
                                          <p:attrName>style.visibility</p:attrName>
                                        </p:attrNameLst>
                                      </p:cBhvr>
                                      <p:to>
                                        <p:strVal val="visible"/>
                                      </p:to>
                                    </p:set>
                                    <p:animEffect transition="in" filter="fade">
                                      <p:cBhvr>
                                        <p:cTn id="17" dur="500"/>
                                        <p:tgtEl>
                                          <p:spTgt spid="2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xEl>
                                              <p:pRg st="2" end="2"/>
                                            </p:txEl>
                                          </p:spTgt>
                                        </p:tgtEl>
                                        <p:attrNameLst>
                                          <p:attrName>style.visibility</p:attrName>
                                        </p:attrNameLst>
                                      </p:cBhvr>
                                      <p:to>
                                        <p:strVal val="visible"/>
                                      </p:to>
                                    </p:set>
                                    <p:animEffect transition="in" filter="wipe(left)">
                                      <p:cBhvr>
                                        <p:cTn id="22" dur="500"/>
                                        <p:tgtEl>
                                          <p:spTgt spid="2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wipe(left)">
                                      <p:cBhvr>
                                        <p:cTn id="27" dur="500"/>
                                        <p:tgtEl>
                                          <p:spTgt spid="55"/>
                                        </p:tgtEl>
                                      </p:cBhvr>
                                    </p:animEffect>
                                  </p:childTnLst>
                                </p:cTn>
                              </p:par>
                            </p:childTnLst>
                          </p:cTn>
                        </p:par>
                        <p:par>
                          <p:cTn id="28" fill="hold">
                            <p:stCondLst>
                              <p:cond delay="500"/>
                            </p:stCondLst>
                            <p:childTnLst>
                              <p:par>
                                <p:cTn id="29" presetID="53" presetClass="entr" presetSubtype="16" fill="hold" nodeType="after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p:cTn id="31" dur="500" fill="hold"/>
                                        <p:tgtEl>
                                          <p:spTgt spid="56"/>
                                        </p:tgtEl>
                                        <p:attrNameLst>
                                          <p:attrName>ppt_w</p:attrName>
                                        </p:attrNameLst>
                                      </p:cBhvr>
                                      <p:tavLst>
                                        <p:tav tm="0">
                                          <p:val>
                                            <p:fltVal val="0"/>
                                          </p:val>
                                        </p:tav>
                                        <p:tav tm="100000">
                                          <p:val>
                                            <p:strVal val="#ppt_w"/>
                                          </p:val>
                                        </p:tav>
                                      </p:tavLst>
                                    </p:anim>
                                    <p:anim calcmode="lin" valueType="num">
                                      <p:cBhvr>
                                        <p:cTn id="32" dur="500" fill="hold"/>
                                        <p:tgtEl>
                                          <p:spTgt spid="56"/>
                                        </p:tgtEl>
                                        <p:attrNameLst>
                                          <p:attrName>ppt_h</p:attrName>
                                        </p:attrNameLst>
                                      </p:cBhvr>
                                      <p:tavLst>
                                        <p:tav tm="0">
                                          <p:val>
                                            <p:fltVal val="0"/>
                                          </p:val>
                                        </p:tav>
                                        <p:tav tm="100000">
                                          <p:val>
                                            <p:strVal val="#ppt_h"/>
                                          </p:val>
                                        </p:tav>
                                      </p:tavLst>
                                    </p:anim>
                                    <p:animEffect transition="in" filter="fade">
                                      <p:cBhvr>
                                        <p:cTn id="33" dur="500"/>
                                        <p:tgtEl>
                                          <p:spTgt spid="5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FC57061-9B6B-4773-BE7F-54119341FE6B}"/>
              </a:ext>
            </a:extLst>
          </p:cNvPr>
          <p:cNvSpPr/>
          <p:nvPr/>
        </p:nvSpPr>
        <p:spPr>
          <a:xfrm>
            <a:off x="535067" y="1533302"/>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）层次模型</a:t>
            </a:r>
          </a:p>
        </p:txBody>
      </p:sp>
      <p:sp>
        <p:nvSpPr>
          <p:cNvPr id="33" name="矩形 32">
            <a:extLst>
              <a:ext uri="{FF2B5EF4-FFF2-40B4-BE49-F238E27FC236}">
                <a16:creationId xmlns:a16="http://schemas.microsoft.com/office/drawing/2014/main" id="{19BCA3DD-2DDC-4586-AB09-B9AF3E75D08E}"/>
              </a:ext>
            </a:extLst>
          </p:cNvPr>
          <p:cNvSpPr/>
          <p:nvPr/>
        </p:nvSpPr>
        <p:spPr>
          <a:xfrm>
            <a:off x="1849101" y="2179117"/>
            <a:ext cx="5677768" cy="497957"/>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层次模型的数据操纵与数据完整性约束</a:t>
            </a:r>
          </a:p>
        </p:txBody>
      </p:sp>
      <p:grpSp>
        <p:nvGrpSpPr>
          <p:cNvPr id="36" name="组合 35">
            <a:extLst>
              <a:ext uri="{FF2B5EF4-FFF2-40B4-BE49-F238E27FC236}">
                <a16:creationId xmlns:a16="http://schemas.microsoft.com/office/drawing/2014/main" id="{B417CED3-3691-4FDE-9A9C-5AEC7FFF9C0E}"/>
              </a:ext>
            </a:extLst>
          </p:cNvPr>
          <p:cNvGrpSpPr/>
          <p:nvPr/>
        </p:nvGrpSpPr>
        <p:grpSpPr>
          <a:xfrm>
            <a:off x="1656302" y="2867336"/>
            <a:ext cx="6231437" cy="2737031"/>
            <a:chOff x="1501314" y="2855480"/>
            <a:chExt cx="4369340" cy="2737031"/>
          </a:xfrm>
        </p:grpSpPr>
        <p:sp>
          <p:nvSpPr>
            <p:cNvPr id="37" name="矩形: 圆角 36">
              <a:extLst>
                <a:ext uri="{FF2B5EF4-FFF2-40B4-BE49-F238E27FC236}">
                  <a16:creationId xmlns:a16="http://schemas.microsoft.com/office/drawing/2014/main" id="{F71B767B-8CFA-40B0-A2F2-D49B38AC5B5F}"/>
                </a:ext>
              </a:extLst>
            </p:cNvPr>
            <p:cNvSpPr/>
            <p:nvPr/>
          </p:nvSpPr>
          <p:spPr>
            <a:xfrm>
              <a:off x="1501314" y="2855480"/>
              <a:ext cx="4369340" cy="2737031"/>
            </a:xfrm>
            <a:prstGeom prst="roundRect">
              <a:avLst>
                <a:gd name="adj" fmla="val 9951"/>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38" name="矩形 37">
              <a:extLst>
                <a:ext uri="{FF2B5EF4-FFF2-40B4-BE49-F238E27FC236}">
                  <a16:creationId xmlns:a16="http://schemas.microsoft.com/office/drawing/2014/main" id="{6A8FC37A-0401-4850-A25F-840DFF40A81E}"/>
                </a:ext>
              </a:extLst>
            </p:cNvPr>
            <p:cNvSpPr/>
            <p:nvPr/>
          </p:nvSpPr>
          <p:spPr>
            <a:xfrm>
              <a:off x="1636500" y="2972912"/>
              <a:ext cx="4129486" cy="2501582"/>
            </a:xfrm>
            <a:prstGeom prst="rect">
              <a:avLst/>
            </a:prstGeom>
          </p:spPr>
          <p:txBody>
            <a:bodyPr wrap="square" anchor="ctr">
              <a:spAutoFit/>
            </a:bodyPr>
            <a:lstStyle/>
            <a:p>
              <a:pPr marL="342900" marR="0" lvl="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进行插入操作时，如果没有相应的双亲结点值就不能插入子女结点值 。</a:t>
              </a:r>
            </a:p>
            <a:p>
              <a:pPr marL="342900" marR="0" lvl="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进行删除操作时，如果删除双亲结点值，则相应的子女结点值也被同时删除。</a:t>
              </a:r>
            </a:p>
            <a:p>
              <a:pPr marL="342900" marR="0" lvl="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修改操作时，应修改所有相应的记录，以保证数据的一致性。</a:t>
              </a:r>
            </a:p>
          </p:txBody>
        </p:sp>
      </p:grpSp>
      <p:grpSp>
        <p:nvGrpSpPr>
          <p:cNvPr id="5" name="组合 4">
            <a:extLst>
              <a:ext uri="{FF2B5EF4-FFF2-40B4-BE49-F238E27FC236}">
                <a16:creationId xmlns:a16="http://schemas.microsoft.com/office/drawing/2014/main" id="{F9923871-E0F2-A305-0EFB-9C898023C7F4}"/>
              </a:ext>
            </a:extLst>
          </p:cNvPr>
          <p:cNvGrpSpPr/>
          <p:nvPr/>
        </p:nvGrpSpPr>
        <p:grpSpPr>
          <a:xfrm>
            <a:off x="481856" y="454049"/>
            <a:ext cx="5614144" cy="879946"/>
            <a:chOff x="420387" y="472101"/>
            <a:chExt cx="5614144" cy="879946"/>
          </a:xfrm>
        </p:grpSpPr>
        <p:sp>
          <p:nvSpPr>
            <p:cNvPr id="6" name="内容占位符 2">
              <a:extLst>
                <a:ext uri="{FF2B5EF4-FFF2-40B4-BE49-F238E27FC236}">
                  <a16:creationId xmlns:a16="http://schemas.microsoft.com/office/drawing/2014/main" id="{77CC5577-D022-4967-87EA-716C674A4095}"/>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7" name="KSO_Shape">
              <a:extLst>
                <a:ext uri="{FF2B5EF4-FFF2-40B4-BE49-F238E27FC236}">
                  <a16:creationId xmlns:a16="http://schemas.microsoft.com/office/drawing/2014/main" id="{572129FB-F358-8422-A67A-884E08E9646C}"/>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63228145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FC57061-9B6B-4773-BE7F-54119341FE6B}"/>
              </a:ext>
            </a:extLst>
          </p:cNvPr>
          <p:cNvSpPr/>
          <p:nvPr/>
        </p:nvSpPr>
        <p:spPr>
          <a:xfrm>
            <a:off x="535067" y="1533302"/>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）层次模型</a:t>
            </a:r>
          </a:p>
        </p:txBody>
      </p:sp>
      <p:sp>
        <p:nvSpPr>
          <p:cNvPr id="10" name="矩形 9">
            <a:extLst>
              <a:ext uri="{FF2B5EF4-FFF2-40B4-BE49-F238E27FC236}">
                <a16:creationId xmlns:a16="http://schemas.microsoft.com/office/drawing/2014/main" id="{FE91BBA1-7576-4A99-BF5B-F479D32F5C23}"/>
              </a:ext>
            </a:extLst>
          </p:cNvPr>
          <p:cNvSpPr/>
          <p:nvPr/>
        </p:nvSpPr>
        <p:spPr>
          <a:xfrm>
            <a:off x="1898369" y="2217191"/>
            <a:ext cx="5847137" cy="2160591"/>
          </a:xfrm>
          <a:prstGeom prst="rect">
            <a:avLst/>
          </a:prstGeom>
        </p:spPr>
        <p:txBody>
          <a:bodyPr wrap="square">
            <a:spAutoFit/>
          </a:bodyPr>
          <a:lstStyle/>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结构简单，层次分明 </a:t>
            </a: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查询效率高 ，从根结点到树中任一结点均存在一条唯一的层次路径</a:t>
            </a: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提供良好的数据完整性支持 </a:t>
            </a:r>
          </a:p>
        </p:txBody>
      </p:sp>
      <p:grpSp>
        <p:nvGrpSpPr>
          <p:cNvPr id="11" name="组合 10">
            <a:extLst>
              <a:ext uri="{FF2B5EF4-FFF2-40B4-BE49-F238E27FC236}">
                <a16:creationId xmlns:a16="http://schemas.microsoft.com/office/drawing/2014/main" id="{6582DEB0-2649-49D8-BB68-A641CDA70877}"/>
              </a:ext>
            </a:extLst>
          </p:cNvPr>
          <p:cNvGrpSpPr/>
          <p:nvPr/>
        </p:nvGrpSpPr>
        <p:grpSpPr>
          <a:xfrm>
            <a:off x="732140" y="2339425"/>
            <a:ext cx="860990" cy="1371498"/>
            <a:chOff x="3111378" y="3500437"/>
            <a:chExt cx="1613021" cy="1613021"/>
          </a:xfrm>
        </p:grpSpPr>
        <p:sp>
          <p:nvSpPr>
            <p:cNvPr id="12" name="Oval 42">
              <a:extLst>
                <a:ext uri="{FF2B5EF4-FFF2-40B4-BE49-F238E27FC236}">
                  <a16:creationId xmlns:a16="http://schemas.microsoft.com/office/drawing/2014/main" id="{0BB6EC07-5ED8-48CE-B032-E24D2F58E990}"/>
                </a:ext>
              </a:extLst>
            </p:cNvPr>
            <p:cNvSpPr/>
            <p:nvPr/>
          </p:nvSpPr>
          <p:spPr bwMode="auto">
            <a:xfrm>
              <a:off x="3111378" y="3500437"/>
              <a:ext cx="1613021" cy="1613021"/>
            </a:xfrm>
            <a:prstGeom prst="ellipse">
              <a:avLst/>
            </a:prstGeom>
            <a:solidFill>
              <a:srgbClr val="ED7D31"/>
            </a:solidFill>
            <a:ln w="38100">
              <a:solidFill>
                <a:schemeClr val="bg1"/>
              </a:solidFill>
            </a:ln>
            <a:effectLst>
              <a:outerShdw blurRad="63500" sx="102000" sy="1020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 name="矩形 12">
              <a:extLst>
                <a:ext uri="{FF2B5EF4-FFF2-40B4-BE49-F238E27FC236}">
                  <a16:creationId xmlns:a16="http://schemas.microsoft.com/office/drawing/2014/main" id="{A8D30C53-1995-4D3C-B5D9-D63A5BD2DB45}"/>
                </a:ext>
              </a:extLst>
            </p:cNvPr>
            <p:cNvSpPr/>
            <p:nvPr/>
          </p:nvSpPr>
          <p:spPr>
            <a:xfrm>
              <a:off x="3182235" y="3701613"/>
              <a:ext cx="1471305" cy="1184910"/>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优点</a:t>
              </a:r>
            </a:p>
          </p:txBody>
        </p:sp>
      </p:grpSp>
      <p:sp>
        <p:nvSpPr>
          <p:cNvPr id="15" name="矩形 14">
            <a:extLst>
              <a:ext uri="{FF2B5EF4-FFF2-40B4-BE49-F238E27FC236}">
                <a16:creationId xmlns:a16="http://schemas.microsoft.com/office/drawing/2014/main" id="{5F64CDBE-8198-476E-86CD-E6BD0EBFCC66}"/>
              </a:ext>
            </a:extLst>
          </p:cNvPr>
          <p:cNvSpPr/>
          <p:nvPr/>
        </p:nvSpPr>
        <p:spPr>
          <a:xfrm>
            <a:off x="5482817" y="4467235"/>
            <a:ext cx="4832631" cy="1587486"/>
          </a:xfrm>
          <a:prstGeom prst="rect">
            <a:avLst/>
          </a:prstGeom>
        </p:spPr>
        <p:txBody>
          <a:bodyPr wrap="square">
            <a:spAutoFit/>
          </a:bodyPr>
          <a:lstStyle/>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不能直接表示多对多联系</a:t>
            </a:r>
            <a:endPar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插入和删除数据限制太多</a:t>
            </a:r>
            <a:endPar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查询子女结点必须通过双亲结点 </a:t>
            </a:r>
          </a:p>
        </p:txBody>
      </p:sp>
      <p:grpSp>
        <p:nvGrpSpPr>
          <p:cNvPr id="17" name="组合 16">
            <a:extLst>
              <a:ext uri="{FF2B5EF4-FFF2-40B4-BE49-F238E27FC236}">
                <a16:creationId xmlns:a16="http://schemas.microsoft.com/office/drawing/2014/main" id="{190BA426-D616-43D6-8944-FDD5E0C87483}"/>
              </a:ext>
            </a:extLst>
          </p:cNvPr>
          <p:cNvGrpSpPr/>
          <p:nvPr/>
        </p:nvGrpSpPr>
        <p:grpSpPr>
          <a:xfrm>
            <a:off x="4306810" y="4659334"/>
            <a:ext cx="860990" cy="1371498"/>
            <a:chOff x="3111378" y="3500437"/>
            <a:chExt cx="1613021" cy="1613021"/>
          </a:xfrm>
        </p:grpSpPr>
        <p:sp>
          <p:nvSpPr>
            <p:cNvPr id="18" name="Oval 42">
              <a:extLst>
                <a:ext uri="{FF2B5EF4-FFF2-40B4-BE49-F238E27FC236}">
                  <a16:creationId xmlns:a16="http://schemas.microsoft.com/office/drawing/2014/main" id="{199E8096-9C15-4676-A267-D006464F1ABD}"/>
                </a:ext>
              </a:extLst>
            </p:cNvPr>
            <p:cNvSpPr/>
            <p:nvPr/>
          </p:nvSpPr>
          <p:spPr bwMode="auto">
            <a:xfrm>
              <a:off x="3111378" y="3500437"/>
              <a:ext cx="1613021" cy="1613021"/>
            </a:xfrm>
            <a:prstGeom prst="ellipse">
              <a:avLst/>
            </a:prstGeom>
            <a:solidFill>
              <a:schemeClr val="tx1">
                <a:lumMod val="85000"/>
                <a:lumOff val="15000"/>
              </a:schemeClr>
            </a:solidFill>
            <a:ln w="38100">
              <a:solidFill>
                <a:schemeClr val="bg1"/>
              </a:solidFill>
            </a:ln>
            <a:effectLst>
              <a:outerShdw blurRad="63500" sx="102000" sy="1020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矩形 18">
              <a:extLst>
                <a:ext uri="{FF2B5EF4-FFF2-40B4-BE49-F238E27FC236}">
                  <a16:creationId xmlns:a16="http://schemas.microsoft.com/office/drawing/2014/main" id="{0A3C1F39-CA3C-4684-9485-961264231E2F}"/>
                </a:ext>
              </a:extLst>
            </p:cNvPr>
            <p:cNvSpPr/>
            <p:nvPr/>
          </p:nvSpPr>
          <p:spPr>
            <a:xfrm>
              <a:off x="3182236" y="3805399"/>
              <a:ext cx="1471306" cy="97733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缺点</a:t>
              </a:r>
            </a:p>
          </p:txBody>
        </p:sp>
      </p:grpSp>
      <p:grpSp>
        <p:nvGrpSpPr>
          <p:cNvPr id="5" name="组合 4">
            <a:extLst>
              <a:ext uri="{FF2B5EF4-FFF2-40B4-BE49-F238E27FC236}">
                <a16:creationId xmlns:a16="http://schemas.microsoft.com/office/drawing/2014/main" id="{998881EB-5BFE-DAB2-9969-FAD49258FDB9}"/>
              </a:ext>
            </a:extLst>
          </p:cNvPr>
          <p:cNvGrpSpPr/>
          <p:nvPr/>
        </p:nvGrpSpPr>
        <p:grpSpPr>
          <a:xfrm>
            <a:off x="481856" y="454049"/>
            <a:ext cx="5614144" cy="879946"/>
            <a:chOff x="420387" y="472101"/>
            <a:chExt cx="5614144" cy="879946"/>
          </a:xfrm>
        </p:grpSpPr>
        <p:sp>
          <p:nvSpPr>
            <p:cNvPr id="6" name="内容占位符 2">
              <a:extLst>
                <a:ext uri="{FF2B5EF4-FFF2-40B4-BE49-F238E27FC236}">
                  <a16:creationId xmlns:a16="http://schemas.microsoft.com/office/drawing/2014/main" id="{31686C12-A915-391E-C268-D5424F3365AD}"/>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7" name="KSO_Shape">
              <a:extLst>
                <a:ext uri="{FF2B5EF4-FFF2-40B4-BE49-F238E27FC236}">
                  <a16:creationId xmlns:a16="http://schemas.microsoft.com/office/drawing/2014/main" id="{1037ABE5-FC1F-300B-2128-F093E1ED2371}"/>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282947461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wipe(left)">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wipe(left)">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wipe(left)">
                                      <p:cBhvr>
                                        <p:cTn id="22" dur="500"/>
                                        <p:tgtEl>
                                          <p:spTgt spid="1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randombar(horizont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wipe(left)">
                                      <p:cBhvr>
                                        <p:cTn id="32" dur="500"/>
                                        <p:tgtEl>
                                          <p:spTgt spid="1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xEl>
                                              <p:pRg st="1" end="1"/>
                                            </p:txEl>
                                          </p:spTgt>
                                        </p:tgtEl>
                                        <p:attrNameLst>
                                          <p:attrName>style.visibility</p:attrName>
                                        </p:attrNameLst>
                                      </p:cBhvr>
                                      <p:to>
                                        <p:strVal val="visible"/>
                                      </p:to>
                                    </p:set>
                                    <p:animEffect transition="in" filter="wipe(left)">
                                      <p:cBhvr>
                                        <p:cTn id="37" dur="500"/>
                                        <p:tgtEl>
                                          <p:spTgt spid="1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xEl>
                                              <p:pRg st="2" end="2"/>
                                            </p:txEl>
                                          </p:spTgt>
                                        </p:tgtEl>
                                        <p:attrNameLst>
                                          <p:attrName>style.visibility</p:attrName>
                                        </p:attrNameLst>
                                      </p:cBhvr>
                                      <p:to>
                                        <p:strVal val="visible"/>
                                      </p:to>
                                    </p:set>
                                    <p:animEffect transition="in" filter="wipe(left)">
                                      <p:cBhvr>
                                        <p:cTn id="42"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40C75-B224-8338-260E-61E889A07F63}"/>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5E84C554-A5CF-D2F5-80A2-578848DE1EB8}"/>
              </a:ext>
            </a:extLst>
          </p:cNvPr>
          <p:cNvSpPr>
            <a:spLocks noChangeAspect="1" noChangeArrowheads="1" noTextEdit="1"/>
          </p:cNvSpPr>
          <p:nvPr/>
        </p:nvSpPr>
        <p:spPr bwMode="auto">
          <a:xfrm>
            <a:off x="798369" y="838543"/>
            <a:ext cx="5392793" cy="89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Freeform 5">
            <a:extLst>
              <a:ext uri="{FF2B5EF4-FFF2-40B4-BE49-F238E27FC236}">
                <a16:creationId xmlns:a16="http://schemas.microsoft.com/office/drawing/2014/main" id="{307BE444-9B93-E686-2A38-95FA68B6D72A}"/>
              </a:ext>
            </a:extLst>
          </p:cNvPr>
          <p:cNvSpPr>
            <a:spLocks noEditPoints="1"/>
          </p:cNvSpPr>
          <p:nvPr/>
        </p:nvSpPr>
        <p:spPr bwMode="auto">
          <a:xfrm>
            <a:off x="1122582" y="976564"/>
            <a:ext cx="349100" cy="364663"/>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Freeform 6">
            <a:extLst>
              <a:ext uri="{FF2B5EF4-FFF2-40B4-BE49-F238E27FC236}">
                <a16:creationId xmlns:a16="http://schemas.microsoft.com/office/drawing/2014/main" id="{25E79006-87BE-2DA9-BD63-61F1CEC7A77F}"/>
              </a:ext>
            </a:extLst>
          </p:cNvPr>
          <p:cNvSpPr>
            <a:spLocks noEditPoints="1"/>
          </p:cNvSpPr>
          <p:nvPr/>
        </p:nvSpPr>
        <p:spPr bwMode="auto">
          <a:xfrm>
            <a:off x="983711" y="836754"/>
            <a:ext cx="3659998" cy="643383"/>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 name="矩形 4">
            <a:extLst>
              <a:ext uri="{FF2B5EF4-FFF2-40B4-BE49-F238E27FC236}">
                <a16:creationId xmlns:a16="http://schemas.microsoft.com/office/drawing/2014/main" id="{08166B2E-A5C9-CF06-E5AA-92083C038B3B}"/>
              </a:ext>
            </a:extLst>
          </p:cNvPr>
          <p:cNvSpPr/>
          <p:nvPr/>
        </p:nvSpPr>
        <p:spPr>
          <a:xfrm>
            <a:off x="2412124" y="858276"/>
            <a:ext cx="1348021" cy="499432"/>
          </a:xfrm>
          <a:prstGeom prst="rect">
            <a:avLst/>
          </a:prstGeom>
        </p:spPr>
        <p:txBody>
          <a:bodyPr wrap="square">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练一练</a:t>
            </a:r>
          </a:p>
        </p:txBody>
      </p:sp>
      <p:sp>
        <p:nvSpPr>
          <p:cNvPr id="9" name="矩形 8">
            <a:extLst>
              <a:ext uri="{FF2B5EF4-FFF2-40B4-BE49-F238E27FC236}">
                <a16:creationId xmlns:a16="http://schemas.microsoft.com/office/drawing/2014/main" id="{88227128-0839-5F1B-B035-16C4BB1462D0}"/>
              </a:ext>
            </a:extLst>
          </p:cNvPr>
          <p:cNvSpPr/>
          <p:nvPr/>
        </p:nvSpPr>
        <p:spPr>
          <a:xfrm>
            <a:off x="798369" y="1737341"/>
            <a:ext cx="9632710" cy="2196883"/>
          </a:xfrm>
          <a:prstGeom prst="rect">
            <a:avLst/>
          </a:prstGeom>
        </p:spPr>
        <p:txBody>
          <a:bodyPr wrap="square">
            <a:spAutoFit/>
          </a:bodyPr>
          <a:lstStyle/>
          <a:p>
            <a:pPr marL="0" marR="0" lvl="0" indent="0" defTabSz="914400" rtl="0" eaLnBrk="1" fontAlgn="auto" latinLnBrk="0" hangingPunct="1">
              <a:lnSpc>
                <a:spcPct val="200000"/>
              </a:lnSpc>
              <a:spcBef>
                <a:spcPts val="0"/>
              </a:spcBef>
              <a:spcAft>
                <a:spcPts val="0"/>
              </a:spcAft>
              <a:buClrTx/>
              <a:buSzTx/>
              <a:buFontTx/>
              <a:buNone/>
              <a:tabLst/>
              <a:defRPr/>
            </a:pPr>
            <a:r>
              <a:rPr lang="zh-CN" altLang="en-US" sz="2400" b="1" noProof="0" dirty="0">
                <a:solidFill>
                  <a:prstClr val="black">
                    <a:lumMod val="85000"/>
                    <a:lumOff val="15000"/>
                  </a:prstClr>
                </a:solidFill>
                <a:latin typeface="微软雅黑"/>
                <a:ea typeface="微软雅黑"/>
              </a:rPr>
              <a:t>      </a:t>
            </a:r>
            <a:r>
              <a:rPr lang="en-US" altLang="zh-CN" sz="2400" b="1" noProof="0" dirty="0">
                <a:solidFill>
                  <a:prstClr val="black">
                    <a:lumMod val="85000"/>
                    <a:lumOff val="15000"/>
                  </a:prstClr>
                </a:solidFill>
                <a:latin typeface="微软雅黑"/>
                <a:ea typeface="微软雅黑"/>
              </a:rPr>
              <a:t>1</a:t>
            </a:r>
            <a:r>
              <a:rPr lang="zh-CN" altLang="en-US" sz="2400" b="1" noProof="0" dirty="0">
                <a:solidFill>
                  <a:prstClr val="black">
                    <a:lumMod val="85000"/>
                    <a:lumOff val="15000"/>
                  </a:prstClr>
                </a:solidFill>
                <a:latin typeface="微软雅黑"/>
                <a:ea typeface="微软雅黑"/>
              </a:rPr>
              <a:t>、用树形结构表示实体之间联系的模型是（      ）</a:t>
            </a:r>
            <a:endParaRPr lang="en-US" altLang="zh-CN" sz="2400" b="1" dirty="0">
              <a:solidFill>
                <a:prstClr val="black">
                  <a:lumMod val="85000"/>
                  <a:lumOff val="15000"/>
                </a:prstClr>
              </a:solidFill>
              <a:latin typeface="微软雅黑"/>
              <a:ea typeface="微软雅黑"/>
            </a:endParaRPr>
          </a:p>
          <a:p>
            <a:pPr marL="0" marR="0" lvl="0" indent="0" defTabSz="914400" rtl="0" eaLnBrk="1" fontAlgn="auto" latinLnBrk="0" hangingPunct="1">
              <a:lnSpc>
                <a:spcPct val="200000"/>
              </a:lnSpc>
              <a:spcBef>
                <a:spcPts val="0"/>
              </a:spcBef>
              <a:spcAft>
                <a:spcPts val="0"/>
              </a:spcAft>
              <a:buClrTx/>
              <a:buSzTx/>
              <a:buFontTx/>
              <a:buNone/>
              <a:tabLst/>
              <a:defRPr/>
            </a:pPr>
            <a:r>
              <a:rPr lang="en-US" altLang="zh-CN" sz="2400" b="1" noProof="0" dirty="0">
                <a:solidFill>
                  <a:prstClr val="black">
                    <a:lumMod val="85000"/>
                    <a:lumOff val="15000"/>
                  </a:prstClr>
                </a:solidFill>
                <a:latin typeface="微软雅黑"/>
                <a:ea typeface="微软雅黑"/>
              </a:rPr>
              <a:t>             A  </a:t>
            </a:r>
            <a:r>
              <a:rPr lang="zh-CN" altLang="en-US" sz="2400" b="1" noProof="0" dirty="0">
                <a:solidFill>
                  <a:prstClr val="black">
                    <a:lumMod val="85000"/>
                    <a:lumOff val="15000"/>
                  </a:prstClr>
                </a:solidFill>
                <a:latin typeface="微软雅黑"/>
                <a:ea typeface="微软雅黑"/>
              </a:rPr>
              <a:t>关系模型       </a:t>
            </a:r>
            <a:r>
              <a:rPr lang="en-US" altLang="zh-CN" sz="2400" b="1" noProof="0" dirty="0">
                <a:solidFill>
                  <a:prstClr val="black">
                    <a:lumMod val="85000"/>
                    <a:lumOff val="15000"/>
                  </a:prstClr>
                </a:solidFill>
                <a:latin typeface="微软雅黑"/>
                <a:ea typeface="微软雅黑"/>
              </a:rPr>
              <a:t>B </a:t>
            </a:r>
            <a:r>
              <a:rPr lang="zh-CN" altLang="en-US" sz="2400" b="1" noProof="0" dirty="0">
                <a:solidFill>
                  <a:prstClr val="black">
                    <a:lumMod val="85000"/>
                    <a:lumOff val="15000"/>
                  </a:prstClr>
                </a:solidFill>
                <a:latin typeface="微软雅黑"/>
                <a:ea typeface="微软雅黑"/>
              </a:rPr>
              <a:t>网状模型 </a:t>
            </a:r>
            <a:endParaRPr lang="en-US" altLang="zh-CN" sz="2400" b="1" noProof="0" dirty="0">
              <a:solidFill>
                <a:prstClr val="black">
                  <a:lumMod val="85000"/>
                  <a:lumOff val="15000"/>
                </a:prstClr>
              </a:solidFill>
              <a:latin typeface="微软雅黑"/>
              <a:ea typeface="微软雅黑"/>
            </a:endParaRPr>
          </a:p>
          <a:p>
            <a:pPr marL="0" marR="0" lvl="0" indent="0" defTabSz="914400" rtl="0" eaLnBrk="1" fontAlgn="auto" latinLnBrk="0" hangingPunct="1">
              <a:lnSpc>
                <a:spcPct val="200000"/>
              </a:lnSpc>
              <a:spcBef>
                <a:spcPts val="0"/>
              </a:spcBef>
              <a:spcAft>
                <a:spcPts val="0"/>
              </a:spcAft>
              <a:buClrTx/>
              <a:buSzTx/>
              <a:buFontTx/>
              <a:buNone/>
              <a:tabLst/>
              <a:defRPr/>
            </a:pPr>
            <a:r>
              <a:rPr lang="en-US" altLang="zh-CN" sz="2400" b="1" dirty="0">
                <a:solidFill>
                  <a:prstClr val="black">
                    <a:lumMod val="85000"/>
                    <a:lumOff val="15000"/>
                  </a:prstClr>
                </a:solidFill>
                <a:latin typeface="微软雅黑"/>
                <a:ea typeface="微软雅黑"/>
              </a:rPr>
              <a:t>           </a:t>
            </a:r>
            <a:r>
              <a:rPr lang="zh-CN" altLang="en-US" sz="2400" b="1" noProof="0" dirty="0">
                <a:solidFill>
                  <a:prstClr val="black">
                    <a:lumMod val="85000"/>
                    <a:lumOff val="15000"/>
                  </a:prstClr>
                </a:solidFill>
                <a:latin typeface="微软雅黑"/>
                <a:ea typeface="微软雅黑"/>
              </a:rPr>
              <a:t>  </a:t>
            </a:r>
            <a:r>
              <a:rPr lang="en-US" altLang="zh-CN" sz="2400" b="1" noProof="0" dirty="0">
                <a:solidFill>
                  <a:prstClr val="black">
                    <a:lumMod val="85000"/>
                    <a:lumOff val="15000"/>
                  </a:prstClr>
                </a:solidFill>
                <a:latin typeface="微软雅黑"/>
                <a:ea typeface="微软雅黑"/>
              </a:rPr>
              <a:t>C  </a:t>
            </a:r>
            <a:r>
              <a:rPr lang="zh-CN" altLang="en-US" sz="2400" b="1" noProof="0" dirty="0">
                <a:solidFill>
                  <a:prstClr val="black">
                    <a:lumMod val="85000"/>
                    <a:lumOff val="15000"/>
                  </a:prstClr>
                </a:solidFill>
                <a:latin typeface="微软雅黑"/>
                <a:ea typeface="微软雅黑"/>
              </a:rPr>
              <a:t>层次模型       </a:t>
            </a:r>
            <a:r>
              <a:rPr lang="en-US" altLang="zh-CN" sz="2400" b="1" noProof="0" dirty="0">
                <a:solidFill>
                  <a:prstClr val="black">
                    <a:lumMod val="85000"/>
                    <a:lumOff val="15000"/>
                  </a:prstClr>
                </a:solidFill>
                <a:latin typeface="微软雅黑"/>
                <a:ea typeface="微软雅黑"/>
              </a:rPr>
              <a:t>D  </a:t>
            </a:r>
            <a:r>
              <a:rPr lang="zh-CN" altLang="en-US" sz="2400" b="1" noProof="0" dirty="0">
                <a:solidFill>
                  <a:prstClr val="black">
                    <a:lumMod val="85000"/>
                    <a:lumOff val="15000"/>
                  </a:prstClr>
                </a:solidFill>
                <a:latin typeface="微软雅黑"/>
                <a:ea typeface="微软雅黑"/>
              </a:rPr>
              <a:t>以上三个都是</a:t>
            </a:r>
            <a:endParaRPr lang="en-US" altLang="zh-CN" sz="2400" b="1" noProof="0" dirty="0">
              <a:solidFill>
                <a:prstClr val="black">
                  <a:lumMod val="85000"/>
                  <a:lumOff val="15000"/>
                </a:prstClr>
              </a:solidFill>
              <a:latin typeface="微软雅黑"/>
              <a:ea typeface="微软雅黑"/>
            </a:endParaRPr>
          </a:p>
        </p:txBody>
      </p:sp>
      <p:sp>
        <p:nvSpPr>
          <p:cNvPr id="10" name="文本框 9">
            <a:extLst>
              <a:ext uri="{FF2B5EF4-FFF2-40B4-BE49-F238E27FC236}">
                <a16:creationId xmlns:a16="http://schemas.microsoft.com/office/drawing/2014/main" id="{0D930694-93D0-7C0B-BC04-BAF2BDFA7E13}"/>
              </a:ext>
            </a:extLst>
          </p:cNvPr>
          <p:cNvSpPr txBox="1"/>
          <p:nvPr/>
        </p:nvSpPr>
        <p:spPr>
          <a:xfrm>
            <a:off x="7437542" y="2019795"/>
            <a:ext cx="536026" cy="400110"/>
          </a:xfrm>
          <a:prstGeom prst="rect">
            <a:avLst/>
          </a:prstGeom>
          <a:noFill/>
        </p:spPr>
        <p:txBody>
          <a:bodyPr wrap="square">
            <a:spAutoFit/>
          </a:bodyPr>
          <a:lstStyle/>
          <a:p>
            <a:r>
              <a:rPr lang="en-US" altLang="zh-CN" sz="2000" b="1" dirty="0">
                <a:solidFill>
                  <a:srgbClr val="FF0000"/>
                </a:solidFill>
              </a:rPr>
              <a:t>C</a:t>
            </a:r>
            <a:endParaRPr lang="zh-CN" altLang="en-US" sz="2000" b="1" dirty="0">
              <a:solidFill>
                <a:srgbClr val="FF0000"/>
              </a:solidFill>
            </a:endParaRPr>
          </a:p>
        </p:txBody>
      </p:sp>
    </p:spTree>
    <p:extLst>
      <p:ext uri="{BB962C8B-B14F-4D97-AF65-F5344CB8AC3E}">
        <p14:creationId xmlns:p14="http://schemas.microsoft.com/office/powerpoint/2010/main" val="6797651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E2D75-0AE1-3D86-B712-BFE59616DC86}"/>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A3D020AC-4996-A8AE-5975-8C66E3637091}"/>
              </a:ext>
            </a:extLst>
          </p:cNvPr>
          <p:cNvSpPr>
            <a:spLocks noChangeAspect="1" noChangeArrowheads="1" noTextEdit="1"/>
          </p:cNvSpPr>
          <p:nvPr/>
        </p:nvSpPr>
        <p:spPr bwMode="auto">
          <a:xfrm>
            <a:off x="953817" y="975703"/>
            <a:ext cx="5392793" cy="89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Freeform 5">
            <a:extLst>
              <a:ext uri="{FF2B5EF4-FFF2-40B4-BE49-F238E27FC236}">
                <a16:creationId xmlns:a16="http://schemas.microsoft.com/office/drawing/2014/main" id="{C998E5CA-D510-4C40-63FB-25DCDBA925A2}"/>
              </a:ext>
            </a:extLst>
          </p:cNvPr>
          <p:cNvSpPr>
            <a:spLocks noEditPoints="1"/>
          </p:cNvSpPr>
          <p:nvPr/>
        </p:nvSpPr>
        <p:spPr bwMode="auto">
          <a:xfrm>
            <a:off x="1278030" y="1113724"/>
            <a:ext cx="349100" cy="364663"/>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Freeform 6">
            <a:extLst>
              <a:ext uri="{FF2B5EF4-FFF2-40B4-BE49-F238E27FC236}">
                <a16:creationId xmlns:a16="http://schemas.microsoft.com/office/drawing/2014/main" id="{5AC3ED38-CA64-5DF2-0217-CF115CDF9FC5}"/>
              </a:ext>
            </a:extLst>
          </p:cNvPr>
          <p:cNvSpPr>
            <a:spLocks noEditPoints="1"/>
          </p:cNvSpPr>
          <p:nvPr/>
        </p:nvSpPr>
        <p:spPr bwMode="auto">
          <a:xfrm>
            <a:off x="1139159" y="973914"/>
            <a:ext cx="3659998" cy="643383"/>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 name="矩形 4">
            <a:extLst>
              <a:ext uri="{FF2B5EF4-FFF2-40B4-BE49-F238E27FC236}">
                <a16:creationId xmlns:a16="http://schemas.microsoft.com/office/drawing/2014/main" id="{890C9A77-DB42-B370-2358-CA26E364FAAB}"/>
              </a:ext>
            </a:extLst>
          </p:cNvPr>
          <p:cNvSpPr/>
          <p:nvPr/>
        </p:nvSpPr>
        <p:spPr>
          <a:xfrm>
            <a:off x="2567572" y="995436"/>
            <a:ext cx="1348021" cy="499432"/>
          </a:xfrm>
          <a:prstGeom prst="rect">
            <a:avLst/>
          </a:prstGeom>
        </p:spPr>
        <p:txBody>
          <a:bodyPr wrap="square">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练一练</a:t>
            </a:r>
          </a:p>
        </p:txBody>
      </p:sp>
      <p:sp>
        <p:nvSpPr>
          <p:cNvPr id="9" name="矩形 8">
            <a:extLst>
              <a:ext uri="{FF2B5EF4-FFF2-40B4-BE49-F238E27FC236}">
                <a16:creationId xmlns:a16="http://schemas.microsoft.com/office/drawing/2014/main" id="{8E81A695-A964-7910-F2C7-2B7A91B05577}"/>
              </a:ext>
            </a:extLst>
          </p:cNvPr>
          <p:cNvSpPr/>
          <p:nvPr/>
        </p:nvSpPr>
        <p:spPr>
          <a:xfrm>
            <a:off x="953817" y="1874501"/>
            <a:ext cx="9632710" cy="2196883"/>
          </a:xfrm>
          <a:prstGeom prst="rect">
            <a:avLst/>
          </a:prstGeom>
        </p:spPr>
        <p:txBody>
          <a:bodyPr wrap="square">
            <a:spAutoFit/>
          </a:bodyPr>
          <a:lstStyle/>
          <a:p>
            <a:pPr marL="0" marR="0" lvl="0" indent="0" defTabSz="914400" rtl="0" eaLnBrk="1" fontAlgn="auto" latinLnBrk="0" hangingPunct="1">
              <a:lnSpc>
                <a:spcPct val="200000"/>
              </a:lnSpc>
              <a:spcBef>
                <a:spcPts val="0"/>
              </a:spcBef>
              <a:spcAft>
                <a:spcPts val="0"/>
              </a:spcAft>
              <a:buClrTx/>
              <a:buSzTx/>
              <a:buFontTx/>
              <a:buNone/>
              <a:tabLst/>
              <a:defRPr/>
            </a:pPr>
            <a:r>
              <a:rPr lang="zh-CN" altLang="en-US" sz="2400" b="1" noProof="0" dirty="0">
                <a:solidFill>
                  <a:prstClr val="black">
                    <a:lumMod val="85000"/>
                    <a:lumOff val="15000"/>
                  </a:prstClr>
                </a:solidFill>
                <a:latin typeface="微软雅黑"/>
                <a:ea typeface="微软雅黑"/>
              </a:rPr>
              <a:t>      </a:t>
            </a:r>
            <a:r>
              <a:rPr lang="en-US" altLang="zh-CN" sz="2400" b="1" noProof="0" dirty="0">
                <a:solidFill>
                  <a:prstClr val="black">
                    <a:lumMod val="85000"/>
                    <a:lumOff val="15000"/>
                  </a:prstClr>
                </a:solidFill>
                <a:latin typeface="微软雅黑"/>
                <a:ea typeface="微软雅黑"/>
              </a:rPr>
              <a:t>2</a:t>
            </a:r>
            <a:r>
              <a:rPr lang="zh-CN" altLang="en-US" sz="2400" b="1" noProof="0" dirty="0">
                <a:solidFill>
                  <a:prstClr val="black">
                    <a:lumMod val="85000"/>
                    <a:lumOff val="15000"/>
                  </a:prstClr>
                </a:solidFill>
                <a:latin typeface="微软雅黑"/>
                <a:ea typeface="微软雅黑"/>
              </a:rPr>
              <a:t>、层次模型不能直接表示（      ）</a:t>
            </a:r>
            <a:endParaRPr lang="en-US" altLang="zh-CN" sz="2400" b="1" dirty="0">
              <a:solidFill>
                <a:prstClr val="black">
                  <a:lumMod val="85000"/>
                  <a:lumOff val="15000"/>
                </a:prstClr>
              </a:solidFill>
              <a:latin typeface="微软雅黑"/>
              <a:ea typeface="微软雅黑"/>
            </a:endParaRPr>
          </a:p>
          <a:p>
            <a:pPr marL="0" marR="0" lvl="0" indent="0" defTabSz="914400" rtl="0" eaLnBrk="1" fontAlgn="auto" latinLnBrk="0" hangingPunct="1">
              <a:lnSpc>
                <a:spcPct val="200000"/>
              </a:lnSpc>
              <a:spcBef>
                <a:spcPts val="0"/>
              </a:spcBef>
              <a:spcAft>
                <a:spcPts val="0"/>
              </a:spcAft>
              <a:buClrTx/>
              <a:buSzTx/>
              <a:buFontTx/>
              <a:buNone/>
              <a:tabLst/>
              <a:defRPr/>
            </a:pPr>
            <a:r>
              <a:rPr lang="en-US" altLang="zh-CN" sz="2400" b="1" noProof="0" dirty="0">
                <a:solidFill>
                  <a:prstClr val="black">
                    <a:lumMod val="85000"/>
                    <a:lumOff val="15000"/>
                  </a:prstClr>
                </a:solidFill>
                <a:latin typeface="微软雅黑"/>
                <a:ea typeface="微软雅黑"/>
              </a:rPr>
              <a:t>             A  1</a:t>
            </a:r>
            <a:r>
              <a:rPr lang="zh-CN" altLang="en-US" sz="2400" b="1" noProof="0" dirty="0">
                <a:solidFill>
                  <a:prstClr val="black">
                    <a:lumMod val="85000"/>
                    <a:lumOff val="15000"/>
                  </a:prstClr>
                </a:solidFill>
                <a:latin typeface="微软雅黑"/>
                <a:ea typeface="微软雅黑"/>
              </a:rPr>
              <a:t>：</a:t>
            </a:r>
            <a:r>
              <a:rPr lang="en-US" altLang="zh-CN" sz="2400" b="1" noProof="0" dirty="0">
                <a:solidFill>
                  <a:prstClr val="black">
                    <a:lumMod val="85000"/>
                    <a:lumOff val="15000"/>
                  </a:prstClr>
                </a:solidFill>
                <a:latin typeface="微软雅黑"/>
                <a:ea typeface="微软雅黑"/>
              </a:rPr>
              <a:t>1</a:t>
            </a:r>
            <a:r>
              <a:rPr lang="zh-CN" altLang="en-US" sz="2400" b="1" noProof="0" dirty="0">
                <a:solidFill>
                  <a:prstClr val="black">
                    <a:lumMod val="85000"/>
                    <a:lumOff val="15000"/>
                  </a:prstClr>
                </a:solidFill>
                <a:latin typeface="微软雅黑"/>
                <a:ea typeface="微软雅黑"/>
              </a:rPr>
              <a:t>联系       </a:t>
            </a:r>
            <a:r>
              <a:rPr lang="en-US" altLang="zh-CN" sz="2400" b="1" noProof="0" dirty="0">
                <a:solidFill>
                  <a:prstClr val="black">
                    <a:lumMod val="85000"/>
                    <a:lumOff val="15000"/>
                  </a:prstClr>
                </a:solidFill>
                <a:latin typeface="微软雅黑"/>
                <a:ea typeface="微软雅黑"/>
              </a:rPr>
              <a:t>B </a:t>
            </a:r>
            <a:r>
              <a:rPr lang="en-US" altLang="zh-CN" sz="2400" b="1" dirty="0">
                <a:solidFill>
                  <a:prstClr val="black">
                    <a:lumMod val="85000"/>
                    <a:lumOff val="15000"/>
                  </a:prstClr>
                </a:solidFill>
                <a:latin typeface="微软雅黑"/>
                <a:ea typeface="微软雅黑"/>
              </a:rPr>
              <a:t>1</a:t>
            </a:r>
            <a:r>
              <a:rPr lang="zh-CN" altLang="en-US" sz="2400" b="1" dirty="0">
                <a:solidFill>
                  <a:prstClr val="black">
                    <a:lumMod val="85000"/>
                    <a:lumOff val="15000"/>
                  </a:prstClr>
                </a:solidFill>
                <a:latin typeface="微软雅黑"/>
                <a:ea typeface="微软雅黑"/>
              </a:rPr>
              <a:t>：</a:t>
            </a:r>
            <a:r>
              <a:rPr lang="en-US" altLang="zh-CN" sz="2400" b="1" dirty="0">
                <a:solidFill>
                  <a:prstClr val="black">
                    <a:lumMod val="85000"/>
                    <a:lumOff val="15000"/>
                  </a:prstClr>
                </a:solidFill>
                <a:latin typeface="微软雅黑"/>
                <a:ea typeface="微软雅黑"/>
              </a:rPr>
              <a:t>n</a:t>
            </a:r>
            <a:r>
              <a:rPr lang="zh-CN" altLang="en-US" sz="2400" b="1" dirty="0">
                <a:solidFill>
                  <a:prstClr val="black">
                    <a:lumMod val="85000"/>
                    <a:lumOff val="15000"/>
                  </a:prstClr>
                </a:solidFill>
                <a:latin typeface="微软雅黑"/>
                <a:ea typeface="微软雅黑"/>
              </a:rPr>
              <a:t>联系</a:t>
            </a:r>
            <a:r>
              <a:rPr lang="zh-CN" altLang="en-US" sz="2400" b="1" noProof="0" dirty="0">
                <a:solidFill>
                  <a:prstClr val="black">
                    <a:lumMod val="85000"/>
                    <a:lumOff val="15000"/>
                  </a:prstClr>
                </a:solidFill>
                <a:latin typeface="微软雅黑"/>
                <a:ea typeface="微软雅黑"/>
              </a:rPr>
              <a:t> </a:t>
            </a:r>
            <a:endParaRPr lang="en-US" altLang="zh-CN" sz="2400" b="1" noProof="0" dirty="0">
              <a:solidFill>
                <a:prstClr val="black">
                  <a:lumMod val="85000"/>
                  <a:lumOff val="15000"/>
                </a:prstClr>
              </a:solidFill>
              <a:latin typeface="微软雅黑"/>
              <a:ea typeface="微软雅黑"/>
            </a:endParaRPr>
          </a:p>
          <a:p>
            <a:pPr lvl="0">
              <a:lnSpc>
                <a:spcPct val="200000"/>
              </a:lnSpc>
              <a:defRPr/>
            </a:pPr>
            <a:r>
              <a:rPr lang="en-US" altLang="zh-CN" sz="2400" b="1" dirty="0">
                <a:solidFill>
                  <a:prstClr val="black">
                    <a:lumMod val="85000"/>
                    <a:lumOff val="15000"/>
                  </a:prstClr>
                </a:solidFill>
                <a:latin typeface="微软雅黑"/>
                <a:ea typeface="微软雅黑"/>
              </a:rPr>
              <a:t>           </a:t>
            </a:r>
            <a:r>
              <a:rPr lang="zh-CN" altLang="en-US" sz="2400" b="1" noProof="0" dirty="0">
                <a:solidFill>
                  <a:prstClr val="black">
                    <a:lumMod val="85000"/>
                    <a:lumOff val="15000"/>
                  </a:prstClr>
                </a:solidFill>
                <a:latin typeface="微软雅黑"/>
                <a:ea typeface="微软雅黑"/>
              </a:rPr>
              <a:t>  </a:t>
            </a:r>
            <a:r>
              <a:rPr lang="en-US" altLang="zh-CN" sz="2400" b="1" noProof="0" dirty="0">
                <a:solidFill>
                  <a:prstClr val="black">
                    <a:lumMod val="85000"/>
                    <a:lumOff val="15000"/>
                  </a:prstClr>
                </a:solidFill>
                <a:latin typeface="微软雅黑"/>
                <a:ea typeface="微软雅黑"/>
              </a:rPr>
              <a:t>C  </a:t>
            </a:r>
            <a:r>
              <a:rPr lang="en-US" altLang="zh-CN" sz="2400" b="1" dirty="0">
                <a:solidFill>
                  <a:prstClr val="black">
                    <a:lumMod val="85000"/>
                    <a:lumOff val="15000"/>
                  </a:prstClr>
                </a:solidFill>
                <a:latin typeface="微软雅黑"/>
                <a:ea typeface="微软雅黑"/>
              </a:rPr>
              <a:t>m:n </a:t>
            </a:r>
            <a:r>
              <a:rPr lang="zh-CN" altLang="en-US" sz="2400" b="1" dirty="0">
                <a:solidFill>
                  <a:prstClr val="black">
                    <a:lumMod val="85000"/>
                    <a:lumOff val="15000"/>
                  </a:prstClr>
                </a:solidFill>
                <a:latin typeface="微软雅黑"/>
                <a:ea typeface="微软雅黑"/>
              </a:rPr>
              <a:t>联系</a:t>
            </a:r>
            <a:r>
              <a:rPr lang="zh-CN" altLang="en-US" sz="2400" b="1" noProof="0" dirty="0">
                <a:solidFill>
                  <a:prstClr val="black">
                    <a:lumMod val="85000"/>
                    <a:lumOff val="15000"/>
                  </a:prstClr>
                </a:solidFill>
                <a:latin typeface="微软雅黑"/>
                <a:ea typeface="微软雅黑"/>
              </a:rPr>
              <a:t>       </a:t>
            </a:r>
            <a:r>
              <a:rPr lang="en-US" altLang="zh-CN" sz="2400" b="1" dirty="0">
                <a:solidFill>
                  <a:prstClr val="black">
                    <a:lumMod val="85000"/>
                    <a:lumOff val="15000"/>
                  </a:prstClr>
                </a:solidFill>
                <a:latin typeface="微软雅黑"/>
                <a:ea typeface="微软雅黑"/>
              </a:rPr>
              <a:t>D 1</a:t>
            </a:r>
            <a:r>
              <a:rPr lang="zh-CN" altLang="en-US" sz="2400" b="1" dirty="0">
                <a:solidFill>
                  <a:prstClr val="black">
                    <a:lumMod val="85000"/>
                    <a:lumOff val="15000"/>
                  </a:prstClr>
                </a:solidFill>
                <a:latin typeface="微软雅黑"/>
                <a:ea typeface="微软雅黑"/>
              </a:rPr>
              <a:t>：</a:t>
            </a:r>
            <a:r>
              <a:rPr lang="en-US" altLang="zh-CN" sz="2400" b="1" dirty="0">
                <a:solidFill>
                  <a:prstClr val="black">
                    <a:lumMod val="85000"/>
                    <a:lumOff val="15000"/>
                  </a:prstClr>
                </a:solidFill>
                <a:latin typeface="微软雅黑"/>
                <a:ea typeface="微软雅黑"/>
              </a:rPr>
              <a:t>1</a:t>
            </a:r>
            <a:r>
              <a:rPr lang="zh-CN" altLang="en-US" sz="2400" b="1" dirty="0">
                <a:solidFill>
                  <a:prstClr val="black">
                    <a:lumMod val="85000"/>
                    <a:lumOff val="15000"/>
                  </a:prstClr>
                </a:solidFill>
                <a:latin typeface="微软雅黑"/>
                <a:ea typeface="微软雅黑"/>
              </a:rPr>
              <a:t>联系和</a:t>
            </a:r>
            <a:r>
              <a:rPr lang="en-US" altLang="zh-CN" sz="2400" b="1" dirty="0">
                <a:solidFill>
                  <a:prstClr val="black">
                    <a:lumMod val="85000"/>
                    <a:lumOff val="15000"/>
                  </a:prstClr>
                </a:solidFill>
                <a:latin typeface="微软雅黑"/>
                <a:ea typeface="微软雅黑"/>
              </a:rPr>
              <a:t>1</a:t>
            </a:r>
            <a:r>
              <a:rPr lang="zh-CN" altLang="en-US" sz="2400" b="1" dirty="0">
                <a:solidFill>
                  <a:prstClr val="black">
                    <a:lumMod val="85000"/>
                    <a:lumOff val="15000"/>
                  </a:prstClr>
                </a:solidFill>
                <a:latin typeface="微软雅黑"/>
                <a:ea typeface="微软雅黑"/>
              </a:rPr>
              <a:t>：</a:t>
            </a:r>
            <a:r>
              <a:rPr lang="en-US" altLang="zh-CN" sz="2400" b="1" dirty="0">
                <a:solidFill>
                  <a:prstClr val="black">
                    <a:lumMod val="85000"/>
                    <a:lumOff val="15000"/>
                  </a:prstClr>
                </a:solidFill>
                <a:latin typeface="微软雅黑"/>
                <a:ea typeface="微软雅黑"/>
              </a:rPr>
              <a:t>n</a:t>
            </a:r>
            <a:r>
              <a:rPr lang="zh-CN" altLang="en-US" sz="2400" b="1" dirty="0">
                <a:solidFill>
                  <a:prstClr val="black">
                    <a:lumMod val="85000"/>
                    <a:lumOff val="15000"/>
                  </a:prstClr>
                </a:solidFill>
                <a:latin typeface="微软雅黑"/>
                <a:ea typeface="微软雅黑"/>
              </a:rPr>
              <a:t>联系 </a:t>
            </a:r>
            <a:endParaRPr lang="en-US" altLang="zh-CN" sz="2400" b="1" noProof="0" dirty="0">
              <a:solidFill>
                <a:prstClr val="black">
                  <a:lumMod val="85000"/>
                  <a:lumOff val="15000"/>
                </a:prstClr>
              </a:solidFill>
              <a:latin typeface="微软雅黑"/>
              <a:ea typeface="微软雅黑"/>
            </a:endParaRPr>
          </a:p>
        </p:txBody>
      </p:sp>
      <p:sp>
        <p:nvSpPr>
          <p:cNvPr id="10" name="文本框 9">
            <a:extLst>
              <a:ext uri="{FF2B5EF4-FFF2-40B4-BE49-F238E27FC236}">
                <a16:creationId xmlns:a16="http://schemas.microsoft.com/office/drawing/2014/main" id="{C31007F4-709F-637D-4873-D6F0244F9357}"/>
              </a:ext>
            </a:extLst>
          </p:cNvPr>
          <p:cNvSpPr txBox="1"/>
          <p:nvPr/>
        </p:nvSpPr>
        <p:spPr>
          <a:xfrm>
            <a:off x="5535379" y="2158572"/>
            <a:ext cx="536026" cy="400110"/>
          </a:xfrm>
          <a:prstGeom prst="rect">
            <a:avLst/>
          </a:prstGeom>
          <a:noFill/>
        </p:spPr>
        <p:txBody>
          <a:bodyPr wrap="square">
            <a:spAutoFit/>
          </a:bodyPr>
          <a:lstStyle/>
          <a:p>
            <a:r>
              <a:rPr lang="en-US" altLang="zh-CN" sz="2000" b="1" dirty="0">
                <a:solidFill>
                  <a:srgbClr val="FF0000"/>
                </a:solidFill>
              </a:rPr>
              <a:t>C</a:t>
            </a:r>
            <a:endParaRPr lang="zh-CN" altLang="en-US" sz="2000" b="1" dirty="0">
              <a:solidFill>
                <a:srgbClr val="FF0000"/>
              </a:solidFill>
            </a:endParaRPr>
          </a:p>
        </p:txBody>
      </p:sp>
    </p:spTree>
    <p:extLst>
      <p:ext uri="{BB962C8B-B14F-4D97-AF65-F5344CB8AC3E}">
        <p14:creationId xmlns:p14="http://schemas.microsoft.com/office/powerpoint/2010/main" val="7101643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6238E-6B22-3375-3630-FD48CAB50FF0}"/>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F1ADABFE-00FA-622B-0D4A-1AFA841A79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62509"/>
            <a:ext cx="6406547" cy="2880933"/>
          </a:xfrm>
          <a:prstGeom prst="rect">
            <a:avLst/>
          </a:prstGeom>
        </p:spPr>
      </p:pic>
      <p:sp>
        <p:nvSpPr>
          <p:cNvPr id="31" name="矩形 69">
            <a:extLst>
              <a:ext uri="{FF2B5EF4-FFF2-40B4-BE49-F238E27FC236}">
                <a16:creationId xmlns:a16="http://schemas.microsoft.com/office/drawing/2014/main" id="{5F8AF691-F8E1-A780-1EEF-F984A15C2C78}"/>
              </a:ext>
            </a:extLst>
          </p:cNvPr>
          <p:cNvSpPr>
            <a:spLocks noChangeArrowheads="1"/>
          </p:cNvSpPr>
          <p:nvPr/>
        </p:nvSpPr>
        <p:spPr bwMode="auto">
          <a:xfrm>
            <a:off x="3312213" y="1473664"/>
            <a:ext cx="8957610" cy="152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defTabSz="1179669"/>
            <a:r>
              <a:rPr lang="en-US" altLang="zh-CN" sz="6000" b="1" dirty="0">
                <a:solidFill>
                  <a:srgbClr val="FC6E5B"/>
                </a:solidFill>
                <a:latin typeface="方正卡通简体" panose="03000509000000000000" pitchFamily="65" charset="-122"/>
                <a:ea typeface="方正卡通简体" panose="03000509000000000000" pitchFamily="65" charset="-122"/>
                <a:sym typeface="微软雅黑" pitchFamily="34" charset="-122"/>
              </a:rPr>
              <a:t>3-2</a:t>
            </a:r>
            <a:r>
              <a:rPr lang="en-US" altLang="zh-CN" sz="9289" b="1" dirty="0">
                <a:solidFill>
                  <a:srgbClr val="FC6E5B"/>
                </a:solidFill>
                <a:latin typeface="方正卡通简体" panose="03000509000000000000" pitchFamily="65" charset="-122"/>
                <a:ea typeface="方正卡通简体" panose="03000509000000000000" pitchFamily="65" charset="-122"/>
                <a:sym typeface="微软雅黑" pitchFamily="34" charset="-122"/>
              </a:rPr>
              <a:t>  </a:t>
            </a:r>
            <a:r>
              <a:rPr lang="zh-CN" altLang="en-US" sz="5806" b="1" dirty="0">
                <a:solidFill>
                  <a:srgbClr val="FC6E5B"/>
                </a:solidFill>
                <a:latin typeface="方正卡通简体" panose="03000509000000000000" pitchFamily="65" charset="-122"/>
                <a:ea typeface="方正卡通简体" panose="03000509000000000000" pitchFamily="65" charset="-122"/>
                <a:sym typeface="微软雅黑" pitchFamily="34" charset="-122"/>
              </a:rPr>
              <a:t>网状模型</a:t>
            </a:r>
            <a:endParaRPr lang="en-US" altLang="zh-CN" sz="5806" b="1" dirty="0">
              <a:solidFill>
                <a:srgbClr val="66BFBC"/>
              </a:solidFill>
              <a:latin typeface="方正卡通简体" panose="03000509000000000000" pitchFamily="65" charset="-122"/>
              <a:ea typeface="方正卡通简体" panose="03000509000000000000" pitchFamily="65" charset="-122"/>
              <a:sym typeface="微软雅黑" pitchFamily="34" charset="-122"/>
            </a:endParaRPr>
          </a:p>
        </p:txBody>
      </p:sp>
      <p:pic>
        <p:nvPicPr>
          <p:cNvPr id="33" name="图片 32">
            <a:extLst>
              <a:ext uri="{FF2B5EF4-FFF2-40B4-BE49-F238E27FC236}">
                <a16:creationId xmlns:a16="http://schemas.microsoft.com/office/drawing/2014/main" id="{FB473332-FC62-C8E9-0F4E-08079F1718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9237" y="2694581"/>
            <a:ext cx="6972173" cy="1167928"/>
          </a:xfrm>
          <a:prstGeom prst="rect">
            <a:avLst/>
          </a:prstGeom>
        </p:spPr>
      </p:pic>
    </p:spTree>
    <p:extLst>
      <p:ext uri="{BB962C8B-B14F-4D97-AF65-F5344CB8AC3E}">
        <p14:creationId xmlns:p14="http://schemas.microsoft.com/office/powerpoint/2010/main" val="198285771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FC57061-9B6B-4773-BE7F-54119341FE6B}"/>
              </a:ext>
            </a:extLst>
          </p:cNvPr>
          <p:cNvSpPr/>
          <p:nvPr/>
        </p:nvSpPr>
        <p:spPr>
          <a:xfrm>
            <a:off x="535067" y="1533302"/>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2</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 </a:t>
            </a:r>
          </a:p>
        </p:txBody>
      </p:sp>
      <p:sp>
        <p:nvSpPr>
          <p:cNvPr id="21" name="矩形 20">
            <a:extLst>
              <a:ext uri="{FF2B5EF4-FFF2-40B4-BE49-F238E27FC236}">
                <a16:creationId xmlns:a16="http://schemas.microsoft.com/office/drawing/2014/main" id="{F68B22E0-A239-447F-BF1A-3049ADFBFED1}"/>
              </a:ext>
            </a:extLst>
          </p:cNvPr>
          <p:cNvSpPr/>
          <p:nvPr/>
        </p:nvSpPr>
        <p:spPr>
          <a:xfrm>
            <a:off x="1656302" y="2135663"/>
            <a:ext cx="2953618" cy="497957"/>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网状模型的数据结构 </a:t>
            </a:r>
          </a:p>
        </p:txBody>
      </p:sp>
      <p:grpSp>
        <p:nvGrpSpPr>
          <p:cNvPr id="22" name="组合 21">
            <a:extLst>
              <a:ext uri="{FF2B5EF4-FFF2-40B4-BE49-F238E27FC236}">
                <a16:creationId xmlns:a16="http://schemas.microsoft.com/office/drawing/2014/main" id="{3A440419-5355-413A-8C52-8247B706C065}"/>
              </a:ext>
            </a:extLst>
          </p:cNvPr>
          <p:cNvGrpSpPr/>
          <p:nvPr/>
        </p:nvGrpSpPr>
        <p:grpSpPr>
          <a:xfrm>
            <a:off x="2039682" y="2903274"/>
            <a:ext cx="9211414" cy="2752091"/>
            <a:chOff x="1501314" y="2855480"/>
            <a:chExt cx="4369340" cy="2737031"/>
          </a:xfrm>
        </p:grpSpPr>
        <p:sp>
          <p:nvSpPr>
            <p:cNvPr id="24" name="矩形: 圆角 23">
              <a:extLst>
                <a:ext uri="{FF2B5EF4-FFF2-40B4-BE49-F238E27FC236}">
                  <a16:creationId xmlns:a16="http://schemas.microsoft.com/office/drawing/2014/main" id="{0EDE9627-9E74-4791-8143-F4D3BC78B76F}"/>
                </a:ext>
              </a:extLst>
            </p:cNvPr>
            <p:cNvSpPr/>
            <p:nvPr/>
          </p:nvSpPr>
          <p:spPr>
            <a:xfrm>
              <a:off x="1501314" y="2855480"/>
              <a:ext cx="4369340" cy="2737031"/>
            </a:xfrm>
            <a:prstGeom prst="roundRect">
              <a:avLst>
                <a:gd name="adj" fmla="val 9951"/>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5" name="矩形 24">
              <a:extLst>
                <a:ext uri="{FF2B5EF4-FFF2-40B4-BE49-F238E27FC236}">
                  <a16:creationId xmlns:a16="http://schemas.microsoft.com/office/drawing/2014/main" id="{316A67D4-A27D-4787-B4C9-13E0662AD88C}"/>
                </a:ext>
              </a:extLst>
            </p:cNvPr>
            <p:cNvSpPr/>
            <p:nvPr/>
          </p:nvSpPr>
          <p:spPr>
            <a:xfrm>
              <a:off x="1636500" y="3225978"/>
              <a:ext cx="4037028" cy="1948000"/>
            </a:xfrm>
            <a:prstGeom prst="rect">
              <a:avLst/>
            </a:prstGeom>
          </p:spPr>
          <p:txBody>
            <a:bodyPr wrap="square" anchor="ctr">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网状模型是采用有向图结构表示实体以及实体之间联系的数据模型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每个结点表示一个实体型。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结点间的带箭头的连线（或有向边）表示记录型间的</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n</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的父子联系。</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比较有代表性的系统是，</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20</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世纪</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70</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年代，数据系统语言研究会</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CODASYL</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提出的</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DBTG</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系统</a:t>
              </a:r>
            </a:p>
          </p:txBody>
        </p:sp>
      </p:grpSp>
      <p:grpSp>
        <p:nvGrpSpPr>
          <p:cNvPr id="8" name="组合 7">
            <a:extLst>
              <a:ext uri="{FF2B5EF4-FFF2-40B4-BE49-F238E27FC236}">
                <a16:creationId xmlns:a16="http://schemas.microsoft.com/office/drawing/2014/main" id="{3E348D41-4310-D449-5DFD-606FC6B949DF}"/>
              </a:ext>
            </a:extLst>
          </p:cNvPr>
          <p:cNvGrpSpPr/>
          <p:nvPr/>
        </p:nvGrpSpPr>
        <p:grpSpPr>
          <a:xfrm>
            <a:off x="481856" y="454049"/>
            <a:ext cx="5614144" cy="879946"/>
            <a:chOff x="420387" y="472101"/>
            <a:chExt cx="5614144" cy="879946"/>
          </a:xfrm>
        </p:grpSpPr>
        <p:sp>
          <p:nvSpPr>
            <p:cNvPr id="9" name="内容占位符 2">
              <a:extLst>
                <a:ext uri="{FF2B5EF4-FFF2-40B4-BE49-F238E27FC236}">
                  <a16:creationId xmlns:a16="http://schemas.microsoft.com/office/drawing/2014/main" id="{B74A4099-2CDC-B687-CAEE-31CCC1533988}"/>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10" name="KSO_Shape">
              <a:extLst>
                <a:ext uri="{FF2B5EF4-FFF2-40B4-BE49-F238E27FC236}">
                  <a16:creationId xmlns:a16="http://schemas.microsoft.com/office/drawing/2014/main" id="{207E618F-6525-0B15-E3BC-852C25D39D01}"/>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11" name="图片 10">
            <a:extLst>
              <a:ext uri="{FF2B5EF4-FFF2-40B4-BE49-F238E27FC236}">
                <a16:creationId xmlns:a16="http://schemas.microsoft.com/office/drawing/2014/main" id="{A0182894-6EB4-44E5-DBC9-E23059C54B56}"/>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harpenSoften amount="25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6738046" y="610832"/>
            <a:ext cx="3797652" cy="1844940"/>
          </a:xfrm>
          <a:prstGeom prst="rect">
            <a:avLst/>
          </a:prstGeom>
        </p:spPr>
      </p:pic>
    </p:spTree>
    <p:custDataLst>
      <p:tags r:id="rId1"/>
    </p:custDataLst>
    <p:extLst>
      <p:ext uri="{BB962C8B-B14F-4D97-AF65-F5344CB8AC3E}">
        <p14:creationId xmlns:p14="http://schemas.microsoft.com/office/powerpoint/2010/main" val="122806554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500"/>
                                        <p:tgtEl>
                                          <p:spTgt spid="22"/>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FC57061-9B6B-4773-BE7F-54119341FE6B}"/>
              </a:ext>
            </a:extLst>
          </p:cNvPr>
          <p:cNvSpPr/>
          <p:nvPr/>
        </p:nvSpPr>
        <p:spPr>
          <a:xfrm>
            <a:off x="561961" y="1468551"/>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2</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 </a:t>
            </a:r>
          </a:p>
        </p:txBody>
      </p:sp>
      <p:sp>
        <p:nvSpPr>
          <p:cNvPr id="21" name="矩形 20">
            <a:extLst>
              <a:ext uri="{FF2B5EF4-FFF2-40B4-BE49-F238E27FC236}">
                <a16:creationId xmlns:a16="http://schemas.microsoft.com/office/drawing/2014/main" id="{F68B22E0-A239-447F-BF1A-3049ADFBFED1}"/>
              </a:ext>
            </a:extLst>
          </p:cNvPr>
          <p:cNvSpPr/>
          <p:nvPr/>
        </p:nvSpPr>
        <p:spPr>
          <a:xfrm>
            <a:off x="703982" y="2054235"/>
            <a:ext cx="2953618" cy="497957"/>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网状模型的特点：</a:t>
            </a:r>
          </a:p>
        </p:txBody>
      </p:sp>
      <p:grpSp>
        <p:nvGrpSpPr>
          <p:cNvPr id="22" name="组合 21">
            <a:extLst>
              <a:ext uri="{FF2B5EF4-FFF2-40B4-BE49-F238E27FC236}">
                <a16:creationId xmlns:a16="http://schemas.microsoft.com/office/drawing/2014/main" id="{3A440419-5355-413A-8C52-8247B706C065}"/>
              </a:ext>
            </a:extLst>
          </p:cNvPr>
          <p:cNvGrpSpPr/>
          <p:nvPr/>
        </p:nvGrpSpPr>
        <p:grpSpPr>
          <a:xfrm>
            <a:off x="1133750" y="2624748"/>
            <a:ext cx="5797805" cy="1573988"/>
            <a:chOff x="1501315" y="2855480"/>
            <a:chExt cx="4065287" cy="2737031"/>
          </a:xfrm>
        </p:grpSpPr>
        <p:sp>
          <p:nvSpPr>
            <p:cNvPr id="24" name="矩形: 圆角 23">
              <a:extLst>
                <a:ext uri="{FF2B5EF4-FFF2-40B4-BE49-F238E27FC236}">
                  <a16:creationId xmlns:a16="http://schemas.microsoft.com/office/drawing/2014/main" id="{0EDE9627-9E74-4791-8143-F4D3BC78B76F}"/>
                </a:ext>
              </a:extLst>
            </p:cNvPr>
            <p:cNvSpPr/>
            <p:nvPr/>
          </p:nvSpPr>
          <p:spPr>
            <a:xfrm>
              <a:off x="1501315" y="2855480"/>
              <a:ext cx="4065287" cy="2737031"/>
            </a:xfrm>
            <a:prstGeom prst="roundRect">
              <a:avLst>
                <a:gd name="adj" fmla="val 9951"/>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5" name="矩形 24">
              <a:extLst>
                <a:ext uri="{FF2B5EF4-FFF2-40B4-BE49-F238E27FC236}">
                  <a16:creationId xmlns:a16="http://schemas.microsoft.com/office/drawing/2014/main" id="{316A67D4-A27D-4787-B4C9-13E0662AD88C}"/>
                </a:ext>
              </a:extLst>
            </p:cNvPr>
            <p:cNvSpPr/>
            <p:nvPr/>
          </p:nvSpPr>
          <p:spPr>
            <a:xfrm>
              <a:off x="1636500" y="3601448"/>
              <a:ext cx="3709772" cy="1181406"/>
            </a:xfrm>
            <a:prstGeom prst="rect">
              <a:avLst/>
            </a:prstGeom>
          </p:spPr>
          <p:txBody>
            <a:bodyPr wrap="square" anchor="ctr">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有一个以上的结点没有双亲结点</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允许结点有多个双亲结点</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允许两个结点之间有多种联系（复合联系） </a:t>
              </a:r>
            </a:p>
          </p:txBody>
        </p:sp>
      </p:grpSp>
      <p:pic>
        <p:nvPicPr>
          <p:cNvPr id="10" name="图片 9">
            <a:extLst>
              <a:ext uri="{FF2B5EF4-FFF2-40B4-BE49-F238E27FC236}">
                <a16:creationId xmlns:a16="http://schemas.microsoft.com/office/drawing/2014/main" id="{F27B55FA-8EA5-4091-984F-E9D15DB0C37A}"/>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harpenSoften amount="25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6025792" y="3696376"/>
            <a:ext cx="4637545" cy="2252969"/>
          </a:xfrm>
          <a:prstGeom prst="rect">
            <a:avLst/>
          </a:prstGeom>
        </p:spPr>
      </p:pic>
      <p:grpSp>
        <p:nvGrpSpPr>
          <p:cNvPr id="6" name="组合 5">
            <a:extLst>
              <a:ext uri="{FF2B5EF4-FFF2-40B4-BE49-F238E27FC236}">
                <a16:creationId xmlns:a16="http://schemas.microsoft.com/office/drawing/2014/main" id="{B95B833E-0AAB-673F-772F-64C3BD3D101C}"/>
              </a:ext>
            </a:extLst>
          </p:cNvPr>
          <p:cNvGrpSpPr/>
          <p:nvPr/>
        </p:nvGrpSpPr>
        <p:grpSpPr>
          <a:xfrm>
            <a:off x="481856" y="454049"/>
            <a:ext cx="5614144" cy="879946"/>
            <a:chOff x="420387" y="472101"/>
            <a:chExt cx="5614144" cy="879946"/>
          </a:xfrm>
        </p:grpSpPr>
        <p:sp>
          <p:nvSpPr>
            <p:cNvPr id="7" name="内容占位符 2">
              <a:extLst>
                <a:ext uri="{FF2B5EF4-FFF2-40B4-BE49-F238E27FC236}">
                  <a16:creationId xmlns:a16="http://schemas.microsoft.com/office/drawing/2014/main" id="{FAACA117-78F2-138B-7E28-E3A05C8EA737}"/>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8" name="KSO_Shape">
              <a:extLst>
                <a:ext uri="{FF2B5EF4-FFF2-40B4-BE49-F238E27FC236}">
                  <a16:creationId xmlns:a16="http://schemas.microsoft.com/office/drawing/2014/main" id="{97AAAD85-F94E-7056-D004-D12DEB9FEBA6}"/>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329826192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FC57061-9B6B-4773-BE7F-54119341FE6B}"/>
              </a:ext>
            </a:extLst>
          </p:cNvPr>
          <p:cNvSpPr/>
          <p:nvPr/>
        </p:nvSpPr>
        <p:spPr>
          <a:xfrm>
            <a:off x="535067" y="1533302"/>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2</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 </a:t>
            </a:r>
          </a:p>
        </p:txBody>
      </p:sp>
      <p:sp>
        <p:nvSpPr>
          <p:cNvPr id="10" name="矩形 9">
            <a:extLst>
              <a:ext uri="{FF2B5EF4-FFF2-40B4-BE49-F238E27FC236}">
                <a16:creationId xmlns:a16="http://schemas.microsoft.com/office/drawing/2014/main" id="{8CC391C5-E1EB-4D0A-8487-7B7BB07E390F}"/>
              </a:ext>
            </a:extLst>
          </p:cNvPr>
          <p:cNvSpPr/>
          <p:nvPr/>
        </p:nvSpPr>
        <p:spPr>
          <a:xfrm>
            <a:off x="907079" y="2194274"/>
            <a:ext cx="6312821"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网状模型的数据操纵与完整性约束 </a:t>
            </a:r>
          </a:p>
        </p:txBody>
      </p:sp>
      <p:grpSp>
        <p:nvGrpSpPr>
          <p:cNvPr id="11" name="组合 10">
            <a:extLst>
              <a:ext uri="{FF2B5EF4-FFF2-40B4-BE49-F238E27FC236}">
                <a16:creationId xmlns:a16="http://schemas.microsoft.com/office/drawing/2014/main" id="{47437D03-E8AF-479C-8ECC-16769777807D}"/>
              </a:ext>
            </a:extLst>
          </p:cNvPr>
          <p:cNvGrpSpPr/>
          <p:nvPr/>
        </p:nvGrpSpPr>
        <p:grpSpPr>
          <a:xfrm>
            <a:off x="2191305" y="2955873"/>
            <a:ext cx="5528136" cy="979582"/>
            <a:chOff x="1501314" y="2855481"/>
            <a:chExt cx="4743450" cy="590550"/>
          </a:xfrm>
        </p:grpSpPr>
        <p:sp>
          <p:nvSpPr>
            <p:cNvPr id="12" name="矩形: 圆角 11">
              <a:extLst>
                <a:ext uri="{FF2B5EF4-FFF2-40B4-BE49-F238E27FC236}">
                  <a16:creationId xmlns:a16="http://schemas.microsoft.com/office/drawing/2014/main" id="{D3045C86-95B9-464E-96E5-2F8F93500A7F}"/>
                </a:ext>
              </a:extLst>
            </p:cNvPr>
            <p:cNvSpPr/>
            <p:nvPr/>
          </p:nvSpPr>
          <p:spPr>
            <a:xfrm>
              <a:off x="1501314" y="2855481"/>
              <a:ext cx="4743450"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3" name="矩形 12">
              <a:extLst>
                <a:ext uri="{FF2B5EF4-FFF2-40B4-BE49-F238E27FC236}">
                  <a16:creationId xmlns:a16="http://schemas.microsoft.com/office/drawing/2014/main" id="{2226719F-4931-4DE0-A98B-EC28415E8754}"/>
                </a:ext>
              </a:extLst>
            </p:cNvPr>
            <p:cNvSpPr/>
            <p:nvPr/>
          </p:nvSpPr>
          <p:spPr>
            <a:xfrm>
              <a:off x="1607220" y="2901182"/>
              <a:ext cx="4493538" cy="500973"/>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插入数据时，允许插入尚未确定</a:t>
              </a:r>
              <a:endPar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双亲结点值的子女结点值。 </a:t>
              </a:r>
            </a:p>
          </p:txBody>
        </p:sp>
      </p:grpSp>
      <p:grpSp>
        <p:nvGrpSpPr>
          <p:cNvPr id="15" name="组合 14">
            <a:extLst>
              <a:ext uri="{FF2B5EF4-FFF2-40B4-BE49-F238E27FC236}">
                <a16:creationId xmlns:a16="http://schemas.microsoft.com/office/drawing/2014/main" id="{77ACC7A4-676C-48A5-AEF5-418BC64AF23B}"/>
              </a:ext>
            </a:extLst>
          </p:cNvPr>
          <p:cNvGrpSpPr/>
          <p:nvPr/>
        </p:nvGrpSpPr>
        <p:grpSpPr>
          <a:xfrm>
            <a:off x="2191305" y="4267120"/>
            <a:ext cx="5528136" cy="590550"/>
            <a:chOff x="1501314" y="2855481"/>
            <a:chExt cx="4743450" cy="590550"/>
          </a:xfrm>
        </p:grpSpPr>
        <p:sp>
          <p:nvSpPr>
            <p:cNvPr id="17" name="矩形: 圆角 16">
              <a:extLst>
                <a:ext uri="{FF2B5EF4-FFF2-40B4-BE49-F238E27FC236}">
                  <a16:creationId xmlns:a16="http://schemas.microsoft.com/office/drawing/2014/main" id="{47FA16C4-4FCD-40E6-8C51-C7A19C397D56}"/>
                </a:ext>
              </a:extLst>
            </p:cNvPr>
            <p:cNvSpPr/>
            <p:nvPr/>
          </p:nvSpPr>
          <p:spPr>
            <a:xfrm>
              <a:off x="1501314" y="2855481"/>
              <a:ext cx="4743450" cy="590550"/>
            </a:xfrm>
            <a:prstGeom prst="roundRect">
              <a:avLst/>
            </a:prstGeom>
            <a:solidFill>
              <a:schemeClr val="bg1">
                <a:alpha val="73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8" name="矩形 17">
              <a:extLst>
                <a:ext uri="{FF2B5EF4-FFF2-40B4-BE49-F238E27FC236}">
                  <a16:creationId xmlns:a16="http://schemas.microsoft.com/office/drawing/2014/main" id="{74FB8CC4-3A05-4658-B2F6-2AD4527FEC22}"/>
                </a:ext>
              </a:extLst>
            </p:cNvPr>
            <p:cNvSpPr/>
            <p:nvPr/>
          </p:nvSpPr>
          <p:spPr>
            <a:xfrm>
              <a:off x="1501314" y="2919923"/>
              <a:ext cx="474345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删除数据时，允许只删除双亲结点值。 </a:t>
              </a:r>
            </a:p>
          </p:txBody>
        </p:sp>
      </p:grpSp>
      <p:grpSp>
        <p:nvGrpSpPr>
          <p:cNvPr id="19" name="组合 18">
            <a:extLst>
              <a:ext uri="{FF2B5EF4-FFF2-40B4-BE49-F238E27FC236}">
                <a16:creationId xmlns:a16="http://schemas.microsoft.com/office/drawing/2014/main" id="{287DF526-666F-48F6-9FBB-7CD62D4D7843}"/>
              </a:ext>
            </a:extLst>
          </p:cNvPr>
          <p:cNvGrpSpPr/>
          <p:nvPr/>
        </p:nvGrpSpPr>
        <p:grpSpPr>
          <a:xfrm>
            <a:off x="2191305" y="5189335"/>
            <a:ext cx="5528136" cy="590550"/>
            <a:chOff x="1501314" y="2855481"/>
            <a:chExt cx="4743450" cy="590550"/>
          </a:xfrm>
        </p:grpSpPr>
        <p:sp>
          <p:nvSpPr>
            <p:cNvPr id="26" name="矩形: 圆角 25">
              <a:extLst>
                <a:ext uri="{FF2B5EF4-FFF2-40B4-BE49-F238E27FC236}">
                  <a16:creationId xmlns:a16="http://schemas.microsoft.com/office/drawing/2014/main" id="{615FED58-F8F2-4CEB-9E03-830875BE8BC2}"/>
                </a:ext>
              </a:extLst>
            </p:cNvPr>
            <p:cNvSpPr/>
            <p:nvPr/>
          </p:nvSpPr>
          <p:spPr>
            <a:xfrm>
              <a:off x="1501314" y="2855481"/>
              <a:ext cx="4743450" cy="590550"/>
            </a:xfrm>
            <a:prstGeom prst="roundRect">
              <a:avLst/>
            </a:prstGeom>
            <a:solidFill>
              <a:schemeClr val="bg1">
                <a:alpha val="73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7" name="矩形 26">
              <a:extLst>
                <a:ext uri="{FF2B5EF4-FFF2-40B4-BE49-F238E27FC236}">
                  <a16:creationId xmlns:a16="http://schemas.microsoft.com/office/drawing/2014/main" id="{3FB7005C-62F7-4B84-B8F3-FB9F4BF6B065}"/>
                </a:ext>
              </a:extLst>
            </p:cNvPr>
            <p:cNvSpPr/>
            <p:nvPr/>
          </p:nvSpPr>
          <p:spPr>
            <a:xfrm>
              <a:off x="1501314" y="2919923"/>
              <a:ext cx="4743450"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修改数据时，只需更新指定记录即可。 </a:t>
              </a:r>
            </a:p>
          </p:txBody>
        </p:sp>
      </p:grpSp>
      <p:grpSp>
        <p:nvGrpSpPr>
          <p:cNvPr id="5" name="组合 4">
            <a:extLst>
              <a:ext uri="{FF2B5EF4-FFF2-40B4-BE49-F238E27FC236}">
                <a16:creationId xmlns:a16="http://schemas.microsoft.com/office/drawing/2014/main" id="{90CD2C4E-137E-DA77-7770-CD52DE242579}"/>
              </a:ext>
            </a:extLst>
          </p:cNvPr>
          <p:cNvGrpSpPr/>
          <p:nvPr/>
        </p:nvGrpSpPr>
        <p:grpSpPr>
          <a:xfrm>
            <a:off x="481856" y="454049"/>
            <a:ext cx="5614144" cy="879946"/>
            <a:chOff x="420387" y="472101"/>
            <a:chExt cx="5614144" cy="879946"/>
          </a:xfrm>
        </p:grpSpPr>
        <p:sp>
          <p:nvSpPr>
            <p:cNvPr id="6" name="内容占位符 2">
              <a:extLst>
                <a:ext uri="{FF2B5EF4-FFF2-40B4-BE49-F238E27FC236}">
                  <a16:creationId xmlns:a16="http://schemas.microsoft.com/office/drawing/2014/main" id="{EC30C7F1-2FED-4A34-87EC-6917CEBC5216}"/>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7" name="KSO_Shape">
              <a:extLst>
                <a:ext uri="{FF2B5EF4-FFF2-40B4-BE49-F238E27FC236}">
                  <a16:creationId xmlns:a16="http://schemas.microsoft.com/office/drawing/2014/main" id="{294D7990-9932-B863-E3AE-925FC9A2D35C}"/>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30614619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CFC57061-9B6B-4773-BE7F-54119341FE6B}"/>
              </a:ext>
            </a:extLst>
          </p:cNvPr>
          <p:cNvSpPr/>
          <p:nvPr/>
        </p:nvSpPr>
        <p:spPr>
          <a:xfrm>
            <a:off x="535067" y="1533302"/>
            <a:ext cx="224247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2</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 </a:t>
            </a:r>
          </a:p>
        </p:txBody>
      </p:sp>
      <p:sp>
        <p:nvSpPr>
          <p:cNvPr id="10" name="矩形 9">
            <a:extLst>
              <a:ext uri="{FF2B5EF4-FFF2-40B4-BE49-F238E27FC236}">
                <a16:creationId xmlns:a16="http://schemas.microsoft.com/office/drawing/2014/main" id="{FE91BBA1-7576-4A99-BF5B-F479D32F5C23}"/>
              </a:ext>
            </a:extLst>
          </p:cNvPr>
          <p:cNvSpPr/>
          <p:nvPr/>
        </p:nvSpPr>
        <p:spPr>
          <a:xfrm>
            <a:off x="1835616" y="2829466"/>
            <a:ext cx="4536995" cy="1070421"/>
          </a:xfrm>
          <a:prstGeom prst="rect">
            <a:avLst/>
          </a:prstGeom>
        </p:spPr>
        <p:txBody>
          <a:bodyPr wrap="square">
            <a:spAutoFit/>
          </a:bodyPr>
          <a:lstStyle/>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可表示实体间的多种复杂联系</a:t>
            </a:r>
            <a:endPar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具有良好的性能和存储效率 </a:t>
            </a:r>
          </a:p>
        </p:txBody>
      </p:sp>
      <p:grpSp>
        <p:nvGrpSpPr>
          <p:cNvPr id="11" name="组合 10">
            <a:extLst>
              <a:ext uri="{FF2B5EF4-FFF2-40B4-BE49-F238E27FC236}">
                <a16:creationId xmlns:a16="http://schemas.microsoft.com/office/drawing/2014/main" id="{6582DEB0-2649-49D8-BB68-A641CDA70877}"/>
              </a:ext>
            </a:extLst>
          </p:cNvPr>
          <p:cNvGrpSpPr/>
          <p:nvPr/>
        </p:nvGrpSpPr>
        <p:grpSpPr>
          <a:xfrm>
            <a:off x="758829" y="2670022"/>
            <a:ext cx="860990" cy="1371498"/>
            <a:chOff x="3111376" y="3500437"/>
            <a:chExt cx="1613020" cy="1613021"/>
          </a:xfrm>
        </p:grpSpPr>
        <p:sp>
          <p:nvSpPr>
            <p:cNvPr id="12" name="Oval 42">
              <a:extLst>
                <a:ext uri="{FF2B5EF4-FFF2-40B4-BE49-F238E27FC236}">
                  <a16:creationId xmlns:a16="http://schemas.microsoft.com/office/drawing/2014/main" id="{0BB6EC07-5ED8-48CE-B032-E24D2F58E990}"/>
                </a:ext>
              </a:extLst>
            </p:cNvPr>
            <p:cNvSpPr/>
            <p:nvPr/>
          </p:nvSpPr>
          <p:spPr bwMode="auto">
            <a:xfrm>
              <a:off x="3111376" y="3500437"/>
              <a:ext cx="1613020" cy="1613021"/>
            </a:xfrm>
            <a:prstGeom prst="ellipse">
              <a:avLst/>
            </a:prstGeom>
            <a:solidFill>
              <a:srgbClr val="ED7D31"/>
            </a:solidFill>
            <a:ln w="38100">
              <a:solidFill>
                <a:schemeClr val="bg1"/>
              </a:solidFill>
            </a:ln>
            <a:effectLst>
              <a:outerShdw blurRad="63500" sx="102000" sy="1020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 name="矩形 12">
              <a:extLst>
                <a:ext uri="{FF2B5EF4-FFF2-40B4-BE49-F238E27FC236}">
                  <a16:creationId xmlns:a16="http://schemas.microsoft.com/office/drawing/2014/main" id="{A8D30C53-1995-4D3C-B5D9-D63A5BD2DB45}"/>
                </a:ext>
              </a:extLst>
            </p:cNvPr>
            <p:cNvSpPr/>
            <p:nvPr/>
          </p:nvSpPr>
          <p:spPr>
            <a:xfrm>
              <a:off x="3182235" y="3701613"/>
              <a:ext cx="1471305" cy="1184910"/>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优点</a:t>
              </a:r>
            </a:p>
          </p:txBody>
        </p:sp>
      </p:grpSp>
      <p:sp>
        <p:nvSpPr>
          <p:cNvPr id="15" name="矩形 14">
            <a:extLst>
              <a:ext uri="{FF2B5EF4-FFF2-40B4-BE49-F238E27FC236}">
                <a16:creationId xmlns:a16="http://schemas.microsoft.com/office/drawing/2014/main" id="{5F64CDBE-8198-476E-86CD-E6BD0EBFCC66}"/>
              </a:ext>
            </a:extLst>
          </p:cNvPr>
          <p:cNvSpPr/>
          <p:nvPr/>
        </p:nvSpPr>
        <p:spPr>
          <a:xfrm>
            <a:off x="5200608" y="4147465"/>
            <a:ext cx="5131081" cy="1587486"/>
          </a:xfrm>
          <a:prstGeom prst="rect">
            <a:avLst/>
          </a:prstGeom>
        </p:spPr>
        <p:txBody>
          <a:bodyPr wrap="square">
            <a:spAutoFit/>
          </a:bodyPr>
          <a:lstStyle/>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数据结构复杂</a:t>
            </a:r>
            <a:endPar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数据定义语言、数据操纵语言复杂</a:t>
            </a:r>
            <a:endParaRPr kumimoji="0" lang="en-US" altLang="zh-CN"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a:p>
            <a:pPr marL="342900" marR="0" lvl="0" indent="-342900" algn="l" defTabSz="914400" rtl="0" eaLnBrk="1" fontAlgn="auto" latinLnBrk="0" hangingPunct="1">
              <a:lnSpc>
                <a:spcPct val="140000"/>
              </a:lnSpc>
              <a:spcBef>
                <a:spcPts val="0"/>
              </a:spcBef>
              <a:spcAft>
                <a:spcPts val="0"/>
              </a:spcAft>
              <a:buClrTx/>
              <a:buSzTx/>
              <a:buFont typeface="Wingdings" panose="05000000000000000000" pitchFamily="2" charset="2"/>
              <a:buChar char="u"/>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用户需要了解网状模型的实现细节 </a:t>
            </a:r>
          </a:p>
        </p:txBody>
      </p:sp>
      <p:grpSp>
        <p:nvGrpSpPr>
          <p:cNvPr id="17" name="组合 16">
            <a:extLst>
              <a:ext uri="{FF2B5EF4-FFF2-40B4-BE49-F238E27FC236}">
                <a16:creationId xmlns:a16="http://schemas.microsoft.com/office/drawing/2014/main" id="{190BA426-D616-43D6-8944-FDD5E0C87483}"/>
              </a:ext>
            </a:extLst>
          </p:cNvPr>
          <p:cNvGrpSpPr/>
          <p:nvPr/>
        </p:nvGrpSpPr>
        <p:grpSpPr>
          <a:xfrm>
            <a:off x="4123821" y="4375014"/>
            <a:ext cx="860990" cy="1371498"/>
            <a:chOff x="3111378" y="3500437"/>
            <a:chExt cx="1613021" cy="1613021"/>
          </a:xfrm>
        </p:grpSpPr>
        <p:sp>
          <p:nvSpPr>
            <p:cNvPr id="18" name="Oval 42">
              <a:extLst>
                <a:ext uri="{FF2B5EF4-FFF2-40B4-BE49-F238E27FC236}">
                  <a16:creationId xmlns:a16="http://schemas.microsoft.com/office/drawing/2014/main" id="{199E8096-9C15-4676-A267-D006464F1ABD}"/>
                </a:ext>
              </a:extLst>
            </p:cNvPr>
            <p:cNvSpPr/>
            <p:nvPr/>
          </p:nvSpPr>
          <p:spPr bwMode="auto">
            <a:xfrm>
              <a:off x="3111378" y="3500437"/>
              <a:ext cx="1613021" cy="1613021"/>
            </a:xfrm>
            <a:prstGeom prst="ellipse">
              <a:avLst/>
            </a:prstGeom>
            <a:solidFill>
              <a:schemeClr val="tx1">
                <a:lumMod val="85000"/>
                <a:lumOff val="15000"/>
              </a:schemeClr>
            </a:solidFill>
            <a:ln w="38100">
              <a:solidFill>
                <a:schemeClr val="bg1"/>
              </a:solidFill>
            </a:ln>
            <a:effectLst>
              <a:outerShdw blurRad="63500" sx="102000" sy="1020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矩形 18">
              <a:extLst>
                <a:ext uri="{FF2B5EF4-FFF2-40B4-BE49-F238E27FC236}">
                  <a16:creationId xmlns:a16="http://schemas.microsoft.com/office/drawing/2014/main" id="{0A3C1F39-CA3C-4684-9485-961264231E2F}"/>
                </a:ext>
              </a:extLst>
            </p:cNvPr>
            <p:cNvSpPr/>
            <p:nvPr/>
          </p:nvSpPr>
          <p:spPr>
            <a:xfrm>
              <a:off x="3182236" y="3805399"/>
              <a:ext cx="1471306" cy="97733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缺点</a:t>
              </a:r>
            </a:p>
          </p:txBody>
        </p:sp>
      </p:grpSp>
      <p:sp>
        <p:nvSpPr>
          <p:cNvPr id="21" name="矩形 20">
            <a:extLst>
              <a:ext uri="{FF2B5EF4-FFF2-40B4-BE49-F238E27FC236}">
                <a16:creationId xmlns:a16="http://schemas.microsoft.com/office/drawing/2014/main" id="{C03CF536-02CD-4FA4-8CE1-DEF79D521946}"/>
              </a:ext>
            </a:extLst>
          </p:cNvPr>
          <p:cNvSpPr/>
          <p:nvPr/>
        </p:nvSpPr>
        <p:spPr>
          <a:xfrm>
            <a:off x="716629" y="2248871"/>
            <a:ext cx="6312821"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网状模型的优缺点 </a:t>
            </a:r>
          </a:p>
        </p:txBody>
      </p:sp>
      <p:grpSp>
        <p:nvGrpSpPr>
          <p:cNvPr id="5" name="组合 4">
            <a:extLst>
              <a:ext uri="{FF2B5EF4-FFF2-40B4-BE49-F238E27FC236}">
                <a16:creationId xmlns:a16="http://schemas.microsoft.com/office/drawing/2014/main" id="{9699D1A9-38F2-FE2C-5F78-3A59DB7CD0B4}"/>
              </a:ext>
            </a:extLst>
          </p:cNvPr>
          <p:cNvGrpSpPr/>
          <p:nvPr/>
        </p:nvGrpSpPr>
        <p:grpSpPr>
          <a:xfrm>
            <a:off x="481856" y="454049"/>
            <a:ext cx="5614144" cy="879946"/>
            <a:chOff x="420387" y="472101"/>
            <a:chExt cx="5614144" cy="879946"/>
          </a:xfrm>
        </p:grpSpPr>
        <p:sp>
          <p:nvSpPr>
            <p:cNvPr id="6" name="内容占位符 2">
              <a:extLst>
                <a:ext uri="{FF2B5EF4-FFF2-40B4-BE49-F238E27FC236}">
                  <a16:creationId xmlns:a16="http://schemas.microsoft.com/office/drawing/2014/main" id="{BD08ACB2-BA05-3EAD-FDD1-DF0B65745307}"/>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逻辑模型</a:t>
              </a:r>
            </a:p>
          </p:txBody>
        </p:sp>
        <p:sp>
          <p:nvSpPr>
            <p:cNvPr id="7" name="KSO_Shape">
              <a:extLst>
                <a:ext uri="{FF2B5EF4-FFF2-40B4-BE49-F238E27FC236}">
                  <a16:creationId xmlns:a16="http://schemas.microsoft.com/office/drawing/2014/main" id="{E96D540A-2C56-CEDF-C8A3-7EC352B6444A}"/>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277821331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randombar(horizontal)">
                                      <p:cBhvr>
                                        <p:cTn id="11" dur="500"/>
                                        <p:tgtEl>
                                          <p:spTgt spid="1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14" presetClass="entr" presetSubtype="1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randombar(horizontal)">
                                      <p:cBhvr>
                                        <p:cTn id="19" dur="500"/>
                                        <p:tgtEl>
                                          <p:spTgt spid="1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896F7-4CC2-EACE-5B65-79DF67EFD9A7}"/>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9CDE07A6-7431-6C3A-65F1-07CBCF392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62509"/>
            <a:ext cx="6406547" cy="2880933"/>
          </a:xfrm>
          <a:prstGeom prst="rect">
            <a:avLst/>
          </a:prstGeom>
        </p:spPr>
      </p:pic>
      <p:sp>
        <p:nvSpPr>
          <p:cNvPr id="31" name="矩形 69">
            <a:extLst>
              <a:ext uri="{FF2B5EF4-FFF2-40B4-BE49-F238E27FC236}">
                <a16:creationId xmlns:a16="http://schemas.microsoft.com/office/drawing/2014/main" id="{11250360-8663-4A53-689B-3AC33DF07AB4}"/>
              </a:ext>
            </a:extLst>
          </p:cNvPr>
          <p:cNvSpPr>
            <a:spLocks noChangeArrowheads="1"/>
          </p:cNvSpPr>
          <p:nvPr/>
        </p:nvSpPr>
        <p:spPr bwMode="auto">
          <a:xfrm>
            <a:off x="3312213" y="1473664"/>
            <a:ext cx="8957610" cy="152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defTabSz="1179669"/>
            <a:r>
              <a:rPr lang="en-US" altLang="zh-CN" sz="6000" b="1" dirty="0">
                <a:solidFill>
                  <a:srgbClr val="FC6E5B"/>
                </a:solidFill>
                <a:latin typeface="方正卡通简体" panose="03000509000000000000" pitchFamily="65" charset="-122"/>
                <a:ea typeface="方正卡通简体" panose="03000509000000000000" pitchFamily="65" charset="-122"/>
                <a:sym typeface="微软雅黑" pitchFamily="34" charset="-122"/>
              </a:rPr>
              <a:t>3-3</a:t>
            </a:r>
            <a:r>
              <a:rPr lang="en-US" altLang="zh-CN" sz="9289" b="1" dirty="0">
                <a:solidFill>
                  <a:srgbClr val="FC6E5B"/>
                </a:solidFill>
                <a:latin typeface="方正卡通简体" panose="03000509000000000000" pitchFamily="65" charset="-122"/>
                <a:ea typeface="方正卡通简体" panose="03000509000000000000" pitchFamily="65" charset="-122"/>
                <a:sym typeface="微软雅黑" pitchFamily="34" charset="-122"/>
              </a:rPr>
              <a:t>  </a:t>
            </a:r>
            <a:r>
              <a:rPr lang="zh-CN" altLang="en-US" sz="5806" b="1" dirty="0">
                <a:solidFill>
                  <a:srgbClr val="FC6E5B"/>
                </a:solidFill>
                <a:latin typeface="方正卡通简体" panose="03000509000000000000" pitchFamily="65" charset="-122"/>
                <a:ea typeface="方正卡通简体" panose="03000509000000000000" pitchFamily="65" charset="-122"/>
                <a:sym typeface="微软雅黑" pitchFamily="34" charset="-122"/>
              </a:rPr>
              <a:t>关系模型</a:t>
            </a:r>
            <a:endParaRPr lang="en-US" altLang="zh-CN" sz="5806" b="1" dirty="0">
              <a:solidFill>
                <a:srgbClr val="66BFBC"/>
              </a:solidFill>
              <a:latin typeface="方正卡通简体" panose="03000509000000000000" pitchFamily="65" charset="-122"/>
              <a:ea typeface="方正卡通简体" panose="03000509000000000000" pitchFamily="65" charset="-122"/>
              <a:sym typeface="微软雅黑" pitchFamily="34" charset="-122"/>
            </a:endParaRPr>
          </a:p>
        </p:txBody>
      </p:sp>
      <p:pic>
        <p:nvPicPr>
          <p:cNvPr id="33" name="图片 32">
            <a:extLst>
              <a:ext uri="{FF2B5EF4-FFF2-40B4-BE49-F238E27FC236}">
                <a16:creationId xmlns:a16="http://schemas.microsoft.com/office/drawing/2014/main" id="{6BEE42F2-94B2-5E2C-61CC-A406A44982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9237" y="2694581"/>
            <a:ext cx="6972173" cy="1167928"/>
          </a:xfrm>
          <a:prstGeom prst="rect">
            <a:avLst/>
          </a:prstGeom>
        </p:spPr>
      </p:pic>
    </p:spTree>
    <p:extLst>
      <p:ext uri="{BB962C8B-B14F-4D97-AF65-F5344CB8AC3E}">
        <p14:creationId xmlns:p14="http://schemas.microsoft.com/office/powerpoint/2010/main" val="80895599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F445F8BA-9590-4794-B601-3FB4AFDA76ED}"/>
              </a:ext>
            </a:extLst>
          </p:cNvPr>
          <p:cNvGrpSpPr/>
          <p:nvPr/>
        </p:nvGrpSpPr>
        <p:grpSpPr>
          <a:xfrm>
            <a:off x="481856" y="454049"/>
            <a:ext cx="5614144" cy="879946"/>
            <a:chOff x="420387" y="472101"/>
            <a:chExt cx="5614144" cy="879946"/>
          </a:xfrm>
        </p:grpSpPr>
        <p:sp>
          <p:nvSpPr>
            <p:cNvPr id="16" name="内容占位符 2">
              <a:extLst>
                <a:ext uri="{FF2B5EF4-FFF2-40B4-BE49-F238E27FC236}">
                  <a16:creationId xmlns:a16="http://schemas.microsoft.com/office/drawing/2014/main" id="{C399240E-1EC7-425E-903C-2B17188CA395}"/>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关系模型</a:t>
              </a:r>
            </a:p>
          </p:txBody>
        </p:sp>
        <p:sp>
          <p:nvSpPr>
            <p:cNvPr id="20" name="KSO_Shape">
              <a:extLst>
                <a:ext uri="{FF2B5EF4-FFF2-40B4-BE49-F238E27FC236}">
                  <a16:creationId xmlns:a16="http://schemas.microsoft.com/office/drawing/2014/main" id="{AE877469-4216-41F7-949C-4D940C40217D}"/>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1" name="矩形 20">
            <a:extLst>
              <a:ext uri="{FF2B5EF4-FFF2-40B4-BE49-F238E27FC236}">
                <a16:creationId xmlns:a16="http://schemas.microsoft.com/office/drawing/2014/main" id="{F68B22E0-A239-447F-BF1A-3049ADFBFED1}"/>
              </a:ext>
            </a:extLst>
          </p:cNvPr>
          <p:cNvSpPr/>
          <p:nvPr/>
        </p:nvSpPr>
        <p:spPr>
          <a:xfrm>
            <a:off x="1554374" y="1560381"/>
            <a:ext cx="2953618" cy="497957"/>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关系模型的数据结构</a:t>
            </a:r>
          </a:p>
        </p:txBody>
      </p:sp>
      <p:sp>
        <p:nvSpPr>
          <p:cNvPr id="10" name="矩形 9">
            <a:extLst>
              <a:ext uri="{FF2B5EF4-FFF2-40B4-BE49-F238E27FC236}">
                <a16:creationId xmlns:a16="http://schemas.microsoft.com/office/drawing/2014/main" id="{667D8C60-377C-48C4-B35B-0203008A7645}"/>
              </a:ext>
            </a:extLst>
          </p:cNvPr>
          <p:cNvSpPr/>
          <p:nvPr/>
        </p:nvSpPr>
        <p:spPr>
          <a:xfrm>
            <a:off x="1459992" y="2202303"/>
            <a:ext cx="6400800" cy="1884618"/>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以二维表（关系）的形式表示实体和实体之间联系的数据模型。</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1970</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年美国</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IBM</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公司的研究员</a:t>
            </a:r>
            <a:r>
              <a:rPr kumimoji="0" lang="en-US" altLang="zh-CN" sz="2000" b="0" i="0" u="none" strike="noStrike" kern="1200" cap="none" spc="0" normalizeH="0" baseline="0" noProof="0" dirty="0" err="1">
                <a:ln>
                  <a:noFill/>
                </a:ln>
                <a:solidFill>
                  <a:prstClr val="black">
                    <a:lumMod val="85000"/>
                    <a:lumOff val="15000"/>
                  </a:prstClr>
                </a:solidFill>
                <a:effectLst/>
                <a:uLnTx/>
                <a:uFillTx/>
                <a:latin typeface="微软雅黑"/>
                <a:ea typeface="微软雅黑"/>
                <a:cs typeface="+mn-cs"/>
              </a:rPr>
              <a:t>E.F.Codd</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提出，</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1977</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年</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IBM</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公司研制的关系数据库的代表</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System R</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p>
        </p:txBody>
      </p:sp>
      <p:grpSp>
        <p:nvGrpSpPr>
          <p:cNvPr id="11" name="组合 10">
            <a:extLst>
              <a:ext uri="{FF2B5EF4-FFF2-40B4-BE49-F238E27FC236}">
                <a16:creationId xmlns:a16="http://schemas.microsoft.com/office/drawing/2014/main" id="{7AEBC21F-55D2-4BDA-BC7E-CCE876CDC02E}"/>
              </a:ext>
            </a:extLst>
          </p:cNvPr>
          <p:cNvGrpSpPr/>
          <p:nvPr/>
        </p:nvGrpSpPr>
        <p:grpSpPr>
          <a:xfrm>
            <a:off x="1586022" y="4388158"/>
            <a:ext cx="2283796" cy="1219584"/>
            <a:chOff x="1501314" y="2855481"/>
            <a:chExt cx="4743450" cy="590550"/>
          </a:xfrm>
        </p:grpSpPr>
        <p:sp>
          <p:nvSpPr>
            <p:cNvPr id="12" name="矩形: 圆角 11">
              <a:extLst>
                <a:ext uri="{FF2B5EF4-FFF2-40B4-BE49-F238E27FC236}">
                  <a16:creationId xmlns:a16="http://schemas.microsoft.com/office/drawing/2014/main" id="{B1F90E31-0A9D-4B6C-AFE7-3D736BCF4F2A}"/>
                </a:ext>
              </a:extLst>
            </p:cNvPr>
            <p:cNvSpPr/>
            <p:nvPr/>
          </p:nvSpPr>
          <p:spPr>
            <a:xfrm>
              <a:off x="1501314" y="2855481"/>
              <a:ext cx="4743450"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3" name="矩形 12">
              <a:extLst>
                <a:ext uri="{FF2B5EF4-FFF2-40B4-BE49-F238E27FC236}">
                  <a16:creationId xmlns:a16="http://schemas.microsoft.com/office/drawing/2014/main" id="{A21CD5E4-9618-441E-94D2-CD0118AE8CBD}"/>
                </a:ext>
              </a:extLst>
            </p:cNvPr>
            <p:cNvSpPr/>
            <p:nvPr/>
          </p:nvSpPr>
          <p:spPr>
            <a:xfrm>
              <a:off x="2189825" y="2938290"/>
              <a:ext cx="3486723" cy="426756"/>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小型数据库系统：</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lumMod val="85000"/>
                      <a:lumOff val="15000"/>
                    </a:prstClr>
                  </a:solidFill>
                  <a:effectLst/>
                  <a:uLnTx/>
                  <a:uFillTx/>
                  <a:latin typeface="微软雅黑"/>
                  <a:ea typeface="微软雅黑"/>
                  <a:cs typeface="+mn-cs"/>
                </a:rPr>
                <a:t>Foxpro</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Access </a:t>
              </a:r>
            </a:p>
          </p:txBody>
        </p:sp>
      </p:grpSp>
      <p:grpSp>
        <p:nvGrpSpPr>
          <p:cNvPr id="15" name="组合 14">
            <a:extLst>
              <a:ext uri="{FF2B5EF4-FFF2-40B4-BE49-F238E27FC236}">
                <a16:creationId xmlns:a16="http://schemas.microsoft.com/office/drawing/2014/main" id="{8BDC2B92-C8F0-45B2-86A8-9E30B5EED9BA}"/>
              </a:ext>
            </a:extLst>
          </p:cNvPr>
          <p:cNvGrpSpPr/>
          <p:nvPr/>
        </p:nvGrpSpPr>
        <p:grpSpPr>
          <a:xfrm>
            <a:off x="4112276" y="4392208"/>
            <a:ext cx="3767568" cy="1219584"/>
            <a:chOff x="1501314" y="2855481"/>
            <a:chExt cx="4745247" cy="590550"/>
          </a:xfrm>
        </p:grpSpPr>
        <p:sp>
          <p:nvSpPr>
            <p:cNvPr id="17" name="矩形: 圆角 16">
              <a:extLst>
                <a:ext uri="{FF2B5EF4-FFF2-40B4-BE49-F238E27FC236}">
                  <a16:creationId xmlns:a16="http://schemas.microsoft.com/office/drawing/2014/main" id="{25D9A642-92AF-44CC-81BB-02D3AB5B2E31}"/>
                </a:ext>
              </a:extLst>
            </p:cNvPr>
            <p:cNvSpPr/>
            <p:nvPr/>
          </p:nvSpPr>
          <p:spPr>
            <a:xfrm>
              <a:off x="1501314" y="2855481"/>
              <a:ext cx="4743450"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8" name="矩形 17">
              <a:extLst>
                <a:ext uri="{FF2B5EF4-FFF2-40B4-BE49-F238E27FC236}">
                  <a16:creationId xmlns:a16="http://schemas.microsoft.com/office/drawing/2014/main" id="{0949BCB3-7282-4E29-A3C1-F2FA8539FB3A}"/>
                </a:ext>
              </a:extLst>
            </p:cNvPr>
            <p:cNvSpPr/>
            <p:nvPr/>
          </p:nvSpPr>
          <p:spPr>
            <a:xfrm>
              <a:off x="1687803" y="2905764"/>
              <a:ext cx="4558758" cy="49180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大型数据库系统：</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Oracle</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SQL Server</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Informix</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Sybase</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MySQL </a:t>
              </a:r>
            </a:p>
          </p:txBody>
        </p:sp>
      </p:grpSp>
    </p:spTree>
    <p:custDataLst>
      <p:tags r:id="rId1"/>
    </p:custDataLst>
    <p:extLst>
      <p:ext uri="{BB962C8B-B14F-4D97-AF65-F5344CB8AC3E}">
        <p14:creationId xmlns:p14="http://schemas.microsoft.com/office/powerpoint/2010/main" val="129323141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wipe(left)">
                                      <p:cBhvr>
                                        <p:cTn id="15" dur="500"/>
                                        <p:tgtEl>
                                          <p:spTgt spid="10">
                                            <p:txEl>
                                              <p:pRg st="1" end="1"/>
                                            </p:txEl>
                                          </p:spTgt>
                                        </p:tgtEl>
                                      </p:cBhvr>
                                    </p:animEffect>
                                  </p:childTnLst>
                                </p:cTn>
                              </p:par>
                            </p:childTnLst>
                          </p:cTn>
                        </p:par>
                        <p:par>
                          <p:cTn id="16" fill="hold">
                            <p:stCondLst>
                              <p:cond delay="1500"/>
                            </p:stCondLst>
                            <p:childTnLst>
                              <p:par>
                                <p:cTn id="17" presetID="5" presetClass="entr" presetSubtype="1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heckerboard(across)">
                                      <p:cBhvr>
                                        <p:cTn id="19" dur="500"/>
                                        <p:tgtEl>
                                          <p:spTgt spid="11"/>
                                        </p:tgtEl>
                                      </p:cBhvr>
                                    </p:animEffect>
                                  </p:childTnLst>
                                </p:cTn>
                              </p:par>
                            </p:childTnLst>
                          </p:cTn>
                        </p:par>
                        <p:par>
                          <p:cTn id="20" fill="hold">
                            <p:stCondLst>
                              <p:cond delay="2000"/>
                            </p:stCondLst>
                            <p:childTnLst>
                              <p:par>
                                <p:cTn id="21" presetID="5" presetClass="entr" presetSubtype="1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heckerboard(across)">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8005B8EF-8DAF-43F7-9A9A-B5C5C2E97440}"/>
              </a:ext>
            </a:extLst>
          </p:cNvPr>
          <p:cNvSpPr/>
          <p:nvPr/>
        </p:nvSpPr>
        <p:spPr>
          <a:xfrm>
            <a:off x="841230" y="1468432"/>
            <a:ext cx="10131570"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关系模型的数据结构是一张规范化的二维表，它由表名、表头和表体三部分构成。</a:t>
            </a:r>
          </a:p>
        </p:txBody>
      </p:sp>
      <p:sp>
        <p:nvSpPr>
          <p:cNvPr id="2" name="矩形 1">
            <a:extLst>
              <a:ext uri="{FF2B5EF4-FFF2-40B4-BE49-F238E27FC236}">
                <a16:creationId xmlns:a16="http://schemas.microsoft.com/office/drawing/2014/main" id="{FB10D944-BCA6-46BD-AF57-BBB341B5C340}"/>
              </a:ext>
            </a:extLst>
          </p:cNvPr>
          <p:cNvSpPr/>
          <p:nvPr/>
        </p:nvSpPr>
        <p:spPr>
          <a:xfrm>
            <a:off x="2149388" y="2332481"/>
            <a:ext cx="186621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（学生关系）</a:t>
            </a:r>
          </a:p>
        </p:txBody>
      </p:sp>
      <p:grpSp>
        <p:nvGrpSpPr>
          <p:cNvPr id="3" name="组合 2">
            <a:extLst>
              <a:ext uri="{FF2B5EF4-FFF2-40B4-BE49-F238E27FC236}">
                <a16:creationId xmlns:a16="http://schemas.microsoft.com/office/drawing/2014/main" id="{49E37924-B8FE-5010-27AB-751BDA9F71E2}"/>
              </a:ext>
            </a:extLst>
          </p:cNvPr>
          <p:cNvGrpSpPr/>
          <p:nvPr/>
        </p:nvGrpSpPr>
        <p:grpSpPr>
          <a:xfrm>
            <a:off x="481856" y="454049"/>
            <a:ext cx="5614144" cy="879946"/>
            <a:chOff x="420387" y="472101"/>
            <a:chExt cx="5614144" cy="879946"/>
          </a:xfrm>
        </p:grpSpPr>
        <p:sp>
          <p:nvSpPr>
            <p:cNvPr id="7" name="内容占位符 2">
              <a:extLst>
                <a:ext uri="{FF2B5EF4-FFF2-40B4-BE49-F238E27FC236}">
                  <a16:creationId xmlns:a16="http://schemas.microsoft.com/office/drawing/2014/main" id="{E360F03C-61A0-4E9F-7BEB-AD63EF8BCCE6}"/>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关系模型</a:t>
              </a:r>
            </a:p>
          </p:txBody>
        </p:sp>
        <p:sp>
          <p:nvSpPr>
            <p:cNvPr id="8" name="KSO_Shape">
              <a:extLst>
                <a:ext uri="{FF2B5EF4-FFF2-40B4-BE49-F238E27FC236}">
                  <a16:creationId xmlns:a16="http://schemas.microsoft.com/office/drawing/2014/main" id="{BE4C0996-295C-C14D-EED1-7F1A7CFFFCF5}"/>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10" name="Text Box 67">
            <a:extLst>
              <a:ext uri="{FF2B5EF4-FFF2-40B4-BE49-F238E27FC236}">
                <a16:creationId xmlns:a16="http://schemas.microsoft.com/office/drawing/2014/main" id="{05520468-1C43-AA26-762A-AC053C96FF30}"/>
              </a:ext>
            </a:extLst>
          </p:cNvPr>
          <p:cNvSpPr txBox="1">
            <a:spLocks noChangeArrowheads="1"/>
          </p:cNvSpPr>
          <p:nvPr/>
        </p:nvSpPr>
        <p:spPr bwMode="auto">
          <a:xfrm>
            <a:off x="7936713" y="3262131"/>
            <a:ext cx="796896" cy="463605"/>
          </a:xfrm>
          <a:prstGeom prst="rect">
            <a:avLst/>
          </a:prstGeom>
          <a:noFill/>
          <a:ln>
            <a:noFill/>
          </a:ln>
          <a:effectLst/>
          <a:extLst>
            <a:ext uri="{909E8E84-426E-40DD-AFC4-6F175D3DCCD1}">
              <a14:hiddenFill xmlns:a14="http://schemas.microsoft.com/office/drawing/2010/main">
                <a:solidFill>
                  <a:srgbClr val="FF99CC">
                    <a:alpha val="47842"/>
                  </a:srgbClr>
                </a:solidFill>
              </a14:hiddenFill>
            </a:ext>
            <a:ext uri="{91240B29-F687-4F45-9708-019B960494DF}">
              <a14:hiddenLine xmlns:a14="http://schemas.microsoft.com/office/drawing/2010/main" w="19050" algn="ctr">
                <a:solidFill>
                  <a:srgbClr val="993366"/>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chemeClr val="tx1">
                    <a:lumMod val="75000"/>
                    <a:lumOff val="25000"/>
                  </a:schemeClr>
                </a:solidFill>
                <a:latin typeface="+mn-ea"/>
                <a:ea typeface="+mn-ea"/>
              </a:rPr>
              <a:t>关系</a:t>
            </a:r>
          </a:p>
        </p:txBody>
      </p:sp>
      <p:sp>
        <p:nvSpPr>
          <p:cNvPr id="11" name="AutoShape 68">
            <a:extLst>
              <a:ext uri="{FF2B5EF4-FFF2-40B4-BE49-F238E27FC236}">
                <a16:creationId xmlns:a16="http://schemas.microsoft.com/office/drawing/2014/main" id="{9735A309-9EA6-C503-4297-A0B9AC9DB5FE}"/>
              </a:ext>
            </a:extLst>
          </p:cNvPr>
          <p:cNvSpPr>
            <a:spLocks noChangeArrowheads="1"/>
          </p:cNvSpPr>
          <p:nvPr/>
        </p:nvSpPr>
        <p:spPr bwMode="auto">
          <a:xfrm>
            <a:off x="8771302" y="3383275"/>
            <a:ext cx="647363" cy="215788"/>
          </a:xfrm>
          <a:prstGeom prst="leftRightArrow">
            <a:avLst>
              <a:gd name="adj1" fmla="val 50000"/>
              <a:gd name="adj2" fmla="val 60000"/>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12" name="Text Box 69">
            <a:extLst>
              <a:ext uri="{FF2B5EF4-FFF2-40B4-BE49-F238E27FC236}">
                <a16:creationId xmlns:a16="http://schemas.microsoft.com/office/drawing/2014/main" id="{209042C2-891D-378B-5C5D-C359AC949F83}"/>
              </a:ext>
            </a:extLst>
          </p:cNvPr>
          <p:cNvSpPr txBox="1">
            <a:spLocks noChangeArrowheads="1"/>
          </p:cNvSpPr>
          <p:nvPr/>
        </p:nvSpPr>
        <p:spPr bwMode="auto">
          <a:xfrm>
            <a:off x="9337745" y="3263718"/>
            <a:ext cx="1223325" cy="462018"/>
          </a:xfrm>
          <a:prstGeom prst="rect">
            <a:avLst/>
          </a:prstGeom>
          <a:noFill/>
          <a:ln>
            <a:noFill/>
          </a:ln>
          <a:effectLst/>
          <a:extLst>
            <a:ext uri="{909E8E84-426E-40DD-AFC4-6F175D3DCCD1}">
              <a14:hiddenFill xmlns:a14="http://schemas.microsoft.com/office/drawing/2010/main">
                <a:solidFill>
                  <a:srgbClr val="FF99CC">
                    <a:alpha val="47842"/>
                  </a:srgbClr>
                </a:solidFill>
              </a14:hiddenFill>
            </a:ext>
            <a:ext uri="{91240B29-F687-4F45-9708-019B960494DF}">
              <a14:hiddenLine xmlns:a14="http://schemas.microsoft.com/office/drawing/2010/main" w="19050" algn="ctr">
                <a:solidFill>
                  <a:srgbClr val="993366"/>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9953" tIns="46776" rIns="89953" bIns="46776">
            <a:spAutoFit/>
          </a:bodyP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chemeClr val="tx1">
                    <a:lumMod val="75000"/>
                    <a:lumOff val="25000"/>
                  </a:schemeClr>
                </a:solidFill>
                <a:latin typeface="+mn-ea"/>
                <a:ea typeface="+mn-ea"/>
              </a:rPr>
              <a:t>二维表</a:t>
            </a:r>
          </a:p>
        </p:txBody>
      </p:sp>
      <p:sp>
        <p:nvSpPr>
          <p:cNvPr id="13" name="Rectangle 70">
            <a:extLst>
              <a:ext uri="{FF2B5EF4-FFF2-40B4-BE49-F238E27FC236}">
                <a16:creationId xmlns:a16="http://schemas.microsoft.com/office/drawing/2014/main" id="{CD92ECBA-534C-7B50-5E7C-7AF019154A9C}"/>
              </a:ext>
            </a:extLst>
          </p:cNvPr>
          <p:cNvSpPr>
            <a:spLocks noChangeArrowheads="1"/>
          </p:cNvSpPr>
          <p:nvPr/>
        </p:nvSpPr>
        <p:spPr bwMode="auto">
          <a:xfrm>
            <a:off x="1780418" y="3984068"/>
            <a:ext cx="5686638" cy="360175"/>
          </a:xfrm>
          <a:prstGeom prst="rect">
            <a:avLst/>
          </a:prstGeom>
          <a:noFill/>
          <a:ln w="25400" algn="ctr">
            <a:solidFill>
              <a:srgbClr val="CC3300"/>
            </a:solidFill>
            <a:miter lim="800000"/>
            <a:headEnd/>
            <a:tailEnd type="none" w="lg" len="lg"/>
          </a:ln>
          <a:effectLst/>
          <a:extLst>
            <a:ext uri="{909E8E84-426E-40DD-AFC4-6F175D3DCCD1}">
              <a14:hiddenFill xmlns:a14="http://schemas.microsoft.com/office/drawing/2010/main">
                <a:solidFill>
                  <a:srgbClr val="FF99CC">
                    <a:alpha val="47842"/>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nvGrpSpPr>
          <p:cNvPr id="15" name="Group 71">
            <a:extLst>
              <a:ext uri="{FF2B5EF4-FFF2-40B4-BE49-F238E27FC236}">
                <a16:creationId xmlns:a16="http://schemas.microsoft.com/office/drawing/2014/main" id="{6D9B48FC-797B-34AD-E32F-686B00F244D7}"/>
              </a:ext>
            </a:extLst>
          </p:cNvPr>
          <p:cNvGrpSpPr>
            <a:grpSpLocks/>
          </p:cNvGrpSpPr>
          <p:nvPr/>
        </p:nvGrpSpPr>
        <p:grpSpPr bwMode="auto">
          <a:xfrm>
            <a:off x="1780418" y="3047930"/>
            <a:ext cx="5686638" cy="2951213"/>
            <a:chOff x="-3" y="-3"/>
            <a:chExt cx="2135" cy="2790"/>
          </a:xfrm>
        </p:grpSpPr>
        <p:grpSp>
          <p:nvGrpSpPr>
            <p:cNvPr id="17" name="Group 72">
              <a:extLst>
                <a:ext uri="{FF2B5EF4-FFF2-40B4-BE49-F238E27FC236}">
                  <a16:creationId xmlns:a16="http://schemas.microsoft.com/office/drawing/2014/main" id="{80436F67-2BD2-C3B0-724D-282FEEF5B98E}"/>
                </a:ext>
              </a:extLst>
            </p:cNvPr>
            <p:cNvGrpSpPr>
              <a:grpSpLocks/>
            </p:cNvGrpSpPr>
            <p:nvPr/>
          </p:nvGrpSpPr>
          <p:grpSpPr bwMode="auto">
            <a:xfrm>
              <a:off x="0" y="0"/>
              <a:ext cx="2129" cy="2784"/>
              <a:chOff x="0" y="0"/>
              <a:chExt cx="2129" cy="2784"/>
            </a:xfrm>
          </p:grpSpPr>
          <p:grpSp>
            <p:nvGrpSpPr>
              <p:cNvPr id="130" name="Group 73">
                <a:extLst>
                  <a:ext uri="{FF2B5EF4-FFF2-40B4-BE49-F238E27FC236}">
                    <a16:creationId xmlns:a16="http://schemas.microsoft.com/office/drawing/2014/main" id="{8411986A-F957-E288-34C0-422B6490F0CF}"/>
                  </a:ext>
                </a:extLst>
              </p:cNvPr>
              <p:cNvGrpSpPr>
                <a:grpSpLocks/>
              </p:cNvGrpSpPr>
              <p:nvPr/>
            </p:nvGrpSpPr>
            <p:grpSpPr bwMode="auto">
              <a:xfrm>
                <a:off x="0" y="0"/>
                <a:ext cx="489" cy="480"/>
                <a:chOff x="0" y="0"/>
                <a:chExt cx="489" cy="480"/>
              </a:xfrm>
            </p:grpSpPr>
            <p:sp>
              <p:nvSpPr>
                <p:cNvPr id="242" name="Rectangle 74">
                  <a:extLst>
                    <a:ext uri="{FF2B5EF4-FFF2-40B4-BE49-F238E27FC236}">
                      <a16:creationId xmlns:a16="http://schemas.microsoft.com/office/drawing/2014/main" id="{F159B14F-7345-4726-9449-1A8B3E580FC7}"/>
                    </a:ext>
                  </a:extLst>
                </p:cNvPr>
                <p:cNvSpPr>
                  <a:spLocks noChangeArrowheads="1"/>
                </p:cNvSpPr>
                <p:nvPr/>
              </p:nvSpPr>
              <p:spPr bwMode="auto">
                <a:xfrm>
                  <a:off x="43" y="0"/>
                  <a:ext cx="403"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lnSpc>
                      <a:spcPct val="80000"/>
                    </a:lnSpc>
                    <a:spcBef>
                      <a:spcPct val="0"/>
                    </a:spcBef>
                    <a:buSzTx/>
                    <a:buFontTx/>
                    <a:buNone/>
                  </a:pPr>
                  <a:r>
                    <a:rPr kumimoji="1" lang="en-US" altLang="zh-CN" sz="1999">
                      <a:solidFill>
                        <a:srgbClr val="FF0000"/>
                      </a:solidFill>
                      <a:latin typeface="+mn-ea"/>
                      <a:ea typeface="+mn-ea"/>
                    </a:rPr>
                    <a:t>SNO</a:t>
                  </a:r>
                </a:p>
                <a:p>
                  <a:pPr algn="ctr" eaLnBrk="1" hangingPunct="1">
                    <a:lnSpc>
                      <a:spcPct val="80000"/>
                    </a:lnSpc>
                    <a:spcBef>
                      <a:spcPct val="0"/>
                    </a:spcBef>
                    <a:buSzTx/>
                    <a:buFontTx/>
                    <a:buNone/>
                  </a:pPr>
                  <a:r>
                    <a:rPr kumimoji="1" lang="zh-CN" altLang="en-US" sz="1999">
                      <a:latin typeface="+mn-ea"/>
                      <a:ea typeface="+mn-ea"/>
                    </a:rPr>
                    <a:t>学号</a:t>
                  </a:r>
                </a:p>
              </p:txBody>
            </p:sp>
            <p:sp>
              <p:nvSpPr>
                <p:cNvPr id="243" name="Rectangle 75">
                  <a:extLst>
                    <a:ext uri="{FF2B5EF4-FFF2-40B4-BE49-F238E27FC236}">
                      <a16:creationId xmlns:a16="http://schemas.microsoft.com/office/drawing/2014/main" id="{C205177A-DC72-FC96-361F-1EC96423DA58}"/>
                    </a:ext>
                  </a:extLst>
                </p:cNvPr>
                <p:cNvSpPr>
                  <a:spLocks noChangeArrowheads="1"/>
                </p:cNvSpPr>
                <p:nvPr/>
              </p:nvSpPr>
              <p:spPr bwMode="auto">
                <a:xfrm>
                  <a:off x="0" y="0"/>
                  <a:ext cx="48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31" name="Group 76">
                <a:extLst>
                  <a:ext uri="{FF2B5EF4-FFF2-40B4-BE49-F238E27FC236}">
                    <a16:creationId xmlns:a16="http://schemas.microsoft.com/office/drawing/2014/main" id="{60BECF8E-8DF4-9DE6-34C6-F586B7D58592}"/>
                  </a:ext>
                </a:extLst>
              </p:cNvPr>
              <p:cNvGrpSpPr>
                <a:grpSpLocks/>
              </p:cNvGrpSpPr>
              <p:nvPr/>
            </p:nvGrpSpPr>
            <p:grpSpPr bwMode="auto">
              <a:xfrm>
                <a:off x="489" y="0"/>
                <a:ext cx="446" cy="480"/>
                <a:chOff x="489" y="0"/>
                <a:chExt cx="446" cy="480"/>
              </a:xfrm>
            </p:grpSpPr>
            <p:sp>
              <p:nvSpPr>
                <p:cNvPr id="240" name="Rectangle 77">
                  <a:extLst>
                    <a:ext uri="{FF2B5EF4-FFF2-40B4-BE49-F238E27FC236}">
                      <a16:creationId xmlns:a16="http://schemas.microsoft.com/office/drawing/2014/main" id="{A116B513-60C6-C292-034E-135C96B9CDAD}"/>
                    </a:ext>
                  </a:extLst>
                </p:cNvPr>
                <p:cNvSpPr>
                  <a:spLocks noChangeArrowheads="1"/>
                </p:cNvSpPr>
                <p:nvPr/>
              </p:nvSpPr>
              <p:spPr bwMode="auto">
                <a:xfrm>
                  <a:off x="532" y="0"/>
                  <a:ext cx="36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lnSpc>
                      <a:spcPct val="80000"/>
                    </a:lnSpc>
                    <a:spcBef>
                      <a:spcPct val="0"/>
                    </a:spcBef>
                    <a:buSzTx/>
                    <a:buFontTx/>
                    <a:buNone/>
                  </a:pPr>
                  <a:r>
                    <a:rPr kumimoji="1" lang="en-US" altLang="zh-CN" sz="1999">
                      <a:solidFill>
                        <a:srgbClr val="FF0000"/>
                      </a:solidFill>
                      <a:latin typeface="+mn-ea"/>
                      <a:ea typeface="+mn-ea"/>
                    </a:rPr>
                    <a:t>SN</a:t>
                  </a:r>
                </a:p>
                <a:p>
                  <a:pPr algn="ctr" eaLnBrk="1" hangingPunct="1">
                    <a:lnSpc>
                      <a:spcPct val="80000"/>
                    </a:lnSpc>
                    <a:spcBef>
                      <a:spcPct val="0"/>
                    </a:spcBef>
                    <a:buSzTx/>
                    <a:buFontTx/>
                    <a:buNone/>
                  </a:pPr>
                  <a:r>
                    <a:rPr kumimoji="1" lang="zh-CN" altLang="en-US" sz="1999">
                      <a:latin typeface="+mn-ea"/>
                      <a:ea typeface="+mn-ea"/>
                    </a:rPr>
                    <a:t>姓名</a:t>
                  </a:r>
                </a:p>
              </p:txBody>
            </p:sp>
            <p:sp>
              <p:nvSpPr>
                <p:cNvPr id="241" name="Rectangle 78">
                  <a:extLst>
                    <a:ext uri="{FF2B5EF4-FFF2-40B4-BE49-F238E27FC236}">
                      <a16:creationId xmlns:a16="http://schemas.microsoft.com/office/drawing/2014/main" id="{D824FBF3-1040-F208-CA7D-7689A9428E8F}"/>
                    </a:ext>
                  </a:extLst>
                </p:cNvPr>
                <p:cNvSpPr>
                  <a:spLocks noChangeArrowheads="1"/>
                </p:cNvSpPr>
                <p:nvPr/>
              </p:nvSpPr>
              <p:spPr bwMode="auto">
                <a:xfrm>
                  <a:off x="489" y="0"/>
                  <a:ext cx="44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32" name="Group 79">
                <a:extLst>
                  <a:ext uri="{FF2B5EF4-FFF2-40B4-BE49-F238E27FC236}">
                    <a16:creationId xmlns:a16="http://schemas.microsoft.com/office/drawing/2014/main" id="{AA1E47C2-0466-3FFD-98D4-EAAEF5ACAFE0}"/>
                  </a:ext>
                </a:extLst>
              </p:cNvPr>
              <p:cNvGrpSpPr>
                <a:grpSpLocks/>
              </p:cNvGrpSpPr>
              <p:nvPr/>
            </p:nvGrpSpPr>
            <p:grpSpPr bwMode="auto">
              <a:xfrm>
                <a:off x="935" y="0"/>
                <a:ext cx="374" cy="480"/>
                <a:chOff x="935" y="0"/>
                <a:chExt cx="374" cy="480"/>
              </a:xfrm>
            </p:grpSpPr>
            <p:sp>
              <p:nvSpPr>
                <p:cNvPr id="238" name="Rectangle 80">
                  <a:extLst>
                    <a:ext uri="{FF2B5EF4-FFF2-40B4-BE49-F238E27FC236}">
                      <a16:creationId xmlns:a16="http://schemas.microsoft.com/office/drawing/2014/main" id="{5E930F64-81F7-D1C0-2F3B-F28368B8D039}"/>
                    </a:ext>
                  </a:extLst>
                </p:cNvPr>
                <p:cNvSpPr>
                  <a:spLocks noChangeArrowheads="1"/>
                </p:cNvSpPr>
                <p:nvPr/>
              </p:nvSpPr>
              <p:spPr bwMode="auto">
                <a:xfrm>
                  <a:off x="978" y="0"/>
                  <a:ext cx="28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lnSpc>
                      <a:spcPct val="80000"/>
                    </a:lnSpc>
                    <a:spcBef>
                      <a:spcPct val="0"/>
                    </a:spcBef>
                    <a:buSzTx/>
                    <a:buFontTx/>
                    <a:buNone/>
                  </a:pPr>
                  <a:r>
                    <a:rPr kumimoji="1" lang="en-US" altLang="zh-CN" sz="1999">
                      <a:solidFill>
                        <a:srgbClr val="FF0000"/>
                      </a:solidFill>
                      <a:latin typeface="+mn-ea"/>
                      <a:ea typeface="+mn-ea"/>
                    </a:rPr>
                    <a:t>SEX</a:t>
                  </a:r>
                  <a:r>
                    <a:rPr kumimoji="1" lang="zh-CN" altLang="en-US" sz="1999">
                      <a:latin typeface="+mn-ea"/>
                      <a:ea typeface="+mn-ea"/>
                    </a:rPr>
                    <a:t>性别</a:t>
                  </a:r>
                </a:p>
              </p:txBody>
            </p:sp>
            <p:sp>
              <p:nvSpPr>
                <p:cNvPr id="239" name="Rectangle 81">
                  <a:extLst>
                    <a:ext uri="{FF2B5EF4-FFF2-40B4-BE49-F238E27FC236}">
                      <a16:creationId xmlns:a16="http://schemas.microsoft.com/office/drawing/2014/main" id="{8C8BC930-7775-B224-FA71-A1AB65E02AB2}"/>
                    </a:ext>
                  </a:extLst>
                </p:cNvPr>
                <p:cNvSpPr>
                  <a:spLocks noChangeArrowheads="1"/>
                </p:cNvSpPr>
                <p:nvPr/>
              </p:nvSpPr>
              <p:spPr bwMode="auto">
                <a:xfrm>
                  <a:off x="935" y="0"/>
                  <a:ext cx="37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33" name="Group 82">
                <a:extLst>
                  <a:ext uri="{FF2B5EF4-FFF2-40B4-BE49-F238E27FC236}">
                    <a16:creationId xmlns:a16="http://schemas.microsoft.com/office/drawing/2014/main" id="{DC2A29E0-A669-7879-C4E9-1D00C42A4522}"/>
                  </a:ext>
                </a:extLst>
              </p:cNvPr>
              <p:cNvGrpSpPr>
                <a:grpSpLocks/>
              </p:cNvGrpSpPr>
              <p:nvPr/>
            </p:nvGrpSpPr>
            <p:grpSpPr bwMode="auto">
              <a:xfrm>
                <a:off x="1309" y="0"/>
                <a:ext cx="374" cy="480"/>
                <a:chOff x="1309" y="0"/>
                <a:chExt cx="374" cy="480"/>
              </a:xfrm>
            </p:grpSpPr>
            <p:sp>
              <p:nvSpPr>
                <p:cNvPr id="236" name="Rectangle 83">
                  <a:extLst>
                    <a:ext uri="{FF2B5EF4-FFF2-40B4-BE49-F238E27FC236}">
                      <a16:creationId xmlns:a16="http://schemas.microsoft.com/office/drawing/2014/main" id="{B2F2F0BF-5C1F-E39E-6723-A6775EF72D85}"/>
                    </a:ext>
                  </a:extLst>
                </p:cNvPr>
                <p:cNvSpPr>
                  <a:spLocks noChangeArrowheads="1"/>
                </p:cNvSpPr>
                <p:nvPr/>
              </p:nvSpPr>
              <p:spPr bwMode="auto">
                <a:xfrm>
                  <a:off x="1352" y="0"/>
                  <a:ext cx="28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lnSpc>
                      <a:spcPct val="80000"/>
                    </a:lnSpc>
                    <a:spcBef>
                      <a:spcPct val="0"/>
                    </a:spcBef>
                    <a:buSzTx/>
                    <a:buFontTx/>
                    <a:buNone/>
                  </a:pPr>
                  <a:r>
                    <a:rPr kumimoji="1" lang="en-US" altLang="zh-CN" sz="1999">
                      <a:solidFill>
                        <a:srgbClr val="FF0000"/>
                      </a:solidFill>
                      <a:latin typeface="+mn-ea"/>
                      <a:ea typeface="+mn-ea"/>
                    </a:rPr>
                    <a:t>AGE</a:t>
                  </a:r>
                </a:p>
                <a:p>
                  <a:pPr algn="ctr">
                    <a:lnSpc>
                      <a:spcPct val="80000"/>
                    </a:lnSpc>
                    <a:spcBef>
                      <a:spcPct val="0"/>
                    </a:spcBef>
                    <a:buSzTx/>
                    <a:buFontTx/>
                    <a:buNone/>
                  </a:pPr>
                  <a:r>
                    <a:rPr kumimoji="1" lang="zh-CN" altLang="en-US" sz="1999">
                      <a:latin typeface="+mn-ea"/>
                      <a:ea typeface="+mn-ea"/>
                    </a:rPr>
                    <a:t>年龄</a:t>
                  </a:r>
                </a:p>
              </p:txBody>
            </p:sp>
            <p:sp>
              <p:nvSpPr>
                <p:cNvPr id="237" name="Rectangle 84">
                  <a:extLst>
                    <a:ext uri="{FF2B5EF4-FFF2-40B4-BE49-F238E27FC236}">
                      <a16:creationId xmlns:a16="http://schemas.microsoft.com/office/drawing/2014/main" id="{02AA17FB-741A-1ACC-338D-87E81B11FB6D}"/>
                    </a:ext>
                  </a:extLst>
                </p:cNvPr>
                <p:cNvSpPr>
                  <a:spLocks noChangeArrowheads="1"/>
                </p:cNvSpPr>
                <p:nvPr/>
              </p:nvSpPr>
              <p:spPr bwMode="auto">
                <a:xfrm>
                  <a:off x="1309" y="0"/>
                  <a:ext cx="37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34" name="Group 85">
                <a:extLst>
                  <a:ext uri="{FF2B5EF4-FFF2-40B4-BE49-F238E27FC236}">
                    <a16:creationId xmlns:a16="http://schemas.microsoft.com/office/drawing/2014/main" id="{58E06A45-15C0-182B-4A7F-4DEBADD5CEAC}"/>
                  </a:ext>
                </a:extLst>
              </p:cNvPr>
              <p:cNvGrpSpPr>
                <a:grpSpLocks/>
              </p:cNvGrpSpPr>
              <p:nvPr/>
            </p:nvGrpSpPr>
            <p:grpSpPr bwMode="auto">
              <a:xfrm>
                <a:off x="1683" y="0"/>
                <a:ext cx="446" cy="480"/>
                <a:chOff x="1683" y="0"/>
                <a:chExt cx="446" cy="480"/>
              </a:xfrm>
            </p:grpSpPr>
            <p:sp>
              <p:nvSpPr>
                <p:cNvPr id="234" name="Rectangle 86">
                  <a:extLst>
                    <a:ext uri="{FF2B5EF4-FFF2-40B4-BE49-F238E27FC236}">
                      <a16:creationId xmlns:a16="http://schemas.microsoft.com/office/drawing/2014/main" id="{782A81B6-8EFD-78E0-DFDC-F8CDF91299B6}"/>
                    </a:ext>
                  </a:extLst>
                </p:cNvPr>
                <p:cNvSpPr>
                  <a:spLocks noChangeArrowheads="1"/>
                </p:cNvSpPr>
                <p:nvPr/>
              </p:nvSpPr>
              <p:spPr bwMode="auto">
                <a:xfrm>
                  <a:off x="1726" y="0"/>
                  <a:ext cx="36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lnSpc>
                      <a:spcPct val="80000"/>
                    </a:lnSpc>
                    <a:spcBef>
                      <a:spcPct val="0"/>
                    </a:spcBef>
                    <a:buSzTx/>
                    <a:buFontTx/>
                    <a:buNone/>
                  </a:pPr>
                  <a:r>
                    <a:rPr kumimoji="1" lang="en-US" altLang="zh-CN" sz="1999">
                      <a:solidFill>
                        <a:srgbClr val="FF0000"/>
                      </a:solidFill>
                      <a:latin typeface="+mn-ea"/>
                      <a:ea typeface="+mn-ea"/>
                    </a:rPr>
                    <a:t>DEPT</a:t>
                  </a:r>
                </a:p>
                <a:p>
                  <a:pPr algn="ctr">
                    <a:lnSpc>
                      <a:spcPct val="80000"/>
                    </a:lnSpc>
                    <a:spcBef>
                      <a:spcPct val="0"/>
                    </a:spcBef>
                    <a:buSzTx/>
                    <a:buFontTx/>
                    <a:buNone/>
                  </a:pPr>
                  <a:r>
                    <a:rPr kumimoji="1" lang="zh-CN" altLang="en-US" sz="1999">
                      <a:latin typeface="+mn-ea"/>
                      <a:ea typeface="+mn-ea"/>
                    </a:rPr>
                    <a:t>系别</a:t>
                  </a:r>
                </a:p>
              </p:txBody>
            </p:sp>
            <p:sp>
              <p:nvSpPr>
                <p:cNvPr id="235" name="Rectangle 87">
                  <a:extLst>
                    <a:ext uri="{FF2B5EF4-FFF2-40B4-BE49-F238E27FC236}">
                      <a16:creationId xmlns:a16="http://schemas.microsoft.com/office/drawing/2014/main" id="{8F062F2E-0A2A-601C-E051-2F43D0D28EDD}"/>
                    </a:ext>
                  </a:extLst>
                </p:cNvPr>
                <p:cNvSpPr>
                  <a:spLocks noChangeArrowheads="1"/>
                </p:cNvSpPr>
                <p:nvPr/>
              </p:nvSpPr>
              <p:spPr bwMode="auto">
                <a:xfrm>
                  <a:off x="1683" y="0"/>
                  <a:ext cx="44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39" name="Group 88">
                <a:extLst>
                  <a:ext uri="{FF2B5EF4-FFF2-40B4-BE49-F238E27FC236}">
                    <a16:creationId xmlns:a16="http://schemas.microsoft.com/office/drawing/2014/main" id="{8367E6CC-392A-BADA-E07F-8450FFC9081C}"/>
                  </a:ext>
                </a:extLst>
              </p:cNvPr>
              <p:cNvGrpSpPr>
                <a:grpSpLocks/>
              </p:cNvGrpSpPr>
              <p:nvPr/>
            </p:nvGrpSpPr>
            <p:grpSpPr bwMode="auto">
              <a:xfrm>
                <a:off x="0" y="480"/>
                <a:ext cx="489" cy="384"/>
                <a:chOff x="0" y="480"/>
                <a:chExt cx="489" cy="384"/>
              </a:xfrm>
            </p:grpSpPr>
            <p:sp>
              <p:nvSpPr>
                <p:cNvPr id="232" name="Rectangle 89">
                  <a:extLst>
                    <a:ext uri="{FF2B5EF4-FFF2-40B4-BE49-F238E27FC236}">
                      <a16:creationId xmlns:a16="http://schemas.microsoft.com/office/drawing/2014/main" id="{FA4F1EED-98DF-9430-23C3-C92878684EB6}"/>
                    </a:ext>
                  </a:extLst>
                </p:cNvPr>
                <p:cNvSpPr>
                  <a:spLocks noChangeArrowheads="1"/>
                </p:cNvSpPr>
                <p:nvPr/>
              </p:nvSpPr>
              <p:spPr bwMode="auto">
                <a:xfrm>
                  <a:off x="43" y="480"/>
                  <a:ext cx="40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S1</a:t>
                  </a:r>
                </a:p>
              </p:txBody>
            </p:sp>
            <p:sp>
              <p:nvSpPr>
                <p:cNvPr id="233" name="Rectangle 90">
                  <a:extLst>
                    <a:ext uri="{FF2B5EF4-FFF2-40B4-BE49-F238E27FC236}">
                      <a16:creationId xmlns:a16="http://schemas.microsoft.com/office/drawing/2014/main" id="{F3903BA8-0B36-478F-E023-C8A474F926AA}"/>
                    </a:ext>
                  </a:extLst>
                </p:cNvPr>
                <p:cNvSpPr>
                  <a:spLocks noChangeArrowheads="1"/>
                </p:cNvSpPr>
                <p:nvPr/>
              </p:nvSpPr>
              <p:spPr bwMode="auto">
                <a:xfrm>
                  <a:off x="0" y="480"/>
                  <a:ext cx="4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40" name="Group 91">
                <a:extLst>
                  <a:ext uri="{FF2B5EF4-FFF2-40B4-BE49-F238E27FC236}">
                    <a16:creationId xmlns:a16="http://schemas.microsoft.com/office/drawing/2014/main" id="{37EF69E4-DF80-9367-113D-2F14EA26C1CD}"/>
                  </a:ext>
                </a:extLst>
              </p:cNvPr>
              <p:cNvGrpSpPr>
                <a:grpSpLocks/>
              </p:cNvGrpSpPr>
              <p:nvPr/>
            </p:nvGrpSpPr>
            <p:grpSpPr bwMode="auto">
              <a:xfrm>
                <a:off x="489" y="480"/>
                <a:ext cx="446" cy="384"/>
                <a:chOff x="489" y="480"/>
                <a:chExt cx="446" cy="384"/>
              </a:xfrm>
            </p:grpSpPr>
            <p:sp>
              <p:nvSpPr>
                <p:cNvPr id="230" name="Rectangle 92">
                  <a:extLst>
                    <a:ext uri="{FF2B5EF4-FFF2-40B4-BE49-F238E27FC236}">
                      <a16:creationId xmlns:a16="http://schemas.microsoft.com/office/drawing/2014/main" id="{8EC43D11-0A49-BD75-7A3E-633768938FB9}"/>
                    </a:ext>
                  </a:extLst>
                </p:cNvPr>
                <p:cNvSpPr>
                  <a:spLocks noChangeArrowheads="1"/>
                </p:cNvSpPr>
                <p:nvPr/>
              </p:nvSpPr>
              <p:spPr bwMode="auto">
                <a:xfrm>
                  <a:off x="532" y="48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赵亦</a:t>
                  </a:r>
                </a:p>
              </p:txBody>
            </p:sp>
            <p:sp>
              <p:nvSpPr>
                <p:cNvPr id="231" name="Rectangle 93">
                  <a:extLst>
                    <a:ext uri="{FF2B5EF4-FFF2-40B4-BE49-F238E27FC236}">
                      <a16:creationId xmlns:a16="http://schemas.microsoft.com/office/drawing/2014/main" id="{A3F15826-AE87-2E99-4AFD-7398A9D88BA9}"/>
                    </a:ext>
                  </a:extLst>
                </p:cNvPr>
                <p:cNvSpPr>
                  <a:spLocks noChangeArrowheads="1"/>
                </p:cNvSpPr>
                <p:nvPr/>
              </p:nvSpPr>
              <p:spPr bwMode="auto">
                <a:xfrm>
                  <a:off x="489" y="48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41" name="Group 94">
                <a:extLst>
                  <a:ext uri="{FF2B5EF4-FFF2-40B4-BE49-F238E27FC236}">
                    <a16:creationId xmlns:a16="http://schemas.microsoft.com/office/drawing/2014/main" id="{599D93F1-7CE3-B94B-61F4-02F0F8D22E8D}"/>
                  </a:ext>
                </a:extLst>
              </p:cNvPr>
              <p:cNvGrpSpPr>
                <a:grpSpLocks/>
              </p:cNvGrpSpPr>
              <p:nvPr/>
            </p:nvGrpSpPr>
            <p:grpSpPr bwMode="auto">
              <a:xfrm>
                <a:off x="935" y="480"/>
                <a:ext cx="374" cy="384"/>
                <a:chOff x="935" y="480"/>
                <a:chExt cx="374" cy="384"/>
              </a:xfrm>
            </p:grpSpPr>
            <p:sp>
              <p:nvSpPr>
                <p:cNvPr id="228" name="Rectangle 95">
                  <a:extLst>
                    <a:ext uri="{FF2B5EF4-FFF2-40B4-BE49-F238E27FC236}">
                      <a16:creationId xmlns:a16="http://schemas.microsoft.com/office/drawing/2014/main" id="{9EFC5925-493E-C43A-E24B-22FCCF4F04E6}"/>
                    </a:ext>
                  </a:extLst>
                </p:cNvPr>
                <p:cNvSpPr>
                  <a:spLocks noChangeArrowheads="1"/>
                </p:cNvSpPr>
                <p:nvPr/>
              </p:nvSpPr>
              <p:spPr bwMode="auto">
                <a:xfrm>
                  <a:off x="978" y="48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女</a:t>
                  </a:r>
                </a:p>
              </p:txBody>
            </p:sp>
            <p:sp>
              <p:nvSpPr>
                <p:cNvPr id="229" name="Rectangle 96">
                  <a:extLst>
                    <a:ext uri="{FF2B5EF4-FFF2-40B4-BE49-F238E27FC236}">
                      <a16:creationId xmlns:a16="http://schemas.microsoft.com/office/drawing/2014/main" id="{1E20E180-E30B-8396-77C8-87B89A970D41}"/>
                    </a:ext>
                  </a:extLst>
                </p:cNvPr>
                <p:cNvSpPr>
                  <a:spLocks noChangeArrowheads="1"/>
                </p:cNvSpPr>
                <p:nvPr/>
              </p:nvSpPr>
              <p:spPr bwMode="auto">
                <a:xfrm>
                  <a:off x="935" y="48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47" name="Group 97">
                <a:extLst>
                  <a:ext uri="{FF2B5EF4-FFF2-40B4-BE49-F238E27FC236}">
                    <a16:creationId xmlns:a16="http://schemas.microsoft.com/office/drawing/2014/main" id="{E77E28E8-2D36-F046-F610-FEA7A305FA49}"/>
                  </a:ext>
                </a:extLst>
              </p:cNvPr>
              <p:cNvGrpSpPr>
                <a:grpSpLocks/>
              </p:cNvGrpSpPr>
              <p:nvPr/>
            </p:nvGrpSpPr>
            <p:grpSpPr bwMode="auto">
              <a:xfrm>
                <a:off x="1309" y="480"/>
                <a:ext cx="374" cy="384"/>
                <a:chOff x="1309" y="480"/>
                <a:chExt cx="374" cy="384"/>
              </a:xfrm>
            </p:grpSpPr>
            <p:sp>
              <p:nvSpPr>
                <p:cNvPr id="226" name="Rectangle 98">
                  <a:extLst>
                    <a:ext uri="{FF2B5EF4-FFF2-40B4-BE49-F238E27FC236}">
                      <a16:creationId xmlns:a16="http://schemas.microsoft.com/office/drawing/2014/main" id="{A2359617-3359-250C-62BC-60A4DC5FB183}"/>
                    </a:ext>
                  </a:extLst>
                </p:cNvPr>
                <p:cNvSpPr>
                  <a:spLocks noChangeArrowheads="1"/>
                </p:cNvSpPr>
                <p:nvPr/>
              </p:nvSpPr>
              <p:spPr bwMode="auto">
                <a:xfrm>
                  <a:off x="1352" y="48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17</a:t>
                  </a:r>
                </a:p>
              </p:txBody>
            </p:sp>
            <p:sp>
              <p:nvSpPr>
                <p:cNvPr id="227" name="Rectangle 99">
                  <a:extLst>
                    <a:ext uri="{FF2B5EF4-FFF2-40B4-BE49-F238E27FC236}">
                      <a16:creationId xmlns:a16="http://schemas.microsoft.com/office/drawing/2014/main" id="{15A06F0C-8236-EB15-D4AA-71A5777D75EF}"/>
                    </a:ext>
                  </a:extLst>
                </p:cNvPr>
                <p:cNvSpPr>
                  <a:spLocks noChangeArrowheads="1"/>
                </p:cNvSpPr>
                <p:nvPr/>
              </p:nvSpPr>
              <p:spPr bwMode="auto">
                <a:xfrm>
                  <a:off x="1309" y="48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48" name="Group 100">
                <a:extLst>
                  <a:ext uri="{FF2B5EF4-FFF2-40B4-BE49-F238E27FC236}">
                    <a16:creationId xmlns:a16="http://schemas.microsoft.com/office/drawing/2014/main" id="{52983CC8-09AA-EDD8-BC49-E2D36B0ACECA}"/>
                  </a:ext>
                </a:extLst>
              </p:cNvPr>
              <p:cNvGrpSpPr>
                <a:grpSpLocks/>
              </p:cNvGrpSpPr>
              <p:nvPr/>
            </p:nvGrpSpPr>
            <p:grpSpPr bwMode="auto">
              <a:xfrm>
                <a:off x="1683" y="480"/>
                <a:ext cx="446" cy="384"/>
                <a:chOff x="1683" y="480"/>
                <a:chExt cx="446" cy="384"/>
              </a:xfrm>
            </p:grpSpPr>
            <p:sp>
              <p:nvSpPr>
                <p:cNvPr id="224" name="Rectangle 101">
                  <a:extLst>
                    <a:ext uri="{FF2B5EF4-FFF2-40B4-BE49-F238E27FC236}">
                      <a16:creationId xmlns:a16="http://schemas.microsoft.com/office/drawing/2014/main" id="{180F8388-D7D6-389C-C5D6-429F2AF34E7B}"/>
                    </a:ext>
                  </a:extLst>
                </p:cNvPr>
                <p:cNvSpPr>
                  <a:spLocks noChangeArrowheads="1"/>
                </p:cNvSpPr>
                <p:nvPr/>
              </p:nvSpPr>
              <p:spPr bwMode="auto">
                <a:xfrm>
                  <a:off x="1726" y="48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计算机</a:t>
                  </a:r>
                </a:p>
              </p:txBody>
            </p:sp>
            <p:sp>
              <p:nvSpPr>
                <p:cNvPr id="225" name="Rectangle 102">
                  <a:extLst>
                    <a:ext uri="{FF2B5EF4-FFF2-40B4-BE49-F238E27FC236}">
                      <a16:creationId xmlns:a16="http://schemas.microsoft.com/office/drawing/2014/main" id="{145453F3-71C4-F337-1827-49C79794A5F1}"/>
                    </a:ext>
                  </a:extLst>
                </p:cNvPr>
                <p:cNvSpPr>
                  <a:spLocks noChangeArrowheads="1"/>
                </p:cNvSpPr>
                <p:nvPr/>
              </p:nvSpPr>
              <p:spPr bwMode="auto">
                <a:xfrm>
                  <a:off x="1683" y="48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49" name="Group 103">
                <a:extLst>
                  <a:ext uri="{FF2B5EF4-FFF2-40B4-BE49-F238E27FC236}">
                    <a16:creationId xmlns:a16="http://schemas.microsoft.com/office/drawing/2014/main" id="{7EB494BA-15A5-7F4C-D9A6-C7310DCF03EA}"/>
                  </a:ext>
                </a:extLst>
              </p:cNvPr>
              <p:cNvGrpSpPr>
                <a:grpSpLocks/>
              </p:cNvGrpSpPr>
              <p:nvPr/>
            </p:nvGrpSpPr>
            <p:grpSpPr bwMode="auto">
              <a:xfrm>
                <a:off x="0" y="864"/>
                <a:ext cx="489" cy="384"/>
                <a:chOff x="0" y="864"/>
                <a:chExt cx="489" cy="384"/>
              </a:xfrm>
            </p:grpSpPr>
            <p:sp>
              <p:nvSpPr>
                <p:cNvPr id="222" name="Rectangle 104">
                  <a:extLst>
                    <a:ext uri="{FF2B5EF4-FFF2-40B4-BE49-F238E27FC236}">
                      <a16:creationId xmlns:a16="http://schemas.microsoft.com/office/drawing/2014/main" id="{912F3E5A-600D-4633-2638-8B3A40F100AF}"/>
                    </a:ext>
                  </a:extLst>
                </p:cNvPr>
                <p:cNvSpPr>
                  <a:spLocks noChangeArrowheads="1"/>
                </p:cNvSpPr>
                <p:nvPr/>
              </p:nvSpPr>
              <p:spPr bwMode="auto">
                <a:xfrm>
                  <a:off x="43" y="864"/>
                  <a:ext cx="40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S2</a:t>
                  </a:r>
                </a:p>
              </p:txBody>
            </p:sp>
            <p:sp>
              <p:nvSpPr>
                <p:cNvPr id="223" name="Rectangle 105">
                  <a:extLst>
                    <a:ext uri="{FF2B5EF4-FFF2-40B4-BE49-F238E27FC236}">
                      <a16:creationId xmlns:a16="http://schemas.microsoft.com/office/drawing/2014/main" id="{C35B8BFB-1035-F607-F9BF-CED751428DAC}"/>
                    </a:ext>
                  </a:extLst>
                </p:cNvPr>
                <p:cNvSpPr>
                  <a:spLocks noChangeArrowheads="1"/>
                </p:cNvSpPr>
                <p:nvPr/>
              </p:nvSpPr>
              <p:spPr bwMode="auto">
                <a:xfrm>
                  <a:off x="0" y="864"/>
                  <a:ext cx="4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0" name="Group 106">
                <a:extLst>
                  <a:ext uri="{FF2B5EF4-FFF2-40B4-BE49-F238E27FC236}">
                    <a16:creationId xmlns:a16="http://schemas.microsoft.com/office/drawing/2014/main" id="{542BE1C3-6187-1B0A-4B67-A1946532F614}"/>
                  </a:ext>
                </a:extLst>
              </p:cNvPr>
              <p:cNvGrpSpPr>
                <a:grpSpLocks/>
              </p:cNvGrpSpPr>
              <p:nvPr/>
            </p:nvGrpSpPr>
            <p:grpSpPr bwMode="auto">
              <a:xfrm>
                <a:off x="489" y="864"/>
                <a:ext cx="446" cy="384"/>
                <a:chOff x="489" y="864"/>
                <a:chExt cx="446" cy="384"/>
              </a:xfrm>
            </p:grpSpPr>
            <p:sp>
              <p:nvSpPr>
                <p:cNvPr id="220" name="Rectangle 107">
                  <a:extLst>
                    <a:ext uri="{FF2B5EF4-FFF2-40B4-BE49-F238E27FC236}">
                      <a16:creationId xmlns:a16="http://schemas.microsoft.com/office/drawing/2014/main" id="{FD0FB08F-9E0D-0C39-1A30-9405AA816D77}"/>
                    </a:ext>
                  </a:extLst>
                </p:cNvPr>
                <p:cNvSpPr>
                  <a:spLocks noChangeArrowheads="1"/>
                </p:cNvSpPr>
                <p:nvPr/>
              </p:nvSpPr>
              <p:spPr bwMode="auto">
                <a:xfrm>
                  <a:off x="532" y="86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钱尔</a:t>
                  </a:r>
                </a:p>
              </p:txBody>
            </p:sp>
            <p:sp>
              <p:nvSpPr>
                <p:cNvPr id="221" name="Rectangle 108">
                  <a:extLst>
                    <a:ext uri="{FF2B5EF4-FFF2-40B4-BE49-F238E27FC236}">
                      <a16:creationId xmlns:a16="http://schemas.microsoft.com/office/drawing/2014/main" id="{3FE83479-7894-9304-7F68-D6CAEE48A7BA}"/>
                    </a:ext>
                  </a:extLst>
                </p:cNvPr>
                <p:cNvSpPr>
                  <a:spLocks noChangeArrowheads="1"/>
                </p:cNvSpPr>
                <p:nvPr/>
              </p:nvSpPr>
              <p:spPr bwMode="auto">
                <a:xfrm>
                  <a:off x="489" y="864"/>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1" name="Group 109">
                <a:extLst>
                  <a:ext uri="{FF2B5EF4-FFF2-40B4-BE49-F238E27FC236}">
                    <a16:creationId xmlns:a16="http://schemas.microsoft.com/office/drawing/2014/main" id="{DCF10624-82B8-BACE-034C-DB1026CD8B1C}"/>
                  </a:ext>
                </a:extLst>
              </p:cNvPr>
              <p:cNvGrpSpPr>
                <a:grpSpLocks/>
              </p:cNvGrpSpPr>
              <p:nvPr/>
            </p:nvGrpSpPr>
            <p:grpSpPr bwMode="auto">
              <a:xfrm>
                <a:off x="935" y="864"/>
                <a:ext cx="374" cy="384"/>
                <a:chOff x="935" y="864"/>
                <a:chExt cx="374" cy="384"/>
              </a:xfrm>
            </p:grpSpPr>
            <p:sp>
              <p:nvSpPr>
                <p:cNvPr id="218" name="Rectangle 110">
                  <a:extLst>
                    <a:ext uri="{FF2B5EF4-FFF2-40B4-BE49-F238E27FC236}">
                      <a16:creationId xmlns:a16="http://schemas.microsoft.com/office/drawing/2014/main" id="{91A290C9-7DF3-FE7A-B4DC-485AE7E4F8EF}"/>
                    </a:ext>
                  </a:extLst>
                </p:cNvPr>
                <p:cNvSpPr>
                  <a:spLocks noChangeArrowheads="1"/>
                </p:cNvSpPr>
                <p:nvPr/>
              </p:nvSpPr>
              <p:spPr bwMode="auto">
                <a:xfrm>
                  <a:off x="978" y="864"/>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男</a:t>
                  </a:r>
                </a:p>
              </p:txBody>
            </p:sp>
            <p:sp>
              <p:nvSpPr>
                <p:cNvPr id="219" name="Rectangle 111">
                  <a:extLst>
                    <a:ext uri="{FF2B5EF4-FFF2-40B4-BE49-F238E27FC236}">
                      <a16:creationId xmlns:a16="http://schemas.microsoft.com/office/drawing/2014/main" id="{C04B8B77-86BE-0678-6A37-74FA0FC11F16}"/>
                    </a:ext>
                  </a:extLst>
                </p:cNvPr>
                <p:cNvSpPr>
                  <a:spLocks noChangeArrowheads="1"/>
                </p:cNvSpPr>
                <p:nvPr/>
              </p:nvSpPr>
              <p:spPr bwMode="auto">
                <a:xfrm>
                  <a:off x="935" y="864"/>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2" name="Group 112">
                <a:extLst>
                  <a:ext uri="{FF2B5EF4-FFF2-40B4-BE49-F238E27FC236}">
                    <a16:creationId xmlns:a16="http://schemas.microsoft.com/office/drawing/2014/main" id="{0DFF4F9B-902C-D37A-AB0B-50A092F4354B}"/>
                  </a:ext>
                </a:extLst>
              </p:cNvPr>
              <p:cNvGrpSpPr>
                <a:grpSpLocks/>
              </p:cNvGrpSpPr>
              <p:nvPr/>
            </p:nvGrpSpPr>
            <p:grpSpPr bwMode="auto">
              <a:xfrm>
                <a:off x="1309" y="864"/>
                <a:ext cx="374" cy="384"/>
                <a:chOff x="1309" y="864"/>
                <a:chExt cx="374" cy="384"/>
              </a:xfrm>
            </p:grpSpPr>
            <p:sp>
              <p:nvSpPr>
                <p:cNvPr id="216" name="Rectangle 113">
                  <a:extLst>
                    <a:ext uri="{FF2B5EF4-FFF2-40B4-BE49-F238E27FC236}">
                      <a16:creationId xmlns:a16="http://schemas.microsoft.com/office/drawing/2014/main" id="{1411DDFC-4B2F-15E5-A6C7-E8ABE56A3261}"/>
                    </a:ext>
                  </a:extLst>
                </p:cNvPr>
                <p:cNvSpPr>
                  <a:spLocks noChangeArrowheads="1"/>
                </p:cNvSpPr>
                <p:nvPr/>
              </p:nvSpPr>
              <p:spPr bwMode="auto">
                <a:xfrm>
                  <a:off x="1352" y="864"/>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18</a:t>
                  </a:r>
                </a:p>
              </p:txBody>
            </p:sp>
            <p:sp>
              <p:nvSpPr>
                <p:cNvPr id="217" name="Rectangle 114">
                  <a:extLst>
                    <a:ext uri="{FF2B5EF4-FFF2-40B4-BE49-F238E27FC236}">
                      <a16:creationId xmlns:a16="http://schemas.microsoft.com/office/drawing/2014/main" id="{45FA99E5-4176-2AC7-F423-8EBF8A2E70A6}"/>
                    </a:ext>
                  </a:extLst>
                </p:cNvPr>
                <p:cNvSpPr>
                  <a:spLocks noChangeArrowheads="1"/>
                </p:cNvSpPr>
                <p:nvPr/>
              </p:nvSpPr>
              <p:spPr bwMode="auto">
                <a:xfrm>
                  <a:off x="1309" y="864"/>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3" name="Group 115">
                <a:extLst>
                  <a:ext uri="{FF2B5EF4-FFF2-40B4-BE49-F238E27FC236}">
                    <a16:creationId xmlns:a16="http://schemas.microsoft.com/office/drawing/2014/main" id="{66DB42B3-3629-5A5E-06B3-EF710B9A30AF}"/>
                  </a:ext>
                </a:extLst>
              </p:cNvPr>
              <p:cNvGrpSpPr>
                <a:grpSpLocks/>
              </p:cNvGrpSpPr>
              <p:nvPr/>
            </p:nvGrpSpPr>
            <p:grpSpPr bwMode="auto">
              <a:xfrm>
                <a:off x="1683" y="864"/>
                <a:ext cx="446" cy="384"/>
                <a:chOff x="1683" y="864"/>
                <a:chExt cx="446" cy="384"/>
              </a:xfrm>
            </p:grpSpPr>
            <p:sp>
              <p:nvSpPr>
                <p:cNvPr id="214" name="Rectangle 116">
                  <a:extLst>
                    <a:ext uri="{FF2B5EF4-FFF2-40B4-BE49-F238E27FC236}">
                      <a16:creationId xmlns:a16="http://schemas.microsoft.com/office/drawing/2014/main" id="{61C6B6C0-4C35-D37B-B2C5-07131CF71AE9}"/>
                    </a:ext>
                  </a:extLst>
                </p:cNvPr>
                <p:cNvSpPr>
                  <a:spLocks noChangeArrowheads="1"/>
                </p:cNvSpPr>
                <p:nvPr/>
              </p:nvSpPr>
              <p:spPr bwMode="auto">
                <a:xfrm>
                  <a:off x="1726" y="86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信息</a:t>
                  </a:r>
                </a:p>
              </p:txBody>
            </p:sp>
            <p:sp>
              <p:nvSpPr>
                <p:cNvPr id="215" name="Rectangle 117">
                  <a:extLst>
                    <a:ext uri="{FF2B5EF4-FFF2-40B4-BE49-F238E27FC236}">
                      <a16:creationId xmlns:a16="http://schemas.microsoft.com/office/drawing/2014/main" id="{A368BA93-772A-19D2-C738-7868694FEA2A}"/>
                    </a:ext>
                  </a:extLst>
                </p:cNvPr>
                <p:cNvSpPr>
                  <a:spLocks noChangeArrowheads="1"/>
                </p:cNvSpPr>
                <p:nvPr/>
              </p:nvSpPr>
              <p:spPr bwMode="auto">
                <a:xfrm>
                  <a:off x="1683" y="864"/>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4" name="Group 118">
                <a:extLst>
                  <a:ext uri="{FF2B5EF4-FFF2-40B4-BE49-F238E27FC236}">
                    <a16:creationId xmlns:a16="http://schemas.microsoft.com/office/drawing/2014/main" id="{4C956648-9553-E01F-CE47-A907DD3F1218}"/>
                  </a:ext>
                </a:extLst>
              </p:cNvPr>
              <p:cNvGrpSpPr>
                <a:grpSpLocks/>
              </p:cNvGrpSpPr>
              <p:nvPr/>
            </p:nvGrpSpPr>
            <p:grpSpPr bwMode="auto">
              <a:xfrm>
                <a:off x="0" y="1248"/>
                <a:ext cx="489" cy="384"/>
                <a:chOff x="0" y="1248"/>
                <a:chExt cx="489" cy="384"/>
              </a:xfrm>
            </p:grpSpPr>
            <p:sp>
              <p:nvSpPr>
                <p:cNvPr id="212" name="Rectangle 119">
                  <a:extLst>
                    <a:ext uri="{FF2B5EF4-FFF2-40B4-BE49-F238E27FC236}">
                      <a16:creationId xmlns:a16="http://schemas.microsoft.com/office/drawing/2014/main" id="{8D3038AA-0D5D-B6C9-78D0-5A463717B79B}"/>
                    </a:ext>
                  </a:extLst>
                </p:cNvPr>
                <p:cNvSpPr>
                  <a:spLocks noChangeArrowheads="1"/>
                </p:cNvSpPr>
                <p:nvPr/>
              </p:nvSpPr>
              <p:spPr bwMode="auto">
                <a:xfrm>
                  <a:off x="43" y="1248"/>
                  <a:ext cx="40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S3</a:t>
                  </a:r>
                </a:p>
              </p:txBody>
            </p:sp>
            <p:sp>
              <p:nvSpPr>
                <p:cNvPr id="213" name="Rectangle 120">
                  <a:extLst>
                    <a:ext uri="{FF2B5EF4-FFF2-40B4-BE49-F238E27FC236}">
                      <a16:creationId xmlns:a16="http://schemas.microsoft.com/office/drawing/2014/main" id="{0644905C-2AA4-B79E-FF9F-CC96459F5FCE}"/>
                    </a:ext>
                  </a:extLst>
                </p:cNvPr>
                <p:cNvSpPr>
                  <a:spLocks noChangeArrowheads="1"/>
                </p:cNvSpPr>
                <p:nvPr/>
              </p:nvSpPr>
              <p:spPr bwMode="auto">
                <a:xfrm>
                  <a:off x="0" y="1248"/>
                  <a:ext cx="4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5" name="Group 121">
                <a:extLst>
                  <a:ext uri="{FF2B5EF4-FFF2-40B4-BE49-F238E27FC236}">
                    <a16:creationId xmlns:a16="http://schemas.microsoft.com/office/drawing/2014/main" id="{DDCA5A11-E2A9-7B5D-9C01-D69C86E8D77E}"/>
                  </a:ext>
                </a:extLst>
              </p:cNvPr>
              <p:cNvGrpSpPr>
                <a:grpSpLocks/>
              </p:cNvGrpSpPr>
              <p:nvPr/>
            </p:nvGrpSpPr>
            <p:grpSpPr bwMode="auto">
              <a:xfrm>
                <a:off x="489" y="1248"/>
                <a:ext cx="446" cy="384"/>
                <a:chOff x="489" y="1248"/>
                <a:chExt cx="446" cy="384"/>
              </a:xfrm>
            </p:grpSpPr>
            <p:sp>
              <p:nvSpPr>
                <p:cNvPr id="210" name="Rectangle 122">
                  <a:extLst>
                    <a:ext uri="{FF2B5EF4-FFF2-40B4-BE49-F238E27FC236}">
                      <a16:creationId xmlns:a16="http://schemas.microsoft.com/office/drawing/2014/main" id="{36FFEAE2-602D-BB05-F55C-C96BBCEBE704}"/>
                    </a:ext>
                  </a:extLst>
                </p:cNvPr>
                <p:cNvSpPr>
                  <a:spLocks noChangeArrowheads="1"/>
                </p:cNvSpPr>
                <p:nvPr/>
              </p:nvSpPr>
              <p:spPr bwMode="auto">
                <a:xfrm>
                  <a:off x="532" y="1248"/>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孙珊</a:t>
                  </a:r>
                </a:p>
              </p:txBody>
            </p:sp>
            <p:sp>
              <p:nvSpPr>
                <p:cNvPr id="211" name="Rectangle 123">
                  <a:extLst>
                    <a:ext uri="{FF2B5EF4-FFF2-40B4-BE49-F238E27FC236}">
                      <a16:creationId xmlns:a16="http://schemas.microsoft.com/office/drawing/2014/main" id="{73B5EE29-4BF2-C819-CECB-B864F3D7EB20}"/>
                    </a:ext>
                  </a:extLst>
                </p:cNvPr>
                <p:cNvSpPr>
                  <a:spLocks noChangeArrowheads="1"/>
                </p:cNvSpPr>
                <p:nvPr/>
              </p:nvSpPr>
              <p:spPr bwMode="auto">
                <a:xfrm>
                  <a:off x="489" y="1248"/>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6" name="Group 124">
                <a:extLst>
                  <a:ext uri="{FF2B5EF4-FFF2-40B4-BE49-F238E27FC236}">
                    <a16:creationId xmlns:a16="http://schemas.microsoft.com/office/drawing/2014/main" id="{453153D2-548F-A3CD-F800-62867BC75762}"/>
                  </a:ext>
                </a:extLst>
              </p:cNvPr>
              <p:cNvGrpSpPr>
                <a:grpSpLocks/>
              </p:cNvGrpSpPr>
              <p:nvPr/>
            </p:nvGrpSpPr>
            <p:grpSpPr bwMode="auto">
              <a:xfrm>
                <a:off x="935" y="1248"/>
                <a:ext cx="374" cy="384"/>
                <a:chOff x="935" y="1248"/>
                <a:chExt cx="374" cy="384"/>
              </a:xfrm>
            </p:grpSpPr>
            <p:sp>
              <p:nvSpPr>
                <p:cNvPr id="208" name="Rectangle 125">
                  <a:extLst>
                    <a:ext uri="{FF2B5EF4-FFF2-40B4-BE49-F238E27FC236}">
                      <a16:creationId xmlns:a16="http://schemas.microsoft.com/office/drawing/2014/main" id="{F1D10A88-9493-1321-0C48-F18E46759681}"/>
                    </a:ext>
                  </a:extLst>
                </p:cNvPr>
                <p:cNvSpPr>
                  <a:spLocks noChangeArrowheads="1"/>
                </p:cNvSpPr>
                <p:nvPr/>
              </p:nvSpPr>
              <p:spPr bwMode="auto">
                <a:xfrm>
                  <a:off x="978" y="1248"/>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女</a:t>
                  </a:r>
                </a:p>
              </p:txBody>
            </p:sp>
            <p:sp>
              <p:nvSpPr>
                <p:cNvPr id="209" name="Rectangle 126">
                  <a:extLst>
                    <a:ext uri="{FF2B5EF4-FFF2-40B4-BE49-F238E27FC236}">
                      <a16:creationId xmlns:a16="http://schemas.microsoft.com/office/drawing/2014/main" id="{F32890EE-9F57-A387-BAFF-6266CF2BA266}"/>
                    </a:ext>
                  </a:extLst>
                </p:cNvPr>
                <p:cNvSpPr>
                  <a:spLocks noChangeArrowheads="1"/>
                </p:cNvSpPr>
                <p:nvPr/>
              </p:nvSpPr>
              <p:spPr bwMode="auto">
                <a:xfrm>
                  <a:off x="935" y="1248"/>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7" name="Group 127">
                <a:extLst>
                  <a:ext uri="{FF2B5EF4-FFF2-40B4-BE49-F238E27FC236}">
                    <a16:creationId xmlns:a16="http://schemas.microsoft.com/office/drawing/2014/main" id="{AED571E1-0CA1-2E67-0FE6-45B9FB198F26}"/>
                  </a:ext>
                </a:extLst>
              </p:cNvPr>
              <p:cNvGrpSpPr>
                <a:grpSpLocks/>
              </p:cNvGrpSpPr>
              <p:nvPr/>
            </p:nvGrpSpPr>
            <p:grpSpPr bwMode="auto">
              <a:xfrm>
                <a:off x="1309" y="1248"/>
                <a:ext cx="374" cy="384"/>
                <a:chOff x="1309" y="1248"/>
                <a:chExt cx="374" cy="384"/>
              </a:xfrm>
            </p:grpSpPr>
            <p:sp>
              <p:nvSpPr>
                <p:cNvPr id="206" name="Rectangle 128">
                  <a:extLst>
                    <a:ext uri="{FF2B5EF4-FFF2-40B4-BE49-F238E27FC236}">
                      <a16:creationId xmlns:a16="http://schemas.microsoft.com/office/drawing/2014/main" id="{BDE9A453-DE67-390F-32E8-49E7AFD3A495}"/>
                    </a:ext>
                  </a:extLst>
                </p:cNvPr>
                <p:cNvSpPr>
                  <a:spLocks noChangeArrowheads="1"/>
                </p:cNvSpPr>
                <p:nvPr/>
              </p:nvSpPr>
              <p:spPr bwMode="auto">
                <a:xfrm>
                  <a:off x="1352" y="1248"/>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20</a:t>
                  </a:r>
                </a:p>
              </p:txBody>
            </p:sp>
            <p:sp>
              <p:nvSpPr>
                <p:cNvPr id="207" name="Rectangle 129">
                  <a:extLst>
                    <a:ext uri="{FF2B5EF4-FFF2-40B4-BE49-F238E27FC236}">
                      <a16:creationId xmlns:a16="http://schemas.microsoft.com/office/drawing/2014/main" id="{260C527E-DB7D-399D-6574-19A99B775C41}"/>
                    </a:ext>
                  </a:extLst>
                </p:cNvPr>
                <p:cNvSpPr>
                  <a:spLocks noChangeArrowheads="1"/>
                </p:cNvSpPr>
                <p:nvPr/>
              </p:nvSpPr>
              <p:spPr bwMode="auto">
                <a:xfrm>
                  <a:off x="1309" y="1248"/>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8" name="Group 130">
                <a:extLst>
                  <a:ext uri="{FF2B5EF4-FFF2-40B4-BE49-F238E27FC236}">
                    <a16:creationId xmlns:a16="http://schemas.microsoft.com/office/drawing/2014/main" id="{C57F8074-63AA-54E7-2E6A-045016AC45E4}"/>
                  </a:ext>
                </a:extLst>
              </p:cNvPr>
              <p:cNvGrpSpPr>
                <a:grpSpLocks/>
              </p:cNvGrpSpPr>
              <p:nvPr/>
            </p:nvGrpSpPr>
            <p:grpSpPr bwMode="auto">
              <a:xfrm>
                <a:off x="1683" y="1248"/>
                <a:ext cx="446" cy="384"/>
                <a:chOff x="1683" y="1248"/>
                <a:chExt cx="446" cy="384"/>
              </a:xfrm>
            </p:grpSpPr>
            <p:sp>
              <p:nvSpPr>
                <p:cNvPr id="204" name="Rectangle 131">
                  <a:extLst>
                    <a:ext uri="{FF2B5EF4-FFF2-40B4-BE49-F238E27FC236}">
                      <a16:creationId xmlns:a16="http://schemas.microsoft.com/office/drawing/2014/main" id="{DE1598E5-2DDC-AD0C-C50D-B93D923C11CC}"/>
                    </a:ext>
                  </a:extLst>
                </p:cNvPr>
                <p:cNvSpPr>
                  <a:spLocks noChangeArrowheads="1"/>
                </p:cNvSpPr>
                <p:nvPr/>
              </p:nvSpPr>
              <p:spPr bwMode="auto">
                <a:xfrm>
                  <a:off x="1726" y="1248"/>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信息</a:t>
                  </a:r>
                </a:p>
              </p:txBody>
            </p:sp>
            <p:sp>
              <p:nvSpPr>
                <p:cNvPr id="205" name="Rectangle 132">
                  <a:extLst>
                    <a:ext uri="{FF2B5EF4-FFF2-40B4-BE49-F238E27FC236}">
                      <a16:creationId xmlns:a16="http://schemas.microsoft.com/office/drawing/2014/main" id="{4A64DB71-C258-C6A0-259B-869EBB7A34C6}"/>
                    </a:ext>
                  </a:extLst>
                </p:cNvPr>
                <p:cNvSpPr>
                  <a:spLocks noChangeArrowheads="1"/>
                </p:cNvSpPr>
                <p:nvPr/>
              </p:nvSpPr>
              <p:spPr bwMode="auto">
                <a:xfrm>
                  <a:off x="1683" y="1248"/>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59" name="Group 133">
                <a:extLst>
                  <a:ext uri="{FF2B5EF4-FFF2-40B4-BE49-F238E27FC236}">
                    <a16:creationId xmlns:a16="http://schemas.microsoft.com/office/drawing/2014/main" id="{DF2FC413-8AE4-7288-4E32-4B6BAD576678}"/>
                  </a:ext>
                </a:extLst>
              </p:cNvPr>
              <p:cNvGrpSpPr>
                <a:grpSpLocks/>
              </p:cNvGrpSpPr>
              <p:nvPr/>
            </p:nvGrpSpPr>
            <p:grpSpPr bwMode="auto">
              <a:xfrm>
                <a:off x="0" y="1632"/>
                <a:ext cx="489" cy="384"/>
                <a:chOff x="0" y="1632"/>
                <a:chExt cx="489" cy="384"/>
              </a:xfrm>
            </p:grpSpPr>
            <p:sp>
              <p:nvSpPr>
                <p:cNvPr id="202" name="Rectangle 134">
                  <a:extLst>
                    <a:ext uri="{FF2B5EF4-FFF2-40B4-BE49-F238E27FC236}">
                      <a16:creationId xmlns:a16="http://schemas.microsoft.com/office/drawing/2014/main" id="{D76F3E0A-67B7-DD2E-9DF1-E43999860CD7}"/>
                    </a:ext>
                  </a:extLst>
                </p:cNvPr>
                <p:cNvSpPr>
                  <a:spLocks noChangeArrowheads="1"/>
                </p:cNvSpPr>
                <p:nvPr/>
              </p:nvSpPr>
              <p:spPr bwMode="auto">
                <a:xfrm>
                  <a:off x="43" y="1632"/>
                  <a:ext cx="40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S4</a:t>
                  </a:r>
                </a:p>
              </p:txBody>
            </p:sp>
            <p:sp>
              <p:nvSpPr>
                <p:cNvPr id="203" name="Rectangle 135">
                  <a:extLst>
                    <a:ext uri="{FF2B5EF4-FFF2-40B4-BE49-F238E27FC236}">
                      <a16:creationId xmlns:a16="http://schemas.microsoft.com/office/drawing/2014/main" id="{E3807314-6A42-87A6-9C0B-057C35C287F1}"/>
                    </a:ext>
                  </a:extLst>
                </p:cNvPr>
                <p:cNvSpPr>
                  <a:spLocks noChangeArrowheads="1"/>
                </p:cNvSpPr>
                <p:nvPr/>
              </p:nvSpPr>
              <p:spPr bwMode="auto">
                <a:xfrm>
                  <a:off x="0" y="1632"/>
                  <a:ext cx="4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0" name="Group 136">
                <a:extLst>
                  <a:ext uri="{FF2B5EF4-FFF2-40B4-BE49-F238E27FC236}">
                    <a16:creationId xmlns:a16="http://schemas.microsoft.com/office/drawing/2014/main" id="{B3AFFE01-FD8E-0A44-EF2F-D875EC8D5FBE}"/>
                  </a:ext>
                </a:extLst>
              </p:cNvPr>
              <p:cNvGrpSpPr>
                <a:grpSpLocks/>
              </p:cNvGrpSpPr>
              <p:nvPr/>
            </p:nvGrpSpPr>
            <p:grpSpPr bwMode="auto">
              <a:xfrm>
                <a:off x="489" y="1632"/>
                <a:ext cx="446" cy="384"/>
                <a:chOff x="489" y="1632"/>
                <a:chExt cx="446" cy="384"/>
              </a:xfrm>
            </p:grpSpPr>
            <p:sp>
              <p:nvSpPr>
                <p:cNvPr id="200" name="Rectangle 137">
                  <a:extLst>
                    <a:ext uri="{FF2B5EF4-FFF2-40B4-BE49-F238E27FC236}">
                      <a16:creationId xmlns:a16="http://schemas.microsoft.com/office/drawing/2014/main" id="{59E0511A-29DD-5910-E780-9F0B0FFA37FA}"/>
                    </a:ext>
                  </a:extLst>
                </p:cNvPr>
                <p:cNvSpPr>
                  <a:spLocks noChangeArrowheads="1"/>
                </p:cNvSpPr>
                <p:nvPr/>
              </p:nvSpPr>
              <p:spPr bwMode="auto">
                <a:xfrm>
                  <a:off x="532" y="163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李思</a:t>
                  </a:r>
                </a:p>
              </p:txBody>
            </p:sp>
            <p:sp>
              <p:nvSpPr>
                <p:cNvPr id="201" name="Rectangle 138">
                  <a:extLst>
                    <a:ext uri="{FF2B5EF4-FFF2-40B4-BE49-F238E27FC236}">
                      <a16:creationId xmlns:a16="http://schemas.microsoft.com/office/drawing/2014/main" id="{7280EBA4-FDF1-8428-19BB-425DF5D05481}"/>
                    </a:ext>
                  </a:extLst>
                </p:cNvPr>
                <p:cNvSpPr>
                  <a:spLocks noChangeArrowheads="1"/>
                </p:cNvSpPr>
                <p:nvPr/>
              </p:nvSpPr>
              <p:spPr bwMode="auto">
                <a:xfrm>
                  <a:off x="489" y="163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1" name="Group 139">
                <a:extLst>
                  <a:ext uri="{FF2B5EF4-FFF2-40B4-BE49-F238E27FC236}">
                    <a16:creationId xmlns:a16="http://schemas.microsoft.com/office/drawing/2014/main" id="{C5C584A8-1AA0-DA1D-2BBC-4FE7CC14F339}"/>
                  </a:ext>
                </a:extLst>
              </p:cNvPr>
              <p:cNvGrpSpPr>
                <a:grpSpLocks/>
              </p:cNvGrpSpPr>
              <p:nvPr/>
            </p:nvGrpSpPr>
            <p:grpSpPr bwMode="auto">
              <a:xfrm>
                <a:off x="935" y="1632"/>
                <a:ext cx="374" cy="384"/>
                <a:chOff x="935" y="1632"/>
                <a:chExt cx="374" cy="384"/>
              </a:xfrm>
            </p:grpSpPr>
            <p:sp>
              <p:nvSpPr>
                <p:cNvPr id="198" name="Rectangle 140">
                  <a:extLst>
                    <a:ext uri="{FF2B5EF4-FFF2-40B4-BE49-F238E27FC236}">
                      <a16:creationId xmlns:a16="http://schemas.microsoft.com/office/drawing/2014/main" id="{8A37C602-9F3E-959B-437D-64110F730B80}"/>
                    </a:ext>
                  </a:extLst>
                </p:cNvPr>
                <p:cNvSpPr>
                  <a:spLocks noChangeArrowheads="1"/>
                </p:cNvSpPr>
                <p:nvPr/>
              </p:nvSpPr>
              <p:spPr bwMode="auto">
                <a:xfrm>
                  <a:off x="978" y="1632"/>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男</a:t>
                  </a:r>
                </a:p>
              </p:txBody>
            </p:sp>
            <p:sp>
              <p:nvSpPr>
                <p:cNvPr id="199" name="Rectangle 141">
                  <a:extLst>
                    <a:ext uri="{FF2B5EF4-FFF2-40B4-BE49-F238E27FC236}">
                      <a16:creationId xmlns:a16="http://schemas.microsoft.com/office/drawing/2014/main" id="{3AD5073A-F30B-3DFB-9D0B-A9CAAB82C416}"/>
                    </a:ext>
                  </a:extLst>
                </p:cNvPr>
                <p:cNvSpPr>
                  <a:spLocks noChangeArrowheads="1"/>
                </p:cNvSpPr>
                <p:nvPr/>
              </p:nvSpPr>
              <p:spPr bwMode="auto">
                <a:xfrm>
                  <a:off x="935" y="1632"/>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2" name="Group 142">
                <a:extLst>
                  <a:ext uri="{FF2B5EF4-FFF2-40B4-BE49-F238E27FC236}">
                    <a16:creationId xmlns:a16="http://schemas.microsoft.com/office/drawing/2014/main" id="{CC842FE3-F947-E5AD-8014-AC711C98511F}"/>
                  </a:ext>
                </a:extLst>
              </p:cNvPr>
              <p:cNvGrpSpPr>
                <a:grpSpLocks/>
              </p:cNvGrpSpPr>
              <p:nvPr/>
            </p:nvGrpSpPr>
            <p:grpSpPr bwMode="auto">
              <a:xfrm>
                <a:off x="1309" y="1632"/>
                <a:ext cx="374" cy="384"/>
                <a:chOff x="1309" y="1632"/>
                <a:chExt cx="374" cy="384"/>
              </a:xfrm>
            </p:grpSpPr>
            <p:sp>
              <p:nvSpPr>
                <p:cNvPr id="196" name="Rectangle 143">
                  <a:extLst>
                    <a:ext uri="{FF2B5EF4-FFF2-40B4-BE49-F238E27FC236}">
                      <a16:creationId xmlns:a16="http://schemas.microsoft.com/office/drawing/2014/main" id="{A856D921-F8D5-DA0B-DD0B-70A0A46314FE}"/>
                    </a:ext>
                  </a:extLst>
                </p:cNvPr>
                <p:cNvSpPr>
                  <a:spLocks noChangeArrowheads="1"/>
                </p:cNvSpPr>
                <p:nvPr/>
              </p:nvSpPr>
              <p:spPr bwMode="auto">
                <a:xfrm>
                  <a:off x="1352" y="1632"/>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21</a:t>
                  </a:r>
                </a:p>
              </p:txBody>
            </p:sp>
            <p:sp>
              <p:nvSpPr>
                <p:cNvPr id="197" name="Rectangle 144">
                  <a:extLst>
                    <a:ext uri="{FF2B5EF4-FFF2-40B4-BE49-F238E27FC236}">
                      <a16:creationId xmlns:a16="http://schemas.microsoft.com/office/drawing/2014/main" id="{46AF6E82-BE0D-2655-FC1B-CC0E6E9F0E25}"/>
                    </a:ext>
                  </a:extLst>
                </p:cNvPr>
                <p:cNvSpPr>
                  <a:spLocks noChangeArrowheads="1"/>
                </p:cNvSpPr>
                <p:nvPr/>
              </p:nvSpPr>
              <p:spPr bwMode="auto">
                <a:xfrm>
                  <a:off x="1309" y="1632"/>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3" name="Group 145">
                <a:extLst>
                  <a:ext uri="{FF2B5EF4-FFF2-40B4-BE49-F238E27FC236}">
                    <a16:creationId xmlns:a16="http://schemas.microsoft.com/office/drawing/2014/main" id="{AA0F27E2-A600-7E04-6DCC-13B9998DB28D}"/>
                  </a:ext>
                </a:extLst>
              </p:cNvPr>
              <p:cNvGrpSpPr>
                <a:grpSpLocks/>
              </p:cNvGrpSpPr>
              <p:nvPr/>
            </p:nvGrpSpPr>
            <p:grpSpPr bwMode="auto">
              <a:xfrm>
                <a:off x="1683" y="1632"/>
                <a:ext cx="446" cy="384"/>
                <a:chOff x="1683" y="1632"/>
                <a:chExt cx="446" cy="384"/>
              </a:xfrm>
            </p:grpSpPr>
            <p:sp>
              <p:nvSpPr>
                <p:cNvPr id="194" name="Rectangle 146">
                  <a:extLst>
                    <a:ext uri="{FF2B5EF4-FFF2-40B4-BE49-F238E27FC236}">
                      <a16:creationId xmlns:a16="http://schemas.microsoft.com/office/drawing/2014/main" id="{3F7C3819-3B9C-12A0-FC2D-0C04F78CF409}"/>
                    </a:ext>
                  </a:extLst>
                </p:cNvPr>
                <p:cNvSpPr>
                  <a:spLocks noChangeArrowheads="1"/>
                </p:cNvSpPr>
                <p:nvPr/>
              </p:nvSpPr>
              <p:spPr bwMode="auto">
                <a:xfrm>
                  <a:off x="1726" y="163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自动化</a:t>
                  </a:r>
                </a:p>
              </p:txBody>
            </p:sp>
            <p:sp>
              <p:nvSpPr>
                <p:cNvPr id="195" name="Rectangle 147">
                  <a:extLst>
                    <a:ext uri="{FF2B5EF4-FFF2-40B4-BE49-F238E27FC236}">
                      <a16:creationId xmlns:a16="http://schemas.microsoft.com/office/drawing/2014/main" id="{30060295-21D0-5A46-6582-9095074AD187}"/>
                    </a:ext>
                  </a:extLst>
                </p:cNvPr>
                <p:cNvSpPr>
                  <a:spLocks noChangeArrowheads="1"/>
                </p:cNvSpPr>
                <p:nvPr/>
              </p:nvSpPr>
              <p:spPr bwMode="auto">
                <a:xfrm>
                  <a:off x="1683" y="163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4" name="Group 148">
                <a:extLst>
                  <a:ext uri="{FF2B5EF4-FFF2-40B4-BE49-F238E27FC236}">
                    <a16:creationId xmlns:a16="http://schemas.microsoft.com/office/drawing/2014/main" id="{004C3F9B-15D5-55F8-C932-5EFCC4B1F6AE}"/>
                  </a:ext>
                </a:extLst>
              </p:cNvPr>
              <p:cNvGrpSpPr>
                <a:grpSpLocks/>
              </p:cNvGrpSpPr>
              <p:nvPr/>
            </p:nvGrpSpPr>
            <p:grpSpPr bwMode="auto">
              <a:xfrm>
                <a:off x="0" y="2016"/>
                <a:ext cx="489" cy="384"/>
                <a:chOff x="0" y="2016"/>
                <a:chExt cx="489" cy="384"/>
              </a:xfrm>
            </p:grpSpPr>
            <p:sp>
              <p:nvSpPr>
                <p:cNvPr id="192" name="Rectangle 149">
                  <a:extLst>
                    <a:ext uri="{FF2B5EF4-FFF2-40B4-BE49-F238E27FC236}">
                      <a16:creationId xmlns:a16="http://schemas.microsoft.com/office/drawing/2014/main" id="{EC8D9A0E-E327-F9FE-A535-00B5CD11F4B9}"/>
                    </a:ext>
                  </a:extLst>
                </p:cNvPr>
                <p:cNvSpPr>
                  <a:spLocks noChangeArrowheads="1"/>
                </p:cNvSpPr>
                <p:nvPr/>
              </p:nvSpPr>
              <p:spPr bwMode="auto">
                <a:xfrm>
                  <a:off x="43" y="2016"/>
                  <a:ext cx="40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S5</a:t>
                  </a:r>
                </a:p>
              </p:txBody>
            </p:sp>
            <p:sp>
              <p:nvSpPr>
                <p:cNvPr id="193" name="Rectangle 150">
                  <a:extLst>
                    <a:ext uri="{FF2B5EF4-FFF2-40B4-BE49-F238E27FC236}">
                      <a16:creationId xmlns:a16="http://schemas.microsoft.com/office/drawing/2014/main" id="{FF1D15B3-AD78-E59E-6DC0-2F912F802500}"/>
                    </a:ext>
                  </a:extLst>
                </p:cNvPr>
                <p:cNvSpPr>
                  <a:spLocks noChangeArrowheads="1"/>
                </p:cNvSpPr>
                <p:nvPr/>
              </p:nvSpPr>
              <p:spPr bwMode="auto">
                <a:xfrm>
                  <a:off x="0" y="2016"/>
                  <a:ext cx="4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5" name="Group 151">
                <a:extLst>
                  <a:ext uri="{FF2B5EF4-FFF2-40B4-BE49-F238E27FC236}">
                    <a16:creationId xmlns:a16="http://schemas.microsoft.com/office/drawing/2014/main" id="{DA523B5C-F83E-34F6-8B9C-B01CC2F284A7}"/>
                  </a:ext>
                </a:extLst>
              </p:cNvPr>
              <p:cNvGrpSpPr>
                <a:grpSpLocks/>
              </p:cNvGrpSpPr>
              <p:nvPr/>
            </p:nvGrpSpPr>
            <p:grpSpPr bwMode="auto">
              <a:xfrm>
                <a:off x="489" y="2016"/>
                <a:ext cx="446" cy="384"/>
                <a:chOff x="489" y="2016"/>
                <a:chExt cx="446" cy="384"/>
              </a:xfrm>
            </p:grpSpPr>
            <p:sp>
              <p:nvSpPr>
                <p:cNvPr id="190" name="Rectangle 152">
                  <a:extLst>
                    <a:ext uri="{FF2B5EF4-FFF2-40B4-BE49-F238E27FC236}">
                      <a16:creationId xmlns:a16="http://schemas.microsoft.com/office/drawing/2014/main" id="{3592BC58-ADBA-CE3C-B6B6-CFF72ACC676D}"/>
                    </a:ext>
                  </a:extLst>
                </p:cNvPr>
                <p:cNvSpPr>
                  <a:spLocks noChangeArrowheads="1"/>
                </p:cNvSpPr>
                <p:nvPr/>
              </p:nvSpPr>
              <p:spPr bwMode="auto">
                <a:xfrm>
                  <a:off x="532" y="201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周武</a:t>
                  </a:r>
                </a:p>
              </p:txBody>
            </p:sp>
            <p:sp>
              <p:nvSpPr>
                <p:cNvPr id="191" name="Rectangle 153">
                  <a:extLst>
                    <a:ext uri="{FF2B5EF4-FFF2-40B4-BE49-F238E27FC236}">
                      <a16:creationId xmlns:a16="http://schemas.microsoft.com/office/drawing/2014/main" id="{436E7BE6-CDE9-2468-6F15-E0AC1B5D2D7B}"/>
                    </a:ext>
                  </a:extLst>
                </p:cNvPr>
                <p:cNvSpPr>
                  <a:spLocks noChangeArrowheads="1"/>
                </p:cNvSpPr>
                <p:nvPr/>
              </p:nvSpPr>
              <p:spPr bwMode="auto">
                <a:xfrm>
                  <a:off x="489" y="2016"/>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6" name="Group 154">
                <a:extLst>
                  <a:ext uri="{FF2B5EF4-FFF2-40B4-BE49-F238E27FC236}">
                    <a16:creationId xmlns:a16="http://schemas.microsoft.com/office/drawing/2014/main" id="{2050512E-1529-46D7-7C51-30C9E5A86C28}"/>
                  </a:ext>
                </a:extLst>
              </p:cNvPr>
              <p:cNvGrpSpPr>
                <a:grpSpLocks/>
              </p:cNvGrpSpPr>
              <p:nvPr/>
            </p:nvGrpSpPr>
            <p:grpSpPr bwMode="auto">
              <a:xfrm>
                <a:off x="935" y="2016"/>
                <a:ext cx="374" cy="384"/>
                <a:chOff x="935" y="2016"/>
                <a:chExt cx="374" cy="384"/>
              </a:xfrm>
            </p:grpSpPr>
            <p:sp>
              <p:nvSpPr>
                <p:cNvPr id="188" name="Rectangle 155">
                  <a:extLst>
                    <a:ext uri="{FF2B5EF4-FFF2-40B4-BE49-F238E27FC236}">
                      <a16:creationId xmlns:a16="http://schemas.microsoft.com/office/drawing/2014/main" id="{6645B57C-1951-E1EA-7E09-D1603F6EFEB2}"/>
                    </a:ext>
                  </a:extLst>
                </p:cNvPr>
                <p:cNvSpPr>
                  <a:spLocks noChangeArrowheads="1"/>
                </p:cNvSpPr>
                <p:nvPr/>
              </p:nvSpPr>
              <p:spPr bwMode="auto">
                <a:xfrm>
                  <a:off x="978" y="2016"/>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男</a:t>
                  </a:r>
                </a:p>
              </p:txBody>
            </p:sp>
            <p:sp>
              <p:nvSpPr>
                <p:cNvPr id="189" name="Rectangle 156">
                  <a:extLst>
                    <a:ext uri="{FF2B5EF4-FFF2-40B4-BE49-F238E27FC236}">
                      <a16:creationId xmlns:a16="http://schemas.microsoft.com/office/drawing/2014/main" id="{8D888874-0409-09D4-23B3-65BB5AD8DF32}"/>
                    </a:ext>
                  </a:extLst>
                </p:cNvPr>
                <p:cNvSpPr>
                  <a:spLocks noChangeArrowheads="1"/>
                </p:cNvSpPr>
                <p:nvPr/>
              </p:nvSpPr>
              <p:spPr bwMode="auto">
                <a:xfrm>
                  <a:off x="935" y="2016"/>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7" name="Group 157">
                <a:extLst>
                  <a:ext uri="{FF2B5EF4-FFF2-40B4-BE49-F238E27FC236}">
                    <a16:creationId xmlns:a16="http://schemas.microsoft.com/office/drawing/2014/main" id="{4E83035E-E959-B29F-916B-92E5C48A2D9A}"/>
                  </a:ext>
                </a:extLst>
              </p:cNvPr>
              <p:cNvGrpSpPr>
                <a:grpSpLocks/>
              </p:cNvGrpSpPr>
              <p:nvPr/>
            </p:nvGrpSpPr>
            <p:grpSpPr bwMode="auto">
              <a:xfrm>
                <a:off x="1309" y="2016"/>
                <a:ext cx="374" cy="384"/>
                <a:chOff x="1309" y="2016"/>
                <a:chExt cx="374" cy="384"/>
              </a:xfrm>
            </p:grpSpPr>
            <p:sp>
              <p:nvSpPr>
                <p:cNvPr id="186" name="Rectangle 158">
                  <a:extLst>
                    <a:ext uri="{FF2B5EF4-FFF2-40B4-BE49-F238E27FC236}">
                      <a16:creationId xmlns:a16="http://schemas.microsoft.com/office/drawing/2014/main" id="{C67F5EF2-9B51-2B09-F454-7716FC01215C}"/>
                    </a:ext>
                  </a:extLst>
                </p:cNvPr>
                <p:cNvSpPr>
                  <a:spLocks noChangeArrowheads="1"/>
                </p:cNvSpPr>
                <p:nvPr/>
              </p:nvSpPr>
              <p:spPr bwMode="auto">
                <a:xfrm>
                  <a:off x="1352" y="2016"/>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19</a:t>
                  </a:r>
                </a:p>
              </p:txBody>
            </p:sp>
            <p:sp>
              <p:nvSpPr>
                <p:cNvPr id="187" name="Rectangle 159">
                  <a:extLst>
                    <a:ext uri="{FF2B5EF4-FFF2-40B4-BE49-F238E27FC236}">
                      <a16:creationId xmlns:a16="http://schemas.microsoft.com/office/drawing/2014/main" id="{AF431215-E86D-2425-AE9E-898DC442EBC5}"/>
                    </a:ext>
                  </a:extLst>
                </p:cNvPr>
                <p:cNvSpPr>
                  <a:spLocks noChangeArrowheads="1"/>
                </p:cNvSpPr>
                <p:nvPr/>
              </p:nvSpPr>
              <p:spPr bwMode="auto">
                <a:xfrm>
                  <a:off x="1309" y="2016"/>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8" name="Group 160">
                <a:extLst>
                  <a:ext uri="{FF2B5EF4-FFF2-40B4-BE49-F238E27FC236}">
                    <a16:creationId xmlns:a16="http://schemas.microsoft.com/office/drawing/2014/main" id="{243CE91D-3762-57C2-E3F6-C0260AEA6FE3}"/>
                  </a:ext>
                </a:extLst>
              </p:cNvPr>
              <p:cNvGrpSpPr>
                <a:grpSpLocks/>
              </p:cNvGrpSpPr>
              <p:nvPr/>
            </p:nvGrpSpPr>
            <p:grpSpPr bwMode="auto">
              <a:xfrm>
                <a:off x="1683" y="2016"/>
                <a:ext cx="446" cy="384"/>
                <a:chOff x="1683" y="2016"/>
                <a:chExt cx="446" cy="384"/>
              </a:xfrm>
            </p:grpSpPr>
            <p:sp>
              <p:nvSpPr>
                <p:cNvPr id="184" name="Rectangle 161">
                  <a:extLst>
                    <a:ext uri="{FF2B5EF4-FFF2-40B4-BE49-F238E27FC236}">
                      <a16:creationId xmlns:a16="http://schemas.microsoft.com/office/drawing/2014/main" id="{74C637B1-59B6-0CC4-56ED-C613E1E16405}"/>
                    </a:ext>
                  </a:extLst>
                </p:cNvPr>
                <p:cNvSpPr>
                  <a:spLocks noChangeArrowheads="1"/>
                </p:cNvSpPr>
                <p:nvPr/>
              </p:nvSpPr>
              <p:spPr bwMode="auto">
                <a:xfrm>
                  <a:off x="1726" y="201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计算机</a:t>
                  </a:r>
                </a:p>
              </p:txBody>
            </p:sp>
            <p:sp>
              <p:nvSpPr>
                <p:cNvPr id="185" name="Rectangle 162">
                  <a:extLst>
                    <a:ext uri="{FF2B5EF4-FFF2-40B4-BE49-F238E27FC236}">
                      <a16:creationId xmlns:a16="http://schemas.microsoft.com/office/drawing/2014/main" id="{4692CB06-DEF9-97C2-0A9C-E5D5439B139A}"/>
                    </a:ext>
                  </a:extLst>
                </p:cNvPr>
                <p:cNvSpPr>
                  <a:spLocks noChangeArrowheads="1"/>
                </p:cNvSpPr>
                <p:nvPr/>
              </p:nvSpPr>
              <p:spPr bwMode="auto">
                <a:xfrm>
                  <a:off x="1683" y="2016"/>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69" name="Group 163">
                <a:extLst>
                  <a:ext uri="{FF2B5EF4-FFF2-40B4-BE49-F238E27FC236}">
                    <a16:creationId xmlns:a16="http://schemas.microsoft.com/office/drawing/2014/main" id="{17DB893F-722D-D898-0F2B-5AD7C8201B3A}"/>
                  </a:ext>
                </a:extLst>
              </p:cNvPr>
              <p:cNvGrpSpPr>
                <a:grpSpLocks/>
              </p:cNvGrpSpPr>
              <p:nvPr/>
            </p:nvGrpSpPr>
            <p:grpSpPr bwMode="auto">
              <a:xfrm>
                <a:off x="0" y="2400"/>
                <a:ext cx="489" cy="384"/>
                <a:chOff x="0" y="2400"/>
                <a:chExt cx="489" cy="384"/>
              </a:xfrm>
            </p:grpSpPr>
            <p:sp>
              <p:nvSpPr>
                <p:cNvPr id="182" name="Rectangle 164">
                  <a:extLst>
                    <a:ext uri="{FF2B5EF4-FFF2-40B4-BE49-F238E27FC236}">
                      <a16:creationId xmlns:a16="http://schemas.microsoft.com/office/drawing/2014/main" id="{D439E5BF-3388-6F33-C8B1-3752D5292B3A}"/>
                    </a:ext>
                  </a:extLst>
                </p:cNvPr>
                <p:cNvSpPr>
                  <a:spLocks noChangeArrowheads="1"/>
                </p:cNvSpPr>
                <p:nvPr/>
              </p:nvSpPr>
              <p:spPr bwMode="auto">
                <a:xfrm>
                  <a:off x="43" y="2400"/>
                  <a:ext cx="40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S6</a:t>
                  </a:r>
                </a:p>
              </p:txBody>
            </p:sp>
            <p:sp>
              <p:nvSpPr>
                <p:cNvPr id="183" name="Rectangle 165">
                  <a:extLst>
                    <a:ext uri="{FF2B5EF4-FFF2-40B4-BE49-F238E27FC236}">
                      <a16:creationId xmlns:a16="http://schemas.microsoft.com/office/drawing/2014/main" id="{00DA01EE-DE1E-691B-E414-E1CE73F1ECD2}"/>
                    </a:ext>
                  </a:extLst>
                </p:cNvPr>
                <p:cNvSpPr>
                  <a:spLocks noChangeArrowheads="1"/>
                </p:cNvSpPr>
                <p:nvPr/>
              </p:nvSpPr>
              <p:spPr bwMode="auto">
                <a:xfrm>
                  <a:off x="0" y="2400"/>
                  <a:ext cx="4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70" name="Group 166">
                <a:extLst>
                  <a:ext uri="{FF2B5EF4-FFF2-40B4-BE49-F238E27FC236}">
                    <a16:creationId xmlns:a16="http://schemas.microsoft.com/office/drawing/2014/main" id="{5B4923C8-9F4D-CD0F-7EDB-3D99CC72C12A}"/>
                  </a:ext>
                </a:extLst>
              </p:cNvPr>
              <p:cNvGrpSpPr>
                <a:grpSpLocks/>
              </p:cNvGrpSpPr>
              <p:nvPr/>
            </p:nvGrpSpPr>
            <p:grpSpPr bwMode="auto">
              <a:xfrm>
                <a:off x="489" y="2400"/>
                <a:ext cx="446" cy="384"/>
                <a:chOff x="489" y="2400"/>
                <a:chExt cx="446" cy="384"/>
              </a:xfrm>
            </p:grpSpPr>
            <p:sp>
              <p:nvSpPr>
                <p:cNvPr id="180" name="Rectangle 167">
                  <a:extLst>
                    <a:ext uri="{FF2B5EF4-FFF2-40B4-BE49-F238E27FC236}">
                      <a16:creationId xmlns:a16="http://schemas.microsoft.com/office/drawing/2014/main" id="{0AD41B1F-5E42-9087-47AB-8EB441E5022C}"/>
                    </a:ext>
                  </a:extLst>
                </p:cNvPr>
                <p:cNvSpPr>
                  <a:spLocks noChangeArrowheads="1"/>
                </p:cNvSpPr>
                <p:nvPr/>
              </p:nvSpPr>
              <p:spPr bwMode="auto">
                <a:xfrm>
                  <a:off x="532" y="240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吴丽</a:t>
                  </a:r>
                </a:p>
              </p:txBody>
            </p:sp>
            <p:sp>
              <p:nvSpPr>
                <p:cNvPr id="181" name="Rectangle 168">
                  <a:extLst>
                    <a:ext uri="{FF2B5EF4-FFF2-40B4-BE49-F238E27FC236}">
                      <a16:creationId xmlns:a16="http://schemas.microsoft.com/office/drawing/2014/main" id="{81BD16F7-E1FF-F12A-D021-C35DB2B17242}"/>
                    </a:ext>
                  </a:extLst>
                </p:cNvPr>
                <p:cNvSpPr>
                  <a:spLocks noChangeArrowheads="1"/>
                </p:cNvSpPr>
                <p:nvPr/>
              </p:nvSpPr>
              <p:spPr bwMode="auto">
                <a:xfrm>
                  <a:off x="489" y="240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71" name="Group 169">
                <a:extLst>
                  <a:ext uri="{FF2B5EF4-FFF2-40B4-BE49-F238E27FC236}">
                    <a16:creationId xmlns:a16="http://schemas.microsoft.com/office/drawing/2014/main" id="{B85419A1-CE4F-1829-897E-C2E181D5E739}"/>
                  </a:ext>
                </a:extLst>
              </p:cNvPr>
              <p:cNvGrpSpPr>
                <a:grpSpLocks/>
              </p:cNvGrpSpPr>
              <p:nvPr/>
            </p:nvGrpSpPr>
            <p:grpSpPr bwMode="auto">
              <a:xfrm>
                <a:off x="935" y="2400"/>
                <a:ext cx="374" cy="384"/>
                <a:chOff x="935" y="2400"/>
                <a:chExt cx="374" cy="384"/>
              </a:xfrm>
            </p:grpSpPr>
            <p:sp>
              <p:nvSpPr>
                <p:cNvPr id="178" name="Rectangle 170">
                  <a:extLst>
                    <a:ext uri="{FF2B5EF4-FFF2-40B4-BE49-F238E27FC236}">
                      <a16:creationId xmlns:a16="http://schemas.microsoft.com/office/drawing/2014/main" id="{FC9C16CE-726B-A078-D4D5-8FD6F60158C2}"/>
                    </a:ext>
                  </a:extLst>
                </p:cNvPr>
                <p:cNvSpPr>
                  <a:spLocks noChangeArrowheads="1"/>
                </p:cNvSpPr>
                <p:nvPr/>
              </p:nvSpPr>
              <p:spPr bwMode="auto">
                <a:xfrm>
                  <a:off x="978" y="240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女</a:t>
                  </a:r>
                </a:p>
              </p:txBody>
            </p:sp>
            <p:sp>
              <p:nvSpPr>
                <p:cNvPr id="179" name="Rectangle 171">
                  <a:extLst>
                    <a:ext uri="{FF2B5EF4-FFF2-40B4-BE49-F238E27FC236}">
                      <a16:creationId xmlns:a16="http://schemas.microsoft.com/office/drawing/2014/main" id="{1891689E-E9A4-974B-2655-ECF1639422BB}"/>
                    </a:ext>
                  </a:extLst>
                </p:cNvPr>
                <p:cNvSpPr>
                  <a:spLocks noChangeArrowheads="1"/>
                </p:cNvSpPr>
                <p:nvPr/>
              </p:nvSpPr>
              <p:spPr bwMode="auto">
                <a:xfrm>
                  <a:off x="935" y="240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72" name="Group 172">
                <a:extLst>
                  <a:ext uri="{FF2B5EF4-FFF2-40B4-BE49-F238E27FC236}">
                    <a16:creationId xmlns:a16="http://schemas.microsoft.com/office/drawing/2014/main" id="{0AA5B2C0-AAB8-336A-F833-C23E95B8EFD0}"/>
                  </a:ext>
                </a:extLst>
              </p:cNvPr>
              <p:cNvGrpSpPr>
                <a:grpSpLocks/>
              </p:cNvGrpSpPr>
              <p:nvPr/>
            </p:nvGrpSpPr>
            <p:grpSpPr bwMode="auto">
              <a:xfrm>
                <a:off x="1309" y="2400"/>
                <a:ext cx="374" cy="384"/>
                <a:chOff x="1309" y="2400"/>
                <a:chExt cx="374" cy="384"/>
              </a:xfrm>
            </p:grpSpPr>
            <p:sp>
              <p:nvSpPr>
                <p:cNvPr id="176" name="Rectangle 173">
                  <a:extLst>
                    <a:ext uri="{FF2B5EF4-FFF2-40B4-BE49-F238E27FC236}">
                      <a16:creationId xmlns:a16="http://schemas.microsoft.com/office/drawing/2014/main" id="{414F7E66-3AFA-7097-0BD3-B05F2F30C7C7}"/>
                    </a:ext>
                  </a:extLst>
                </p:cNvPr>
                <p:cNvSpPr>
                  <a:spLocks noChangeArrowheads="1"/>
                </p:cNvSpPr>
                <p:nvPr/>
              </p:nvSpPr>
              <p:spPr bwMode="auto">
                <a:xfrm>
                  <a:off x="1352" y="240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en-US" altLang="zh-CN" sz="1999">
                      <a:latin typeface="+mn-ea"/>
                      <a:ea typeface="+mn-ea"/>
                    </a:rPr>
                    <a:t>20</a:t>
                  </a:r>
                </a:p>
              </p:txBody>
            </p:sp>
            <p:sp>
              <p:nvSpPr>
                <p:cNvPr id="177" name="Rectangle 174">
                  <a:extLst>
                    <a:ext uri="{FF2B5EF4-FFF2-40B4-BE49-F238E27FC236}">
                      <a16:creationId xmlns:a16="http://schemas.microsoft.com/office/drawing/2014/main" id="{816B7304-CD55-59BA-884E-BA113C35B8D2}"/>
                    </a:ext>
                  </a:extLst>
                </p:cNvPr>
                <p:cNvSpPr>
                  <a:spLocks noChangeArrowheads="1"/>
                </p:cNvSpPr>
                <p:nvPr/>
              </p:nvSpPr>
              <p:spPr bwMode="auto">
                <a:xfrm>
                  <a:off x="1309" y="240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nvGrpSpPr>
              <p:cNvPr id="173" name="Group 175">
                <a:extLst>
                  <a:ext uri="{FF2B5EF4-FFF2-40B4-BE49-F238E27FC236}">
                    <a16:creationId xmlns:a16="http://schemas.microsoft.com/office/drawing/2014/main" id="{455F0B80-BC38-66EA-2095-E65A675D02B8}"/>
                  </a:ext>
                </a:extLst>
              </p:cNvPr>
              <p:cNvGrpSpPr>
                <a:grpSpLocks/>
              </p:cNvGrpSpPr>
              <p:nvPr/>
            </p:nvGrpSpPr>
            <p:grpSpPr bwMode="auto">
              <a:xfrm>
                <a:off x="1683" y="2400"/>
                <a:ext cx="446" cy="384"/>
                <a:chOff x="1683" y="2400"/>
                <a:chExt cx="446" cy="384"/>
              </a:xfrm>
            </p:grpSpPr>
            <p:sp>
              <p:nvSpPr>
                <p:cNvPr id="174" name="Rectangle 176">
                  <a:extLst>
                    <a:ext uri="{FF2B5EF4-FFF2-40B4-BE49-F238E27FC236}">
                      <a16:creationId xmlns:a16="http://schemas.microsoft.com/office/drawing/2014/main" id="{BA1B6160-5EB0-9418-52E5-3844B832C64A}"/>
                    </a:ext>
                  </a:extLst>
                </p:cNvPr>
                <p:cNvSpPr>
                  <a:spLocks noChangeArrowheads="1"/>
                </p:cNvSpPr>
                <p:nvPr/>
              </p:nvSpPr>
              <p:spPr bwMode="auto">
                <a:xfrm>
                  <a:off x="1726" y="240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kumimoji="1" lang="zh-CN" altLang="en-US" sz="1999">
                      <a:latin typeface="+mn-ea"/>
                      <a:ea typeface="+mn-ea"/>
                    </a:rPr>
                    <a:t>自动化</a:t>
                  </a:r>
                </a:p>
              </p:txBody>
            </p:sp>
            <p:sp>
              <p:nvSpPr>
                <p:cNvPr id="175" name="Rectangle 177">
                  <a:extLst>
                    <a:ext uri="{FF2B5EF4-FFF2-40B4-BE49-F238E27FC236}">
                      <a16:creationId xmlns:a16="http://schemas.microsoft.com/office/drawing/2014/main" id="{F4AA9F83-BCBF-A607-83E4-1975EBCA6B03}"/>
                    </a:ext>
                  </a:extLst>
                </p:cNvPr>
                <p:cNvSpPr>
                  <a:spLocks noChangeArrowheads="1"/>
                </p:cNvSpPr>
                <p:nvPr/>
              </p:nvSpPr>
              <p:spPr bwMode="auto">
                <a:xfrm>
                  <a:off x="1683" y="240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grpSp>
        <p:sp>
          <p:nvSpPr>
            <p:cNvPr id="18" name="Rectangle 178">
              <a:extLst>
                <a:ext uri="{FF2B5EF4-FFF2-40B4-BE49-F238E27FC236}">
                  <a16:creationId xmlns:a16="http://schemas.microsoft.com/office/drawing/2014/main" id="{DD9E1B60-11D7-8FF5-1F39-B632BFD8FE2B}"/>
                </a:ext>
              </a:extLst>
            </p:cNvPr>
            <p:cNvSpPr>
              <a:spLocks noChangeArrowheads="1"/>
            </p:cNvSpPr>
            <p:nvPr/>
          </p:nvSpPr>
          <p:spPr bwMode="auto">
            <a:xfrm>
              <a:off x="-3" y="-3"/>
              <a:ext cx="2135" cy="2790"/>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grpSp>
      <p:sp>
        <p:nvSpPr>
          <p:cNvPr id="244" name="AutoShape 179">
            <a:extLst>
              <a:ext uri="{FF2B5EF4-FFF2-40B4-BE49-F238E27FC236}">
                <a16:creationId xmlns:a16="http://schemas.microsoft.com/office/drawing/2014/main" id="{B7A461FE-DB81-9ADE-1786-F99AEBE7C27E}"/>
              </a:ext>
            </a:extLst>
          </p:cNvPr>
          <p:cNvSpPr>
            <a:spLocks noChangeArrowheads="1"/>
          </p:cNvSpPr>
          <p:nvPr/>
        </p:nvSpPr>
        <p:spPr bwMode="auto">
          <a:xfrm>
            <a:off x="7467056" y="4055468"/>
            <a:ext cx="864738" cy="215788"/>
          </a:xfrm>
          <a:prstGeom prst="rightArrow">
            <a:avLst>
              <a:gd name="adj1" fmla="val 50000"/>
              <a:gd name="adj2" fmla="val 100184"/>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245" name="Text Box 288">
            <a:extLst>
              <a:ext uri="{FF2B5EF4-FFF2-40B4-BE49-F238E27FC236}">
                <a16:creationId xmlns:a16="http://schemas.microsoft.com/office/drawing/2014/main" id="{8E9B66FC-2B4F-B748-2603-D6B11CC4F29A}"/>
              </a:ext>
            </a:extLst>
          </p:cNvPr>
          <p:cNvSpPr txBox="1">
            <a:spLocks noChangeArrowheads="1"/>
          </p:cNvSpPr>
          <p:nvPr/>
        </p:nvSpPr>
        <p:spPr bwMode="auto">
          <a:xfrm>
            <a:off x="8330207" y="3984067"/>
            <a:ext cx="796896" cy="463605"/>
          </a:xfrm>
          <a:prstGeom prst="rect">
            <a:avLst/>
          </a:prstGeom>
          <a:noFill/>
          <a:ln>
            <a:noFill/>
          </a:ln>
          <a:effectLst/>
          <a:extLst>
            <a:ext uri="{909E8E84-426E-40DD-AFC4-6F175D3DCCD1}">
              <a14:hiddenFill xmlns:a14="http://schemas.microsoft.com/office/drawing/2010/main">
                <a:solidFill>
                  <a:srgbClr val="FF99CC">
                    <a:alpha val="47842"/>
                  </a:srgbClr>
                </a:solidFill>
              </a14:hiddenFill>
            </a:ext>
            <a:ext uri="{91240B29-F687-4F45-9708-019B960494DF}">
              <a14:hiddenLine xmlns:a14="http://schemas.microsoft.com/office/drawing/2010/main" w="19050" algn="ctr">
                <a:solidFill>
                  <a:srgbClr val="993366"/>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chemeClr val="tx1">
                    <a:lumMod val="75000"/>
                    <a:lumOff val="25000"/>
                  </a:schemeClr>
                </a:solidFill>
                <a:latin typeface="+mn-ea"/>
                <a:ea typeface="+mn-ea"/>
              </a:rPr>
              <a:t>元组</a:t>
            </a:r>
          </a:p>
        </p:txBody>
      </p:sp>
      <p:sp>
        <p:nvSpPr>
          <p:cNvPr id="246" name="Rectangle 289">
            <a:extLst>
              <a:ext uri="{FF2B5EF4-FFF2-40B4-BE49-F238E27FC236}">
                <a16:creationId xmlns:a16="http://schemas.microsoft.com/office/drawing/2014/main" id="{81EFDC7F-3FE7-1CB6-C304-F1A93C88F33E}"/>
              </a:ext>
            </a:extLst>
          </p:cNvPr>
          <p:cNvSpPr>
            <a:spLocks noChangeArrowheads="1"/>
          </p:cNvSpPr>
          <p:nvPr/>
        </p:nvSpPr>
        <p:spPr bwMode="auto">
          <a:xfrm>
            <a:off x="6243731" y="3047930"/>
            <a:ext cx="1223325" cy="502976"/>
          </a:xfrm>
          <a:prstGeom prst="rect">
            <a:avLst/>
          </a:prstGeom>
          <a:noFill/>
          <a:ln w="25400" algn="ctr">
            <a:solidFill>
              <a:srgbClr val="CC3300"/>
            </a:solidFill>
            <a:miter lim="800000"/>
            <a:headEnd/>
            <a:tailEnd type="none" w="lg" len="lg"/>
          </a:ln>
          <a:effectLst/>
          <a:extLst>
            <a:ext uri="{909E8E84-426E-40DD-AFC4-6F175D3DCCD1}">
              <a14:hiddenFill xmlns:a14="http://schemas.microsoft.com/office/drawing/2010/main">
                <a:solidFill>
                  <a:srgbClr val="FF99CC">
                    <a:alpha val="47842"/>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247" name="AutoShape 290">
            <a:extLst>
              <a:ext uri="{FF2B5EF4-FFF2-40B4-BE49-F238E27FC236}">
                <a16:creationId xmlns:a16="http://schemas.microsoft.com/office/drawing/2014/main" id="{64C4E2FC-4305-D480-6AA8-987D85A1C7D8}"/>
              </a:ext>
            </a:extLst>
          </p:cNvPr>
          <p:cNvSpPr>
            <a:spLocks noChangeArrowheads="1"/>
          </p:cNvSpPr>
          <p:nvPr/>
        </p:nvSpPr>
        <p:spPr bwMode="auto">
          <a:xfrm>
            <a:off x="7898632" y="2471969"/>
            <a:ext cx="1367713" cy="504562"/>
          </a:xfrm>
          <a:prstGeom prst="wedgeEllipseCallout">
            <a:avLst>
              <a:gd name="adj1" fmla="val -80972"/>
              <a:gd name="adj2" fmla="val 67296"/>
            </a:avLst>
          </a:prstGeom>
          <a:solidFill>
            <a:schemeClr val="accent1">
              <a:alpha val="47842"/>
            </a:schemeClr>
          </a:solidFill>
          <a:ln w="2540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rgbClr val="000066"/>
                </a:solidFill>
                <a:latin typeface="+mn-ea"/>
                <a:ea typeface="+mn-ea"/>
              </a:rPr>
              <a:t>属性</a:t>
            </a:r>
          </a:p>
        </p:txBody>
      </p:sp>
      <p:sp>
        <p:nvSpPr>
          <p:cNvPr id="248" name="Oval 291">
            <a:extLst>
              <a:ext uri="{FF2B5EF4-FFF2-40B4-BE49-F238E27FC236}">
                <a16:creationId xmlns:a16="http://schemas.microsoft.com/office/drawing/2014/main" id="{3F3234FB-6F78-2BF3-72E3-E8B2EE434330}"/>
              </a:ext>
            </a:extLst>
          </p:cNvPr>
          <p:cNvSpPr>
            <a:spLocks noChangeArrowheads="1"/>
          </p:cNvSpPr>
          <p:nvPr/>
        </p:nvSpPr>
        <p:spPr bwMode="auto">
          <a:xfrm>
            <a:off x="4300056" y="2903543"/>
            <a:ext cx="936137" cy="3095600"/>
          </a:xfrm>
          <a:prstGeom prst="ellipse">
            <a:avLst/>
          </a:prstGeom>
          <a:noFill/>
          <a:ln w="25400" algn="ctr">
            <a:solidFill>
              <a:srgbClr val="CC3300"/>
            </a:solidFill>
            <a:round/>
            <a:headEnd/>
            <a:tailEnd type="none" w="lg" len="lg"/>
          </a:ln>
          <a:effectLst/>
          <a:extLst>
            <a:ext uri="{909E8E84-426E-40DD-AFC4-6F175D3DCCD1}">
              <a14:hiddenFill xmlns:a14="http://schemas.microsoft.com/office/drawing/2010/main">
                <a:solidFill>
                  <a:srgbClr val="FF99CC">
                    <a:alpha val="47842"/>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249" name="AutoShape 295">
            <a:extLst>
              <a:ext uri="{FF2B5EF4-FFF2-40B4-BE49-F238E27FC236}">
                <a16:creationId xmlns:a16="http://schemas.microsoft.com/office/drawing/2014/main" id="{C160CE84-EC02-EB32-5CCE-D4E95E45ED52}"/>
              </a:ext>
            </a:extLst>
          </p:cNvPr>
          <p:cNvSpPr>
            <a:spLocks noChangeArrowheads="1"/>
          </p:cNvSpPr>
          <p:nvPr/>
        </p:nvSpPr>
        <p:spPr bwMode="auto">
          <a:xfrm>
            <a:off x="5236193" y="5063005"/>
            <a:ext cx="3094014" cy="215788"/>
          </a:xfrm>
          <a:prstGeom prst="rightArrow">
            <a:avLst>
              <a:gd name="adj1" fmla="val 50000"/>
              <a:gd name="adj2" fmla="val 358456"/>
            </a:avLst>
          </a:prstGeom>
          <a:solidFill>
            <a:srgbClr val="FF99CC">
              <a:alpha val="47842"/>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250" name="Text Box 296">
            <a:extLst>
              <a:ext uri="{FF2B5EF4-FFF2-40B4-BE49-F238E27FC236}">
                <a16:creationId xmlns:a16="http://schemas.microsoft.com/office/drawing/2014/main" id="{48A3CA81-90F6-957A-E28C-6139073D7450}"/>
              </a:ext>
            </a:extLst>
          </p:cNvPr>
          <p:cNvSpPr txBox="1">
            <a:spLocks noChangeArrowheads="1"/>
          </p:cNvSpPr>
          <p:nvPr/>
        </p:nvSpPr>
        <p:spPr bwMode="auto">
          <a:xfrm>
            <a:off x="8330206" y="4631430"/>
            <a:ext cx="2642594" cy="1201884"/>
          </a:xfrm>
          <a:prstGeom prst="rect">
            <a:avLst/>
          </a:prstGeom>
          <a:solidFill>
            <a:srgbClr val="FF99CC">
              <a:alpha val="32156"/>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chemeClr val="tx1">
                    <a:lumMod val="75000"/>
                    <a:lumOff val="25000"/>
                  </a:schemeClr>
                </a:solidFill>
                <a:latin typeface="+mn-ea"/>
                <a:ea typeface="+mn-ea"/>
              </a:rPr>
              <a:t>域：</a:t>
            </a:r>
          </a:p>
          <a:p>
            <a:pPr eaLnBrk="1" hangingPunct="1">
              <a:spcBef>
                <a:spcPct val="0"/>
              </a:spcBef>
              <a:buSzTx/>
              <a:buFontTx/>
              <a:buNone/>
            </a:pPr>
            <a:r>
              <a:rPr lang="zh-CN" altLang="en-US" sz="2399" dirty="0">
                <a:solidFill>
                  <a:schemeClr val="tx1">
                    <a:lumMod val="75000"/>
                    <a:lumOff val="25000"/>
                  </a:schemeClr>
                </a:solidFill>
                <a:latin typeface="+mn-ea"/>
                <a:ea typeface="+mn-ea"/>
              </a:rPr>
              <a:t>属性的取值范围，</a:t>
            </a:r>
          </a:p>
          <a:p>
            <a:pPr eaLnBrk="1" hangingPunct="1">
              <a:spcBef>
                <a:spcPct val="0"/>
              </a:spcBef>
              <a:buSzTx/>
              <a:buFontTx/>
              <a:buNone/>
            </a:pPr>
            <a:r>
              <a:rPr lang="en-US" altLang="zh-CN" sz="2399" dirty="0">
                <a:solidFill>
                  <a:schemeClr val="tx1">
                    <a:lumMod val="75000"/>
                    <a:lumOff val="25000"/>
                  </a:schemeClr>
                </a:solidFill>
                <a:latin typeface="+mn-ea"/>
                <a:ea typeface="+mn-ea"/>
              </a:rPr>
              <a:t>{</a:t>
            </a:r>
            <a:r>
              <a:rPr lang="zh-CN" altLang="en-US" sz="2399" dirty="0">
                <a:solidFill>
                  <a:schemeClr val="tx1">
                    <a:lumMod val="75000"/>
                    <a:lumOff val="25000"/>
                  </a:schemeClr>
                </a:solidFill>
                <a:latin typeface="+mn-ea"/>
                <a:ea typeface="+mn-ea"/>
              </a:rPr>
              <a:t>男，女</a:t>
            </a:r>
            <a:r>
              <a:rPr lang="en-US" altLang="zh-CN" sz="2399" dirty="0">
                <a:solidFill>
                  <a:schemeClr val="tx1">
                    <a:lumMod val="75000"/>
                    <a:lumOff val="25000"/>
                  </a:schemeClr>
                </a:solidFill>
                <a:latin typeface="+mn-ea"/>
                <a:ea typeface="+mn-ea"/>
              </a:rPr>
              <a:t>}</a:t>
            </a:r>
            <a:endParaRPr lang="zh-CN" altLang="en-US" sz="2399" dirty="0">
              <a:solidFill>
                <a:schemeClr val="tx1">
                  <a:lumMod val="75000"/>
                  <a:lumOff val="25000"/>
                </a:schemeClr>
              </a:solidFill>
              <a:latin typeface="+mn-ea"/>
              <a:ea typeface="+mn-ea"/>
            </a:endParaRPr>
          </a:p>
        </p:txBody>
      </p:sp>
      <p:sp>
        <p:nvSpPr>
          <p:cNvPr id="251" name="Rectangle 297">
            <a:extLst>
              <a:ext uri="{FF2B5EF4-FFF2-40B4-BE49-F238E27FC236}">
                <a16:creationId xmlns:a16="http://schemas.microsoft.com/office/drawing/2014/main" id="{4D9F6B60-E99F-F8A8-6707-38C38ABF8628}"/>
              </a:ext>
            </a:extLst>
          </p:cNvPr>
          <p:cNvSpPr>
            <a:spLocks noChangeArrowheads="1"/>
          </p:cNvSpPr>
          <p:nvPr/>
        </p:nvSpPr>
        <p:spPr bwMode="auto">
          <a:xfrm>
            <a:off x="7827231" y="3192318"/>
            <a:ext cx="2613948" cy="502975"/>
          </a:xfrm>
          <a:prstGeom prst="rect">
            <a:avLst/>
          </a:prstGeom>
          <a:noFill/>
          <a:ln w="25400" algn="ctr">
            <a:solidFill>
              <a:schemeClr val="tx2">
                <a:lumMod val="60000"/>
                <a:lumOff val="40000"/>
              </a:schemeClr>
            </a:solidFill>
            <a:miter lim="800000"/>
            <a:headEnd/>
            <a:tailEnd type="none" w="lg" len="lg"/>
          </a:ln>
          <a:effectLst/>
          <a:extLst>
            <a:ext uri="{909E8E84-426E-40DD-AFC4-6F175D3DCCD1}">
              <a14:hiddenFill xmlns:a14="http://schemas.microsoft.com/office/drawing/2010/main">
                <a:solidFill>
                  <a:srgbClr val="FF99CC">
                    <a:alpha val="47842"/>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4"/>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5"/>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6"/>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7"/>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8"/>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8"/>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Tree>
    <p:custDataLst>
      <p:tags r:id="rId1"/>
    </p:custDataLst>
    <p:extLst>
      <p:ext uri="{BB962C8B-B14F-4D97-AF65-F5344CB8AC3E}">
        <p14:creationId xmlns:p14="http://schemas.microsoft.com/office/powerpoint/2010/main" val="163925355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0-#ppt_w/2"/>
                                          </p:val>
                                        </p:tav>
                                        <p:tav tm="100000">
                                          <p:val>
                                            <p:strVal val="#ppt_x"/>
                                          </p:val>
                                        </p:tav>
                                      </p:tavLst>
                                    </p:anim>
                                    <p:anim calcmode="lin" valueType="num">
                                      <p:cBhvr additive="base">
                                        <p:cTn id="17" dur="500" fill="hold"/>
                                        <p:tgtEl>
                                          <p:spTgt spid="11"/>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0-#ppt_w/2"/>
                                          </p:val>
                                        </p:tav>
                                        <p:tav tm="100000">
                                          <p:val>
                                            <p:strVal val="#ppt_x"/>
                                          </p:val>
                                        </p:tav>
                                      </p:tavLst>
                                    </p:anim>
                                    <p:anim calcmode="lin" valueType="num">
                                      <p:cBhvr additive="base">
                                        <p:cTn id="21" dur="500" fill="hold"/>
                                        <p:tgtEl>
                                          <p:spTgt spid="12"/>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251"/>
                                        </p:tgtEl>
                                        <p:attrNameLst>
                                          <p:attrName>style.visibility</p:attrName>
                                        </p:attrNameLst>
                                      </p:cBhvr>
                                      <p:to>
                                        <p:strVal val="visible"/>
                                      </p:to>
                                    </p:set>
                                    <p:anim calcmode="lin" valueType="num">
                                      <p:cBhvr additive="base">
                                        <p:cTn id="24" dur="500" fill="hold"/>
                                        <p:tgtEl>
                                          <p:spTgt spid="251"/>
                                        </p:tgtEl>
                                        <p:attrNameLst>
                                          <p:attrName>ppt_x</p:attrName>
                                        </p:attrNameLst>
                                      </p:cBhvr>
                                      <p:tavLst>
                                        <p:tav tm="0">
                                          <p:val>
                                            <p:strVal val="0-#ppt_w/2"/>
                                          </p:val>
                                        </p:tav>
                                        <p:tav tm="100000">
                                          <p:val>
                                            <p:strVal val="#ppt_x"/>
                                          </p:val>
                                        </p:tav>
                                      </p:tavLst>
                                    </p:anim>
                                    <p:anim calcmode="lin" valueType="num">
                                      <p:cBhvr additive="base">
                                        <p:cTn id="25" dur="500" fill="hold"/>
                                        <p:tgtEl>
                                          <p:spTgt spid="251"/>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46"/>
                                        </p:tgtEl>
                                        <p:attrNameLst>
                                          <p:attrName>style.visibility</p:attrName>
                                        </p:attrNameLst>
                                      </p:cBhvr>
                                      <p:to>
                                        <p:strVal val="visible"/>
                                      </p:to>
                                    </p:set>
                                    <p:animEffect transition="in" filter="box(in)">
                                      <p:cBhvr>
                                        <p:cTn id="30" dur="500"/>
                                        <p:tgtEl>
                                          <p:spTgt spid="246"/>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247"/>
                                        </p:tgtEl>
                                        <p:attrNameLst>
                                          <p:attrName>style.visibility</p:attrName>
                                        </p:attrNameLst>
                                      </p:cBhvr>
                                      <p:to>
                                        <p:strVal val="visible"/>
                                      </p:to>
                                    </p:set>
                                    <p:animEffect transition="in" filter="checkerboard(across)">
                                      <p:cBhvr>
                                        <p:cTn id="35" dur="500"/>
                                        <p:tgtEl>
                                          <p:spTgt spid="247"/>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checkerboard(across)">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244"/>
                                        </p:tgtEl>
                                        <p:attrNameLst>
                                          <p:attrName>style.visibility</p:attrName>
                                        </p:attrNameLst>
                                      </p:cBhvr>
                                      <p:to>
                                        <p:strVal val="visible"/>
                                      </p:to>
                                    </p:set>
                                    <p:animEffect transition="in" filter="checkerboard(across)">
                                      <p:cBhvr>
                                        <p:cTn id="45" dur="500"/>
                                        <p:tgtEl>
                                          <p:spTgt spid="244"/>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45"/>
                                        </p:tgtEl>
                                        <p:attrNameLst>
                                          <p:attrName>style.visibility</p:attrName>
                                        </p:attrNameLst>
                                      </p:cBhvr>
                                      <p:to>
                                        <p:strVal val="visible"/>
                                      </p:to>
                                    </p:set>
                                    <p:anim calcmode="lin" valueType="num">
                                      <p:cBhvr additive="base">
                                        <p:cTn id="50" dur="500" fill="hold"/>
                                        <p:tgtEl>
                                          <p:spTgt spid="245"/>
                                        </p:tgtEl>
                                        <p:attrNameLst>
                                          <p:attrName>ppt_x</p:attrName>
                                        </p:attrNameLst>
                                      </p:cBhvr>
                                      <p:tavLst>
                                        <p:tav tm="0">
                                          <p:val>
                                            <p:strVal val="#ppt_x"/>
                                          </p:val>
                                        </p:tav>
                                        <p:tav tm="100000">
                                          <p:val>
                                            <p:strVal val="#ppt_x"/>
                                          </p:val>
                                        </p:tav>
                                      </p:tavLst>
                                    </p:anim>
                                    <p:anim calcmode="lin" valueType="num">
                                      <p:cBhvr additive="base">
                                        <p:cTn id="51" dur="500" fill="hold"/>
                                        <p:tgtEl>
                                          <p:spTgt spid="245"/>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248"/>
                                        </p:tgtEl>
                                        <p:attrNameLst>
                                          <p:attrName>style.visibility</p:attrName>
                                        </p:attrNameLst>
                                      </p:cBhvr>
                                      <p:to>
                                        <p:strVal val="visible"/>
                                      </p:to>
                                    </p:set>
                                    <p:animEffect transition="in" filter="checkerboard(across)">
                                      <p:cBhvr>
                                        <p:cTn id="56" dur="500"/>
                                        <p:tgtEl>
                                          <p:spTgt spid="248"/>
                                        </p:tgtEl>
                                      </p:cBhvr>
                                    </p:animEffect>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249"/>
                                        </p:tgtEl>
                                        <p:attrNameLst>
                                          <p:attrName>style.visibility</p:attrName>
                                        </p:attrNameLst>
                                      </p:cBhvr>
                                      <p:to>
                                        <p:strVal val="visible"/>
                                      </p:to>
                                    </p:set>
                                    <p:animEffect transition="in" filter="checkerboard(across)">
                                      <p:cBhvr>
                                        <p:cTn id="61" dur="500"/>
                                        <p:tgtEl>
                                          <p:spTgt spid="249"/>
                                        </p:tgtEl>
                                      </p:cBhvr>
                                    </p:animEffect>
                                  </p:childTnLst>
                                </p:cTn>
                              </p:par>
                            </p:childTnLst>
                          </p:cTn>
                        </p:par>
                      </p:childTnLst>
                    </p:cTn>
                  </p:par>
                  <p:par>
                    <p:cTn id="62" fill="hold">
                      <p:stCondLst>
                        <p:cond delay="indefinite"/>
                      </p:stCondLst>
                      <p:childTnLst>
                        <p:par>
                          <p:cTn id="63" fill="hold">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250"/>
                                        </p:tgtEl>
                                        <p:attrNameLst>
                                          <p:attrName>style.visibility</p:attrName>
                                        </p:attrNameLst>
                                      </p:cBhvr>
                                      <p:to>
                                        <p:strVal val="visible"/>
                                      </p:to>
                                    </p:set>
                                    <p:animEffect transition="in" filter="checkerboard(across)">
                                      <p:cBhvr>
                                        <p:cTn id="66"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3" grpId="0" animBg="1"/>
      <p:bldP spid="244" grpId="0" animBg="1"/>
      <p:bldP spid="245" grpId="0"/>
      <p:bldP spid="246" grpId="0" animBg="1"/>
      <p:bldP spid="247" grpId="0" animBg="1"/>
      <p:bldP spid="248" grpId="0" animBg="1"/>
      <p:bldP spid="249" grpId="0" animBg="1"/>
      <p:bldP spid="250" grpId="0" animBg="1"/>
      <p:bldP spid="25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66CFD-D7BB-3BD4-7187-A0D35521C3DE}"/>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112458DE-249E-5CA1-D39A-8CA69BC75DA3}"/>
              </a:ext>
            </a:extLst>
          </p:cNvPr>
          <p:cNvSpPr>
            <a:spLocks noChangeAspect="1" noChangeArrowheads="1" noTextEdit="1"/>
          </p:cNvSpPr>
          <p:nvPr/>
        </p:nvSpPr>
        <p:spPr bwMode="auto">
          <a:xfrm>
            <a:off x="1246425" y="1606639"/>
            <a:ext cx="5392793" cy="89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Freeform 5">
            <a:extLst>
              <a:ext uri="{FF2B5EF4-FFF2-40B4-BE49-F238E27FC236}">
                <a16:creationId xmlns:a16="http://schemas.microsoft.com/office/drawing/2014/main" id="{9F3ACE4A-8916-E59B-2468-8DBAA783C34E}"/>
              </a:ext>
            </a:extLst>
          </p:cNvPr>
          <p:cNvSpPr>
            <a:spLocks noEditPoints="1"/>
          </p:cNvSpPr>
          <p:nvPr/>
        </p:nvSpPr>
        <p:spPr bwMode="auto">
          <a:xfrm>
            <a:off x="1570638" y="1744660"/>
            <a:ext cx="349100" cy="364663"/>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Freeform 6">
            <a:extLst>
              <a:ext uri="{FF2B5EF4-FFF2-40B4-BE49-F238E27FC236}">
                <a16:creationId xmlns:a16="http://schemas.microsoft.com/office/drawing/2014/main" id="{2AE9BB96-3285-4F43-0F75-7B034F88D52B}"/>
              </a:ext>
            </a:extLst>
          </p:cNvPr>
          <p:cNvSpPr>
            <a:spLocks noEditPoints="1"/>
          </p:cNvSpPr>
          <p:nvPr/>
        </p:nvSpPr>
        <p:spPr bwMode="auto">
          <a:xfrm>
            <a:off x="1431767" y="1604850"/>
            <a:ext cx="3659998" cy="643383"/>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 name="矩形 4">
            <a:extLst>
              <a:ext uri="{FF2B5EF4-FFF2-40B4-BE49-F238E27FC236}">
                <a16:creationId xmlns:a16="http://schemas.microsoft.com/office/drawing/2014/main" id="{F5473BBC-CEF4-D46E-B458-8770F6EC935E}"/>
              </a:ext>
            </a:extLst>
          </p:cNvPr>
          <p:cNvSpPr/>
          <p:nvPr/>
        </p:nvSpPr>
        <p:spPr>
          <a:xfrm>
            <a:off x="2860180" y="1626372"/>
            <a:ext cx="1348021" cy="499432"/>
          </a:xfrm>
          <a:prstGeom prst="rect">
            <a:avLst/>
          </a:prstGeom>
        </p:spPr>
        <p:txBody>
          <a:bodyPr wrap="square">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rPr>
              <a:t>练一练</a:t>
            </a:r>
          </a:p>
        </p:txBody>
      </p:sp>
      <p:grpSp>
        <p:nvGrpSpPr>
          <p:cNvPr id="6" name="组合 5">
            <a:extLst>
              <a:ext uri="{FF2B5EF4-FFF2-40B4-BE49-F238E27FC236}">
                <a16:creationId xmlns:a16="http://schemas.microsoft.com/office/drawing/2014/main" id="{6B1DBAF7-5E99-DD24-2D57-E0A779F7150A}"/>
              </a:ext>
            </a:extLst>
          </p:cNvPr>
          <p:cNvGrpSpPr/>
          <p:nvPr/>
        </p:nvGrpSpPr>
        <p:grpSpPr>
          <a:xfrm>
            <a:off x="1103648" y="527201"/>
            <a:ext cx="5614144" cy="879946"/>
            <a:chOff x="420387" y="472101"/>
            <a:chExt cx="5614144" cy="879946"/>
          </a:xfrm>
        </p:grpSpPr>
        <p:sp>
          <p:nvSpPr>
            <p:cNvPr id="7" name="内容占位符 2">
              <a:extLst>
                <a:ext uri="{FF2B5EF4-FFF2-40B4-BE49-F238E27FC236}">
                  <a16:creationId xmlns:a16="http://schemas.microsoft.com/office/drawing/2014/main" id="{2FBC770D-0578-F88E-173D-17EAFE5AC816}"/>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关系</a:t>
              </a: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模型 </a:t>
              </a:r>
            </a:p>
          </p:txBody>
        </p:sp>
        <p:sp>
          <p:nvSpPr>
            <p:cNvPr id="8" name="KSO_Shape">
              <a:extLst>
                <a:ext uri="{FF2B5EF4-FFF2-40B4-BE49-F238E27FC236}">
                  <a16:creationId xmlns:a16="http://schemas.microsoft.com/office/drawing/2014/main" id="{1B385C24-7F4F-42A8-9951-9BA4D35E6BFE}"/>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 name="矩形 8">
            <a:extLst>
              <a:ext uri="{FF2B5EF4-FFF2-40B4-BE49-F238E27FC236}">
                <a16:creationId xmlns:a16="http://schemas.microsoft.com/office/drawing/2014/main" id="{3DE71C01-6850-2630-A0B4-5649208F079F}"/>
              </a:ext>
            </a:extLst>
          </p:cNvPr>
          <p:cNvSpPr/>
          <p:nvPr/>
        </p:nvSpPr>
        <p:spPr>
          <a:xfrm>
            <a:off x="1528871" y="2815633"/>
            <a:ext cx="9374479" cy="461665"/>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zh-CN" altLang="en-US" sz="2400" b="1" dirty="0">
                <a:solidFill>
                  <a:prstClr val="black">
                    <a:lumMod val="85000"/>
                    <a:lumOff val="15000"/>
                  </a:prstClr>
                </a:solidFill>
                <a:latin typeface="微软雅黑"/>
                <a:ea typeface="微软雅黑"/>
              </a:rPr>
              <a:t>在关系数据库中，把数据表示成二维表，每个二维表称为是</a:t>
            </a:r>
            <a:r>
              <a:rPr lang="en-US" altLang="zh-CN" sz="2400" b="1" dirty="0">
                <a:solidFill>
                  <a:prstClr val="black">
                    <a:lumMod val="85000"/>
                    <a:lumOff val="15000"/>
                  </a:prstClr>
                </a:solidFill>
                <a:latin typeface="微软雅黑"/>
                <a:ea typeface="微软雅黑"/>
              </a:rPr>
              <a:t>________</a:t>
            </a:r>
            <a:endPar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p:txBody>
      </p:sp>
      <p:sp>
        <p:nvSpPr>
          <p:cNvPr id="10" name="文本框 9">
            <a:extLst>
              <a:ext uri="{FF2B5EF4-FFF2-40B4-BE49-F238E27FC236}">
                <a16:creationId xmlns:a16="http://schemas.microsoft.com/office/drawing/2014/main" id="{673594AA-532C-8D5F-99D7-852FB1808FDD}"/>
              </a:ext>
            </a:extLst>
          </p:cNvPr>
          <p:cNvSpPr txBox="1"/>
          <p:nvPr/>
        </p:nvSpPr>
        <p:spPr>
          <a:xfrm>
            <a:off x="9653016" y="2815633"/>
            <a:ext cx="1493114" cy="400110"/>
          </a:xfrm>
          <a:prstGeom prst="rect">
            <a:avLst/>
          </a:prstGeom>
          <a:noFill/>
        </p:spPr>
        <p:txBody>
          <a:bodyPr wrap="square">
            <a:spAutoFit/>
          </a:bodyPr>
          <a:lstStyle/>
          <a:p>
            <a:r>
              <a:rPr lang="zh-CN" altLang="en-US" sz="2000" b="1" dirty="0">
                <a:solidFill>
                  <a:srgbClr val="FF0000"/>
                </a:solidFill>
              </a:rPr>
              <a:t>关系</a:t>
            </a:r>
          </a:p>
        </p:txBody>
      </p:sp>
    </p:spTree>
    <p:extLst>
      <p:ext uri="{BB962C8B-B14F-4D97-AF65-F5344CB8AC3E}">
        <p14:creationId xmlns:p14="http://schemas.microsoft.com/office/powerpoint/2010/main" val="324322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9E55F731-42DF-4A5D-8048-B4CC213A4705}"/>
              </a:ext>
            </a:extLst>
          </p:cNvPr>
          <p:cNvGrpSpPr/>
          <p:nvPr/>
        </p:nvGrpSpPr>
        <p:grpSpPr>
          <a:xfrm>
            <a:off x="1419143" y="2029748"/>
            <a:ext cx="6069809" cy="961097"/>
            <a:chOff x="732802" y="1613354"/>
            <a:chExt cx="6069809" cy="961097"/>
          </a:xfrm>
        </p:grpSpPr>
        <p:grpSp>
          <p:nvGrpSpPr>
            <p:cNvPr id="8" name="组合 7">
              <a:extLst>
                <a:ext uri="{FF2B5EF4-FFF2-40B4-BE49-F238E27FC236}">
                  <a16:creationId xmlns:a16="http://schemas.microsoft.com/office/drawing/2014/main" id="{A98B7086-CC8D-4BE9-9D5F-53984560F860}"/>
                </a:ext>
              </a:extLst>
            </p:cNvPr>
            <p:cNvGrpSpPr/>
            <p:nvPr/>
          </p:nvGrpSpPr>
          <p:grpSpPr>
            <a:xfrm>
              <a:off x="732802" y="1837144"/>
              <a:ext cx="1217151" cy="590550"/>
              <a:chOff x="1501314" y="2830081"/>
              <a:chExt cx="2589267" cy="590550"/>
            </a:xfrm>
          </p:grpSpPr>
          <p:sp>
            <p:nvSpPr>
              <p:cNvPr id="10" name="矩形: 圆角 9">
                <a:extLst>
                  <a:ext uri="{FF2B5EF4-FFF2-40B4-BE49-F238E27FC236}">
                    <a16:creationId xmlns:a16="http://schemas.microsoft.com/office/drawing/2014/main" id="{39CFCCAE-E1FB-46A8-B286-9175B801F1EB}"/>
                  </a:ext>
                </a:extLst>
              </p:cNvPr>
              <p:cNvSpPr/>
              <p:nvPr/>
            </p:nvSpPr>
            <p:spPr>
              <a:xfrm>
                <a:off x="1501314" y="2830081"/>
                <a:ext cx="2589267"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1" name="矩形 10">
                <a:extLst>
                  <a:ext uri="{FF2B5EF4-FFF2-40B4-BE49-F238E27FC236}">
                    <a16:creationId xmlns:a16="http://schemas.microsoft.com/office/drawing/2014/main" id="{F89E2120-8C7C-4B1C-B9A5-EDB4AFE5A3F0}"/>
                  </a:ext>
                </a:extLst>
              </p:cNvPr>
              <p:cNvSpPr/>
              <p:nvPr/>
            </p:nvSpPr>
            <p:spPr>
              <a:xfrm>
                <a:off x="2013083" y="2906144"/>
                <a:ext cx="162047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Times New Roman"/>
                    <a:ea typeface="微软雅黑"/>
                    <a:cs typeface="+mn-cs"/>
                  </a:rPr>
                  <a:t>分量</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 </a:t>
                </a:r>
              </a:p>
            </p:txBody>
          </p:sp>
        </p:grpSp>
        <p:sp>
          <p:nvSpPr>
            <p:cNvPr id="9" name="矩形 8">
              <a:extLst>
                <a:ext uri="{FF2B5EF4-FFF2-40B4-BE49-F238E27FC236}">
                  <a16:creationId xmlns:a16="http://schemas.microsoft.com/office/drawing/2014/main" id="{49C040E2-3966-4F9F-A26F-30B58366BA32}"/>
                </a:ext>
              </a:extLst>
            </p:cNvPr>
            <p:cNvSpPr/>
            <p:nvPr/>
          </p:nvSpPr>
          <p:spPr>
            <a:xfrm>
              <a:off x="2190523" y="1613354"/>
              <a:ext cx="4612088" cy="9610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每一行对应的列的属性值，即为元组中的一个属性值。</a:t>
              </a:r>
            </a:p>
          </p:txBody>
        </p:sp>
      </p:grpSp>
      <p:grpSp>
        <p:nvGrpSpPr>
          <p:cNvPr id="12" name="组合 11">
            <a:extLst>
              <a:ext uri="{FF2B5EF4-FFF2-40B4-BE49-F238E27FC236}">
                <a16:creationId xmlns:a16="http://schemas.microsoft.com/office/drawing/2014/main" id="{2C4E4BF3-C49F-45F3-ACE7-812B4F17E38B}"/>
              </a:ext>
            </a:extLst>
          </p:cNvPr>
          <p:cNvGrpSpPr/>
          <p:nvPr/>
        </p:nvGrpSpPr>
        <p:grpSpPr>
          <a:xfrm>
            <a:off x="1397702" y="3429000"/>
            <a:ext cx="6196984" cy="1477328"/>
            <a:chOff x="732802" y="2333804"/>
            <a:chExt cx="6196984" cy="1477328"/>
          </a:xfrm>
        </p:grpSpPr>
        <p:grpSp>
          <p:nvGrpSpPr>
            <p:cNvPr id="13" name="组合 12">
              <a:extLst>
                <a:ext uri="{FF2B5EF4-FFF2-40B4-BE49-F238E27FC236}">
                  <a16:creationId xmlns:a16="http://schemas.microsoft.com/office/drawing/2014/main" id="{8DAE995A-BD25-498C-B5D4-8D8CA2FA5890}"/>
                </a:ext>
              </a:extLst>
            </p:cNvPr>
            <p:cNvGrpSpPr/>
            <p:nvPr/>
          </p:nvGrpSpPr>
          <p:grpSpPr>
            <a:xfrm>
              <a:off x="732802" y="2658246"/>
              <a:ext cx="1217151" cy="590550"/>
              <a:chOff x="1501314" y="2855481"/>
              <a:chExt cx="2589267" cy="590550"/>
            </a:xfrm>
          </p:grpSpPr>
          <p:sp>
            <p:nvSpPr>
              <p:cNvPr id="17" name="矩形: 圆角 16">
                <a:extLst>
                  <a:ext uri="{FF2B5EF4-FFF2-40B4-BE49-F238E27FC236}">
                    <a16:creationId xmlns:a16="http://schemas.microsoft.com/office/drawing/2014/main" id="{61D69AE3-865C-4FD6-943A-0F97A955E074}"/>
                  </a:ext>
                </a:extLst>
              </p:cNvPr>
              <p:cNvSpPr/>
              <p:nvPr/>
            </p:nvSpPr>
            <p:spPr>
              <a:xfrm>
                <a:off x="1501314" y="2855481"/>
                <a:ext cx="2589267"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8" name="矩形 17">
                <a:extLst>
                  <a:ext uri="{FF2B5EF4-FFF2-40B4-BE49-F238E27FC236}">
                    <a16:creationId xmlns:a16="http://schemas.microsoft.com/office/drawing/2014/main" id="{36E64213-9CC4-436B-A809-29135BD37500}"/>
                  </a:ext>
                </a:extLst>
              </p:cNvPr>
              <p:cNvSpPr/>
              <p:nvPr/>
            </p:nvSpPr>
            <p:spPr>
              <a:xfrm>
                <a:off x="1843348" y="2934380"/>
                <a:ext cx="2029689"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候选码</a:t>
                </a:r>
              </a:p>
            </p:txBody>
          </p:sp>
        </p:grpSp>
        <p:sp>
          <p:nvSpPr>
            <p:cNvPr id="15" name="矩形 14">
              <a:extLst>
                <a:ext uri="{FF2B5EF4-FFF2-40B4-BE49-F238E27FC236}">
                  <a16:creationId xmlns:a16="http://schemas.microsoft.com/office/drawing/2014/main" id="{32D652D7-25E9-40B7-8849-2952D7AA2D7E}"/>
                </a:ext>
              </a:extLst>
            </p:cNvPr>
            <p:cNvSpPr/>
            <p:nvPr/>
          </p:nvSpPr>
          <p:spPr>
            <a:xfrm>
              <a:off x="2194762" y="2333804"/>
              <a:ext cx="4735024" cy="147732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可惟一标识一个元组的属性或属性集。如</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S</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表中学号可以惟一确定一个学生，为学生关系的主码。 </a:t>
              </a:r>
            </a:p>
          </p:txBody>
        </p:sp>
      </p:grpSp>
      <p:grpSp>
        <p:nvGrpSpPr>
          <p:cNvPr id="2" name="组合 1">
            <a:extLst>
              <a:ext uri="{FF2B5EF4-FFF2-40B4-BE49-F238E27FC236}">
                <a16:creationId xmlns:a16="http://schemas.microsoft.com/office/drawing/2014/main" id="{6A877AC3-52C1-92A4-ADC3-F0212B35043B}"/>
              </a:ext>
            </a:extLst>
          </p:cNvPr>
          <p:cNvGrpSpPr/>
          <p:nvPr/>
        </p:nvGrpSpPr>
        <p:grpSpPr>
          <a:xfrm>
            <a:off x="481856" y="454049"/>
            <a:ext cx="5614144" cy="879946"/>
            <a:chOff x="420387" y="472101"/>
            <a:chExt cx="5614144" cy="879946"/>
          </a:xfrm>
        </p:grpSpPr>
        <p:sp>
          <p:nvSpPr>
            <p:cNvPr id="3" name="内容占位符 2">
              <a:extLst>
                <a:ext uri="{FF2B5EF4-FFF2-40B4-BE49-F238E27FC236}">
                  <a16:creationId xmlns:a16="http://schemas.microsoft.com/office/drawing/2014/main" id="{9CE2C00B-BE5D-5119-E83C-02B59A4032F2}"/>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关系模型</a:t>
              </a:r>
            </a:p>
          </p:txBody>
        </p:sp>
        <p:sp>
          <p:nvSpPr>
            <p:cNvPr id="4" name="KSO_Shape">
              <a:extLst>
                <a:ext uri="{FF2B5EF4-FFF2-40B4-BE49-F238E27FC236}">
                  <a16:creationId xmlns:a16="http://schemas.microsoft.com/office/drawing/2014/main" id="{384DC535-5D85-A3E5-5159-20A25EDE6053}"/>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193554851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9E55F731-42DF-4A5D-8048-B4CC213A4705}"/>
              </a:ext>
            </a:extLst>
          </p:cNvPr>
          <p:cNvGrpSpPr/>
          <p:nvPr/>
        </p:nvGrpSpPr>
        <p:grpSpPr>
          <a:xfrm>
            <a:off x="885638" y="1817006"/>
            <a:ext cx="7572562" cy="1845955"/>
            <a:chOff x="732802" y="1613354"/>
            <a:chExt cx="7572562" cy="1845955"/>
          </a:xfrm>
        </p:grpSpPr>
        <p:grpSp>
          <p:nvGrpSpPr>
            <p:cNvPr id="8" name="组合 7">
              <a:extLst>
                <a:ext uri="{FF2B5EF4-FFF2-40B4-BE49-F238E27FC236}">
                  <a16:creationId xmlns:a16="http://schemas.microsoft.com/office/drawing/2014/main" id="{A98B7086-CC8D-4BE9-9D5F-53984560F860}"/>
                </a:ext>
              </a:extLst>
            </p:cNvPr>
            <p:cNvGrpSpPr/>
            <p:nvPr/>
          </p:nvGrpSpPr>
          <p:grpSpPr>
            <a:xfrm>
              <a:off x="732802" y="1837144"/>
              <a:ext cx="1226738" cy="590550"/>
              <a:chOff x="1501314" y="2830081"/>
              <a:chExt cx="2609661" cy="590550"/>
            </a:xfrm>
          </p:grpSpPr>
          <p:sp>
            <p:nvSpPr>
              <p:cNvPr id="10" name="矩形: 圆角 9">
                <a:extLst>
                  <a:ext uri="{FF2B5EF4-FFF2-40B4-BE49-F238E27FC236}">
                    <a16:creationId xmlns:a16="http://schemas.microsoft.com/office/drawing/2014/main" id="{39CFCCAE-E1FB-46A8-B286-9175B801F1EB}"/>
                  </a:ext>
                </a:extLst>
              </p:cNvPr>
              <p:cNvSpPr/>
              <p:nvPr/>
            </p:nvSpPr>
            <p:spPr>
              <a:xfrm>
                <a:off x="1501314" y="2830081"/>
                <a:ext cx="2589267"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1" name="矩形 10">
                <a:extLst>
                  <a:ext uri="{FF2B5EF4-FFF2-40B4-BE49-F238E27FC236}">
                    <a16:creationId xmlns:a16="http://schemas.microsoft.com/office/drawing/2014/main" id="{F89E2120-8C7C-4B1C-B9A5-EDB4AFE5A3F0}"/>
                  </a:ext>
                </a:extLst>
              </p:cNvPr>
              <p:cNvSpPr/>
              <p:nvPr/>
            </p:nvSpPr>
            <p:spPr>
              <a:xfrm>
                <a:off x="1535670" y="2906144"/>
                <a:ext cx="2575305" cy="407099"/>
              </a:xfrm>
              <a:prstGeom prst="rect">
                <a:avLst/>
              </a:prstGeom>
            </p:spPr>
            <p:txBody>
              <a:bodyPr wrap="non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Times New Roman"/>
                    <a:ea typeface="微软雅黑"/>
                    <a:cs typeface="+mn-cs"/>
                  </a:rPr>
                  <a:t>关系模式</a:t>
                </a:r>
              </a:p>
            </p:txBody>
          </p:sp>
        </p:grpSp>
        <p:sp>
          <p:nvSpPr>
            <p:cNvPr id="9" name="矩形 8">
              <a:extLst>
                <a:ext uri="{FF2B5EF4-FFF2-40B4-BE49-F238E27FC236}">
                  <a16:creationId xmlns:a16="http://schemas.microsoft.com/office/drawing/2014/main" id="{49C040E2-3966-4F9F-A26F-30B58366BA32}"/>
                </a:ext>
              </a:extLst>
            </p:cNvPr>
            <p:cNvSpPr/>
            <p:nvPr/>
          </p:nvSpPr>
          <p:spPr>
            <a:xfrm>
              <a:off x="2190522" y="1613354"/>
              <a:ext cx="6114842" cy="1845955"/>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关系模式是对关系的描述，是关系模型的“型”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一般表示为：关系名（属性</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1</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，属性</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2</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属性</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n</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如：学生（学号，姓名，性别，年龄，系别）</a:t>
              </a:r>
            </a:p>
          </p:txBody>
        </p:sp>
      </p:grpSp>
      <p:grpSp>
        <p:nvGrpSpPr>
          <p:cNvPr id="2" name="组合 1">
            <a:extLst>
              <a:ext uri="{FF2B5EF4-FFF2-40B4-BE49-F238E27FC236}">
                <a16:creationId xmlns:a16="http://schemas.microsoft.com/office/drawing/2014/main" id="{53E77100-8472-7873-A257-240851C62968}"/>
              </a:ext>
            </a:extLst>
          </p:cNvPr>
          <p:cNvGrpSpPr/>
          <p:nvPr/>
        </p:nvGrpSpPr>
        <p:grpSpPr>
          <a:xfrm>
            <a:off x="481856" y="454049"/>
            <a:ext cx="5614144" cy="879946"/>
            <a:chOff x="420387" y="472101"/>
            <a:chExt cx="5614144" cy="879946"/>
          </a:xfrm>
        </p:grpSpPr>
        <p:sp>
          <p:nvSpPr>
            <p:cNvPr id="3" name="内容占位符 2">
              <a:extLst>
                <a:ext uri="{FF2B5EF4-FFF2-40B4-BE49-F238E27FC236}">
                  <a16:creationId xmlns:a16="http://schemas.microsoft.com/office/drawing/2014/main" id="{FC6D196D-2941-1A7D-9FEC-28ABE0EFFEE1}"/>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关系模型</a:t>
              </a:r>
            </a:p>
          </p:txBody>
        </p:sp>
        <p:sp>
          <p:nvSpPr>
            <p:cNvPr id="4" name="KSO_Shape">
              <a:extLst>
                <a:ext uri="{FF2B5EF4-FFF2-40B4-BE49-F238E27FC236}">
                  <a16:creationId xmlns:a16="http://schemas.microsoft.com/office/drawing/2014/main" id="{4075029C-8B4C-95EE-8263-90467D688B44}"/>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185389598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A50B1B53-66FE-41AE-8B8E-1D7B876F6EAC}"/>
              </a:ext>
            </a:extLst>
          </p:cNvPr>
          <p:cNvSpPr/>
          <p:nvPr/>
        </p:nvSpPr>
        <p:spPr>
          <a:xfrm>
            <a:off x="800336" y="2405511"/>
            <a:ext cx="10481800" cy="2461700"/>
          </a:xfrm>
          <a:prstGeom prst="rect">
            <a:avLst/>
          </a:prstGeom>
        </p:spPr>
        <p:txBody>
          <a:bodyPr wrap="square">
            <a:spAutoFit/>
          </a:bodyPr>
          <a:lstStyle/>
          <a:p>
            <a:pPr marL="342900" marR="0" lvl="1" indent="-342900" algn="just"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关系模型的数据操纵主要包括查询、插入、删除和修改</a:t>
            </a:r>
          </a:p>
          <a:p>
            <a:pPr marL="342900" marR="0" lvl="1" indent="-342900" algn="just"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关系模型中的数据操作是集合操作，操作对象和操作结果都是关系，即若干元组的集合。 </a:t>
            </a:r>
          </a:p>
          <a:p>
            <a:pPr marL="342900" marR="0" lvl="1" indent="-342900" algn="just"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关系模型把对数据的存取路径隐蔽起来，用户只要指出“干什么”，而不必详细说明“怎么干”，从而大大地提高了数据的独立性，提高了用户操作效率。</a:t>
            </a:r>
          </a:p>
        </p:txBody>
      </p:sp>
      <p:sp>
        <p:nvSpPr>
          <p:cNvPr id="4" name="矩形 3">
            <a:extLst>
              <a:ext uri="{FF2B5EF4-FFF2-40B4-BE49-F238E27FC236}">
                <a16:creationId xmlns:a16="http://schemas.microsoft.com/office/drawing/2014/main" id="{149404E4-ADED-4B40-83A3-984D5884EE1C}"/>
              </a:ext>
            </a:extLst>
          </p:cNvPr>
          <p:cNvSpPr/>
          <p:nvPr/>
        </p:nvSpPr>
        <p:spPr>
          <a:xfrm>
            <a:off x="310180" y="1825090"/>
            <a:ext cx="5731056" cy="464230"/>
          </a:xfrm>
          <a:prstGeom prst="rect">
            <a:avLst/>
          </a:prstGeom>
        </p:spPr>
        <p:txBody>
          <a:bodyPr wrap="none">
            <a:spAutoFit/>
          </a:bodyPr>
          <a:lstStyle/>
          <a:p>
            <a:pPr marL="457200" marR="0" lvl="1" indent="0" algn="l" defTabSz="914400" rtl="0" eaLnBrk="1" fontAlgn="auto" latinLnBrk="0" hangingPunct="1">
              <a:lnSpc>
                <a:spcPts val="29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ED7D31"/>
                </a:solidFill>
                <a:effectLst/>
                <a:uLnTx/>
                <a:uFillTx/>
                <a:latin typeface="Times New Roman"/>
                <a:ea typeface="微软雅黑"/>
                <a:cs typeface="+mn-cs"/>
              </a:rPr>
              <a:t>关系模型的数据操纵与完整性约束 </a:t>
            </a:r>
          </a:p>
        </p:txBody>
      </p:sp>
      <p:grpSp>
        <p:nvGrpSpPr>
          <p:cNvPr id="2" name="组合 1">
            <a:extLst>
              <a:ext uri="{FF2B5EF4-FFF2-40B4-BE49-F238E27FC236}">
                <a16:creationId xmlns:a16="http://schemas.microsoft.com/office/drawing/2014/main" id="{EFB352AD-76E5-263B-A757-DBE2CAEC1CA5}"/>
              </a:ext>
            </a:extLst>
          </p:cNvPr>
          <p:cNvGrpSpPr/>
          <p:nvPr/>
        </p:nvGrpSpPr>
        <p:grpSpPr>
          <a:xfrm>
            <a:off x="481856" y="454049"/>
            <a:ext cx="5614144" cy="879946"/>
            <a:chOff x="420387" y="472101"/>
            <a:chExt cx="5614144" cy="879946"/>
          </a:xfrm>
        </p:grpSpPr>
        <p:sp>
          <p:nvSpPr>
            <p:cNvPr id="3" name="内容占位符 2">
              <a:extLst>
                <a:ext uri="{FF2B5EF4-FFF2-40B4-BE49-F238E27FC236}">
                  <a16:creationId xmlns:a16="http://schemas.microsoft.com/office/drawing/2014/main" id="{C4B137AE-E540-6890-7F9F-2289F7F52E76}"/>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关系模型</a:t>
              </a:r>
            </a:p>
          </p:txBody>
        </p:sp>
        <p:sp>
          <p:nvSpPr>
            <p:cNvPr id="5" name="KSO_Shape">
              <a:extLst>
                <a:ext uri="{FF2B5EF4-FFF2-40B4-BE49-F238E27FC236}">
                  <a16:creationId xmlns:a16="http://schemas.microsoft.com/office/drawing/2014/main" id="{986A6A05-4682-781E-9FC5-8D08A38F3ADD}"/>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349598701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5">
                                            <p:txEl>
                                              <p:pRg st="0" end="0"/>
                                            </p:txEl>
                                          </p:spTgt>
                                        </p:tgtEl>
                                        <p:attrNameLst>
                                          <p:attrName>style.visibility</p:attrName>
                                        </p:attrNameLst>
                                      </p:cBhvr>
                                      <p:to>
                                        <p:strVal val="visible"/>
                                      </p:to>
                                    </p:set>
                                    <p:animEffect transition="in" filter="wipe(down)">
                                      <p:cBhvr>
                                        <p:cTn id="16" dur="500"/>
                                        <p:tgtEl>
                                          <p:spTgt spid="2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5">
                                            <p:txEl>
                                              <p:pRg st="1" end="1"/>
                                            </p:txEl>
                                          </p:spTgt>
                                        </p:tgtEl>
                                        <p:attrNameLst>
                                          <p:attrName>style.visibility</p:attrName>
                                        </p:attrNameLst>
                                      </p:cBhvr>
                                      <p:to>
                                        <p:strVal val="visible"/>
                                      </p:to>
                                    </p:set>
                                    <p:animEffect transition="in" filter="wipe(down)">
                                      <p:cBhvr>
                                        <p:cTn id="21" dur="500"/>
                                        <p:tgtEl>
                                          <p:spTgt spid="2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5">
                                            <p:txEl>
                                              <p:pRg st="2" end="2"/>
                                            </p:txEl>
                                          </p:spTgt>
                                        </p:tgtEl>
                                        <p:attrNameLst>
                                          <p:attrName>style.visibility</p:attrName>
                                        </p:attrNameLst>
                                      </p:cBhvr>
                                      <p:to>
                                        <p:strVal val="visible"/>
                                      </p:to>
                                    </p:set>
                                    <p:animEffect transition="in" filter="wipe(down)">
                                      <p:cBhvr>
                                        <p:cTn id="26"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631F0EE-F1D5-48E1-A3AA-957648AFFBA8}"/>
              </a:ext>
            </a:extLst>
          </p:cNvPr>
          <p:cNvSpPr/>
          <p:nvPr/>
        </p:nvSpPr>
        <p:spPr>
          <a:xfrm>
            <a:off x="393989" y="1385864"/>
            <a:ext cx="3416320" cy="444289"/>
          </a:xfrm>
          <a:prstGeom prst="rect">
            <a:avLst/>
          </a:prstGeom>
        </p:spPr>
        <p:txBody>
          <a:bodyPr wrap="none">
            <a:spAutoFit/>
          </a:bodyPr>
          <a:lstStyle/>
          <a:p>
            <a:pPr marL="609814" marR="0" lvl="1" indent="0" algn="l" defTabSz="914400" rtl="0" eaLnBrk="1" fontAlgn="auto" latinLnBrk="0" hangingPunct="1">
              <a:lnSpc>
                <a:spcPts val="29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a:ea typeface="微软雅黑"/>
                <a:cs typeface="+mn-cs"/>
              </a:rPr>
              <a:t>关系模型的优缺点  </a:t>
            </a:r>
          </a:p>
        </p:txBody>
      </p:sp>
      <p:sp>
        <p:nvSpPr>
          <p:cNvPr id="20" name="矩形 19">
            <a:extLst>
              <a:ext uri="{FF2B5EF4-FFF2-40B4-BE49-F238E27FC236}">
                <a16:creationId xmlns:a16="http://schemas.microsoft.com/office/drawing/2014/main" id="{CCBD4F60-69F0-4A6B-A13F-17F3351AFFB9}"/>
              </a:ext>
            </a:extLst>
          </p:cNvPr>
          <p:cNvSpPr/>
          <p:nvPr/>
        </p:nvSpPr>
        <p:spPr>
          <a:xfrm>
            <a:off x="4283415" y="1971651"/>
            <a:ext cx="120270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优点</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endPar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p:txBody>
      </p:sp>
      <p:grpSp>
        <p:nvGrpSpPr>
          <p:cNvPr id="21" name="组合 20">
            <a:extLst>
              <a:ext uri="{FF2B5EF4-FFF2-40B4-BE49-F238E27FC236}">
                <a16:creationId xmlns:a16="http://schemas.microsoft.com/office/drawing/2014/main" id="{B259D145-B3DC-40AF-86E1-42CAE19D7945}"/>
              </a:ext>
            </a:extLst>
          </p:cNvPr>
          <p:cNvGrpSpPr/>
          <p:nvPr/>
        </p:nvGrpSpPr>
        <p:grpSpPr>
          <a:xfrm>
            <a:off x="1830623" y="2548733"/>
            <a:ext cx="6076426" cy="1687383"/>
            <a:chOff x="1501314" y="2855481"/>
            <a:chExt cx="4542404" cy="590550"/>
          </a:xfrm>
        </p:grpSpPr>
        <p:sp>
          <p:nvSpPr>
            <p:cNvPr id="23" name="矩形: 圆角 22">
              <a:extLst>
                <a:ext uri="{FF2B5EF4-FFF2-40B4-BE49-F238E27FC236}">
                  <a16:creationId xmlns:a16="http://schemas.microsoft.com/office/drawing/2014/main" id="{27C1AABA-68D8-4E77-A76E-5AB973BC477D}"/>
                </a:ext>
              </a:extLst>
            </p:cNvPr>
            <p:cNvSpPr/>
            <p:nvPr/>
          </p:nvSpPr>
          <p:spPr>
            <a:xfrm>
              <a:off x="1501314" y="2855481"/>
              <a:ext cx="4542404"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4" name="矩形 23">
              <a:extLst>
                <a:ext uri="{FF2B5EF4-FFF2-40B4-BE49-F238E27FC236}">
                  <a16:creationId xmlns:a16="http://schemas.microsoft.com/office/drawing/2014/main" id="{EF4538D3-41E5-4BC8-BB62-B85421512A98}"/>
                </a:ext>
              </a:extLst>
            </p:cNvPr>
            <p:cNvSpPr/>
            <p:nvPr/>
          </p:nvSpPr>
          <p:spPr>
            <a:xfrm>
              <a:off x="3761624" y="2919923"/>
              <a:ext cx="18473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p:txBody>
        </p:sp>
      </p:grpSp>
      <p:sp>
        <p:nvSpPr>
          <p:cNvPr id="3" name="矩形 2">
            <a:extLst>
              <a:ext uri="{FF2B5EF4-FFF2-40B4-BE49-F238E27FC236}">
                <a16:creationId xmlns:a16="http://schemas.microsoft.com/office/drawing/2014/main" id="{87D1C30B-0B52-4A72-81B4-0AD5DA1DEC7C}"/>
              </a:ext>
            </a:extLst>
          </p:cNvPr>
          <p:cNvSpPr/>
          <p:nvPr/>
        </p:nvSpPr>
        <p:spPr>
          <a:xfrm>
            <a:off x="2106678" y="2646274"/>
            <a:ext cx="5952771" cy="1477328"/>
          </a:xfrm>
          <a:prstGeom prst="rect">
            <a:avLst/>
          </a:prstGeom>
        </p:spPr>
        <p:txBody>
          <a:bodyPr wrap="square">
            <a:spAutoFit/>
          </a:bodyPr>
          <a:lstStyle/>
          <a:p>
            <a:pPr marL="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Times New Roman"/>
                <a:ea typeface="微软雅黑"/>
                <a:cs typeface="+mn-cs"/>
              </a:rPr>
              <a:t>有严格的数学理论根据</a:t>
            </a:r>
            <a:endParaRPr kumimoji="0" lang="en-US" altLang="zh-CN" sz="2000" b="0" i="0" u="none" strike="noStrike" kern="1200" cap="none" spc="0" normalizeH="0" baseline="0" noProof="0" dirty="0">
              <a:ln>
                <a:noFill/>
              </a:ln>
              <a:solidFill>
                <a:prstClr val="black">
                  <a:lumMod val="75000"/>
                  <a:lumOff val="25000"/>
                </a:prstClr>
              </a:solidFill>
              <a:effectLst/>
              <a:uLnTx/>
              <a:uFillTx/>
              <a:latin typeface="Times New Roman"/>
              <a:ea typeface="微软雅黑"/>
              <a:cs typeface="+mn-cs"/>
            </a:endParaRPr>
          </a:p>
          <a:p>
            <a:pPr marL="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数据结构简单、清晰，用关系描述实体及其联系</a:t>
            </a:r>
            <a:endParaRPr kumimoji="0" lang="en-US" altLang="zh-CN"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a:p>
            <a:pPr marL="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具有更高的数据独立性、更好的安全保密性 </a:t>
            </a:r>
          </a:p>
        </p:txBody>
      </p:sp>
      <p:sp>
        <p:nvSpPr>
          <p:cNvPr id="25" name="矩形 24">
            <a:extLst>
              <a:ext uri="{FF2B5EF4-FFF2-40B4-BE49-F238E27FC236}">
                <a16:creationId xmlns:a16="http://schemas.microsoft.com/office/drawing/2014/main" id="{37AF6670-31BD-4AA1-B973-FBFA3954085F}"/>
              </a:ext>
            </a:extLst>
          </p:cNvPr>
          <p:cNvSpPr/>
          <p:nvPr/>
        </p:nvSpPr>
        <p:spPr>
          <a:xfrm>
            <a:off x="4283415" y="4352379"/>
            <a:ext cx="120270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缺点</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rPr>
              <a:t>:</a:t>
            </a:r>
            <a:endPar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p:txBody>
      </p:sp>
      <p:grpSp>
        <p:nvGrpSpPr>
          <p:cNvPr id="26" name="组合 25">
            <a:extLst>
              <a:ext uri="{FF2B5EF4-FFF2-40B4-BE49-F238E27FC236}">
                <a16:creationId xmlns:a16="http://schemas.microsoft.com/office/drawing/2014/main" id="{E7D256DF-BE21-4C6E-ADDB-1A5CBC9C7B12}"/>
              </a:ext>
            </a:extLst>
          </p:cNvPr>
          <p:cNvGrpSpPr/>
          <p:nvPr/>
        </p:nvGrpSpPr>
        <p:grpSpPr>
          <a:xfrm>
            <a:off x="1807462" y="4865068"/>
            <a:ext cx="5767056" cy="696698"/>
            <a:chOff x="1501314" y="2855481"/>
            <a:chExt cx="4743450" cy="590550"/>
          </a:xfrm>
        </p:grpSpPr>
        <p:sp>
          <p:nvSpPr>
            <p:cNvPr id="27" name="矩形: 圆角 26">
              <a:extLst>
                <a:ext uri="{FF2B5EF4-FFF2-40B4-BE49-F238E27FC236}">
                  <a16:creationId xmlns:a16="http://schemas.microsoft.com/office/drawing/2014/main" id="{23A92A9B-F58C-4B44-B847-962DB68ED999}"/>
                </a:ext>
              </a:extLst>
            </p:cNvPr>
            <p:cNvSpPr/>
            <p:nvPr/>
          </p:nvSpPr>
          <p:spPr>
            <a:xfrm>
              <a:off x="1501314" y="2855481"/>
              <a:ext cx="4743450" cy="590550"/>
            </a:xfrm>
            <a:prstGeom prst="roundRect">
              <a:avLst/>
            </a:prstGeom>
            <a:solidFill>
              <a:schemeClr val="bg1">
                <a:alpha val="74000"/>
              </a:schemeClr>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8" name="矩形 27">
              <a:extLst>
                <a:ext uri="{FF2B5EF4-FFF2-40B4-BE49-F238E27FC236}">
                  <a16:creationId xmlns:a16="http://schemas.microsoft.com/office/drawing/2014/main" id="{E05AE90A-ACF1-4594-B9A7-86BDE6B57BA5}"/>
                </a:ext>
              </a:extLst>
            </p:cNvPr>
            <p:cNvSpPr/>
            <p:nvPr/>
          </p:nvSpPr>
          <p:spPr>
            <a:xfrm>
              <a:off x="3761624" y="2919923"/>
              <a:ext cx="18473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lumMod val="85000"/>
                    <a:lumOff val="15000"/>
                  </a:prstClr>
                </a:solidFill>
                <a:effectLst/>
                <a:uLnTx/>
                <a:uFillTx/>
                <a:latin typeface="微软雅黑"/>
                <a:ea typeface="微软雅黑"/>
                <a:cs typeface="+mn-cs"/>
              </a:endParaRPr>
            </a:p>
          </p:txBody>
        </p:sp>
      </p:grpSp>
      <p:sp>
        <p:nvSpPr>
          <p:cNvPr id="7" name="矩形 6">
            <a:extLst>
              <a:ext uri="{FF2B5EF4-FFF2-40B4-BE49-F238E27FC236}">
                <a16:creationId xmlns:a16="http://schemas.microsoft.com/office/drawing/2014/main" id="{F2FBC433-45EC-4D9A-8952-EF5A644A6AA1}"/>
              </a:ext>
            </a:extLst>
          </p:cNvPr>
          <p:cNvSpPr/>
          <p:nvPr/>
        </p:nvSpPr>
        <p:spPr>
          <a:xfrm>
            <a:off x="3193206" y="5042886"/>
            <a:ext cx="3081293" cy="400110"/>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查询效率不如非关系模型 </a:t>
            </a:r>
          </a:p>
        </p:txBody>
      </p:sp>
      <p:grpSp>
        <p:nvGrpSpPr>
          <p:cNvPr id="4" name="组合 3">
            <a:extLst>
              <a:ext uri="{FF2B5EF4-FFF2-40B4-BE49-F238E27FC236}">
                <a16:creationId xmlns:a16="http://schemas.microsoft.com/office/drawing/2014/main" id="{3D0D2C19-F952-49B5-5CBA-0BF0781E2180}"/>
              </a:ext>
            </a:extLst>
          </p:cNvPr>
          <p:cNvGrpSpPr/>
          <p:nvPr/>
        </p:nvGrpSpPr>
        <p:grpSpPr>
          <a:xfrm>
            <a:off x="481856" y="454049"/>
            <a:ext cx="5614144" cy="879946"/>
            <a:chOff x="420387" y="472101"/>
            <a:chExt cx="5614144" cy="879946"/>
          </a:xfrm>
        </p:grpSpPr>
        <p:sp>
          <p:nvSpPr>
            <p:cNvPr id="5" name="内容占位符 2">
              <a:extLst>
                <a:ext uri="{FF2B5EF4-FFF2-40B4-BE49-F238E27FC236}">
                  <a16:creationId xmlns:a16="http://schemas.microsoft.com/office/drawing/2014/main" id="{3AA91DDE-375B-C73E-C208-3E7693C4DBAE}"/>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关系模型</a:t>
              </a:r>
            </a:p>
          </p:txBody>
        </p:sp>
        <p:sp>
          <p:nvSpPr>
            <p:cNvPr id="8" name="KSO_Shape">
              <a:extLst>
                <a:ext uri="{FF2B5EF4-FFF2-40B4-BE49-F238E27FC236}">
                  <a16:creationId xmlns:a16="http://schemas.microsoft.com/office/drawing/2014/main" id="{36306077-CA01-18B7-54CA-2E53C8244462}"/>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266892443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P spid="3" grpId="0"/>
      <p:bldP spid="25" grpId="0"/>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62403601-E0FF-5209-1711-6FCB0EDFA28F}"/>
              </a:ext>
            </a:extLst>
          </p:cNvPr>
          <p:cNvSpPr>
            <a:spLocks noChangeAspect="1" noChangeArrowheads="1" noTextEdit="1"/>
          </p:cNvSpPr>
          <p:nvPr/>
        </p:nvSpPr>
        <p:spPr bwMode="auto">
          <a:xfrm>
            <a:off x="1246425" y="1606639"/>
            <a:ext cx="5392793" cy="89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Freeform 5">
            <a:extLst>
              <a:ext uri="{FF2B5EF4-FFF2-40B4-BE49-F238E27FC236}">
                <a16:creationId xmlns:a16="http://schemas.microsoft.com/office/drawing/2014/main" id="{1F0D212B-F9B4-D60F-FB5B-ADA8438782D1}"/>
              </a:ext>
            </a:extLst>
          </p:cNvPr>
          <p:cNvSpPr>
            <a:spLocks noEditPoints="1"/>
          </p:cNvSpPr>
          <p:nvPr/>
        </p:nvSpPr>
        <p:spPr bwMode="auto">
          <a:xfrm>
            <a:off x="1570638" y="1744660"/>
            <a:ext cx="349100" cy="364663"/>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22 w 28"/>
              <a:gd name="T11" fmla="*/ 14 h 28"/>
              <a:gd name="T12" fmla="*/ 14 w 28"/>
              <a:gd name="T13" fmla="*/ 6 h 28"/>
              <a:gd name="T14" fmla="*/ 6 w 28"/>
              <a:gd name="T15" fmla="*/ 14 h 28"/>
              <a:gd name="T16" fmla="*/ 14 w 28"/>
              <a:gd name="T17" fmla="*/ 22 h 28"/>
              <a:gd name="T18" fmla="*/ 22 w 28"/>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moveTo>
                  <a:pt x="22" y="14"/>
                </a:moveTo>
                <a:cubicBezTo>
                  <a:pt x="22" y="9"/>
                  <a:pt x="19" y="6"/>
                  <a:pt x="14" y="6"/>
                </a:cubicBezTo>
                <a:cubicBezTo>
                  <a:pt x="9" y="6"/>
                  <a:pt x="6" y="9"/>
                  <a:pt x="6" y="14"/>
                </a:cubicBezTo>
                <a:cubicBezTo>
                  <a:pt x="6" y="19"/>
                  <a:pt x="9" y="22"/>
                  <a:pt x="14" y="22"/>
                </a:cubicBezTo>
                <a:cubicBezTo>
                  <a:pt x="19" y="22"/>
                  <a:pt x="22" y="19"/>
                  <a:pt x="22" y="14"/>
                </a:cubicBezTo>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Freeform 6">
            <a:extLst>
              <a:ext uri="{FF2B5EF4-FFF2-40B4-BE49-F238E27FC236}">
                <a16:creationId xmlns:a16="http://schemas.microsoft.com/office/drawing/2014/main" id="{459511B7-69D6-5A08-A1FD-DB8B2C170D1F}"/>
              </a:ext>
            </a:extLst>
          </p:cNvPr>
          <p:cNvSpPr>
            <a:spLocks noEditPoints="1"/>
          </p:cNvSpPr>
          <p:nvPr/>
        </p:nvSpPr>
        <p:spPr bwMode="auto">
          <a:xfrm>
            <a:off x="1431766" y="1604850"/>
            <a:ext cx="3869043" cy="643383"/>
          </a:xfrm>
          <a:custGeom>
            <a:avLst/>
            <a:gdLst>
              <a:gd name="T0" fmla="*/ 0 w 393"/>
              <a:gd name="T1" fmla="*/ 32 h 64"/>
              <a:gd name="T2" fmla="*/ 32 w 393"/>
              <a:gd name="T3" fmla="*/ 0 h 64"/>
              <a:gd name="T4" fmla="*/ 368 w 393"/>
              <a:gd name="T5" fmla="*/ 0 h 64"/>
              <a:gd name="T6" fmla="*/ 393 w 393"/>
              <a:gd name="T7" fmla="*/ 25 h 64"/>
              <a:gd name="T8" fmla="*/ 393 w 393"/>
              <a:gd name="T9" fmla="*/ 39 h 64"/>
              <a:gd name="T10" fmla="*/ 368 w 393"/>
              <a:gd name="T11" fmla="*/ 64 h 64"/>
              <a:gd name="T12" fmla="*/ 32 w 393"/>
              <a:gd name="T13" fmla="*/ 64 h 64"/>
              <a:gd name="T14" fmla="*/ 0 w 393"/>
              <a:gd name="T15" fmla="*/ 32 h 64"/>
              <a:gd name="T16" fmla="*/ 54 w 393"/>
              <a:gd name="T17" fmla="*/ 32 h 64"/>
              <a:gd name="T18" fmla="*/ 32 w 393"/>
              <a:gd name="T19" fmla="*/ 10 h 64"/>
              <a:gd name="T20" fmla="*/ 10 w 393"/>
              <a:gd name="T21" fmla="*/ 32 h 64"/>
              <a:gd name="T22" fmla="*/ 32 w 393"/>
              <a:gd name="T23" fmla="*/ 54 h 64"/>
              <a:gd name="T24" fmla="*/ 54 w 393"/>
              <a:gd name="T25"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3" h="64">
                <a:moveTo>
                  <a:pt x="0" y="32"/>
                </a:moveTo>
                <a:cubicBezTo>
                  <a:pt x="0" y="14"/>
                  <a:pt x="14" y="0"/>
                  <a:pt x="32" y="0"/>
                </a:cubicBezTo>
                <a:cubicBezTo>
                  <a:pt x="368" y="0"/>
                  <a:pt x="368" y="0"/>
                  <a:pt x="368" y="0"/>
                </a:cubicBezTo>
                <a:cubicBezTo>
                  <a:pt x="382" y="0"/>
                  <a:pt x="393" y="11"/>
                  <a:pt x="393" y="25"/>
                </a:cubicBezTo>
                <a:cubicBezTo>
                  <a:pt x="393" y="39"/>
                  <a:pt x="393" y="39"/>
                  <a:pt x="393" y="39"/>
                </a:cubicBezTo>
                <a:cubicBezTo>
                  <a:pt x="393" y="53"/>
                  <a:pt x="382" y="64"/>
                  <a:pt x="368" y="64"/>
                </a:cubicBezTo>
                <a:cubicBezTo>
                  <a:pt x="32" y="64"/>
                  <a:pt x="32" y="64"/>
                  <a:pt x="32" y="64"/>
                </a:cubicBezTo>
                <a:cubicBezTo>
                  <a:pt x="14" y="64"/>
                  <a:pt x="0" y="50"/>
                  <a:pt x="0" y="32"/>
                </a:cubicBezTo>
                <a:moveTo>
                  <a:pt x="54" y="32"/>
                </a:moveTo>
                <a:cubicBezTo>
                  <a:pt x="54" y="20"/>
                  <a:pt x="44" y="10"/>
                  <a:pt x="32" y="10"/>
                </a:cubicBezTo>
                <a:cubicBezTo>
                  <a:pt x="20" y="10"/>
                  <a:pt x="10" y="20"/>
                  <a:pt x="10" y="32"/>
                </a:cubicBezTo>
                <a:cubicBezTo>
                  <a:pt x="10" y="44"/>
                  <a:pt x="20" y="54"/>
                  <a:pt x="32" y="54"/>
                </a:cubicBezTo>
                <a:cubicBezTo>
                  <a:pt x="44" y="54"/>
                  <a:pt x="54" y="44"/>
                  <a:pt x="54"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 name="矩形 4">
            <a:extLst>
              <a:ext uri="{FF2B5EF4-FFF2-40B4-BE49-F238E27FC236}">
                <a16:creationId xmlns:a16="http://schemas.microsoft.com/office/drawing/2014/main" id="{FF8B7C88-29F9-2688-E8F8-D8B428438A7A}"/>
              </a:ext>
            </a:extLst>
          </p:cNvPr>
          <p:cNvSpPr/>
          <p:nvPr/>
        </p:nvSpPr>
        <p:spPr>
          <a:xfrm>
            <a:off x="2860180" y="1626372"/>
            <a:ext cx="2119324" cy="499432"/>
          </a:xfrm>
          <a:prstGeom prst="rect">
            <a:avLst/>
          </a:prstGeom>
        </p:spPr>
        <p:txBody>
          <a:bodyPr wrap="square">
            <a:spAutoFit/>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lang="zh-CN" altLang="en-US" sz="2000" b="1" dirty="0">
                <a:solidFill>
                  <a:prstClr val="white"/>
                </a:solidFill>
                <a:effectLst>
                  <a:outerShdw blurRad="38100" dist="38100" dir="2700000" algn="tl">
                    <a:srgbClr val="000000">
                      <a:alpha val="43137"/>
                    </a:srgbClr>
                  </a:outerShdw>
                </a:effectLst>
                <a:latin typeface="Times New Roman"/>
                <a:ea typeface="微软雅黑"/>
              </a:rPr>
              <a:t>课后作业布置</a:t>
            </a:r>
            <a:endParaRPr kumimoji="0" lang="zh-CN" alt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a:ea typeface="微软雅黑"/>
              <a:cs typeface="+mn-cs"/>
            </a:endParaRPr>
          </a:p>
        </p:txBody>
      </p:sp>
      <p:grpSp>
        <p:nvGrpSpPr>
          <p:cNvPr id="6" name="组合 5">
            <a:extLst>
              <a:ext uri="{FF2B5EF4-FFF2-40B4-BE49-F238E27FC236}">
                <a16:creationId xmlns:a16="http://schemas.microsoft.com/office/drawing/2014/main" id="{A35DF287-5C0F-7D84-848E-1686424BBBA2}"/>
              </a:ext>
            </a:extLst>
          </p:cNvPr>
          <p:cNvGrpSpPr/>
          <p:nvPr/>
        </p:nvGrpSpPr>
        <p:grpSpPr>
          <a:xfrm>
            <a:off x="1103648" y="527201"/>
            <a:ext cx="5614144" cy="879946"/>
            <a:chOff x="420387" y="472101"/>
            <a:chExt cx="5614144" cy="879946"/>
          </a:xfrm>
        </p:grpSpPr>
        <p:sp>
          <p:nvSpPr>
            <p:cNvPr id="7" name="内容占位符 2">
              <a:extLst>
                <a:ext uri="{FF2B5EF4-FFF2-40B4-BE49-F238E27FC236}">
                  <a16:creationId xmlns:a16="http://schemas.microsoft.com/office/drawing/2014/main" id="{3B9AB962-D053-7600-3196-CCE12F2B696D}"/>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数据模型 </a:t>
              </a:r>
            </a:p>
          </p:txBody>
        </p:sp>
        <p:sp>
          <p:nvSpPr>
            <p:cNvPr id="8" name="KSO_Shape">
              <a:extLst>
                <a:ext uri="{FF2B5EF4-FFF2-40B4-BE49-F238E27FC236}">
                  <a16:creationId xmlns:a16="http://schemas.microsoft.com/office/drawing/2014/main" id="{9FF069AB-9F86-2B33-4815-9F9A5606D9AF}"/>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 name="矩形 8">
            <a:extLst>
              <a:ext uri="{FF2B5EF4-FFF2-40B4-BE49-F238E27FC236}">
                <a16:creationId xmlns:a16="http://schemas.microsoft.com/office/drawing/2014/main" id="{96D22737-EEB7-196B-84FB-B643DDBD9BAB}"/>
              </a:ext>
            </a:extLst>
          </p:cNvPr>
          <p:cNvSpPr/>
          <p:nvPr/>
        </p:nvSpPr>
        <p:spPr>
          <a:xfrm>
            <a:off x="1526160" y="2525170"/>
            <a:ext cx="9616336" cy="123059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a:ea typeface="微软雅黑"/>
                <a:cs typeface="+mn-cs"/>
              </a:rPr>
              <a:t>1</a:t>
            </a:r>
            <a:r>
              <a:rPr kumimoji="0" lang="zh-CN" altLang="en-US" sz="2000" b="0" i="0" u="none" strike="noStrike" kern="1200" cap="none" spc="0" normalizeH="0" baseline="0" noProof="0" dirty="0">
                <a:ln>
                  <a:noFill/>
                </a:ln>
                <a:solidFill>
                  <a:prstClr val="black"/>
                </a:solidFill>
                <a:effectLst/>
                <a:uLnTx/>
                <a:uFillTx/>
                <a:latin typeface="微软雅黑"/>
                <a:ea typeface="微软雅黑"/>
                <a:cs typeface="+mn-cs"/>
              </a:rPr>
              <a:t>、复习本节课思考题，巩固层次、网状、关系模型区别。</a:t>
            </a:r>
            <a:endParaRPr kumimoji="0" lang="en-US" altLang="zh-CN" sz="2000" b="0" i="0" u="none" strike="noStrike" kern="1200" cap="none" spc="0" normalizeH="0" baseline="0" noProof="0" dirty="0">
              <a:ln>
                <a:noFill/>
              </a:ln>
              <a:solidFill>
                <a:prstClr val="black"/>
              </a:solidFill>
              <a:effectLst/>
              <a:uLnTx/>
              <a:uFillTx/>
              <a:latin typeface="微软雅黑"/>
              <a:ea typeface="微软雅黑"/>
              <a:cs typeface="+mn-cs"/>
            </a:endParaRPr>
          </a:p>
          <a:p>
            <a:pPr marL="0" marR="0" lvl="0" indent="0" algn="l" defTabSz="914400" rtl="0" eaLnBrk="1" fontAlgn="auto" latinLnBrk="0" hangingPunct="1">
              <a:lnSpc>
                <a:spcPct val="200000"/>
              </a:lnSpc>
              <a:spcBef>
                <a:spcPts val="0"/>
              </a:spcBef>
              <a:spcAft>
                <a:spcPts val="0"/>
              </a:spcAft>
              <a:buClrTx/>
              <a:buSzTx/>
              <a:buFontTx/>
              <a:buNone/>
              <a:tabLst/>
              <a:defRPr/>
            </a:pPr>
            <a:r>
              <a:rPr lang="en-US" altLang="zh-CN" sz="2000" dirty="0">
                <a:solidFill>
                  <a:prstClr val="black"/>
                </a:solidFill>
                <a:latin typeface="微软雅黑"/>
                <a:ea typeface="微软雅黑"/>
              </a:rPr>
              <a:t>2</a:t>
            </a:r>
            <a:r>
              <a:rPr lang="zh-CN" altLang="en-US" sz="2000" dirty="0">
                <a:solidFill>
                  <a:prstClr val="black"/>
                </a:solidFill>
                <a:latin typeface="微软雅黑"/>
                <a:ea typeface="微软雅黑"/>
              </a:rPr>
              <a:t>、简单思考：学校场景中学生、社团实体之间的联系。</a:t>
            </a:r>
            <a:endParaRPr lang="en-US" altLang="zh-CN" sz="2000" dirty="0">
              <a:solidFill>
                <a:prstClr val="black"/>
              </a:solidFill>
              <a:latin typeface="微软雅黑"/>
              <a:ea typeface="微软雅黑"/>
            </a:endParaRPr>
          </a:p>
        </p:txBody>
      </p:sp>
    </p:spTree>
    <p:extLst>
      <p:ext uri="{BB962C8B-B14F-4D97-AF65-F5344CB8AC3E}">
        <p14:creationId xmlns:p14="http://schemas.microsoft.com/office/powerpoint/2010/main" val="9701692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B3CCEBB6-E2EE-AE3E-3EAD-D9A0CB48284C}"/>
              </a:ext>
            </a:extLst>
          </p:cNvPr>
          <p:cNvSpPr txBox="1">
            <a:spLocks noChangeArrowheads="1"/>
          </p:cNvSpPr>
          <p:nvPr/>
        </p:nvSpPr>
        <p:spPr>
          <a:xfrm>
            <a:off x="-25387" y="2274772"/>
            <a:ext cx="11728691" cy="3699559"/>
          </a:xfrm>
          <a:prstGeom prst="rect">
            <a:avLst/>
          </a:prstGeom>
        </p:spPr>
        <p:txBody>
          <a:bodyPr vert="horz" lIns="121854" tIns="60926" rIns="121854" bIns="60926"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lvl="1">
              <a:lnSpc>
                <a:spcPts val="2799"/>
              </a:lnSpc>
            </a:pPr>
            <a:r>
              <a:rPr lang="zh-CN" altLang="en-US" sz="2599" dirty="0">
                <a:latin typeface="+mn-ea"/>
              </a:rPr>
              <a:t>对象和对象标识</a:t>
            </a:r>
          </a:p>
          <a:p>
            <a:pPr lvl="2">
              <a:lnSpc>
                <a:spcPts val="2799"/>
              </a:lnSpc>
            </a:pPr>
            <a:r>
              <a:rPr lang="zh-CN" altLang="en-US" sz="1999" dirty="0">
                <a:solidFill>
                  <a:schemeClr val="tx2">
                    <a:lumMod val="60000"/>
                    <a:lumOff val="40000"/>
                  </a:schemeClr>
                </a:solidFill>
                <a:latin typeface="+mn-ea"/>
              </a:rPr>
              <a:t>对象</a:t>
            </a:r>
            <a:r>
              <a:rPr lang="zh-CN" altLang="en-US" sz="1999" dirty="0">
                <a:solidFill>
                  <a:schemeClr val="tx1">
                    <a:lumMod val="65000"/>
                    <a:lumOff val="35000"/>
                  </a:schemeClr>
                </a:solidFill>
                <a:latin typeface="+mn-ea"/>
              </a:rPr>
              <a:t>是现实世界中实体的模型化。 </a:t>
            </a:r>
          </a:p>
          <a:p>
            <a:pPr lvl="2">
              <a:lnSpc>
                <a:spcPts val="2799"/>
              </a:lnSpc>
            </a:pPr>
            <a:r>
              <a:rPr lang="zh-CN" altLang="en-US" sz="1999" dirty="0">
                <a:solidFill>
                  <a:schemeClr val="tx2">
                    <a:lumMod val="60000"/>
                    <a:lumOff val="40000"/>
                  </a:schemeClr>
                </a:solidFill>
                <a:latin typeface="+mn-ea"/>
              </a:rPr>
              <a:t>对象标识</a:t>
            </a:r>
            <a:r>
              <a:rPr lang="zh-CN" altLang="en-US" sz="1999" dirty="0">
                <a:solidFill>
                  <a:schemeClr val="tx1">
                    <a:lumMod val="65000"/>
                    <a:lumOff val="35000"/>
                  </a:schemeClr>
                </a:solidFill>
                <a:latin typeface="+mn-ea"/>
              </a:rPr>
              <a:t>独立于对象的内容和存储位置，是一种逻辑标识符，通常由系统产生，它在整个系统范围内是惟一的。 </a:t>
            </a:r>
          </a:p>
          <a:p>
            <a:pPr lvl="2">
              <a:lnSpc>
                <a:spcPts val="2799"/>
              </a:lnSpc>
            </a:pPr>
            <a:r>
              <a:rPr lang="zh-CN" altLang="en-US" sz="1999" dirty="0">
                <a:solidFill>
                  <a:schemeClr val="tx1">
                    <a:lumMod val="65000"/>
                    <a:lumOff val="35000"/>
                  </a:schemeClr>
                </a:solidFill>
                <a:latin typeface="+mn-ea"/>
              </a:rPr>
              <a:t>两个对象即使内部状态值和方法都相同，如标识符不同，仍认为是两个相等而不同的对象。 </a:t>
            </a:r>
          </a:p>
          <a:p>
            <a:pPr lvl="2">
              <a:lnSpc>
                <a:spcPts val="2799"/>
              </a:lnSpc>
            </a:pPr>
            <a:r>
              <a:rPr lang="zh-CN" altLang="en-US" sz="1999" dirty="0">
                <a:solidFill>
                  <a:schemeClr val="tx1">
                    <a:lumMod val="65000"/>
                    <a:lumOff val="35000"/>
                  </a:schemeClr>
                </a:solidFill>
                <a:latin typeface="+mn-ea"/>
              </a:rPr>
              <a:t>每个对象都包含一组属性和一组方法。 </a:t>
            </a:r>
          </a:p>
        </p:txBody>
      </p:sp>
      <p:sp>
        <p:nvSpPr>
          <p:cNvPr id="8" name="AutoShape 4">
            <a:extLst>
              <a:ext uri="{FF2B5EF4-FFF2-40B4-BE49-F238E27FC236}">
                <a16:creationId xmlns:a16="http://schemas.microsoft.com/office/drawing/2014/main" id="{5BA66BC9-CDEB-8554-334B-A9D2DADBF0EC}"/>
              </a:ext>
            </a:extLst>
          </p:cNvPr>
          <p:cNvSpPr>
            <a:spLocks noChangeArrowheads="1"/>
          </p:cNvSpPr>
          <p:nvPr/>
        </p:nvSpPr>
        <p:spPr bwMode="auto">
          <a:xfrm>
            <a:off x="4456295" y="1454702"/>
            <a:ext cx="2207857" cy="1196507"/>
          </a:xfrm>
          <a:prstGeom prst="wedgeRoundRectCallout">
            <a:avLst>
              <a:gd name="adj1" fmla="val -64856"/>
              <a:gd name="adj2" fmla="val 74407"/>
              <a:gd name="adj3" fmla="val 16667"/>
            </a:avLst>
          </a:prstGeom>
          <a:solidFill>
            <a:srgbClr val="FFFF99">
              <a:alpha val="78038"/>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a:lnSpc>
                <a:spcPts val="2599"/>
              </a:lnSpc>
              <a:spcBef>
                <a:spcPct val="0"/>
              </a:spcBef>
              <a:buSzTx/>
              <a:buNone/>
            </a:pPr>
            <a:r>
              <a:rPr lang="zh-CN" altLang="en-US" sz="2199" dirty="0">
                <a:solidFill>
                  <a:schemeClr val="tx1">
                    <a:lumMod val="65000"/>
                    <a:lumOff val="35000"/>
                  </a:schemeClr>
                </a:solidFill>
                <a:latin typeface="+mn-ea"/>
                <a:ea typeface="+mn-ea"/>
              </a:rPr>
              <a:t>一个学生</a:t>
            </a:r>
          </a:p>
          <a:p>
            <a:pPr algn="ctr">
              <a:lnSpc>
                <a:spcPts val="2599"/>
              </a:lnSpc>
              <a:spcBef>
                <a:spcPct val="0"/>
              </a:spcBef>
              <a:buSzTx/>
              <a:buNone/>
            </a:pPr>
            <a:r>
              <a:rPr lang="zh-CN" altLang="en-US" sz="2199" dirty="0">
                <a:solidFill>
                  <a:schemeClr val="tx1">
                    <a:lumMod val="65000"/>
                    <a:lumOff val="35000"/>
                  </a:schemeClr>
                </a:solidFill>
                <a:latin typeface="+mn-ea"/>
                <a:ea typeface="+mn-ea"/>
              </a:rPr>
              <a:t>一门课程</a:t>
            </a:r>
          </a:p>
          <a:p>
            <a:pPr algn="ctr">
              <a:lnSpc>
                <a:spcPts val="2599"/>
              </a:lnSpc>
              <a:spcBef>
                <a:spcPct val="0"/>
              </a:spcBef>
              <a:buSzTx/>
              <a:buNone/>
            </a:pPr>
            <a:r>
              <a:rPr lang="zh-CN" altLang="en-US" sz="2199" dirty="0">
                <a:solidFill>
                  <a:schemeClr val="tx1">
                    <a:lumMod val="65000"/>
                    <a:lumOff val="35000"/>
                  </a:schemeClr>
                </a:solidFill>
                <a:latin typeface="+mn-ea"/>
                <a:ea typeface="+mn-ea"/>
              </a:rPr>
              <a:t>一次考试记录</a:t>
            </a:r>
          </a:p>
        </p:txBody>
      </p:sp>
      <p:sp>
        <p:nvSpPr>
          <p:cNvPr id="9" name="AutoShape 5">
            <a:extLst>
              <a:ext uri="{FF2B5EF4-FFF2-40B4-BE49-F238E27FC236}">
                <a16:creationId xmlns:a16="http://schemas.microsoft.com/office/drawing/2014/main" id="{96D1CC2E-2254-C672-6205-3B92ED970DE5}"/>
              </a:ext>
            </a:extLst>
          </p:cNvPr>
          <p:cNvSpPr>
            <a:spLocks noChangeArrowheads="1"/>
          </p:cNvSpPr>
          <p:nvPr/>
        </p:nvSpPr>
        <p:spPr bwMode="auto">
          <a:xfrm>
            <a:off x="2399051" y="5090248"/>
            <a:ext cx="2735425" cy="1080524"/>
          </a:xfrm>
          <a:prstGeom prst="flowChartAlternateProcess">
            <a:avLst/>
          </a:prstGeom>
          <a:solidFill>
            <a:srgbClr val="FFFF99">
              <a:alpha val="78038"/>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rgbClr val="000066"/>
                </a:solidFill>
                <a:latin typeface="+mn-ea"/>
                <a:ea typeface="+mn-ea"/>
              </a:rPr>
              <a:t>对象</a:t>
            </a:r>
          </a:p>
          <a:p>
            <a:pPr algn="ctr" eaLnBrk="1" hangingPunct="1">
              <a:spcBef>
                <a:spcPct val="0"/>
              </a:spcBef>
              <a:buSzTx/>
              <a:buFontTx/>
              <a:buNone/>
            </a:pPr>
            <a:endParaRPr lang="zh-CN" altLang="en-US" sz="1999" dirty="0">
              <a:solidFill>
                <a:srgbClr val="000066"/>
              </a:solidFill>
              <a:latin typeface="+mn-ea"/>
              <a:ea typeface="+mn-ea"/>
            </a:endParaRPr>
          </a:p>
          <a:p>
            <a:pPr algn="ctr" eaLnBrk="1" hangingPunct="1">
              <a:spcBef>
                <a:spcPct val="0"/>
              </a:spcBef>
              <a:buSzTx/>
              <a:buFontTx/>
              <a:buNone/>
            </a:pPr>
            <a:endParaRPr lang="en-US" altLang="zh-CN" sz="1999" dirty="0">
              <a:solidFill>
                <a:srgbClr val="000066"/>
              </a:solidFill>
              <a:latin typeface="+mn-ea"/>
              <a:ea typeface="+mn-ea"/>
            </a:endParaRPr>
          </a:p>
        </p:txBody>
      </p:sp>
      <p:sp>
        <p:nvSpPr>
          <p:cNvPr id="10" name="AutoShape 6">
            <a:extLst>
              <a:ext uri="{FF2B5EF4-FFF2-40B4-BE49-F238E27FC236}">
                <a16:creationId xmlns:a16="http://schemas.microsoft.com/office/drawing/2014/main" id="{FA070E26-F599-746A-6598-7209FD96E796}"/>
              </a:ext>
            </a:extLst>
          </p:cNvPr>
          <p:cNvSpPr>
            <a:spLocks noChangeArrowheads="1"/>
          </p:cNvSpPr>
          <p:nvPr/>
        </p:nvSpPr>
        <p:spPr bwMode="auto">
          <a:xfrm>
            <a:off x="3838164" y="5521824"/>
            <a:ext cx="1007537" cy="433161"/>
          </a:xfrm>
          <a:prstGeom prst="flowChartAlternateProcess">
            <a:avLst/>
          </a:prstGeom>
          <a:solidFill>
            <a:schemeClr val="tx2">
              <a:lumMod val="60000"/>
              <a:lumOff val="40000"/>
              <a:alpha val="78038"/>
            </a:schemeClr>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bg1"/>
                </a:solidFill>
                <a:latin typeface="+mn-ea"/>
                <a:ea typeface="+mn-ea"/>
              </a:rPr>
              <a:t>属性</a:t>
            </a:r>
          </a:p>
        </p:txBody>
      </p:sp>
      <p:sp>
        <p:nvSpPr>
          <p:cNvPr id="11" name="AutoShape 7">
            <a:extLst>
              <a:ext uri="{FF2B5EF4-FFF2-40B4-BE49-F238E27FC236}">
                <a16:creationId xmlns:a16="http://schemas.microsoft.com/office/drawing/2014/main" id="{3E30F5A8-2B71-BC98-48A6-34FA7AD5CDA1}"/>
              </a:ext>
            </a:extLst>
          </p:cNvPr>
          <p:cNvSpPr>
            <a:spLocks noChangeArrowheads="1"/>
          </p:cNvSpPr>
          <p:nvPr/>
        </p:nvSpPr>
        <p:spPr bwMode="auto">
          <a:xfrm>
            <a:off x="2686239" y="5521824"/>
            <a:ext cx="1007537" cy="433161"/>
          </a:xfrm>
          <a:prstGeom prst="flowChartAlternateProcess">
            <a:avLst/>
          </a:prstGeom>
          <a:solidFill>
            <a:schemeClr val="tx2">
              <a:lumMod val="60000"/>
              <a:lumOff val="40000"/>
              <a:alpha val="78038"/>
            </a:schemeClr>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bg1"/>
                </a:solidFill>
                <a:latin typeface="+mn-ea"/>
                <a:ea typeface="+mn-ea"/>
              </a:rPr>
              <a:t>方法</a:t>
            </a:r>
          </a:p>
        </p:txBody>
      </p:sp>
      <p:sp>
        <p:nvSpPr>
          <p:cNvPr id="12" name="AutoShape 8">
            <a:extLst>
              <a:ext uri="{FF2B5EF4-FFF2-40B4-BE49-F238E27FC236}">
                <a16:creationId xmlns:a16="http://schemas.microsoft.com/office/drawing/2014/main" id="{D3FF5090-CC5A-7C5F-D556-80BF761C252C}"/>
              </a:ext>
            </a:extLst>
          </p:cNvPr>
          <p:cNvSpPr>
            <a:spLocks noChangeArrowheads="1"/>
          </p:cNvSpPr>
          <p:nvPr/>
        </p:nvSpPr>
        <p:spPr bwMode="auto">
          <a:xfrm rot="10800000">
            <a:off x="5386880" y="5407718"/>
            <a:ext cx="1007538" cy="431575"/>
          </a:xfrm>
          <a:prstGeom prst="leftRightArrow">
            <a:avLst>
              <a:gd name="adj1" fmla="val 41185"/>
              <a:gd name="adj2" fmla="val 44627"/>
            </a:avLst>
          </a:prstGeom>
          <a:solidFill>
            <a:srgbClr val="FF99CC">
              <a:alpha val="56078"/>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dirty="0">
              <a:solidFill>
                <a:srgbClr val="000066"/>
              </a:solidFill>
              <a:latin typeface="+mn-ea"/>
              <a:ea typeface="+mn-ea"/>
            </a:endParaRPr>
          </a:p>
        </p:txBody>
      </p:sp>
      <p:sp>
        <p:nvSpPr>
          <p:cNvPr id="13" name="AutoShape 12">
            <a:extLst>
              <a:ext uri="{FF2B5EF4-FFF2-40B4-BE49-F238E27FC236}">
                <a16:creationId xmlns:a16="http://schemas.microsoft.com/office/drawing/2014/main" id="{0EECB036-5853-A853-A8E2-2683B4060467}"/>
              </a:ext>
            </a:extLst>
          </p:cNvPr>
          <p:cNvSpPr>
            <a:spLocks noChangeArrowheads="1"/>
          </p:cNvSpPr>
          <p:nvPr/>
        </p:nvSpPr>
        <p:spPr bwMode="auto">
          <a:xfrm>
            <a:off x="6629122" y="5090247"/>
            <a:ext cx="2560891" cy="1080525"/>
          </a:xfrm>
          <a:prstGeom prst="flowChartAlternateProcess">
            <a:avLst/>
          </a:prstGeom>
          <a:solidFill>
            <a:schemeClr val="accent1">
              <a:alpha val="78038"/>
            </a:scheme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rgbClr val="000066"/>
                </a:solidFill>
                <a:latin typeface="+mn-ea"/>
                <a:ea typeface="+mn-ea"/>
              </a:rPr>
              <a:t>对象</a:t>
            </a:r>
          </a:p>
          <a:p>
            <a:pPr algn="ctr" eaLnBrk="1" hangingPunct="1">
              <a:spcBef>
                <a:spcPct val="0"/>
              </a:spcBef>
              <a:buSzTx/>
              <a:buFontTx/>
              <a:buNone/>
            </a:pPr>
            <a:endParaRPr lang="en-US" altLang="zh-CN" sz="1999" dirty="0">
              <a:solidFill>
                <a:srgbClr val="000066"/>
              </a:solidFill>
              <a:latin typeface="+mn-ea"/>
              <a:ea typeface="+mn-ea"/>
            </a:endParaRPr>
          </a:p>
        </p:txBody>
      </p:sp>
      <p:sp>
        <p:nvSpPr>
          <p:cNvPr id="14" name="AutoShape 13">
            <a:extLst>
              <a:ext uri="{FF2B5EF4-FFF2-40B4-BE49-F238E27FC236}">
                <a16:creationId xmlns:a16="http://schemas.microsoft.com/office/drawing/2014/main" id="{D785AE37-1036-2408-C87F-C77F468F5363}"/>
              </a:ext>
            </a:extLst>
          </p:cNvPr>
          <p:cNvSpPr>
            <a:spLocks noChangeArrowheads="1"/>
          </p:cNvSpPr>
          <p:nvPr/>
        </p:nvSpPr>
        <p:spPr bwMode="auto">
          <a:xfrm>
            <a:off x="8038088" y="5630511"/>
            <a:ext cx="894884" cy="409959"/>
          </a:xfrm>
          <a:prstGeom prst="flowChartAlternateProcess">
            <a:avLst/>
          </a:prstGeom>
          <a:solidFill>
            <a:schemeClr val="accent1">
              <a:lumMod val="40000"/>
              <a:lumOff val="60000"/>
              <a:alpha val="78038"/>
            </a:schemeClr>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bg1"/>
                </a:solidFill>
                <a:latin typeface="+mn-ea"/>
                <a:ea typeface="+mn-ea"/>
              </a:rPr>
              <a:t>属性</a:t>
            </a:r>
          </a:p>
        </p:txBody>
      </p:sp>
      <p:sp>
        <p:nvSpPr>
          <p:cNvPr id="15" name="AutoShape 14">
            <a:extLst>
              <a:ext uri="{FF2B5EF4-FFF2-40B4-BE49-F238E27FC236}">
                <a16:creationId xmlns:a16="http://schemas.microsoft.com/office/drawing/2014/main" id="{4E27D348-00FB-AF1B-61FD-F4ED0945D270}"/>
              </a:ext>
            </a:extLst>
          </p:cNvPr>
          <p:cNvSpPr>
            <a:spLocks noChangeArrowheads="1"/>
          </p:cNvSpPr>
          <p:nvPr/>
        </p:nvSpPr>
        <p:spPr bwMode="auto">
          <a:xfrm>
            <a:off x="6898858" y="5630511"/>
            <a:ext cx="917220" cy="409959"/>
          </a:xfrm>
          <a:prstGeom prst="flowChartAlternateProcess">
            <a:avLst/>
          </a:prstGeom>
          <a:solidFill>
            <a:schemeClr val="accent1">
              <a:lumMod val="40000"/>
              <a:lumOff val="60000"/>
              <a:alpha val="78038"/>
            </a:schemeClr>
          </a:solidFill>
          <a:ln w="19050" algn="ctr">
            <a:noFill/>
            <a:miter lim="800000"/>
            <a:headEnd/>
            <a:tailEnd type="none" w="lg" len="lg"/>
          </a:ln>
          <a:effec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bg1"/>
                </a:solidFill>
                <a:latin typeface="+mn-ea"/>
                <a:ea typeface="+mn-ea"/>
              </a:rPr>
              <a:t>方法</a:t>
            </a:r>
          </a:p>
        </p:txBody>
      </p:sp>
      <p:sp>
        <p:nvSpPr>
          <p:cNvPr id="16" name="Text Box 15">
            <a:extLst>
              <a:ext uri="{FF2B5EF4-FFF2-40B4-BE49-F238E27FC236}">
                <a16:creationId xmlns:a16="http://schemas.microsoft.com/office/drawing/2014/main" id="{9B6780B5-ED58-5CFA-808D-04AFCC960945}"/>
              </a:ext>
            </a:extLst>
          </p:cNvPr>
          <p:cNvSpPr txBox="1">
            <a:spLocks noChangeArrowheads="1"/>
          </p:cNvSpPr>
          <p:nvPr/>
        </p:nvSpPr>
        <p:spPr bwMode="auto">
          <a:xfrm>
            <a:off x="9599376" y="5310362"/>
            <a:ext cx="684744" cy="525000"/>
          </a:xfrm>
          <a:prstGeom prst="rect">
            <a:avLst/>
          </a:prstGeom>
          <a:noFill/>
          <a:ln>
            <a:noFill/>
          </a:ln>
          <a:effectLst/>
          <a:extLst>
            <a:ext uri="{909E8E84-426E-40DD-AFC4-6F175D3DCCD1}">
              <a14:hiddenFill xmlns:a14="http://schemas.microsoft.com/office/drawing/2010/main">
                <a:solidFill>
                  <a:srgbClr val="FFFF99">
                    <a:alpha val="78038"/>
                  </a:srgbClr>
                </a:solidFill>
              </a14:hiddenFill>
            </a:ext>
            <a:ext uri="{91240B29-F687-4F45-9708-019B960494DF}">
              <a14:hiddenLine xmlns:a14="http://schemas.microsoft.com/office/drawing/2010/main" w="19050" algn="ctr">
                <a:solidFill>
                  <a:srgbClr val="FF99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en-US" altLang="zh-CN" sz="2799" dirty="0">
                <a:solidFill>
                  <a:srgbClr val="000066"/>
                </a:solidFill>
                <a:latin typeface="+mn-ea"/>
                <a:ea typeface="+mn-ea"/>
              </a:rPr>
              <a:t>……</a:t>
            </a:r>
          </a:p>
        </p:txBody>
      </p:sp>
      <p:grpSp>
        <p:nvGrpSpPr>
          <p:cNvPr id="2" name="组合 1">
            <a:extLst>
              <a:ext uri="{FF2B5EF4-FFF2-40B4-BE49-F238E27FC236}">
                <a16:creationId xmlns:a16="http://schemas.microsoft.com/office/drawing/2014/main" id="{68365149-B736-38CA-B131-253CAD1774EA}"/>
              </a:ext>
            </a:extLst>
          </p:cNvPr>
          <p:cNvGrpSpPr/>
          <p:nvPr/>
        </p:nvGrpSpPr>
        <p:grpSpPr>
          <a:xfrm>
            <a:off x="951831" y="689597"/>
            <a:ext cx="6058092" cy="879946"/>
            <a:chOff x="420387" y="472101"/>
            <a:chExt cx="6058092" cy="879946"/>
          </a:xfrm>
        </p:grpSpPr>
        <p:sp>
          <p:nvSpPr>
            <p:cNvPr id="3" name="内容占位符 2">
              <a:extLst>
                <a:ext uri="{FF2B5EF4-FFF2-40B4-BE49-F238E27FC236}">
                  <a16:creationId xmlns:a16="http://schemas.microsoft.com/office/drawing/2014/main" id="{EC45A043-FFB8-5757-F791-978FCA43FD79}"/>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面向对象模型</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4" name="KSO_Shape">
              <a:extLst>
                <a:ext uri="{FF2B5EF4-FFF2-40B4-BE49-F238E27FC236}">
                  <a16:creationId xmlns:a16="http://schemas.microsoft.com/office/drawing/2014/main" id="{121547F4-F88E-181D-3577-CCA529709C43}"/>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17981694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checkerboard(across)">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checkerboard(across)">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checkerboard(across)">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checkerboard(across)">
                                      <p:cBhvr>
                                        <p:cTn id="32" dur="5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linds(horizontal)">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ox(in)">
                                      <p:cBhvr>
                                        <p:cTn id="42" dur="500"/>
                                        <p:tgtEl>
                                          <p:spTgt spid="11"/>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ox(in)">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8" presetClass="entr" presetSubtype="16"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diamond(in)">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checkerboard(across)">
                                      <p:cBhvr>
                                        <p:cTn id="55" dur="500"/>
                                        <p:tgtEl>
                                          <p:spTgt spid="13"/>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checkerboard(across)">
                                      <p:cBhvr>
                                        <p:cTn id="58" dur="500"/>
                                        <p:tgtEl>
                                          <p:spTgt spid="14"/>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checkerboard(across)">
                                      <p:cBhvr>
                                        <p:cTn id="61" dur="500"/>
                                        <p:tgtEl>
                                          <p:spTgt spid="15"/>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blinds(horizontal)">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F7315245-7DB4-5708-CA99-3FBF36666EE5}"/>
              </a:ext>
            </a:extLst>
          </p:cNvPr>
          <p:cNvSpPr txBox="1">
            <a:spLocks noChangeArrowheads="1"/>
          </p:cNvSpPr>
          <p:nvPr/>
        </p:nvSpPr>
        <p:spPr>
          <a:xfrm>
            <a:off x="70271" y="1836407"/>
            <a:ext cx="11957172" cy="4639007"/>
          </a:xfrm>
          <a:prstGeom prst="rect">
            <a:avLst/>
          </a:prstGeom>
        </p:spPr>
        <p:txBody>
          <a:bodyPr vert="horz" lIns="121854" tIns="60926" rIns="121854" bIns="60926"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lvl="1">
              <a:lnSpc>
                <a:spcPts val="2899"/>
              </a:lnSpc>
            </a:pPr>
            <a:r>
              <a:rPr lang="zh-CN" altLang="en-US" sz="2399" dirty="0">
                <a:latin typeface="+mn-ea"/>
              </a:rPr>
              <a:t>类（</a:t>
            </a:r>
            <a:r>
              <a:rPr lang="en-US" altLang="zh-CN" sz="2399" dirty="0">
                <a:latin typeface="+mn-ea"/>
              </a:rPr>
              <a:t>Class</a:t>
            </a:r>
            <a:r>
              <a:rPr lang="zh-CN" altLang="en-US" sz="2399" dirty="0">
                <a:latin typeface="+mn-ea"/>
              </a:rPr>
              <a:t>）和继承（</a:t>
            </a:r>
            <a:r>
              <a:rPr lang="en-US" altLang="zh-CN" sz="2399" dirty="0">
                <a:latin typeface="+mn-ea"/>
              </a:rPr>
              <a:t>Inheritance</a:t>
            </a:r>
            <a:r>
              <a:rPr lang="zh-CN" altLang="en-US" sz="2399" dirty="0">
                <a:latin typeface="+mn-ea"/>
              </a:rPr>
              <a:t>） </a:t>
            </a:r>
          </a:p>
          <a:p>
            <a:pPr lvl="2">
              <a:lnSpc>
                <a:spcPts val="2899"/>
              </a:lnSpc>
            </a:pPr>
            <a:r>
              <a:rPr lang="zh-CN" altLang="en-US" sz="2199" dirty="0">
                <a:solidFill>
                  <a:schemeClr val="tx1">
                    <a:lumMod val="65000"/>
                    <a:lumOff val="35000"/>
                  </a:schemeClr>
                </a:solidFill>
                <a:latin typeface="+mn-ea"/>
              </a:rPr>
              <a:t>具有同样属性和方法集的所有对象构成了一个对象类 ，一个对象是某一类的实例 。</a:t>
            </a:r>
          </a:p>
          <a:p>
            <a:pPr lvl="2">
              <a:lnSpc>
                <a:spcPts val="2899"/>
              </a:lnSpc>
            </a:pPr>
            <a:endParaRPr lang="zh-CN" altLang="en-US" sz="2199" dirty="0">
              <a:solidFill>
                <a:schemeClr val="tx1">
                  <a:lumMod val="65000"/>
                  <a:lumOff val="35000"/>
                </a:schemeClr>
              </a:solidFill>
              <a:latin typeface="+mn-ea"/>
            </a:endParaRPr>
          </a:p>
          <a:p>
            <a:pPr lvl="2">
              <a:lnSpc>
                <a:spcPts val="2899"/>
              </a:lnSpc>
            </a:pPr>
            <a:endParaRPr lang="zh-CN" altLang="en-US" sz="2199" dirty="0">
              <a:solidFill>
                <a:schemeClr val="tx1">
                  <a:lumMod val="65000"/>
                  <a:lumOff val="35000"/>
                </a:schemeClr>
              </a:solidFill>
              <a:latin typeface="+mn-ea"/>
            </a:endParaRPr>
          </a:p>
          <a:p>
            <a:pPr lvl="2">
              <a:lnSpc>
                <a:spcPts val="2899"/>
              </a:lnSpc>
            </a:pPr>
            <a:endParaRPr lang="zh-CN" altLang="en-US" sz="2199" dirty="0">
              <a:solidFill>
                <a:schemeClr val="tx1">
                  <a:lumMod val="65000"/>
                  <a:lumOff val="35000"/>
                </a:schemeClr>
              </a:solidFill>
              <a:latin typeface="+mn-ea"/>
            </a:endParaRPr>
          </a:p>
          <a:p>
            <a:pPr lvl="2">
              <a:lnSpc>
                <a:spcPts val="2899"/>
              </a:lnSpc>
            </a:pPr>
            <a:endParaRPr lang="zh-CN" altLang="en-US" sz="2199" dirty="0">
              <a:solidFill>
                <a:schemeClr val="tx1">
                  <a:lumMod val="65000"/>
                  <a:lumOff val="35000"/>
                </a:schemeClr>
              </a:solidFill>
              <a:latin typeface="+mn-ea"/>
            </a:endParaRPr>
          </a:p>
          <a:p>
            <a:pPr lvl="2">
              <a:lnSpc>
                <a:spcPts val="2899"/>
              </a:lnSpc>
            </a:pPr>
            <a:r>
              <a:rPr lang="zh-CN" altLang="en-US" sz="2199" dirty="0">
                <a:solidFill>
                  <a:schemeClr val="tx1">
                    <a:lumMod val="65000"/>
                    <a:lumOff val="35000"/>
                  </a:schemeClr>
                </a:solidFill>
                <a:latin typeface="+mn-ea"/>
              </a:rPr>
              <a:t>类的属性域可以是基本数据类型（如整型、实型、字符型等），也可以是类 。</a:t>
            </a:r>
          </a:p>
          <a:p>
            <a:pPr lvl="2">
              <a:lnSpc>
                <a:spcPts val="2899"/>
              </a:lnSpc>
            </a:pPr>
            <a:r>
              <a:rPr lang="zh-CN" altLang="en-US" sz="2199" dirty="0">
                <a:solidFill>
                  <a:schemeClr val="tx1">
                    <a:lumMod val="65000"/>
                    <a:lumOff val="35000"/>
                  </a:schemeClr>
                </a:solidFill>
                <a:latin typeface="+mn-ea"/>
              </a:rPr>
              <a:t>类的表示具有层次性和继承性。 </a:t>
            </a:r>
          </a:p>
        </p:txBody>
      </p:sp>
      <p:sp>
        <p:nvSpPr>
          <p:cNvPr id="8" name="AutoShape 4">
            <a:extLst>
              <a:ext uri="{FF2B5EF4-FFF2-40B4-BE49-F238E27FC236}">
                <a16:creationId xmlns:a16="http://schemas.microsoft.com/office/drawing/2014/main" id="{69F3CDC6-BDA3-EF28-92A6-5F3A70E2DEE8}"/>
              </a:ext>
            </a:extLst>
          </p:cNvPr>
          <p:cNvSpPr>
            <a:spLocks noChangeArrowheads="1"/>
          </p:cNvSpPr>
          <p:nvPr/>
        </p:nvSpPr>
        <p:spPr bwMode="auto">
          <a:xfrm>
            <a:off x="2507401" y="3696147"/>
            <a:ext cx="1104323" cy="501982"/>
          </a:xfrm>
          <a:prstGeom prst="flowChartAlternateProcess">
            <a:avLst/>
          </a:prstGeom>
          <a:solidFill>
            <a:schemeClr val="accent1">
              <a:alpha val="78038"/>
            </a:scheme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bg1"/>
                </a:solidFill>
                <a:latin typeface="+mn-ea"/>
                <a:ea typeface="+mn-ea"/>
              </a:rPr>
              <a:t>对象</a:t>
            </a:r>
          </a:p>
        </p:txBody>
      </p:sp>
      <p:sp>
        <p:nvSpPr>
          <p:cNvPr id="9" name="AutoShape 5">
            <a:extLst>
              <a:ext uri="{FF2B5EF4-FFF2-40B4-BE49-F238E27FC236}">
                <a16:creationId xmlns:a16="http://schemas.microsoft.com/office/drawing/2014/main" id="{B48D34BA-D666-D1A7-FEA9-B1A6AFEFBEDE}"/>
              </a:ext>
            </a:extLst>
          </p:cNvPr>
          <p:cNvSpPr>
            <a:spLocks noChangeArrowheads="1"/>
          </p:cNvSpPr>
          <p:nvPr/>
        </p:nvSpPr>
        <p:spPr bwMode="auto">
          <a:xfrm>
            <a:off x="2507401" y="2975798"/>
            <a:ext cx="1104323" cy="536888"/>
          </a:xfrm>
          <a:prstGeom prst="flowChartAlternateProcess">
            <a:avLst/>
          </a:prstGeom>
          <a:solidFill>
            <a:schemeClr val="accent1">
              <a:alpha val="78038"/>
            </a:scheme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algn="ctr" eaLnBrk="1" hangingPunct="1">
              <a:spcBef>
                <a:spcPct val="0"/>
              </a:spcBef>
              <a:buSzTx/>
              <a:buFontTx/>
              <a:buNone/>
            </a:pPr>
            <a:r>
              <a:rPr lang="zh-CN" altLang="en-US" sz="2399" dirty="0">
                <a:solidFill>
                  <a:schemeClr val="bg1"/>
                </a:solidFill>
                <a:latin typeface="+mn-ea"/>
                <a:ea typeface="+mn-ea"/>
              </a:rPr>
              <a:t>类</a:t>
            </a:r>
          </a:p>
        </p:txBody>
      </p:sp>
      <p:sp>
        <p:nvSpPr>
          <p:cNvPr id="10" name="AutoShape 6">
            <a:extLst>
              <a:ext uri="{FF2B5EF4-FFF2-40B4-BE49-F238E27FC236}">
                <a16:creationId xmlns:a16="http://schemas.microsoft.com/office/drawing/2014/main" id="{BC95E00E-CFA8-42A8-125F-CA47B83A963E}"/>
              </a:ext>
            </a:extLst>
          </p:cNvPr>
          <p:cNvSpPr>
            <a:spLocks noChangeArrowheads="1"/>
          </p:cNvSpPr>
          <p:nvPr/>
        </p:nvSpPr>
        <p:spPr bwMode="auto">
          <a:xfrm rot="10800000">
            <a:off x="3827512" y="3048785"/>
            <a:ext cx="574376" cy="287188"/>
          </a:xfrm>
          <a:prstGeom prst="leftRightArrow">
            <a:avLst>
              <a:gd name="adj1" fmla="val 41185"/>
              <a:gd name="adj2" fmla="val 38231"/>
            </a:avLst>
          </a:prstGeom>
          <a:solidFill>
            <a:srgbClr val="FF99CC">
              <a:alpha val="56078"/>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11" name="AutoShape 7">
            <a:extLst>
              <a:ext uri="{FF2B5EF4-FFF2-40B4-BE49-F238E27FC236}">
                <a16:creationId xmlns:a16="http://schemas.microsoft.com/office/drawing/2014/main" id="{5B1810BE-8066-D6B8-F2BD-3562BEDD6C52}"/>
              </a:ext>
            </a:extLst>
          </p:cNvPr>
          <p:cNvSpPr>
            <a:spLocks noChangeArrowheads="1"/>
          </p:cNvSpPr>
          <p:nvPr/>
        </p:nvSpPr>
        <p:spPr bwMode="auto">
          <a:xfrm rot="10800000">
            <a:off x="3829099" y="3767549"/>
            <a:ext cx="574376" cy="287187"/>
          </a:xfrm>
          <a:prstGeom prst="leftRightArrow">
            <a:avLst>
              <a:gd name="adj1" fmla="val 41185"/>
              <a:gd name="adj2" fmla="val 38232"/>
            </a:avLst>
          </a:prstGeom>
          <a:solidFill>
            <a:srgbClr val="FF99CC">
              <a:alpha val="56078"/>
            </a:srgbClr>
          </a:solidFill>
          <a:ln w="19050" algn="ctr">
            <a:no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nchor="ct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endParaRPr lang="zh-CN" altLang="en-US" sz="1999">
              <a:solidFill>
                <a:srgbClr val="000066"/>
              </a:solidFill>
              <a:latin typeface="+mn-ea"/>
              <a:ea typeface="+mn-ea"/>
            </a:endParaRPr>
          </a:p>
        </p:txBody>
      </p:sp>
      <p:sp>
        <p:nvSpPr>
          <p:cNvPr id="12" name="Text Box 8">
            <a:extLst>
              <a:ext uri="{FF2B5EF4-FFF2-40B4-BE49-F238E27FC236}">
                <a16:creationId xmlns:a16="http://schemas.microsoft.com/office/drawing/2014/main" id="{6C8FB257-F3B5-FA61-A8B4-3ED9F95C5E7C}"/>
              </a:ext>
            </a:extLst>
          </p:cNvPr>
          <p:cNvSpPr txBox="1">
            <a:spLocks noChangeArrowheads="1"/>
          </p:cNvSpPr>
          <p:nvPr/>
        </p:nvSpPr>
        <p:spPr bwMode="auto">
          <a:xfrm>
            <a:off x="4528821" y="2956758"/>
            <a:ext cx="490882" cy="463605"/>
          </a:xfrm>
          <a:prstGeom prst="rect">
            <a:avLst/>
          </a:prstGeom>
          <a:noFill/>
          <a:ln>
            <a:noFill/>
          </a:ln>
          <a:effectLst/>
          <a:extLst>
            <a:ext uri="{909E8E84-426E-40DD-AFC4-6F175D3DCCD1}">
              <a14:hiddenFill xmlns:a14="http://schemas.microsoft.com/office/drawing/2010/main">
                <a:solidFill>
                  <a:srgbClr val="FFFF99">
                    <a:alpha val="78038"/>
                  </a:srgbClr>
                </a:solidFill>
              </a14:hiddenFill>
            </a:ext>
            <a:ext uri="{91240B29-F687-4F45-9708-019B960494DF}">
              <a14:hiddenLine xmlns:a14="http://schemas.microsoft.com/office/drawing/2010/main" w="19050" algn="ctr">
                <a:solidFill>
                  <a:srgbClr val="FF99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rgbClr val="000066"/>
                </a:solidFill>
                <a:latin typeface="+mn-ea"/>
                <a:ea typeface="+mn-ea"/>
              </a:rPr>
              <a:t>型</a:t>
            </a:r>
          </a:p>
        </p:txBody>
      </p:sp>
      <p:sp>
        <p:nvSpPr>
          <p:cNvPr id="13" name="Text Box 9">
            <a:extLst>
              <a:ext uri="{FF2B5EF4-FFF2-40B4-BE49-F238E27FC236}">
                <a16:creationId xmlns:a16="http://schemas.microsoft.com/office/drawing/2014/main" id="{47A065B4-0EAB-CB92-5D17-08A74926E4AB}"/>
              </a:ext>
            </a:extLst>
          </p:cNvPr>
          <p:cNvSpPr txBox="1">
            <a:spLocks noChangeArrowheads="1"/>
          </p:cNvSpPr>
          <p:nvPr/>
        </p:nvSpPr>
        <p:spPr bwMode="auto">
          <a:xfrm>
            <a:off x="4543102" y="3696148"/>
            <a:ext cx="490882" cy="463605"/>
          </a:xfrm>
          <a:prstGeom prst="rect">
            <a:avLst/>
          </a:prstGeom>
          <a:noFill/>
          <a:ln>
            <a:noFill/>
          </a:ln>
          <a:effectLst/>
          <a:extLst>
            <a:ext uri="{909E8E84-426E-40DD-AFC4-6F175D3DCCD1}">
              <a14:hiddenFill xmlns:a14="http://schemas.microsoft.com/office/drawing/2010/main">
                <a:solidFill>
                  <a:srgbClr val="FFFF99">
                    <a:alpha val="78038"/>
                  </a:srgbClr>
                </a:solidFill>
              </a14:hiddenFill>
            </a:ext>
            <a:ext uri="{91240B29-F687-4F45-9708-019B960494DF}">
              <a14:hiddenLine xmlns:a14="http://schemas.microsoft.com/office/drawing/2010/main" w="19050" algn="ctr">
                <a:solidFill>
                  <a:srgbClr val="FF99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53" tIns="46776" rIns="89953" bIns="46776">
            <a:spAutoFit/>
          </a:bodyPr>
          <a:lstStyle>
            <a:lvl1pPr>
              <a:spcBef>
                <a:spcPct val="20000"/>
              </a:spcBef>
              <a:buSzPct val="110000"/>
              <a:buBlip>
                <a:blip r:embed="rId3"/>
              </a:buBlip>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Blip>
                <a:blip r:embed="rId4"/>
              </a:buBlip>
              <a:defRPr sz="2800">
                <a:solidFill>
                  <a:srgbClr val="000066"/>
                </a:solidFill>
                <a:latin typeface="Arial Narrow" panose="020B0606020202030204" pitchFamily="34" charset="0"/>
                <a:ea typeface="方正姚体" panose="02010601030101010101" pitchFamily="2" charset="-122"/>
              </a:defRPr>
            </a:lvl2pPr>
            <a:lvl3pPr marL="1143000" indent="-228600">
              <a:spcBef>
                <a:spcPct val="20000"/>
              </a:spcBef>
              <a:buBlip>
                <a:blip r:embed="rId5"/>
              </a:buBlip>
              <a:defRPr sz="2400">
                <a:solidFill>
                  <a:srgbClr val="336600"/>
                </a:solidFill>
                <a:latin typeface="Arial" panose="020B0604020202020204" pitchFamily="34" charset="0"/>
                <a:ea typeface="华文细黑" panose="02010600040101010101" pitchFamily="2" charset="-122"/>
              </a:defRPr>
            </a:lvl3pPr>
            <a:lvl4pPr marL="1600200" indent="-228600">
              <a:spcBef>
                <a:spcPct val="20000"/>
              </a:spcBef>
              <a:buSzPct val="110000"/>
              <a:buBlip>
                <a:blip r:embed="rId6"/>
              </a:buBlip>
              <a:defRPr sz="2000">
                <a:solidFill>
                  <a:srgbClr val="800000"/>
                </a:solidFill>
                <a:latin typeface="Arial" panose="020B0604020202020204" pitchFamily="34" charset="0"/>
                <a:ea typeface="宋体" panose="02010600030101010101" pitchFamily="2" charset="-122"/>
              </a:defRPr>
            </a:lvl4pPr>
            <a:lvl5pPr marL="2057400" indent="-228600">
              <a:spcBef>
                <a:spcPct val="20000"/>
              </a:spcBef>
              <a:buBlip>
                <a:blip r:embed="rId7"/>
              </a:buBlip>
              <a:defRPr sz="2000">
                <a:solidFill>
                  <a:schemeClr val="tx1"/>
                </a:solidFill>
                <a:latin typeface="Arial" panose="020B0604020202020204" pitchFamily="34" charset="0"/>
                <a:ea typeface="华文行楷" panose="02010800040101010101" pitchFamily="2" charset="-122"/>
              </a:defRPr>
            </a:lvl5pPr>
            <a:lvl6pPr marL="25146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6pPr>
            <a:lvl7pPr marL="29718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7pPr>
            <a:lvl8pPr marL="34290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8pPr>
            <a:lvl9pPr marL="3886200" indent="-228600" eaLnBrk="0" fontAlgn="base" hangingPunct="0">
              <a:spcBef>
                <a:spcPct val="20000"/>
              </a:spcBef>
              <a:spcAft>
                <a:spcPct val="0"/>
              </a:spcAft>
              <a:buBlip>
                <a:blip r:embed="rId7"/>
              </a:buBlip>
              <a:defRPr sz="2000">
                <a:solidFill>
                  <a:schemeClr val="tx1"/>
                </a:solidFill>
                <a:latin typeface="Arial" panose="020B0604020202020204" pitchFamily="34" charset="0"/>
                <a:ea typeface="华文行楷" panose="02010800040101010101" pitchFamily="2" charset="-122"/>
              </a:defRPr>
            </a:lvl9pPr>
          </a:lstStyle>
          <a:p>
            <a:pPr eaLnBrk="1" hangingPunct="1">
              <a:spcBef>
                <a:spcPct val="0"/>
              </a:spcBef>
              <a:buSzTx/>
              <a:buFontTx/>
              <a:buNone/>
            </a:pPr>
            <a:r>
              <a:rPr lang="zh-CN" altLang="en-US" sz="2399" dirty="0">
                <a:solidFill>
                  <a:srgbClr val="000066"/>
                </a:solidFill>
                <a:latin typeface="+mn-ea"/>
                <a:ea typeface="+mn-ea"/>
              </a:rPr>
              <a:t>值</a:t>
            </a:r>
          </a:p>
        </p:txBody>
      </p:sp>
      <p:grpSp>
        <p:nvGrpSpPr>
          <p:cNvPr id="2" name="组合 1">
            <a:extLst>
              <a:ext uri="{FF2B5EF4-FFF2-40B4-BE49-F238E27FC236}">
                <a16:creationId xmlns:a16="http://schemas.microsoft.com/office/drawing/2014/main" id="{33FF9F64-37D4-C5F0-F8FA-0870A97CEBBF}"/>
              </a:ext>
            </a:extLst>
          </p:cNvPr>
          <p:cNvGrpSpPr/>
          <p:nvPr/>
        </p:nvGrpSpPr>
        <p:grpSpPr>
          <a:xfrm>
            <a:off x="951831" y="689597"/>
            <a:ext cx="6058092" cy="879946"/>
            <a:chOff x="420387" y="472101"/>
            <a:chExt cx="6058092" cy="879946"/>
          </a:xfrm>
        </p:grpSpPr>
        <p:sp>
          <p:nvSpPr>
            <p:cNvPr id="3" name="内容占位符 2">
              <a:extLst>
                <a:ext uri="{FF2B5EF4-FFF2-40B4-BE49-F238E27FC236}">
                  <a16:creationId xmlns:a16="http://schemas.microsoft.com/office/drawing/2014/main" id="{A2635F98-BD21-E06B-2D16-82506FC4AF2D}"/>
                </a:ext>
              </a:extLst>
            </p:cNvPr>
            <p:cNvSpPr txBox="1">
              <a:spLocks/>
            </p:cNvSpPr>
            <p:nvPr/>
          </p:nvSpPr>
          <p:spPr bwMode="auto">
            <a:xfrm>
              <a:off x="748504" y="782779"/>
              <a:ext cx="5729975"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lang="zh-CN" altLang="en-US" sz="2800" dirty="0">
                  <a:solidFill>
                    <a:prstClr val="black">
                      <a:lumMod val="85000"/>
                      <a:lumOff val="15000"/>
                    </a:prstClr>
                  </a:solidFill>
                  <a:latin typeface="Times New Roman"/>
                  <a:ea typeface="微软雅黑"/>
                </a:rPr>
                <a:t>面向对象模型</a:t>
              </a:r>
              <a:endPar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endParaRPr>
            </a:p>
          </p:txBody>
        </p:sp>
        <p:sp>
          <p:nvSpPr>
            <p:cNvPr id="4" name="KSO_Shape">
              <a:extLst>
                <a:ext uri="{FF2B5EF4-FFF2-40B4-BE49-F238E27FC236}">
                  <a16:creationId xmlns:a16="http://schemas.microsoft.com/office/drawing/2014/main" id="{76315409-3D65-ED8F-541A-886990116F08}"/>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extLst>
      <p:ext uri="{BB962C8B-B14F-4D97-AF65-F5344CB8AC3E}">
        <p14:creationId xmlns:p14="http://schemas.microsoft.com/office/powerpoint/2010/main" val="17509468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checkerboard(across)">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amond(i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ox(in)">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diamond(i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Effect transition="in" filter="checkerboard(across)">
                                      <p:cBhvr>
                                        <p:cTn id="47" dur="500"/>
                                        <p:tgtEl>
                                          <p:spTgt spid="7">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7">
                                            <p:txEl>
                                              <p:pRg st="7" end="7"/>
                                            </p:txEl>
                                          </p:spTgt>
                                        </p:tgtEl>
                                        <p:attrNameLst>
                                          <p:attrName>style.visibility</p:attrName>
                                        </p:attrNameLst>
                                      </p:cBhvr>
                                      <p:to>
                                        <p:strVal val="visible"/>
                                      </p:to>
                                    </p:set>
                                    <p:animEffect transition="in" filter="checkerboard(across)">
                                      <p:cBhvr>
                                        <p:cTn id="5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5FF8655-F819-FA14-C6FC-D82149A77037}"/>
              </a:ext>
            </a:extLst>
          </p:cNvPr>
          <p:cNvGrpSpPr/>
          <p:nvPr/>
        </p:nvGrpSpPr>
        <p:grpSpPr>
          <a:xfrm>
            <a:off x="1113587" y="964522"/>
            <a:ext cx="5614144" cy="879946"/>
            <a:chOff x="420387" y="472101"/>
            <a:chExt cx="5614144" cy="879946"/>
          </a:xfrm>
        </p:grpSpPr>
        <p:sp>
          <p:nvSpPr>
            <p:cNvPr id="3" name="内容占位符 2">
              <a:extLst>
                <a:ext uri="{FF2B5EF4-FFF2-40B4-BE49-F238E27FC236}">
                  <a16:creationId xmlns:a16="http://schemas.microsoft.com/office/drawing/2014/main" id="{AE83BDA4-C017-4679-CA11-AC7DB9DBF674}"/>
                </a:ext>
              </a:extLst>
            </p:cNvPr>
            <p:cNvSpPr txBox="1">
              <a:spLocks/>
            </p:cNvSpPr>
            <p:nvPr/>
          </p:nvSpPr>
          <p:spPr bwMode="auto">
            <a:xfrm>
              <a:off x="748505" y="782779"/>
              <a:ext cx="5286026" cy="569268"/>
            </a:xfrm>
            <a:prstGeom prst="rect">
              <a:avLst/>
            </a:prstGeom>
            <a:noFill/>
            <a:ln w="9525">
              <a:noFill/>
              <a:miter lim="800000"/>
              <a:headEnd/>
              <a:tailEnd/>
            </a:ln>
          </p:spPr>
          <p:txBody>
            <a:bodyPr lIns="91434" tIns="45717" rIns="91434" bIns="45717"/>
            <a:lstStyle>
              <a:lvl1pPr marL="487363" indent="-487363" defTabSz="1300163">
                <a:spcBef>
                  <a:spcPct val="20000"/>
                </a:spcBef>
                <a:buFont typeface="Wingdings 2" panose="05020102010507070707" pitchFamily="18" charset="2"/>
                <a:buChar char="Â"/>
                <a:defRPr sz="4600" b="1">
                  <a:solidFill>
                    <a:srgbClr val="FF6600"/>
                  </a:solidFill>
                  <a:latin typeface="Arial" panose="020B0604020202020204" pitchFamily="34" charset="0"/>
                  <a:ea typeface="宋体" panose="02010600030101010101" pitchFamily="2" charset="-122"/>
                </a:defRPr>
              </a:lvl1pPr>
              <a:lvl2pPr marL="742950" indent="-285750" defTabSz="1300163">
                <a:spcBef>
                  <a:spcPct val="20000"/>
                </a:spcBef>
                <a:buFont typeface="Wingdings 2" panose="05020102010507070707" pitchFamily="18" charset="2"/>
                <a:buChar char="¯"/>
                <a:defRPr sz="4000" b="1">
                  <a:solidFill>
                    <a:schemeClr val="tx1"/>
                  </a:solidFill>
                  <a:latin typeface="Arial" panose="020B0604020202020204" pitchFamily="34" charset="0"/>
                  <a:ea typeface="宋体" panose="02010600030101010101" pitchFamily="2" charset="-122"/>
                </a:defRPr>
              </a:lvl2pPr>
              <a:lvl3pPr marL="1143000" indent="-228600" defTabSz="1300163">
                <a:spcBef>
                  <a:spcPct val="20000"/>
                </a:spcBef>
                <a:buFont typeface="Wingdings" panose="05000000000000000000" pitchFamily="2" charset="2"/>
                <a:buChar char="§"/>
                <a:defRPr sz="3400" b="1">
                  <a:solidFill>
                    <a:schemeClr val="tx1"/>
                  </a:solidFill>
                  <a:latin typeface="Arial" panose="020B0604020202020204" pitchFamily="34" charset="0"/>
                  <a:ea typeface="宋体" panose="02010600030101010101" pitchFamily="2" charset="-122"/>
                </a:defRPr>
              </a:lvl3pPr>
              <a:lvl4pPr marL="16002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4pPr>
              <a:lvl5pPr marL="2057400" indent="-228600" defTabSz="1300163">
                <a:spcBef>
                  <a:spcPct val="20000"/>
                </a:spcBef>
                <a:buChar char="»"/>
                <a:defRPr sz="2800" b="1">
                  <a:solidFill>
                    <a:schemeClr val="tx1"/>
                  </a:solidFill>
                  <a:latin typeface="Arial" panose="020B0604020202020204" pitchFamily="34" charset="0"/>
                  <a:ea typeface="宋体" panose="02010600030101010101" pitchFamily="2" charset="-122"/>
                </a:defRPr>
              </a:lvl5pPr>
              <a:lvl6pPr marL="25146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6pPr>
              <a:lvl7pPr marL="29718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7pPr>
              <a:lvl8pPr marL="34290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8pPr>
              <a:lvl9pPr marL="3886200" indent="-228600" defTabSz="1300163" eaLnBrk="0" fontAlgn="base" hangingPunct="0">
                <a:spcBef>
                  <a:spcPct val="20000"/>
                </a:spcBef>
                <a:spcAft>
                  <a:spcPct val="0"/>
                </a:spcAft>
                <a:buChar char="»"/>
                <a:defRPr sz="2800" b="1">
                  <a:solidFill>
                    <a:schemeClr val="tx1"/>
                  </a:solidFill>
                  <a:latin typeface="Arial" panose="020B0604020202020204" pitchFamily="34" charset="0"/>
                  <a:ea typeface="宋体" panose="02010600030101010101" pitchFamily="2" charset="-122"/>
                </a:defRPr>
              </a:lvl9pPr>
            </a:lstStyle>
            <a:p>
              <a:pPr marL="0" marR="0" lvl="0" indent="0" algn="l" defTabSz="1300163" rtl="0" eaLnBrk="1" fontAlgn="auto" latinLnBrk="0" hangingPunct="1">
                <a:lnSpc>
                  <a:spcPct val="100000"/>
                </a:lnSpc>
                <a:spcBef>
                  <a:spcPct val="20000"/>
                </a:spcBef>
                <a:spcAft>
                  <a:spcPts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Times New Roman"/>
                  <a:ea typeface="微软雅黑"/>
                  <a:cs typeface="+mn-cs"/>
                </a:rPr>
                <a:t>结束语</a:t>
              </a:r>
            </a:p>
          </p:txBody>
        </p:sp>
        <p:sp>
          <p:nvSpPr>
            <p:cNvPr id="4" name="KSO_Shape">
              <a:extLst>
                <a:ext uri="{FF2B5EF4-FFF2-40B4-BE49-F238E27FC236}">
                  <a16:creationId xmlns:a16="http://schemas.microsoft.com/office/drawing/2014/main" id="{77C1BC90-631E-14C0-AB83-1AC9725A6E01}"/>
                </a:ext>
              </a:extLst>
            </p:cNvPr>
            <p:cNvSpPr>
              <a:spLocks/>
            </p:cNvSpPr>
            <p:nvPr/>
          </p:nvSpPr>
          <p:spPr bwMode="auto">
            <a:xfrm>
              <a:off x="420387" y="472101"/>
              <a:ext cx="850446" cy="595312"/>
            </a:xfrm>
            <a:custGeom>
              <a:avLst/>
              <a:gdLst/>
              <a:ahLst/>
              <a:cxnLst/>
              <a:rect l="0" t="0" r="r" b="b"/>
              <a:pathLst>
                <a:path w="5226050" h="3657600">
                  <a:moveTo>
                    <a:pt x="3327400" y="1387475"/>
                  </a:moveTo>
                  <a:lnTo>
                    <a:pt x="3327400" y="1631950"/>
                  </a:lnTo>
                  <a:lnTo>
                    <a:pt x="3092450" y="1631950"/>
                  </a:lnTo>
                  <a:lnTo>
                    <a:pt x="3092450" y="1622425"/>
                  </a:lnTo>
                  <a:lnTo>
                    <a:pt x="3327400" y="1387475"/>
                  </a:lnTo>
                  <a:close/>
                  <a:moveTo>
                    <a:pt x="3648075" y="1212850"/>
                  </a:moveTo>
                  <a:lnTo>
                    <a:pt x="3886200" y="1212850"/>
                  </a:lnTo>
                  <a:lnTo>
                    <a:pt x="3886200" y="1631950"/>
                  </a:lnTo>
                  <a:lnTo>
                    <a:pt x="3648075" y="1631950"/>
                  </a:lnTo>
                  <a:lnTo>
                    <a:pt x="3648075" y="1212850"/>
                  </a:lnTo>
                  <a:close/>
                  <a:moveTo>
                    <a:pt x="3498850" y="1212850"/>
                  </a:moveTo>
                  <a:lnTo>
                    <a:pt x="3606800" y="1212850"/>
                  </a:lnTo>
                  <a:lnTo>
                    <a:pt x="3606800" y="1631950"/>
                  </a:lnTo>
                  <a:lnTo>
                    <a:pt x="3368675" y="1631950"/>
                  </a:lnTo>
                  <a:lnTo>
                    <a:pt x="3368675" y="1343025"/>
                  </a:lnTo>
                  <a:lnTo>
                    <a:pt x="3498850" y="1212850"/>
                  </a:lnTo>
                  <a:close/>
                  <a:moveTo>
                    <a:pt x="2470150" y="1060450"/>
                  </a:moveTo>
                  <a:lnTo>
                    <a:pt x="2489200" y="1060450"/>
                  </a:lnTo>
                  <a:lnTo>
                    <a:pt x="2511425" y="1060450"/>
                  </a:lnTo>
                  <a:lnTo>
                    <a:pt x="2530475" y="1066800"/>
                  </a:lnTo>
                  <a:lnTo>
                    <a:pt x="2549525" y="1076325"/>
                  </a:lnTo>
                  <a:lnTo>
                    <a:pt x="2565400" y="1089025"/>
                  </a:lnTo>
                  <a:lnTo>
                    <a:pt x="2578100" y="1104900"/>
                  </a:lnTo>
                  <a:lnTo>
                    <a:pt x="2590800" y="1123950"/>
                  </a:lnTo>
                  <a:lnTo>
                    <a:pt x="2597150" y="1143000"/>
                  </a:lnTo>
                  <a:lnTo>
                    <a:pt x="2600325" y="1165225"/>
                  </a:lnTo>
                  <a:lnTo>
                    <a:pt x="2597150" y="1187450"/>
                  </a:lnTo>
                  <a:lnTo>
                    <a:pt x="2590800" y="1206500"/>
                  </a:lnTo>
                  <a:lnTo>
                    <a:pt x="2581275" y="1225550"/>
                  </a:lnTo>
                  <a:lnTo>
                    <a:pt x="2568575" y="1241425"/>
                  </a:lnTo>
                  <a:lnTo>
                    <a:pt x="2552700" y="1254125"/>
                  </a:lnTo>
                  <a:lnTo>
                    <a:pt x="2533650" y="1266825"/>
                  </a:lnTo>
                  <a:lnTo>
                    <a:pt x="2514600" y="1273175"/>
                  </a:lnTo>
                  <a:lnTo>
                    <a:pt x="1568371" y="1588585"/>
                  </a:lnTo>
                  <a:lnTo>
                    <a:pt x="1470025" y="2333625"/>
                  </a:lnTo>
                  <a:lnTo>
                    <a:pt x="1463675" y="2362200"/>
                  </a:lnTo>
                  <a:lnTo>
                    <a:pt x="1457325" y="2387600"/>
                  </a:lnTo>
                  <a:lnTo>
                    <a:pt x="1444625" y="2409825"/>
                  </a:lnTo>
                  <a:lnTo>
                    <a:pt x="1441450" y="2414588"/>
                  </a:lnTo>
                  <a:lnTo>
                    <a:pt x="1441450" y="3508375"/>
                  </a:lnTo>
                  <a:lnTo>
                    <a:pt x="1438275" y="3536950"/>
                  </a:lnTo>
                  <a:lnTo>
                    <a:pt x="1431925" y="3565525"/>
                  </a:lnTo>
                  <a:lnTo>
                    <a:pt x="1416050" y="3590925"/>
                  </a:lnTo>
                  <a:lnTo>
                    <a:pt x="1400175" y="3613150"/>
                  </a:lnTo>
                  <a:lnTo>
                    <a:pt x="1377950" y="3632200"/>
                  </a:lnTo>
                  <a:lnTo>
                    <a:pt x="1352550" y="3644900"/>
                  </a:lnTo>
                  <a:lnTo>
                    <a:pt x="1323975" y="3654425"/>
                  </a:lnTo>
                  <a:lnTo>
                    <a:pt x="1292225" y="3657600"/>
                  </a:lnTo>
                  <a:lnTo>
                    <a:pt x="1263650" y="3654425"/>
                  </a:lnTo>
                  <a:lnTo>
                    <a:pt x="1235075" y="3644900"/>
                  </a:lnTo>
                  <a:lnTo>
                    <a:pt x="1209675" y="3632200"/>
                  </a:lnTo>
                  <a:lnTo>
                    <a:pt x="1187450" y="3613150"/>
                  </a:lnTo>
                  <a:lnTo>
                    <a:pt x="1168400" y="3590925"/>
                  </a:lnTo>
                  <a:lnTo>
                    <a:pt x="1155700" y="3565525"/>
                  </a:lnTo>
                  <a:lnTo>
                    <a:pt x="1146175" y="3536950"/>
                  </a:lnTo>
                  <a:lnTo>
                    <a:pt x="1143000" y="3508375"/>
                  </a:lnTo>
                  <a:lnTo>
                    <a:pt x="1143000" y="2473801"/>
                  </a:lnTo>
                  <a:lnTo>
                    <a:pt x="1139825" y="2473325"/>
                  </a:lnTo>
                  <a:lnTo>
                    <a:pt x="1031875" y="2459831"/>
                  </a:lnTo>
                  <a:lnTo>
                    <a:pt x="1031875" y="3508375"/>
                  </a:lnTo>
                  <a:lnTo>
                    <a:pt x="1028700" y="3536950"/>
                  </a:lnTo>
                  <a:lnTo>
                    <a:pt x="1019175" y="3565525"/>
                  </a:lnTo>
                  <a:lnTo>
                    <a:pt x="1006475" y="3590925"/>
                  </a:lnTo>
                  <a:lnTo>
                    <a:pt x="987425" y="3613150"/>
                  </a:lnTo>
                  <a:lnTo>
                    <a:pt x="965200" y="3632200"/>
                  </a:lnTo>
                  <a:lnTo>
                    <a:pt x="939800" y="3644900"/>
                  </a:lnTo>
                  <a:lnTo>
                    <a:pt x="911225" y="3654425"/>
                  </a:lnTo>
                  <a:lnTo>
                    <a:pt x="882650" y="3657600"/>
                  </a:lnTo>
                  <a:lnTo>
                    <a:pt x="850900" y="3654425"/>
                  </a:lnTo>
                  <a:lnTo>
                    <a:pt x="822325" y="3644900"/>
                  </a:lnTo>
                  <a:lnTo>
                    <a:pt x="796925" y="3632200"/>
                  </a:lnTo>
                  <a:lnTo>
                    <a:pt x="774700" y="3613150"/>
                  </a:lnTo>
                  <a:lnTo>
                    <a:pt x="755650" y="3590925"/>
                  </a:lnTo>
                  <a:lnTo>
                    <a:pt x="742950" y="3565525"/>
                  </a:lnTo>
                  <a:lnTo>
                    <a:pt x="733425" y="3536950"/>
                  </a:lnTo>
                  <a:lnTo>
                    <a:pt x="730250" y="3508375"/>
                  </a:lnTo>
                  <a:lnTo>
                    <a:pt x="730250" y="2397125"/>
                  </a:lnTo>
                  <a:lnTo>
                    <a:pt x="733425" y="2368550"/>
                  </a:lnTo>
                  <a:lnTo>
                    <a:pt x="742950" y="2339975"/>
                  </a:lnTo>
                  <a:lnTo>
                    <a:pt x="743744" y="2338388"/>
                  </a:lnTo>
                  <a:lnTo>
                    <a:pt x="742950" y="2336800"/>
                  </a:lnTo>
                  <a:lnTo>
                    <a:pt x="736600" y="2314575"/>
                  </a:lnTo>
                  <a:lnTo>
                    <a:pt x="730250" y="2292350"/>
                  </a:lnTo>
                  <a:lnTo>
                    <a:pt x="730250" y="2263775"/>
                  </a:lnTo>
                  <a:lnTo>
                    <a:pt x="733425" y="2235200"/>
                  </a:lnTo>
                  <a:lnTo>
                    <a:pt x="825831" y="1545236"/>
                  </a:lnTo>
                  <a:lnTo>
                    <a:pt x="679450" y="1892300"/>
                  </a:lnTo>
                  <a:lnTo>
                    <a:pt x="669925" y="1911350"/>
                  </a:lnTo>
                  <a:lnTo>
                    <a:pt x="669217" y="1912766"/>
                  </a:lnTo>
                  <a:lnTo>
                    <a:pt x="666750" y="1917700"/>
                  </a:lnTo>
                  <a:lnTo>
                    <a:pt x="657225" y="1936750"/>
                  </a:lnTo>
                  <a:lnTo>
                    <a:pt x="641350" y="1952625"/>
                  </a:lnTo>
                  <a:lnTo>
                    <a:pt x="625475" y="1962150"/>
                  </a:lnTo>
                  <a:lnTo>
                    <a:pt x="606425" y="1971675"/>
                  </a:lnTo>
                  <a:lnTo>
                    <a:pt x="584200" y="1974850"/>
                  </a:lnTo>
                  <a:lnTo>
                    <a:pt x="561975" y="1974850"/>
                  </a:lnTo>
                  <a:lnTo>
                    <a:pt x="542925" y="1971675"/>
                  </a:lnTo>
                  <a:lnTo>
                    <a:pt x="76200" y="1774825"/>
                  </a:lnTo>
                  <a:lnTo>
                    <a:pt x="57150" y="1765300"/>
                  </a:lnTo>
                  <a:lnTo>
                    <a:pt x="38100" y="1752600"/>
                  </a:lnTo>
                  <a:lnTo>
                    <a:pt x="25400" y="1739900"/>
                  </a:lnTo>
                  <a:lnTo>
                    <a:pt x="12700" y="1720850"/>
                  </a:lnTo>
                  <a:lnTo>
                    <a:pt x="3175" y="1704975"/>
                  </a:lnTo>
                  <a:lnTo>
                    <a:pt x="0" y="1682750"/>
                  </a:lnTo>
                  <a:lnTo>
                    <a:pt x="0" y="1660525"/>
                  </a:lnTo>
                  <a:lnTo>
                    <a:pt x="3175" y="1641475"/>
                  </a:lnTo>
                  <a:lnTo>
                    <a:pt x="12700" y="1619250"/>
                  </a:lnTo>
                  <a:lnTo>
                    <a:pt x="22225" y="1603375"/>
                  </a:lnTo>
                  <a:lnTo>
                    <a:pt x="38100" y="1587500"/>
                  </a:lnTo>
                  <a:lnTo>
                    <a:pt x="53975" y="1574800"/>
                  </a:lnTo>
                  <a:lnTo>
                    <a:pt x="73025" y="1568450"/>
                  </a:lnTo>
                  <a:lnTo>
                    <a:pt x="95250" y="1562100"/>
                  </a:lnTo>
                  <a:lnTo>
                    <a:pt x="114300" y="1562100"/>
                  </a:lnTo>
                  <a:lnTo>
                    <a:pt x="136525" y="1568450"/>
                  </a:lnTo>
                  <a:lnTo>
                    <a:pt x="516862" y="1728864"/>
                  </a:lnTo>
                  <a:lnTo>
                    <a:pt x="669925" y="1368425"/>
                  </a:lnTo>
                  <a:lnTo>
                    <a:pt x="679450" y="1346200"/>
                  </a:lnTo>
                  <a:lnTo>
                    <a:pt x="688975" y="1330325"/>
                  </a:lnTo>
                  <a:lnTo>
                    <a:pt x="704850" y="1314450"/>
                  </a:lnTo>
                  <a:lnTo>
                    <a:pt x="714375" y="1304925"/>
                  </a:lnTo>
                  <a:lnTo>
                    <a:pt x="730250" y="1295400"/>
                  </a:lnTo>
                  <a:lnTo>
                    <a:pt x="746125" y="1285875"/>
                  </a:lnTo>
                  <a:lnTo>
                    <a:pt x="787400" y="1273175"/>
                  </a:lnTo>
                  <a:lnTo>
                    <a:pt x="831850" y="1260475"/>
                  </a:lnTo>
                  <a:lnTo>
                    <a:pt x="882650" y="1254125"/>
                  </a:lnTo>
                  <a:lnTo>
                    <a:pt x="936625" y="1250950"/>
                  </a:lnTo>
                  <a:lnTo>
                    <a:pt x="990600" y="1250950"/>
                  </a:lnTo>
                  <a:lnTo>
                    <a:pt x="1092200" y="1250950"/>
                  </a:lnTo>
                  <a:lnTo>
                    <a:pt x="1171575" y="1260475"/>
                  </a:lnTo>
                  <a:lnTo>
                    <a:pt x="1301750" y="1276350"/>
                  </a:lnTo>
                  <a:lnTo>
                    <a:pt x="1377950" y="1289050"/>
                  </a:lnTo>
                  <a:lnTo>
                    <a:pt x="1473200" y="1311275"/>
                  </a:lnTo>
                  <a:lnTo>
                    <a:pt x="1524000" y="1323975"/>
                  </a:lnTo>
                  <a:lnTo>
                    <a:pt x="1571625" y="1339850"/>
                  </a:lnTo>
                  <a:lnTo>
                    <a:pt x="1604727" y="1351672"/>
                  </a:lnTo>
                  <a:lnTo>
                    <a:pt x="2470150" y="1060450"/>
                  </a:lnTo>
                  <a:close/>
                  <a:moveTo>
                    <a:pt x="4162425" y="914400"/>
                  </a:moveTo>
                  <a:lnTo>
                    <a:pt x="4162425" y="1631950"/>
                  </a:lnTo>
                  <a:lnTo>
                    <a:pt x="3924300" y="1631950"/>
                  </a:lnTo>
                  <a:lnTo>
                    <a:pt x="3924300" y="1168400"/>
                  </a:lnTo>
                  <a:lnTo>
                    <a:pt x="4162425" y="914400"/>
                  </a:lnTo>
                  <a:close/>
                  <a:moveTo>
                    <a:pt x="1193800" y="593725"/>
                  </a:moveTo>
                  <a:lnTo>
                    <a:pt x="1228725" y="596900"/>
                  </a:lnTo>
                  <a:lnTo>
                    <a:pt x="1260475" y="603250"/>
                  </a:lnTo>
                  <a:lnTo>
                    <a:pt x="1289050" y="612775"/>
                  </a:lnTo>
                  <a:lnTo>
                    <a:pt x="1317625" y="625475"/>
                  </a:lnTo>
                  <a:lnTo>
                    <a:pt x="1346200" y="638175"/>
                  </a:lnTo>
                  <a:lnTo>
                    <a:pt x="1371600" y="657225"/>
                  </a:lnTo>
                  <a:lnTo>
                    <a:pt x="1397000" y="676275"/>
                  </a:lnTo>
                  <a:lnTo>
                    <a:pt x="1419225" y="698500"/>
                  </a:lnTo>
                  <a:lnTo>
                    <a:pt x="1438275" y="720725"/>
                  </a:lnTo>
                  <a:lnTo>
                    <a:pt x="1454150" y="746125"/>
                  </a:lnTo>
                  <a:lnTo>
                    <a:pt x="1470025" y="771525"/>
                  </a:lnTo>
                  <a:lnTo>
                    <a:pt x="1482725" y="800100"/>
                  </a:lnTo>
                  <a:lnTo>
                    <a:pt x="1492250" y="828675"/>
                  </a:lnTo>
                  <a:lnTo>
                    <a:pt x="1498600" y="860425"/>
                  </a:lnTo>
                  <a:lnTo>
                    <a:pt x="1501775" y="892175"/>
                  </a:lnTo>
                  <a:lnTo>
                    <a:pt x="1501775" y="923925"/>
                  </a:lnTo>
                  <a:lnTo>
                    <a:pt x="1498600" y="955675"/>
                  </a:lnTo>
                  <a:lnTo>
                    <a:pt x="1495425" y="987425"/>
                  </a:lnTo>
                  <a:lnTo>
                    <a:pt x="1485900" y="1019175"/>
                  </a:lnTo>
                  <a:lnTo>
                    <a:pt x="1473200" y="1047750"/>
                  </a:lnTo>
                  <a:lnTo>
                    <a:pt x="1457325" y="1073150"/>
                  </a:lnTo>
                  <a:lnTo>
                    <a:pt x="1441450" y="1101725"/>
                  </a:lnTo>
                  <a:lnTo>
                    <a:pt x="1422400" y="1123950"/>
                  </a:lnTo>
                  <a:lnTo>
                    <a:pt x="1400175" y="1146175"/>
                  </a:lnTo>
                  <a:lnTo>
                    <a:pt x="1377950" y="1165225"/>
                  </a:lnTo>
                  <a:lnTo>
                    <a:pt x="1352550" y="1184275"/>
                  </a:lnTo>
                  <a:lnTo>
                    <a:pt x="1327150" y="1196975"/>
                  </a:lnTo>
                  <a:lnTo>
                    <a:pt x="1298575" y="1209675"/>
                  </a:lnTo>
                  <a:lnTo>
                    <a:pt x="1270000" y="1219200"/>
                  </a:lnTo>
                  <a:lnTo>
                    <a:pt x="1238250" y="1225550"/>
                  </a:lnTo>
                  <a:lnTo>
                    <a:pt x="1206500" y="1228725"/>
                  </a:lnTo>
                  <a:lnTo>
                    <a:pt x="1174750" y="1231900"/>
                  </a:lnTo>
                  <a:lnTo>
                    <a:pt x="1143000" y="1228725"/>
                  </a:lnTo>
                  <a:lnTo>
                    <a:pt x="1111250" y="1222375"/>
                  </a:lnTo>
                  <a:lnTo>
                    <a:pt x="1079500" y="1212850"/>
                  </a:lnTo>
                  <a:lnTo>
                    <a:pt x="1050925" y="1200150"/>
                  </a:lnTo>
                  <a:lnTo>
                    <a:pt x="1022350" y="1187450"/>
                  </a:lnTo>
                  <a:lnTo>
                    <a:pt x="996950" y="1168400"/>
                  </a:lnTo>
                  <a:lnTo>
                    <a:pt x="974725" y="1149350"/>
                  </a:lnTo>
                  <a:lnTo>
                    <a:pt x="952500" y="1130300"/>
                  </a:lnTo>
                  <a:lnTo>
                    <a:pt x="933450" y="1104900"/>
                  </a:lnTo>
                  <a:lnTo>
                    <a:pt x="914400" y="1079500"/>
                  </a:lnTo>
                  <a:lnTo>
                    <a:pt x="901700" y="1054100"/>
                  </a:lnTo>
                  <a:lnTo>
                    <a:pt x="889000" y="1025525"/>
                  </a:lnTo>
                  <a:lnTo>
                    <a:pt x="879475" y="996950"/>
                  </a:lnTo>
                  <a:lnTo>
                    <a:pt x="873125" y="965200"/>
                  </a:lnTo>
                  <a:lnTo>
                    <a:pt x="866775" y="936625"/>
                  </a:lnTo>
                  <a:lnTo>
                    <a:pt x="866775" y="904875"/>
                  </a:lnTo>
                  <a:lnTo>
                    <a:pt x="869950" y="869950"/>
                  </a:lnTo>
                  <a:lnTo>
                    <a:pt x="876300" y="838200"/>
                  </a:lnTo>
                  <a:lnTo>
                    <a:pt x="885825" y="809625"/>
                  </a:lnTo>
                  <a:lnTo>
                    <a:pt x="895350" y="777875"/>
                  </a:lnTo>
                  <a:lnTo>
                    <a:pt x="911225" y="752475"/>
                  </a:lnTo>
                  <a:lnTo>
                    <a:pt x="927100" y="727075"/>
                  </a:lnTo>
                  <a:lnTo>
                    <a:pt x="946150" y="701675"/>
                  </a:lnTo>
                  <a:lnTo>
                    <a:pt x="968375" y="679450"/>
                  </a:lnTo>
                  <a:lnTo>
                    <a:pt x="990600" y="660400"/>
                  </a:lnTo>
                  <a:lnTo>
                    <a:pt x="1016000" y="644525"/>
                  </a:lnTo>
                  <a:lnTo>
                    <a:pt x="1044575" y="628650"/>
                  </a:lnTo>
                  <a:lnTo>
                    <a:pt x="1073150" y="615950"/>
                  </a:lnTo>
                  <a:lnTo>
                    <a:pt x="1101725" y="606425"/>
                  </a:lnTo>
                  <a:lnTo>
                    <a:pt x="1130300" y="600075"/>
                  </a:lnTo>
                  <a:lnTo>
                    <a:pt x="1162050" y="596900"/>
                  </a:lnTo>
                  <a:lnTo>
                    <a:pt x="1193800" y="593725"/>
                  </a:lnTo>
                  <a:close/>
                  <a:moveTo>
                    <a:pt x="3930650" y="523875"/>
                  </a:moveTo>
                  <a:lnTo>
                    <a:pt x="4273550" y="523875"/>
                  </a:lnTo>
                  <a:lnTo>
                    <a:pt x="4289425" y="527050"/>
                  </a:lnTo>
                  <a:lnTo>
                    <a:pt x="4295775" y="527050"/>
                  </a:lnTo>
                  <a:lnTo>
                    <a:pt x="4302125" y="530225"/>
                  </a:lnTo>
                  <a:lnTo>
                    <a:pt x="4311650" y="533400"/>
                  </a:lnTo>
                  <a:lnTo>
                    <a:pt x="4318000" y="536575"/>
                  </a:lnTo>
                  <a:lnTo>
                    <a:pt x="4327525" y="546100"/>
                  </a:lnTo>
                  <a:lnTo>
                    <a:pt x="4337050" y="558800"/>
                  </a:lnTo>
                  <a:lnTo>
                    <a:pt x="4340225" y="565150"/>
                  </a:lnTo>
                  <a:lnTo>
                    <a:pt x="4343400" y="571500"/>
                  </a:lnTo>
                  <a:lnTo>
                    <a:pt x="4346575" y="581025"/>
                  </a:lnTo>
                  <a:lnTo>
                    <a:pt x="4349750" y="587375"/>
                  </a:lnTo>
                  <a:lnTo>
                    <a:pt x="4349750" y="603250"/>
                  </a:lnTo>
                  <a:lnTo>
                    <a:pt x="4349750" y="908050"/>
                  </a:lnTo>
                  <a:lnTo>
                    <a:pt x="4349750" y="920750"/>
                  </a:lnTo>
                  <a:lnTo>
                    <a:pt x="4343400" y="936625"/>
                  </a:lnTo>
                  <a:lnTo>
                    <a:pt x="4337050" y="949325"/>
                  </a:lnTo>
                  <a:lnTo>
                    <a:pt x="4327525" y="962025"/>
                  </a:lnTo>
                  <a:lnTo>
                    <a:pt x="4318000" y="971550"/>
                  </a:lnTo>
                  <a:lnTo>
                    <a:pt x="4305300" y="977900"/>
                  </a:lnTo>
                  <a:lnTo>
                    <a:pt x="4289425" y="981075"/>
                  </a:lnTo>
                  <a:lnTo>
                    <a:pt x="4273550" y="984250"/>
                  </a:lnTo>
                  <a:lnTo>
                    <a:pt x="4257675" y="981075"/>
                  </a:lnTo>
                  <a:lnTo>
                    <a:pt x="4244975" y="977900"/>
                  </a:lnTo>
                  <a:lnTo>
                    <a:pt x="4229100" y="971550"/>
                  </a:lnTo>
                  <a:lnTo>
                    <a:pt x="4219575" y="962025"/>
                  </a:lnTo>
                  <a:lnTo>
                    <a:pt x="4210050" y="949325"/>
                  </a:lnTo>
                  <a:lnTo>
                    <a:pt x="4203700" y="936625"/>
                  </a:lnTo>
                  <a:lnTo>
                    <a:pt x="4197350" y="920750"/>
                  </a:lnTo>
                  <a:lnTo>
                    <a:pt x="4197350" y="908050"/>
                  </a:lnTo>
                  <a:lnTo>
                    <a:pt x="4197350" y="787400"/>
                  </a:lnTo>
                  <a:lnTo>
                    <a:pt x="3873500" y="1127125"/>
                  </a:lnTo>
                  <a:lnTo>
                    <a:pt x="3863975" y="1136650"/>
                  </a:lnTo>
                  <a:lnTo>
                    <a:pt x="3851275" y="1146175"/>
                  </a:lnTo>
                  <a:lnTo>
                    <a:pt x="3838575" y="1152525"/>
                  </a:lnTo>
                  <a:lnTo>
                    <a:pt x="3825875" y="1158875"/>
                  </a:lnTo>
                  <a:lnTo>
                    <a:pt x="3813175" y="1158875"/>
                  </a:lnTo>
                  <a:lnTo>
                    <a:pt x="3810000" y="1158875"/>
                  </a:lnTo>
                  <a:lnTo>
                    <a:pt x="3806825" y="1158875"/>
                  </a:lnTo>
                  <a:lnTo>
                    <a:pt x="3473450" y="1162050"/>
                  </a:lnTo>
                  <a:lnTo>
                    <a:pt x="3022600" y="1612900"/>
                  </a:lnTo>
                  <a:lnTo>
                    <a:pt x="3009900" y="1622425"/>
                  </a:lnTo>
                  <a:lnTo>
                    <a:pt x="2997200" y="1628775"/>
                  </a:lnTo>
                  <a:lnTo>
                    <a:pt x="2981325" y="1631950"/>
                  </a:lnTo>
                  <a:lnTo>
                    <a:pt x="2968625" y="1635125"/>
                  </a:lnTo>
                  <a:lnTo>
                    <a:pt x="2952750" y="1631950"/>
                  </a:lnTo>
                  <a:lnTo>
                    <a:pt x="2940050" y="1628775"/>
                  </a:lnTo>
                  <a:lnTo>
                    <a:pt x="2924175" y="1622425"/>
                  </a:lnTo>
                  <a:lnTo>
                    <a:pt x="2914650" y="1612900"/>
                  </a:lnTo>
                  <a:lnTo>
                    <a:pt x="2901950" y="1600200"/>
                  </a:lnTo>
                  <a:lnTo>
                    <a:pt x="2895600" y="1587500"/>
                  </a:lnTo>
                  <a:lnTo>
                    <a:pt x="2892425" y="1571625"/>
                  </a:lnTo>
                  <a:lnTo>
                    <a:pt x="2889250" y="1555750"/>
                  </a:lnTo>
                  <a:lnTo>
                    <a:pt x="2892425" y="1543050"/>
                  </a:lnTo>
                  <a:lnTo>
                    <a:pt x="2895600" y="1527175"/>
                  </a:lnTo>
                  <a:lnTo>
                    <a:pt x="2901950" y="1514475"/>
                  </a:lnTo>
                  <a:lnTo>
                    <a:pt x="2914650" y="1501775"/>
                  </a:lnTo>
                  <a:lnTo>
                    <a:pt x="3371850" y="1044575"/>
                  </a:lnTo>
                  <a:lnTo>
                    <a:pt x="3381375" y="1031875"/>
                  </a:lnTo>
                  <a:lnTo>
                    <a:pt x="3394075" y="1019175"/>
                  </a:lnTo>
                  <a:lnTo>
                    <a:pt x="3409950" y="1012825"/>
                  </a:lnTo>
                  <a:lnTo>
                    <a:pt x="3425825" y="1009650"/>
                  </a:lnTo>
                  <a:lnTo>
                    <a:pt x="3435350" y="1006475"/>
                  </a:lnTo>
                  <a:lnTo>
                    <a:pt x="3438525" y="1006475"/>
                  </a:lnTo>
                  <a:lnTo>
                    <a:pt x="3441700" y="1006475"/>
                  </a:lnTo>
                  <a:lnTo>
                    <a:pt x="3775075" y="1006475"/>
                  </a:lnTo>
                  <a:lnTo>
                    <a:pt x="4086225" y="679450"/>
                  </a:lnTo>
                  <a:lnTo>
                    <a:pt x="3930650" y="679450"/>
                  </a:lnTo>
                  <a:lnTo>
                    <a:pt x="3914775" y="676275"/>
                  </a:lnTo>
                  <a:lnTo>
                    <a:pt x="3902075" y="673100"/>
                  </a:lnTo>
                  <a:lnTo>
                    <a:pt x="3886200" y="666750"/>
                  </a:lnTo>
                  <a:lnTo>
                    <a:pt x="3876675" y="657225"/>
                  </a:lnTo>
                  <a:lnTo>
                    <a:pt x="3867150" y="644525"/>
                  </a:lnTo>
                  <a:lnTo>
                    <a:pt x="3860800" y="631825"/>
                  </a:lnTo>
                  <a:lnTo>
                    <a:pt x="3854450" y="615950"/>
                  </a:lnTo>
                  <a:lnTo>
                    <a:pt x="3854450" y="603250"/>
                  </a:lnTo>
                  <a:lnTo>
                    <a:pt x="3854450" y="587375"/>
                  </a:lnTo>
                  <a:lnTo>
                    <a:pt x="3860800" y="571500"/>
                  </a:lnTo>
                  <a:lnTo>
                    <a:pt x="3867150" y="558800"/>
                  </a:lnTo>
                  <a:lnTo>
                    <a:pt x="3876675" y="546100"/>
                  </a:lnTo>
                  <a:lnTo>
                    <a:pt x="3886200" y="536575"/>
                  </a:lnTo>
                  <a:lnTo>
                    <a:pt x="3902075" y="530225"/>
                  </a:lnTo>
                  <a:lnTo>
                    <a:pt x="3914775" y="527050"/>
                  </a:lnTo>
                  <a:lnTo>
                    <a:pt x="3930650" y="523875"/>
                  </a:lnTo>
                  <a:close/>
                  <a:moveTo>
                    <a:pt x="3302000" y="285750"/>
                  </a:moveTo>
                  <a:lnTo>
                    <a:pt x="3333750" y="317500"/>
                  </a:lnTo>
                  <a:lnTo>
                    <a:pt x="2622550" y="1104900"/>
                  </a:lnTo>
                  <a:lnTo>
                    <a:pt x="2543175" y="1028700"/>
                  </a:lnTo>
                  <a:lnTo>
                    <a:pt x="3302000" y="285750"/>
                  </a:lnTo>
                  <a:close/>
                  <a:moveTo>
                    <a:pt x="2543175" y="0"/>
                  </a:moveTo>
                  <a:lnTo>
                    <a:pt x="4841875" y="0"/>
                  </a:lnTo>
                  <a:lnTo>
                    <a:pt x="4879975" y="3175"/>
                  </a:lnTo>
                  <a:lnTo>
                    <a:pt x="4918075" y="6350"/>
                  </a:lnTo>
                  <a:lnTo>
                    <a:pt x="4956175" y="15875"/>
                  </a:lnTo>
                  <a:lnTo>
                    <a:pt x="4991100" y="28575"/>
                  </a:lnTo>
                  <a:lnTo>
                    <a:pt x="5026025" y="47625"/>
                  </a:lnTo>
                  <a:lnTo>
                    <a:pt x="5057775" y="66675"/>
                  </a:lnTo>
                  <a:lnTo>
                    <a:pt x="5086350" y="88900"/>
                  </a:lnTo>
                  <a:lnTo>
                    <a:pt x="5111750" y="111125"/>
                  </a:lnTo>
                  <a:lnTo>
                    <a:pt x="5137150" y="139700"/>
                  </a:lnTo>
                  <a:lnTo>
                    <a:pt x="5159375" y="168275"/>
                  </a:lnTo>
                  <a:lnTo>
                    <a:pt x="5178425" y="200025"/>
                  </a:lnTo>
                  <a:lnTo>
                    <a:pt x="5194300" y="234950"/>
                  </a:lnTo>
                  <a:lnTo>
                    <a:pt x="5207000" y="269875"/>
                  </a:lnTo>
                  <a:lnTo>
                    <a:pt x="5216525" y="304800"/>
                  </a:lnTo>
                  <a:lnTo>
                    <a:pt x="5222875" y="342900"/>
                  </a:lnTo>
                  <a:lnTo>
                    <a:pt x="5226050" y="384175"/>
                  </a:lnTo>
                  <a:lnTo>
                    <a:pt x="5226050" y="1739900"/>
                  </a:lnTo>
                  <a:lnTo>
                    <a:pt x="5222875" y="1778000"/>
                  </a:lnTo>
                  <a:lnTo>
                    <a:pt x="5216525" y="1816100"/>
                  </a:lnTo>
                  <a:lnTo>
                    <a:pt x="5207000" y="1854200"/>
                  </a:lnTo>
                  <a:lnTo>
                    <a:pt x="5194300" y="1889125"/>
                  </a:lnTo>
                  <a:lnTo>
                    <a:pt x="5178425" y="1920875"/>
                  </a:lnTo>
                  <a:lnTo>
                    <a:pt x="5159375" y="1952625"/>
                  </a:lnTo>
                  <a:lnTo>
                    <a:pt x="5137150" y="1984375"/>
                  </a:lnTo>
                  <a:lnTo>
                    <a:pt x="5111750" y="2009775"/>
                  </a:lnTo>
                  <a:lnTo>
                    <a:pt x="5086350" y="2035175"/>
                  </a:lnTo>
                  <a:lnTo>
                    <a:pt x="5057775" y="2057400"/>
                  </a:lnTo>
                  <a:lnTo>
                    <a:pt x="5026025" y="2076450"/>
                  </a:lnTo>
                  <a:lnTo>
                    <a:pt x="4991100" y="2092325"/>
                  </a:lnTo>
                  <a:lnTo>
                    <a:pt x="4956175" y="2105025"/>
                  </a:lnTo>
                  <a:lnTo>
                    <a:pt x="4918075" y="2114550"/>
                  </a:lnTo>
                  <a:lnTo>
                    <a:pt x="4879975" y="2120900"/>
                  </a:lnTo>
                  <a:lnTo>
                    <a:pt x="4841875" y="2120900"/>
                  </a:lnTo>
                  <a:lnTo>
                    <a:pt x="2543175" y="2120900"/>
                  </a:lnTo>
                  <a:lnTo>
                    <a:pt x="2505075" y="2120900"/>
                  </a:lnTo>
                  <a:lnTo>
                    <a:pt x="2466975" y="2114550"/>
                  </a:lnTo>
                  <a:lnTo>
                    <a:pt x="2428875" y="2105025"/>
                  </a:lnTo>
                  <a:lnTo>
                    <a:pt x="2393950" y="2092325"/>
                  </a:lnTo>
                  <a:lnTo>
                    <a:pt x="2362200" y="2076450"/>
                  </a:lnTo>
                  <a:lnTo>
                    <a:pt x="2330450" y="2057400"/>
                  </a:lnTo>
                  <a:lnTo>
                    <a:pt x="2298700" y="2035175"/>
                  </a:lnTo>
                  <a:lnTo>
                    <a:pt x="2273300" y="2009775"/>
                  </a:lnTo>
                  <a:lnTo>
                    <a:pt x="2247900" y="1984375"/>
                  </a:lnTo>
                  <a:lnTo>
                    <a:pt x="2225675" y="1952625"/>
                  </a:lnTo>
                  <a:lnTo>
                    <a:pt x="2206625" y="1920875"/>
                  </a:lnTo>
                  <a:lnTo>
                    <a:pt x="2190750" y="1889125"/>
                  </a:lnTo>
                  <a:lnTo>
                    <a:pt x="2178050" y="1854200"/>
                  </a:lnTo>
                  <a:lnTo>
                    <a:pt x="2168525" y="1816100"/>
                  </a:lnTo>
                  <a:lnTo>
                    <a:pt x="2162175" y="1778000"/>
                  </a:lnTo>
                  <a:lnTo>
                    <a:pt x="2159000" y="1739900"/>
                  </a:lnTo>
                  <a:lnTo>
                    <a:pt x="2159000" y="1435100"/>
                  </a:lnTo>
                  <a:lnTo>
                    <a:pt x="2241550" y="1406525"/>
                  </a:lnTo>
                  <a:lnTo>
                    <a:pt x="2324100" y="1374775"/>
                  </a:lnTo>
                  <a:lnTo>
                    <a:pt x="2324100" y="1739900"/>
                  </a:lnTo>
                  <a:lnTo>
                    <a:pt x="2324100" y="1762125"/>
                  </a:lnTo>
                  <a:lnTo>
                    <a:pt x="2327275" y="1784350"/>
                  </a:lnTo>
                  <a:lnTo>
                    <a:pt x="2333625" y="1803400"/>
                  </a:lnTo>
                  <a:lnTo>
                    <a:pt x="2339975" y="1825625"/>
                  </a:lnTo>
                  <a:lnTo>
                    <a:pt x="2349500" y="1844675"/>
                  </a:lnTo>
                  <a:lnTo>
                    <a:pt x="2362200" y="1863725"/>
                  </a:lnTo>
                  <a:lnTo>
                    <a:pt x="2374900" y="1879600"/>
                  </a:lnTo>
                  <a:lnTo>
                    <a:pt x="2387600" y="1895475"/>
                  </a:lnTo>
                  <a:lnTo>
                    <a:pt x="2403475" y="1908175"/>
                  </a:lnTo>
                  <a:lnTo>
                    <a:pt x="2419350" y="1920875"/>
                  </a:lnTo>
                  <a:lnTo>
                    <a:pt x="2438400" y="1933575"/>
                  </a:lnTo>
                  <a:lnTo>
                    <a:pt x="2457450" y="1943100"/>
                  </a:lnTo>
                  <a:lnTo>
                    <a:pt x="2476500" y="1949450"/>
                  </a:lnTo>
                  <a:lnTo>
                    <a:pt x="2498725" y="1955800"/>
                  </a:lnTo>
                  <a:lnTo>
                    <a:pt x="2520950" y="1958975"/>
                  </a:lnTo>
                  <a:lnTo>
                    <a:pt x="2543175" y="1958975"/>
                  </a:lnTo>
                  <a:lnTo>
                    <a:pt x="4841875" y="1958975"/>
                  </a:lnTo>
                  <a:lnTo>
                    <a:pt x="4864100" y="1958975"/>
                  </a:lnTo>
                  <a:lnTo>
                    <a:pt x="4886325" y="1955800"/>
                  </a:lnTo>
                  <a:lnTo>
                    <a:pt x="4908550" y="1949450"/>
                  </a:lnTo>
                  <a:lnTo>
                    <a:pt x="4927600" y="1943100"/>
                  </a:lnTo>
                  <a:lnTo>
                    <a:pt x="4946650" y="1933575"/>
                  </a:lnTo>
                  <a:lnTo>
                    <a:pt x="4965700" y="1920875"/>
                  </a:lnTo>
                  <a:lnTo>
                    <a:pt x="4981575" y="1908175"/>
                  </a:lnTo>
                  <a:lnTo>
                    <a:pt x="4997450" y="1895475"/>
                  </a:lnTo>
                  <a:lnTo>
                    <a:pt x="5013325" y="1879600"/>
                  </a:lnTo>
                  <a:lnTo>
                    <a:pt x="5026025" y="1863725"/>
                  </a:lnTo>
                  <a:lnTo>
                    <a:pt x="5035550" y="1844675"/>
                  </a:lnTo>
                  <a:lnTo>
                    <a:pt x="5045075" y="1825625"/>
                  </a:lnTo>
                  <a:lnTo>
                    <a:pt x="5051425" y="1803400"/>
                  </a:lnTo>
                  <a:lnTo>
                    <a:pt x="5057775" y="1784350"/>
                  </a:lnTo>
                  <a:lnTo>
                    <a:pt x="5060950" y="1762125"/>
                  </a:lnTo>
                  <a:lnTo>
                    <a:pt x="5060950" y="1739900"/>
                  </a:lnTo>
                  <a:lnTo>
                    <a:pt x="5060950" y="384175"/>
                  </a:lnTo>
                  <a:lnTo>
                    <a:pt x="5060950" y="361950"/>
                  </a:lnTo>
                  <a:lnTo>
                    <a:pt x="5057775" y="339725"/>
                  </a:lnTo>
                  <a:lnTo>
                    <a:pt x="5051425" y="317500"/>
                  </a:lnTo>
                  <a:lnTo>
                    <a:pt x="5045075" y="298450"/>
                  </a:lnTo>
                  <a:lnTo>
                    <a:pt x="5035550" y="279400"/>
                  </a:lnTo>
                  <a:lnTo>
                    <a:pt x="5026025" y="260350"/>
                  </a:lnTo>
                  <a:lnTo>
                    <a:pt x="5013325" y="244475"/>
                  </a:lnTo>
                  <a:lnTo>
                    <a:pt x="4997450" y="228600"/>
                  </a:lnTo>
                  <a:lnTo>
                    <a:pt x="4981575" y="212725"/>
                  </a:lnTo>
                  <a:lnTo>
                    <a:pt x="4965700" y="200025"/>
                  </a:lnTo>
                  <a:lnTo>
                    <a:pt x="4946650" y="190500"/>
                  </a:lnTo>
                  <a:lnTo>
                    <a:pt x="4927600" y="180975"/>
                  </a:lnTo>
                  <a:lnTo>
                    <a:pt x="4908550" y="171450"/>
                  </a:lnTo>
                  <a:lnTo>
                    <a:pt x="4886325" y="168275"/>
                  </a:lnTo>
                  <a:lnTo>
                    <a:pt x="4864100" y="165100"/>
                  </a:lnTo>
                  <a:lnTo>
                    <a:pt x="4841875" y="161925"/>
                  </a:lnTo>
                  <a:lnTo>
                    <a:pt x="2543175" y="161925"/>
                  </a:lnTo>
                  <a:lnTo>
                    <a:pt x="2520950" y="165100"/>
                  </a:lnTo>
                  <a:lnTo>
                    <a:pt x="2498725" y="168275"/>
                  </a:lnTo>
                  <a:lnTo>
                    <a:pt x="2476500" y="171450"/>
                  </a:lnTo>
                  <a:lnTo>
                    <a:pt x="2457450" y="180975"/>
                  </a:lnTo>
                  <a:lnTo>
                    <a:pt x="2438400" y="190500"/>
                  </a:lnTo>
                  <a:lnTo>
                    <a:pt x="2419350" y="200025"/>
                  </a:lnTo>
                  <a:lnTo>
                    <a:pt x="2403475" y="212725"/>
                  </a:lnTo>
                  <a:lnTo>
                    <a:pt x="2387600" y="228600"/>
                  </a:lnTo>
                  <a:lnTo>
                    <a:pt x="2374900" y="244475"/>
                  </a:lnTo>
                  <a:lnTo>
                    <a:pt x="2362200" y="260350"/>
                  </a:lnTo>
                  <a:lnTo>
                    <a:pt x="2349500" y="279400"/>
                  </a:lnTo>
                  <a:lnTo>
                    <a:pt x="2339975" y="298450"/>
                  </a:lnTo>
                  <a:lnTo>
                    <a:pt x="2333625" y="317500"/>
                  </a:lnTo>
                  <a:lnTo>
                    <a:pt x="2327275" y="339725"/>
                  </a:lnTo>
                  <a:lnTo>
                    <a:pt x="2324100" y="361950"/>
                  </a:lnTo>
                  <a:lnTo>
                    <a:pt x="2324100" y="384175"/>
                  </a:lnTo>
                  <a:lnTo>
                    <a:pt x="2324100" y="1066800"/>
                  </a:lnTo>
                  <a:lnTo>
                    <a:pt x="2241550" y="1089025"/>
                  </a:lnTo>
                  <a:lnTo>
                    <a:pt x="2159000" y="1117600"/>
                  </a:lnTo>
                  <a:lnTo>
                    <a:pt x="2159000" y="384175"/>
                  </a:lnTo>
                  <a:lnTo>
                    <a:pt x="2162175" y="342900"/>
                  </a:lnTo>
                  <a:lnTo>
                    <a:pt x="2168525" y="304800"/>
                  </a:lnTo>
                  <a:lnTo>
                    <a:pt x="2178050" y="269875"/>
                  </a:lnTo>
                  <a:lnTo>
                    <a:pt x="2190750" y="234950"/>
                  </a:lnTo>
                  <a:lnTo>
                    <a:pt x="2206625" y="200025"/>
                  </a:lnTo>
                  <a:lnTo>
                    <a:pt x="2225675" y="168275"/>
                  </a:lnTo>
                  <a:lnTo>
                    <a:pt x="2247900" y="139700"/>
                  </a:lnTo>
                  <a:lnTo>
                    <a:pt x="2273300" y="111125"/>
                  </a:lnTo>
                  <a:lnTo>
                    <a:pt x="2298700" y="88900"/>
                  </a:lnTo>
                  <a:lnTo>
                    <a:pt x="2330450" y="66675"/>
                  </a:lnTo>
                  <a:lnTo>
                    <a:pt x="2362200" y="47625"/>
                  </a:lnTo>
                  <a:lnTo>
                    <a:pt x="2393950" y="28575"/>
                  </a:lnTo>
                  <a:lnTo>
                    <a:pt x="2428875" y="15875"/>
                  </a:lnTo>
                  <a:lnTo>
                    <a:pt x="2466975" y="6350"/>
                  </a:lnTo>
                  <a:lnTo>
                    <a:pt x="2505075" y="3175"/>
                  </a:lnTo>
                  <a:lnTo>
                    <a:pt x="2543175" y="0"/>
                  </a:lnTo>
                  <a:close/>
                </a:path>
              </a:pathLst>
            </a:custGeom>
            <a:solidFill>
              <a:schemeClr val="tx1">
                <a:lumMod val="85000"/>
                <a:lumOff val="1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6" name="矩形 5">
            <a:extLst>
              <a:ext uri="{FF2B5EF4-FFF2-40B4-BE49-F238E27FC236}">
                <a16:creationId xmlns:a16="http://schemas.microsoft.com/office/drawing/2014/main" id="{636F6DEF-E345-E157-3D97-2E2463BC7ECC}"/>
              </a:ext>
            </a:extLst>
          </p:cNvPr>
          <p:cNvSpPr/>
          <p:nvPr/>
        </p:nvSpPr>
        <p:spPr>
          <a:xfrm>
            <a:off x="1441705" y="2155146"/>
            <a:ext cx="9616336" cy="2243050"/>
          </a:xfrm>
          <a:prstGeom prst="rect">
            <a:avLst/>
          </a:prstGeom>
        </p:spPr>
        <p:txBody>
          <a:bodyPr wrap="square">
            <a:spAutoFit/>
          </a:bodyPr>
          <a:lstStyle/>
          <a:p>
            <a:pPr lvl="0">
              <a:lnSpc>
                <a:spcPct val="150000"/>
              </a:lnSpc>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数据模型是整个数据库设计的根基，把现实世界合理抽象建模，才能设计出好用稳定的数据库。</a:t>
            </a:r>
            <a:endParaRPr lang="en-US" altLang="zh-CN" sz="2400" dirty="0">
              <a:latin typeface="微软雅黑" panose="020B0503020204020204" pitchFamily="34" charset="-122"/>
              <a:ea typeface="微软雅黑" panose="020B0503020204020204" pitchFamily="34" charset="-122"/>
            </a:endParaRPr>
          </a:p>
          <a:p>
            <a:pPr lvl="0">
              <a:lnSpc>
                <a:spcPct val="150000"/>
              </a:lnSpc>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我们学技术，就是用抽象思维解决真实社会业务问题，希望大家课后好好消化。本节课到此结束。 </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97802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2.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3.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4.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5.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6.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7.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8.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9.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10.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11.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ags/tag14.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80911100642"/>
  <p:tag name="MH_LIBRARY" val="GRAPHIC"/>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5710</Words>
  <Application>Microsoft Office PowerPoint</Application>
  <PresentationFormat>宽屏</PresentationFormat>
  <Paragraphs>443</Paragraphs>
  <Slides>52</Slides>
  <Notes>36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52</vt:i4>
      </vt:variant>
    </vt:vector>
  </HeadingPairs>
  <TitlesOfParts>
    <vt:vector size="64" baseType="lpstr">
      <vt:lpstr>等线</vt:lpstr>
      <vt:lpstr>等线 Light</vt:lpstr>
      <vt:lpstr>方正卡通简体</vt:lpstr>
      <vt:lpstr>华文仿宋</vt:lpstr>
      <vt:lpstr>微软雅黑</vt:lpstr>
      <vt:lpstr>Arial</vt:lpstr>
      <vt:lpstr>Arial Black</vt:lpstr>
      <vt:lpstr>Calibri</vt:lpstr>
      <vt:lpstr>Times New Roman</vt:lpstr>
      <vt:lpstr>Wingdings</vt:lpstr>
      <vt:lpstr>Wingdings 2</vt:lpstr>
      <vt:lpstr>Office 主题​​</vt:lpstr>
      <vt:lpstr>PowerPoint 演示文稿</vt:lpstr>
      <vt:lpstr>了解数据模型的概念及分类； 了解概念模型和逻辑模型。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2019-05-03T07:56:18Z</dcterms:created>
  <dcterms:modified xsi:type="dcterms:W3CDTF">2026-09-16T03:19:38Z</dcterms:modified>
</cp:coreProperties>
</file>